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Robo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11" Type="http://schemas.openxmlformats.org/officeDocument/2006/relationships/slide" Target="slides/slide6.xml"/><Relationship Id="rId22" Type="http://schemas.openxmlformats.org/officeDocument/2006/relationships/font" Target="fonts/Roboto-italic.fntdata"/><Relationship Id="rId10" Type="http://schemas.openxmlformats.org/officeDocument/2006/relationships/slide" Target="slides/slide5.xml"/><Relationship Id="rId21" Type="http://schemas.openxmlformats.org/officeDocument/2006/relationships/font" Target="fonts/Robo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g5de72a4f80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5de72a4f80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5" name="Shape 55"/>
        <p:cNvGrpSpPr/>
        <p:nvPr/>
      </p:nvGrpSpPr>
      <p:grpSpPr>
        <a:xfrm>
          <a:off x="0" y="0"/>
          <a:ext cx="0" cy="0"/>
          <a:chOff x="0" y="0"/>
          <a:chExt cx="0" cy="0"/>
        </a:xfrm>
      </p:grpSpPr>
      <p:sp>
        <p:nvSpPr>
          <p:cNvPr id="56" name="Google Shape;56;g5de72a4f80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5de72a4f8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1" name="Shape 61"/>
        <p:cNvGrpSpPr/>
        <p:nvPr/>
      </p:nvGrpSpPr>
      <p:grpSpPr>
        <a:xfrm>
          <a:off x="0" y="0"/>
          <a:ext cx="0" cy="0"/>
          <a:chOff x="0" y="0"/>
          <a:chExt cx="0" cy="0"/>
        </a:xfrm>
      </p:grpSpPr>
      <p:sp>
        <p:nvSpPr>
          <p:cNvPr id="62" name="Google Shape;62;g5de72a4f80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5de72a4f80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7" name="Shape 67"/>
        <p:cNvGrpSpPr/>
        <p:nvPr/>
      </p:nvGrpSpPr>
      <p:grpSpPr>
        <a:xfrm>
          <a:off x="0" y="0"/>
          <a:ext cx="0" cy="0"/>
          <a:chOff x="0" y="0"/>
          <a:chExt cx="0" cy="0"/>
        </a:xfrm>
      </p:grpSpPr>
      <p:sp>
        <p:nvSpPr>
          <p:cNvPr id="68" name="Google Shape;68;g5de72a4f8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5de72a4f8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3" name="Shape 73"/>
        <p:cNvGrpSpPr/>
        <p:nvPr/>
      </p:nvGrpSpPr>
      <p:grpSpPr>
        <a:xfrm>
          <a:off x="0" y="0"/>
          <a:ext cx="0" cy="0"/>
          <a:chOff x="0" y="0"/>
          <a:chExt cx="0" cy="0"/>
        </a:xfrm>
      </p:grpSpPr>
      <p:sp>
        <p:nvSpPr>
          <p:cNvPr id="74" name="Google Shape;74;g5de72a4f8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5de72a4f8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9" name="Shape 79"/>
        <p:cNvGrpSpPr/>
        <p:nvPr/>
      </p:nvGrpSpPr>
      <p:grpSpPr>
        <a:xfrm>
          <a:off x="0" y="0"/>
          <a:ext cx="0" cy="0"/>
          <a:chOff x="0" y="0"/>
          <a:chExt cx="0" cy="0"/>
        </a:xfrm>
      </p:grpSpPr>
      <p:sp>
        <p:nvSpPr>
          <p:cNvPr id="80" name="Google Shape;80;g5de72a4f80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5de72a4f80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5" name="Shape 85"/>
        <p:cNvGrpSpPr/>
        <p:nvPr/>
      </p:nvGrpSpPr>
      <p:grpSpPr>
        <a:xfrm>
          <a:off x="0" y="0"/>
          <a:ext cx="0" cy="0"/>
          <a:chOff x="0" y="0"/>
          <a:chExt cx="0" cy="0"/>
        </a:xfrm>
      </p:grpSpPr>
      <p:sp>
        <p:nvSpPr>
          <p:cNvPr id="86" name="Google Shape;86;g5de72a4f80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5de72a4f80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1" name="Shape 91"/>
        <p:cNvGrpSpPr/>
        <p:nvPr/>
      </p:nvGrpSpPr>
      <p:grpSpPr>
        <a:xfrm>
          <a:off x="0" y="0"/>
          <a:ext cx="0" cy="0"/>
          <a:chOff x="0" y="0"/>
          <a:chExt cx="0" cy="0"/>
        </a:xfrm>
      </p:grpSpPr>
      <p:sp>
        <p:nvSpPr>
          <p:cNvPr id="92" name="Google Shape;92;g5de72a4f80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5de72a4f80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7" name="Shape 97"/>
        <p:cNvGrpSpPr/>
        <p:nvPr/>
      </p:nvGrpSpPr>
      <p:grpSpPr>
        <a:xfrm>
          <a:off x="0" y="0"/>
          <a:ext cx="0" cy="0"/>
          <a:chOff x="0" y="0"/>
          <a:chExt cx="0" cy="0"/>
        </a:xfrm>
      </p:grpSpPr>
      <p:sp>
        <p:nvSpPr>
          <p:cNvPr id="98" name="Google Shape;98;g5de72a4f80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5de72a4f80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3" name="Shape 103"/>
        <p:cNvGrpSpPr/>
        <p:nvPr/>
      </p:nvGrpSpPr>
      <p:grpSpPr>
        <a:xfrm>
          <a:off x="0" y="0"/>
          <a:ext cx="0" cy="0"/>
          <a:chOff x="0" y="0"/>
          <a:chExt cx="0" cy="0"/>
        </a:xfrm>
      </p:grpSpPr>
      <p:sp>
        <p:nvSpPr>
          <p:cNvPr id="104" name="Google Shape;104;g5de72a4f80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5de72a4f80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9" name="Shape 109"/>
        <p:cNvGrpSpPr/>
        <p:nvPr/>
      </p:nvGrpSpPr>
      <p:grpSpPr>
        <a:xfrm>
          <a:off x="0" y="0"/>
          <a:ext cx="0" cy="0"/>
          <a:chOff x="0" y="0"/>
          <a:chExt cx="0" cy="0"/>
        </a:xfrm>
      </p:grpSpPr>
      <p:sp>
        <p:nvSpPr>
          <p:cNvPr id="110" name="Google Shape;110;g5de72a4f80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5de72a4f80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4" name="Shape 114"/>
        <p:cNvGrpSpPr/>
        <p:nvPr/>
      </p:nvGrpSpPr>
      <p:grpSpPr>
        <a:xfrm>
          <a:off x="0" y="0"/>
          <a:ext cx="0" cy="0"/>
          <a:chOff x="0" y="0"/>
          <a:chExt cx="0" cy="0"/>
        </a:xfrm>
      </p:grpSpPr>
      <p:sp>
        <p:nvSpPr>
          <p:cNvPr id="115" name="Google Shape;115;g5de72a4f80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5de72a4f80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0" name="Shape 120"/>
        <p:cNvGrpSpPr/>
        <p:nvPr/>
      </p:nvGrpSpPr>
      <p:grpSpPr>
        <a:xfrm>
          <a:off x="0" y="0"/>
          <a:ext cx="0" cy="0"/>
          <a:chOff x="0" y="0"/>
          <a:chExt cx="0" cy="0"/>
        </a:xfrm>
      </p:grpSpPr>
      <p:sp>
        <p:nvSpPr>
          <p:cNvPr id="121" name="Google Shape;121;g5de72a4f80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5de72a4f80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5" name="Shape 125"/>
        <p:cNvGrpSpPr/>
        <p:nvPr/>
      </p:nvGrpSpPr>
      <p:grpSpPr>
        <a:xfrm>
          <a:off x="0" y="0"/>
          <a:ext cx="0" cy="0"/>
          <a:chOff x="0" y="0"/>
          <a:chExt cx="0" cy="0"/>
        </a:xfrm>
      </p:grpSpPr>
      <p:sp>
        <p:nvSpPr>
          <p:cNvPr id="126" name="Google Shape;126;g5de72a4f80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5de72a4f80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blog.cleancoder.com/uncle-bob/2017/10/03/TestContravariance.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19990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Unit Testing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Test behaviour, not implementation</a:t>
            </a:r>
            <a:endParaRPr sz="2400"/>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solidFill>
                  <a:schemeClr val="dk1"/>
                </a:solidFill>
                <a:highlight>
                  <a:srgbClr val="FFFFFF"/>
                </a:highlight>
                <a:latin typeface="Roboto"/>
                <a:ea typeface="Roboto"/>
                <a:cs typeface="Roboto"/>
                <a:sym typeface="Roboto"/>
              </a:rPr>
              <a:t>Tests that assert on behaviour are less brittle than tests that assert on the specific implementation. Whenever we verify a call on a mock we are breaking encapsulation and testing the internal workings of a class. It becomes impossible to change the implementation detail in a way that maintains the class behaviour.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4" name="Shape 64"/>
        <p:cNvGrpSpPr/>
        <p:nvPr/>
      </p:nvGrpSpPr>
      <p:grpSpPr>
        <a:xfrm>
          <a:off x="0" y="0"/>
          <a:ext cx="0" cy="0"/>
          <a:chOff x="0" y="0"/>
          <a:chExt cx="0" cy="0"/>
        </a:xfrm>
      </p:grpSpPr>
      <p:sp>
        <p:nvSpPr>
          <p:cNvPr id="65" name="Google Shape;65;p15"/>
          <p:cNvSpPr txBox="1"/>
          <p:nvPr>
            <p:ph type="title"/>
          </p:nvPr>
        </p:nvSpPr>
        <p:spPr>
          <a:xfrm>
            <a:off x="358025" y="414150"/>
            <a:ext cx="8520600" cy="771900"/>
          </a:xfrm>
          <a:prstGeom prst="rect">
            <a:avLst/>
          </a:prstGeom>
        </p:spPr>
        <p:txBody>
          <a:bodyPr anchorCtr="0" anchor="t" bIns="91425" lIns="91425" spcFirstLastPara="1" rIns="91425" wrap="square" tIns="91425">
            <a:noAutofit/>
          </a:bodyPr>
          <a:lstStyle/>
          <a:p>
            <a:pPr indent="0" lvl="0" marL="0" rtl="0" algn="l">
              <a:lnSpc>
                <a:spcPct val="120000"/>
              </a:lnSpc>
              <a:spcBef>
                <a:spcPts val="2100"/>
              </a:spcBef>
              <a:spcAft>
                <a:spcPts val="1100"/>
              </a:spcAft>
              <a:buClr>
                <a:schemeClr val="dk1"/>
              </a:buClr>
              <a:buSzPts val="1100"/>
              <a:buFont typeface="Arial"/>
              <a:buNone/>
            </a:pPr>
            <a:r>
              <a:rPr lang="en-GB" sz="2400">
                <a:solidFill>
                  <a:schemeClr val="accent2"/>
                </a:solidFill>
                <a:latin typeface="Roboto"/>
                <a:ea typeface="Roboto"/>
                <a:cs typeface="Roboto"/>
                <a:sym typeface="Roboto"/>
              </a:rPr>
              <a:t>Use </a:t>
            </a:r>
            <a:r>
              <a:rPr lang="en-GB" sz="2400"/>
              <a:t>contra-variant</a:t>
            </a:r>
            <a:r>
              <a:rPr lang="en-GB" sz="2400">
                <a:solidFill>
                  <a:schemeClr val="accent2"/>
                </a:solidFill>
                <a:latin typeface="Roboto"/>
                <a:ea typeface="Roboto"/>
                <a:cs typeface="Roboto"/>
                <a:sym typeface="Roboto"/>
              </a:rPr>
              <a:t> tests</a:t>
            </a:r>
            <a:endParaRPr sz="2400"/>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lnSpc>
                <a:spcPct val="120000"/>
              </a:lnSpc>
              <a:spcBef>
                <a:spcPts val="2100"/>
              </a:spcBef>
              <a:spcAft>
                <a:spcPts val="0"/>
              </a:spcAft>
              <a:buSzPts val="1800"/>
              <a:buAutoNum type="arabicPeriod"/>
            </a:pPr>
            <a:r>
              <a:rPr lang="en-GB" u="sng">
                <a:solidFill>
                  <a:schemeClr val="accent5"/>
                </a:solidFill>
                <a:hlinkClick r:id="rId3"/>
              </a:rPr>
              <a:t>https://blog.cleancoder.com/uncle-bob/2017/10/03/TestContravariance.html</a:t>
            </a:r>
            <a:endParaRPr/>
          </a:p>
          <a:p>
            <a:pPr indent="-342900" lvl="0" marL="457200" rtl="0" algn="l">
              <a:lnSpc>
                <a:spcPct val="120000"/>
              </a:lnSpc>
              <a:spcBef>
                <a:spcPts val="0"/>
              </a:spcBef>
              <a:spcAft>
                <a:spcPts val="0"/>
              </a:spcAft>
              <a:buSzPts val="1800"/>
              <a:buAutoNum type="arabicPeriod"/>
            </a:pPr>
            <a:r>
              <a:rPr lang="en-GB">
                <a:solidFill>
                  <a:schemeClr val="dk1"/>
                </a:solidFill>
                <a:latin typeface="Roboto"/>
                <a:ea typeface="Roboto"/>
                <a:cs typeface="Roboto"/>
                <a:sym typeface="Roboto"/>
              </a:rPr>
              <a:t>There is a tendency to couple a production class to a unit test class, and when we do that the refactoring actions we can take become limited. Since refactoring should not break existing tests, if we need to adjust tests we aren't really refactoring - we're reworking. During that rework we can make unintentional changes to the tests that introduces additional risk.  Testing behaviour instead of implementation assists in the creation of contra-variant tests.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2400"/>
              <a:t>Favour test </a:t>
            </a:r>
            <a:r>
              <a:rPr lang="en-GB"/>
              <a:t>quality</a:t>
            </a:r>
            <a:r>
              <a:rPr lang="en-GB" sz="2400"/>
              <a:t> over code coverage</a:t>
            </a:r>
            <a:endParaRPr sz="2400"/>
          </a:p>
        </p:txBody>
      </p:sp>
      <p:sp>
        <p:nvSpPr>
          <p:cNvPr id="72" name="Google Shape;72;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solidFill>
                  <a:schemeClr val="dk1"/>
                </a:solidFill>
                <a:highlight>
                  <a:srgbClr val="FFFFFF"/>
                </a:highlight>
                <a:latin typeface="Roboto"/>
                <a:ea typeface="Roboto"/>
                <a:cs typeface="Roboto"/>
                <a:sym typeface="Roboto"/>
              </a:rPr>
              <a:t>Code coverage by itself is an easily gamed metric and doesn't reveal much about the production code quality or the quality of the tests. If we can add new features to existing code quickly and without much risk, then that code has a reasonable level of internal code quality. If we can refactor code to make improvements without breaking tests and still have confidence that the code behaves the same, then the test quality is also at a reasonable level.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212975"/>
            <a:ext cx="8520600" cy="804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t>Isolate</a:t>
            </a:r>
            <a:r>
              <a:rPr lang="en-GB" sz="2400"/>
              <a:t> your business logic from its application services and infrastructure</a:t>
            </a:r>
            <a:endParaRPr sz="2400"/>
          </a:p>
        </p:txBody>
      </p:sp>
      <p:sp>
        <p:nvSpPr>
          <p:cNvPr id="78" name="Google Shape;78;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GB">
                <a:solidFill>
                  <a:schemeClr val="dk1"/>
                </a:solidFill>
                <a:highlight>
                  <a:srgbClr val="FFFFFF"/>
                </a:highlight>
                <a:latin typeface="Roboto"/>
                <a:ea typeface="Roboto"/>
                <a:cs typeface="Roboto"/>
                <a:sym typeface="Roboto"/>
              </a:rPr>
              <a:t>Code that's tightly coupled is hard to test, and code that leaks abstractions across layers is hard to test well. Design solutions following SOLID principles to create more testable code. Avoid leaking abstractions across layers to keep the core business logic separate from the supporting and hosting infrastructure.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30000"/>
              </a:lnSpc>
              <a:spcBef>
                <a:spcPts val="2300"/>
              </a:spcBef>
              <a:spcAft>
                <a:spcPts val="0"/>
              </a:spcAft>
              <a:buClr>
                <a:schemeClr val="dk1"/>
              </a:buClr>
              <a:buSzPts val="1100"/>
              <a:buFont typeface="Arial"/>
              <a:buNone/>
            </a:pPr>
            <a:r>
              <a:rPr b="1" lang="en-GB" sz="1300"/>
              <a:t>Naming your tests</a:t>
            </a:r>
            <a:endParaRPr b="1" sz="1300"/>
          </a:p>
          <a:p>
            <a:pPr indent="0" lvl="0" marL="0" rtl="0" algn="l">
              <a:spcBef>
                <a:spcPts val="1400"/>
              </a:spcBef>
              <a:spcAft>
                <a:spcPts val="0"/>
              </a:spcAft>
              <a:buNone/>
            </a:pPr>
            <a:r>
              <a:t/>
            </a:r>
            <a:endParaRPr/>
          </a:p>
        </p:txBody>
      </p:sp>
      <p:sp>
        <p:nvSpPr>
          <p:cNvPr id="84" name="Google Shape;84;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200">
                <a:solidFill>
                  <a:schemeClr val="dk1"/>
                </a:solidFill>
              </a:rPr>
              <a:t>The name of your test should consist of three parts:</a:t>
            </a:r>
            <a:endParaRPr sz="1200">
              <a:solidFill>
                <a:schemeClr val="dk1"/>
              </a:solidFill>
            </a:endParaRPr>
          </a:p>
          <a:p>
            <a:pPr indent="-304800" lvl="0" marL="825500" rtl="0" algn="l">
              <a:spcBef>
                <a:spcPts val="2400"/>
              </a:spcBef>
              <a:spcAft>
                <a:spcPts val="0"/>
              </a:spcAft>
              <a:buClr>
                <a:schemeClr val="dk1"/>
              </a:buClr>
              <a:buSzPts val="1200"/>
              <a:buChar char="●"/>
            </a:pPr>
            <a:r>
              <a:rPr lang="en-GB" sz="1200">
                <a:solidFill>
                  <a:schemeClr val="dk1"/>
                </a:solidFill>
              </a:rPr>
              <a:t>The name of the method being tested.</a:t>
            </a:r>
            <a:endParaRPr sz="1200">
              <a:solidFill>
                <a:schemeClr val="dk1"/>
              </a:solidFill>
            </a:endParaRPr>
          </a:p>
          <a:p>
            <a:pPr indent="-304800" lvl="0" marL="825500" rtl="0" algn="l">
              <a:spcBef>
                <a:spcPts val="0"/>
              </a:spcBef>
              <a:spcAft>
                <a:spcPts val="0"/>
              </a:spcAft>
              <a:buClr>
                <a:schemeClr val="dk1"/>
              </a:buClr>
              <a:buSzPts val="1200"/>
              <a:buChar char="●"/>
            </a:pPr>
            <a:r>
              <a:rPr lang="en-GB" sz="1200">
                <a:solidFill>
                  <a:schemeClr val="dk1"/>
                </a:solidFill>
              </a:rPr>
              <a:t>The scenario under which it's being tested.</a:t>
            </a:r>
            <a:endParaRPr sz="1200">
              <a:solidFill>
                <a:schemeClr val="dk1"/>
              </a:solidFill>
            </a:endParaRPr>
          </a:p>
          <a:p>
            <a:pPr indent="-304800" lvl="0" marL="825500" rtl="0" algn="l">
              <a:spcBef>
                <a:spcPts val="0"/>
              </a:spcBef>
              <a:spcAft>
                <a:spcPts val="0"/>
              </a:spcAft>
              <a:buClr>
                <a:schemeClr val="dk1"/>
              </a:buClr>
              <a:buSzPts val="1200"/>
              <a:buChar char="●"/>
            </a:pPr>
            <a:r>
              <a:rPr lang="en-GB" sz="1200">
                <a:solidFill>
                  <a:schemeClr val="dk1"/>
                </a:solidFill>
              </a:rPr>
              <a:t>The expected behavior when the scenario is invoked.</a:t>
            </a:r>
            <a:endParaRPr sz="1200">
              <a:solidFill>
                <a:schemeClr val="dk1"/>
              </a:solidFill>
            </a:endParaRPr>
          </a:p>
          <a:p>
            <a:pPr indent="12700" lvl="0" marL="0" marR="0" rtl="0" algn="l">
              <a:lnSpc>
                <a:spcPct val="100000"/>
              </a:lnSpc>
              <a:spcBef>
                <a:spcPts val="2600"/>
              </a:spcBef>
              <a:spcAft>
                <a:spcPts val="0"/>
              </a:spcAft>
              <a:buNone/>
            </a:pPr>
            <a:r>
              <a:rPr b="1" lang="en-GB" sz="1200">
                <a:solidFill>
                  <a:schemeClr val="dk1"/>
                </a:solidFill>
              </a:rPr>
              <a:t>          Why?</a:t>
            </a:r>
            <a:endParaRPr b="1" sz="1200">
              <a:solidFill>
                <a:schemeClr val="dk1"/>
              </a:solidFill>
            </a:endParaRPr>
          </a:p>
          <a:p>
            <a:pPr indent="-304800" lvl="0" marL="825500" rtl="0" algn="l">
              <a:spcBef>
                <a:spcPts val="2400"/>
              </a:spcBef>
              <a:spcAft>
                <a:spcPts val="0"/>
              </a:spcAft>
              <a:buClr>
                <a:schemeClr val="dk1"/>
              </a:buClr>
              <a:buSzPts val="1200"/>
              <a:buChar char="●"/>
            </a:pPr>
            <a:r>
              <a:rPr lang="en-GB" sz="1200">
                <a:solidFill>
                  <a:schemeClr val="dk1"/>
                </a:solidFill>
              </a:rPr>
              <a:t>Naming standards are important because they explicitly express the intent of the test. =&gt; Tests are more than just making sure your code works, they also provide documentation. Just by looking at the suite of unit tests, you should be able to infer the behavior of your code without even looking at the code itself. Additionally, when tests fail, you can see exactly which scenarios do not meet your expectations.</a:t>
            </a:r>
            <a:endParaRPr sz="1200">
              <a:solidFill>
                <a:schemeClr val="dk1"/>
              </a:solidFill>
            </a:endParaRPr>
          </a:p>
          <a:p>
            <a:pPr indent="0" lvl="0" marL="457200" rtl="0" algn="l">
              <a:spcBef>
                <a:spcPts val="2400"/>
              </a:spcBef>
              <a:spcAft>
                <a:spcPts val="0"/>
              </a:spcAft>
              <a:buNone/>
            </a:pPr>
            <a:r>
              <a:t/>
            </a:r>
            <a:endParaRPr sz="1200">
              <a:solidFill>
                <a:schemeClr val="dk1"/>
              </a:solidFill>
            </a:endParaRPr>
          </a:p>
          <a:p>
            <a:pPr indent="0" lvl="0" marL="0" rtl="0" algn="l">
              <a:spcBef>
                <a:spcPts val="240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30000"/>
              </a:lnSpc>
              <a:spcBef>
                <a:spcPts val="2400"/>
              </a:spcBef>
              <a:spcAft>
                <a:spcPts val="0"/>
              </a:spcAft>
              <a:buClr>
                <a:schemeClr val="dk1"/>
              </a:buClr>
              <a:buSzPts val="1100"/>
              <a:buFont typeface="Arial"/>
              <a:buNone/>
            </a:pPr>
            <a:r>
              <a:rPr b="1" lang="en-GB" sz="1700"/>
              <a:t>Characteristics of a good unit test</a:t>
            </a:r>
            <a:endParaRPr b="1" sz="1700"/>
          </a:p>
          <a:p>
            <a:pPr indent="0" lvl="0" marL="0" rtl="0" algn="l">
              <a:spcBef>
                <a:spcPts val="900"/>
              </a:spcBef>
              <a:spcAft>
                <a:spcPts val="0"/>
              </a:spcAft>
              <a:buNone/>
            </a:pPr>
            <a:r>
              <a:t/>
            </a:r>
            <a:endParaRPr/>
          </a:p>
        </p:txBody>
      </p:sp>
      <p:sp>
        <p:nvSpPr>
          <p:cNvPr id="90" name="Google Shape;90;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04800" lvl="0" marL="825500" rtl="0" algn="l">
              <a:spcBef>
                <a:spcPts val="2400"/>
              </a:spcBef>
              <a:spcAft>
                <a:spcPts val="0"/>
              </a:spcAft>
              <a:buClr>
                <a:schemeClr val="dk1"/>
              </a:buClr>
              <a:buSzPts val="1200"/>
              <a:buChar char="●"/>
            </a:pPr>
            <a:r>
              <a:rPr b="1" lang="en-GB" sz="1200">
                <a:solidFill>
                  <a:schemeClr val="dk1"/>
                </a:solidFill>
              </a:rPr>
              <a:t>Fast</a:t>
            </a:r>
            <a:r>
              <a:rPr lang="en-GB" sz="1200">
                <a:solidFill>
                  <a:schemeClr val="dk1"/>
                </a:solidFill>
              </a:rPr>
              <a:t>. It is not uncommon for mature projects to have thousands of unit tests. Unit tests should take very little time to run. Milliseconds.</a:t>
            </a:r>
            <a:endParaRPr sz="1200">
              <a:solidFill>
                <a:schemeClr val="dk1"/>
              </a:solidFill>
            </a:endParaRPr>
          </a:p>
          <a:p>
            <a:pPr indent="-304800" lvl="0" marL="825500" rtl="0" algn="l">
              <a:spcBef>
                <a:spcPts val="0"/>
              </a:spcBef>
              <a:spcAft>
                <a:spcPts val="0"/>
              </a:spcAft>
              <a:buClr>
                <a:schemeClr val="dk1"/>
              </a:buClr>
              <a:buSzPts val="1200"/>
              <a:buChar char="●"/>
            </a:pPr>
            <a:r>
              <a:rPr b="1" lang="en-GB" sz="1200">
                <a:solidFill>
                  <a:schemeClr val="dk1"/>
                </a:solidFill>
              </a:rPr>
              <a:t>Isolated</a:t>
            </a:r>
            <a:r>
              <a:rPr lang="en-GB" sz="1200">
                <a:solidFill>
                  <a:schemeClr val="dk1"/>
                </a:solidFill>
              </a:rPr>
              <a:t>. Unit tests are standalone, can be run in isolation, and have no dependencies on any outside factors such as a file system or database.</a:t>
            </a:r>
            <a:endParaRPr sz="1200">
              <a:solidFill>
                <a:schemeClr val="dk1"/>
              </a:solidFill>
            </a:endParaRPr>
          </a:p>
          <a:p>
            <a:pPr indent="-304800" lvl="0" marL="825500" rtl="0" algn="l">
              <a:spcBef>
                <a:spcPts val="0"/>
              </a:spcBef>
              <a:spcAft>
                <a:spcPts val="0"/>
              </a:spcAft>
              <a:buClr>
                <a:schemeClr val="dk1"/>
              </a:buClr>
              <a:buSzPts val="1200"/>
              <a:buChar char="●"/>
            </a:pPr>
            <a:r>
              <a:rPr b="1" lang="en-GB" sz="1200">
                <a:solidFill>
                  <a:schemeClr val="dk1"/>
                </a:solidFill>
              </a:rPr>
              <a:t>Repeatable</a:t>
            </a:r>
            <a:r>
              <a:rPr lang="en-GB" sz="1200">
                <a:solidFill>
                  <a:schemeClr val="dk1"/>
                </a:solidFill>
              </a:rPr>
              <a:t>. Running a unit test should be consistent with its results, that is, it always returns the same result if you do not change anything in between runs.</a:t>
            </a:r>
            <a:endParaRPr sz="1200">
              <a:solidFill>
                <a:schemeClr val="dk1"/>
              </a:solidFill>
            </a:endParaRPr>
          </a:p>
          <a:p>
            <a:pPr indent="-304800" lvl="0" marL="825500" rtl="0" algn="l">
              <a:spcBef>
                <a:spcPts val="0"/>
              </a:spcBef>
              <a:spcAft>
                <a:spcPts val="0"/>
              </a:spcAft>
              <a:buClr>
                <a:schemeClr val="dk1"/>
              </a:buClr>
              <a:buSzPts val="1200"/>
              <a:buChar char="●"/>
            </a:pPr>
            <a:r>
              <a:rPr b="1" lang="en-GB" sz="1200">
                <a:solidFill>
                  <a:schemeClr val="dk1"/>
                </a:solidFill>
              </a:rPr>
              <a:t>Self-Checking</a:t>
            </a:r>
            <a:r>
              <a:rPr lang="en-GB" sz="1200">
                <a:solidFill>
                  <a:schemeClr val="dk1"/>
                </a:solidFill>
              </a:rPr>
              <a:t>. The test should be able to automatically detect if it passed or failed without any human interaction.</a:t>
            </a:r>
            <a:endParaRPr sz="1200">
              <a:solidFill>
                <a:schemeClr val="dk1"/>
              </a:solidFill>
            </a:endParaRPr>
          </a:p>
          <a:p>
            <a:pPr indent="-304800" lvl="0" marL="825500" rtl="0" algn="l">
              <a:spcBef>
                <a:spcPts val="0"/>
              </a:spcBef>
              <a:spcAft>
                <a:spcPts val="0"/>
              </a:spcAft>
              <a:buClr>
                <a:schemeClr val="dk1"/>
              </a:buClr>
              <a:buSzPts val="1200"/>
              <a:buChar char="●"/>
            </a:pPr>
            <a:r>
              <a:rPr b="1" lang="en-GB" sz="1200">
                <a:solidFill>
                  <a:schemeClr val="dk1"/>
                </a:solidFill>
              </a:rPr>
              <a:t>Timely</a:t>
            </a:r>
            <a:r>
              <a:rPr lang="en-GB" sz="1200">
                <a:solidFill>
                  <a:schemeClr val="dk1"/>
                </a:solidFill>
              </a:rPr>
              <a:t>. A unit test should not take a disproportionately long time to write compared to the code being tested. If you find testing the code taking a large amount of time compared to writing the code, consider a design that is more testable.</a:t>
            </a:r>
            <a:endParaRPr sz="1200">
              <a:solidFill>
                <a:schemeClr val="dk1"/>
              </a:solidFill>
            </a:endParaRPr>
          </a:p>
          <a:p>
            <a:pPr indent="0" lvl="0" marL="0" rtl="0" algn="l">
              <a:spcBef>
                <a:spcPts val="240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30000"/>
              </a:lnSpc>
              <a:spcBef>
                <a:spcPts val="2300"/>
              </a:spcBef>
              <a:spcAft>
                <a:spcPts val="0"/>
              </a:spcAft>
              <a:buClr>
                <a:schemeClr val="dk1"/>
              </a:buClr>
              <a:buSzPts val="1100"/>
              <a:buFont typeface="Arial"/>
              <a:buNone/>
            </a:pPr>
            <a:r>
              <a:rPr b="1" lang="en-GB" sz="1300"/>
              <a:t>Avoid logic in tests</a:t>
            </a:r>
            <a:endParaRPr b="1" sz="1300"/>
          </a:p>
          <a:p>
            <a:pPr indent="0" lvl="0" marL="0" rtl="0" algn="l">
              <a:spcBef>
                <a:spcPts val="1400"/>
              </a:spcBef>
              <a:spcAft>
                <a:spcPts val="0"/>
              </a:spcAft>
              <a:buNone/>
            </a:pPr>
            <a:r>
              <a:t/>
            </a:r>
            <a:endParaRPr/>
          </a:p>
        </p:txBody>
      </p:sp>
      <p:sp>
        <p:nvSpPr>
          <p:cNvPr id="96" name="Google Shape;96;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200">
                <a:solidFill>
                  <a:schemeClr val="dk1"/>
                </a:solidFill>
              </a:rPr>
              <a:t>When writing your unit tests avoid manual string concatenation and logical conditions such as </a:t>
            </a:r>
            <a:r>
              <a:rPr lang="en-GB" sz="1000">
                <a:solidFill>
                  <a:schemeClr val="dk1"/>
                </a:solidFill>
                <a:latin typeface="Courier New"/>
                <a:ea typeface="Courier New"/>
                <a:cs typeface="Courier New"/>
                <a:sym typeface="Courier New"/>
              </a:rPr>
              <a:t>if</a:t>
            </a:r>
            <a:r>
              <a:rPr lang="en-GB" sz="1200">
                <a:solidFill>
                  <a:schemeClr val="dk1"/>
                </a:solidFill>
              </a:rPr>
              <a:t>, </a:t>
            </a:r>
            <a:r>
              <a:rPr lang="en-GB" sz="1000">
                <a:solidFill>
                  <a:schemeClr val="dk1"/>
                </a:solidFill>
                <a:latin typeface="Courier New"/>
                <a:ea typeface="Courier New"/>
                <a:cs typeface="Courier New"/>
                <a:sym typeface="Courier New"/>
              </a:rPr>
              <a:t>while</a:t>
            </a:r>
            <a:r>
              <a:rPr lang="en-GB" sz="1200">
                <a:solidFill>
                  <a:schemeClr val="dk1"/>
                </a:solidFill>
              </a:rPr>
              <a:t>, </a:t>
            </a:r>
            <a:r>
              <a:rPr lang="en-GB" sz="1000">
                <a:solidFill>
                  <a:schemeClr val="dk1"/>
                </a:solidFill>
                <a:latin typeface="Courier New"/>
                <a:ea typeface="Courier New"/>
                <a:cs typeface="Courier New"/>
                <a:sym typeface="Courier New"/>
              </a:rPr>
              <a:t>for</a:t>
            </a:r>
            <a:r>
              <a:rPr lang="en-GB" sz="1200">
                <a:solidFill>
                  <a:schemeClr val="dk1"/>
                </a:solidFill>
              </a:rPr>
              <a:t>, </a:t>
            </a:r>
            <a:r>
              <a:rPr lang="en-GB" sz="1000">
                <a:solidFill>
                  <a:schemeClr val="dk1"/>
                </a:solidFill>
                <a:latin typeface="Courier New"/>
                <a:ea typeface="Courier New"/>
                <a:cs typeface="Courier New"/>
                <a:sym typeface="Courier New"/>
              </a:rPr>
              <a:t>switch</a:t>
            </a:r>
            <a:r>
              <a:rPr lang="en-GB" sz="1200">
                <a:solidFill>
                  <a:schemeClr val="dk1"/>
                </a:solidFill>
              </a:rPr>
              <a:t>, etc.</a:t>
            </a:r>
            <a:endParaRPr sz="1200">
              <a:solidFill>
                <a:schemeClr val="dk1"/>
              </a:solidFill>
            </a:endParaRPr>
          </a:p>
          <a:p>
            <a:pPr indent="0" lvl="0" marL="0" marR="0" rtl="0" algn="l">
              <a:lnSpc>
                <a:spcPct val="100000"/>
              </a:lnSpc>
              <a:spcBef>
                <a:spcPts val="2600"/>
              </a:spcBef>
              <a:spcAft>
                <a:spcPts val="0"/>
              </a:spcAft>
              <a:buClr>
                <a:schemeClr val="dk1"/>
              </a:buClr>
              <a:buSzPts val="1100"/>
              <a:buFont typeface="Arial"/>
              <a:buNone/>
            </a:pPr>
            <a:r>
              <a:rPr b="1" lang="en-GB" sz="1200">
                <a:solidFill>
                  <a:schemeClr val="dk1"/>
                </a:solidFill>
              </a:rPr>
              <a:t>Why?</a:t>
            </a:r>
            <a:endParaRPr b="1" sz="1200">
              <a:solidFill>
                <a:schemeClr val="dk1"/>
              </a:solidFill>
            </a:endParaRPr>
          </a:p>
          <a:p>
            <a:pPr indent="-304800" lvl="0" marL="825500" rtl="0" algn="l">
              <a:spcBef>
                <a:spcPts val="2400"/>
              </a:spcBef>
              <a:spcAft>
                <a:spcPts val="0"/>
              </a:spcAft>
              <a:buClr>
                <a:schemeClr val="dk1"/>
              </a:buClr>
              <a:buSzPts val="1200"/>
              <a:buChar char="●"/>
            </a:pPr>
            <a:r>
              <a:rPr lang="en-GB" sz="1200">
                <a:solidFill>
                  <a:schemeClr val="dk1"/>
                </a:solidFill>
              </a:rPr>
              <a:t>Less chance to introduce a bug inside of your tests.</a:t>
            </a:r>
            <a:endParaRPr sz="1200">
              <a:solidFill>
                <a:schemeClr val="dk1"/>
              </a:solidFill>
            </a:endParaRPr>
          </a:p>
          <a:p>
            <a:pPr indent="-304800" lvl="0" marL="825500" rtl="0" algn="l">
              <a:spcBef>
                <a:spcPts val="0"/>
              </a:spcBef>
              <a:spcAft>
                <a:spcPts val="0"/>
              </a:spcAft>
              <a:buClr>
                <a:schemeClr val="dk1"/>
              </a:buClr>
              <a:buSzPts val="1200"/>
              <a:buChar char="●"/>
            </a:pPr>
            <a:r>
              <a:rPr lang="en-GB" sz="1200">
                <a:solidFill>
                  <a:schemeClr val="dk1"/>
                </a:solidFill>
              </a:rPr>
              <a:t>Focus on the end result, rather than implementation details.</a:t>
            </a:r>
            <a:endParaRPr sz="1200">
              <a:solidFill>
                <a:schemeClr val="dk1"/>
              </a:solidFill>
            </a:endParaRPr>
          </a:p>
          <a:p>
            <a:pPr indent="0" lvl="0" marL="0" rtl="0" algn="l">
              <a:spcBef>
                <a:spcPts val="2400"/>
              </a:spcBef>
              <a:spcAft>
                <a:spcPts val="0"/>
              </a:spcAft>
              <a:buClr>
                <a:schemeClr val="dk1"/>
              </a:buClr>
              <a:buSzPts val="1100"/>
              <a:buFont typeface="Arial"/>
              <a:buNone/>
            </a:pPr>
            <a:r>
              <a:rPr lang="en-GB" sz="1200">
                <a:solidFill>
                  <a:schemeClr val="dk1"/>
                </a:solidFill>
              </a:rPr>
              <a:t>When you introduce logic into your test suite, the chance of introducing a bug into it increases dramatically. The last place that you want to find a bug is within your test suite. You should have a high level of confidence that your tests work, otherwise, you will not trust them. Tests that you do not trust, do not provide any value. When a test fails, you want to have a sense that something is actually wrong with your code and that it cannot be ignored.</a:t>
            </a:r>
            <a:endParaRPr sz="1200">
              <a:solidFill>
                <a:schemeClr val="dk1"/>
              </a:solidFill>
            </a:endParaRPr>
          </a:p>
          <a:p>
            <a:pPr indent="0" lvl="0" marL="0" rtl="0" algn="l">
              <a:spcBef>
                <a:spcPts val="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0" name="Shape 100"/>
        <p:cNvGrpSpPr/>
        <p:nvPr/>
      </p:nvGrpSpPr>
      <p:grpSpPr>
        <a:xfrm>
          <a:off x="0" y="0"/>
          <a:ext cx="0" cy="0"/>
          <a:chOff x="0" y="0"/>
          <a:chExt cx="0" cy="0"/>
        </a:xfrm>
      </p:grpSpPr>
      <p:sp>
        <p:nvSpPr>
          <p:cNvPr id="101" name="Google Shape;101;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When to create function for arrange?</a:t>
            </a:r>
            <a:endParaRPr/>
          </a:p>
        </p:txBody>
      </p:sp>
      <p:sp>
        <p:nvSpPr>
          <p:cNvPr id="102" name="Google Shape;102;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GB"/>
              <a:t>When arrange data creation is quite big.</a:t>
            </a:r>
            <a:endParaRPr/>
          </a:p>
          <a:p>
            <a:pPr indent="-342900" lvl="0" marL="457200" rtl="0" algn="l">
              <a:spcBef>
                <a:spcPts val="0"/>
              </a:spcBef>
              <a:spcAft>
                <a:spcPts val="0"/>
              </a:spcAft>
              <a:buSzPts val="1800"/>
              <a:buAutoNum type="arabicPeriod"/>
            </a:pPr>
            <a:r>
              <a:rPr lang="en-GB"/>
              <a:t>When we unable to understand whats going on in arrage part.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Questions:</a:t>
            </a:r>
            <a:endParaRPr/>
          </a:p>
        </p:txBody>
      </p:sp>
      <p:sp>
        <p:nvSpPr>
          <p:cNvPr id="108" name="Google Shape;108;p2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GB"/>
              <a:t>When to test and not to test method?</a:t>
            </a:r>
            <a:endParaRPr/>
          </a:p>
          <a:p>
            <a:pPr indent="-342900" lvl="0" marL="457200" rtl="0" algn="l">
              <a:spcBef>
                <a:spcPts val="0"/>
              </a:spcBef>
              <a:spcAft>
                <a:spcPts val="0"/>
              </a:spcAft>
              <a:buSzPts val="1800"/>
              <a:buAutoNum type="arabicPeriod"/>
            </a:pPr>
            <a:r>
              <a:rPr lang="en-GB"/>
              <a:t>How to test private method?</a:t>
            </a:r>
            <a:endParaRPr/>
          </a:p>
          <a:p>
            <a:pPr indent="-342900" lvl="0" marL="457200" rtl="0" algn="l">
              <a:spcBef>
                <a:spcPts val="0"/>
              </a:spcBef>
              <a:spcAft>
                <a:spcPts val="0"/>
              </a:spcAft>
              <a:buSzPts val="1800"/>
              <a:buAutoNum type="arabicPeriod"/>
            </a:pPr>
            <a:r>
              <a:rPr lang="en-GB"/>
              <a:t>Can I test static class?</a:t>
            </a:r>
            <a:endParaRPr/>
          </a:p>
          <a:p>
            <a:pPr indent="-342900" lvl="0" marL="457200" rtl="0" algn="l">
              <a:spcBef>
                <a:spcPts val="0"/>
              </a:spcBef>
              <a:spcAft>
                <a:spcPts val="0"/>
              </a:spcAft>
              <a:buSzPts val="1800"/>
              <a:buAutoNum type="arabicPeriod"/>
            </a:pPr>
            <a:r>
              <a:rPr lang="en-GB"/>
              <a:t>Shall we reuse solver </a:t>
            </a:r>
            <a:r>
              <a:rPr lang="en-GB"/>
              <a:t>functionality</a:t>
            </a:r>
            <a:r>
              <a:rPr lang="en-GB"/>
              <a:t> to build object or copy code from solver to test and build object?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2" name="Shape 112"/>
        <p:cNvGrpSpPr/>
        <p:nvPr/>
      </p:nvGrpSpPr>
      <p:grpSpPr>
        <a:xfrm>
          <a:off x="0" y="0"/>
          <a:ext cx="0" cy="0"/>
          <a:chOff x="0" y="0"/>
          <a:chExt cx="0" cy="0"/>
        </a:xfrm>
      </p:grpSpPr>
      <p:pic>
        <p:nvPicPr>
          <p:cNvPr id="113" name="Google Shape;113;p23"/>
          <p:cNvPicPr preferRelativeResize="0"/>
          <p:nvPr/>
        </p:nvPicPr>
        <p:blipFill>
          <a:blip r:embed="rId3">
            <a:alphaModFix/>
          </a:blip>
          <a:stretch>
            <a:fillRect/>
          </a:stretch>
        </p:blipFill>
        <p:spPr>
          <a:xfrm>
            <a:off x="1385888" y="323850"/>
            <a:ext cx="6372225" cy="4495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7" name="Shape 117"/>
        <p:cNvGrpSpPr/>
        <p:nvPr/>
      </p:nvGrpSpPr>
      <p:grpSpPr>
        <a:xfrm>
          <a:off x="0" y="0"/>
          <a:ext cx="0" cy="0"/>
          <a:chOff x="0" y="0"/>
          <a:chExt cx="0" cy="0"/>
        </a:xfrm>
      </p:grpSpPr>
      <p:pic>
        <p:nvPicPr>
          <p:cNvPr id="118" name="Google Shape;118;p24"/>
          <p:cNvPicPr preferRelativeResize="0"/>
          <p:nvPr/>
        </p:nvPicPr>
        <p:blipFill>
          <a:blip r:embed="rId3">
            <a:alphaModFix/>
          </a:blip>
          <a:stretch>
            <a:fillRect/>
          </a:stretch>
        </p:blipFill>
        <p:spPr>
          <a:xfrm>
            <a:off x="0" y="2"/>
            <a:ext cx="8839200" cy="1325300"/>
          </a:xfrm>
          <a:prstGeom prst="rect">
            <a:avLst/>
          </a:prstGeom>
          <a:noFill/>
          <a:ln>
            <a:noFill/>
          </a:ln>
        </p:spPr>
      </p:pic>
      <p:pic>
        <p:nvPicPr>
          <p:cNvPr id="119" name="Google Shape;119;p24"/>
          <p:cNvPicPr preferRelativeResize="0"/>
          <p:nvPr/>
        </p:nvPicPr>
        <p:blipFill>
          <a:blip r:embed="rId4">
            <a:alphaModFix/>
          </a:blip>
          <a:stretch>
            <a:fillRect/>
          </a:stretch>
        </p:blipFill>
        <p:spPr>
          <a:xfrm>
            <a:off x="144650" y="1843625"/>
            <a:ext cx="6215999" cy="2806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3" name="Shape 123"/>
        <p:cNvGrpSpPr/>
        <p:nvPr/>
      </p:nvGrpSpPr>
      <p:grpSpPr>
        <a:xfrm>
          <a:off x="0" y="0"/>
          <a:ext cx="0" cy="0"/>
          <a:chOff x="0" y="0"/>
          <a:chExt cx="0" cy="0"/>
        </a:xfrm>
      </p:grpSpPr>
      <p:pic>
        <p:nvPicPr>
          <p:cNvPr id="124" name="Google Shape;124;p25"/>
          <p:cNvPicPr preferRelativeResize="0"/>
          <p:nvPr/>
        </p:nvPicPr>
        <p:blipFill>
          <a:blip r:embed="rId3">
            <a:alphaModFix/>
          </a:blip>
          <a:stretch>
            <a:fillRect/>
          </a:stretch>
        </p:blipFill>
        <p:spPr>
          <a:xfrm>
            <a:off x="160125" y="108450"/>
            <a:ext cx="8593101" cy="50995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8" name="Shape 128"/>
        <p:cNvGrpSpPr/>
        <p:nvPr/>
      </p:nvGrpSpPr>
      <p:grpSpPr>
        <a:xfrm>
          <a:off x="0" y="0"/>
          <a:ext cx="0" cy="0"/>
          <a:chOff x="0" y="0"/>
          <a:chExt cx="0" cy="0"/>
        </a:xfrm>
      </p:grpSpPr>
      <p:sp>
        <p:nvSpPr>
          <p:cNvPr id="129" name="Google Shape;129;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GB"/>
              <a:t>Is it possible to get more break if driver is working for 12 hours? So that we will cover edge cases. (DriverHoursRuleCalculatorTest)</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