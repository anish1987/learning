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40"/>
  </p:notesMasterIdLst>
  <p:sldIdLst>
    <p:sldId id="7882" r:id="rId3"/>
    <p:sldId id="8041" r:id="rId4"/>
    <p:sldId id="8000" r:id="rId5"/>
    <p:sldId id="8023" r:id="rId6"/>
    <p:sldId id="8013" r:id="rId7"/>
    <p:sldId id="8018" r:id="rId8"/>
    <p:sldId id="8026" r:id="rId9"/>
    <p:sldId id="8028" r:id="rId10"/>
    <p:sldId id="8027" r:id="rId11"/>
    <p:sldId id="8029" r:id="rId12"/>
    <p:sldId id="8037" r:id="rId13"/>
    <p:sldId id="8030" r:id="rId14"/>
    <p:sldId id="8031" r:id="rId15"/>
    <p:sldId id="8032" r:id="rId16"/>
    <p:sldId id="8033" r:id="rId17"/>
    <p:sldId id="8034" r:id="rId18"/>
    <p:sldId id="8036" r:id="rId19"/>
    <p:sldId id="8039" r:id="rId20"/>
    <p:sldId id="262" r:id="rId21"/>
    <p:sldId id="265" r:id="rId22"/>
    <p:sldId id="266" r:id="rId23"/>
    <p:sldId id="276" r:id="rId24"/>
    <p:sldId id="277" r:id="rId25"/>
    <p:sldId id="284" r:id="rId26"/>
    <p:sldId id="268" r:id="rId27"/>
    <p:sldId id="285" r:id="rId28"/>
    <p:sldId id="8040" r:id="rId29"/>
    <p:sldId id="271" r:id="rId30"/>
    <p:sldId id="272" r:id="rId31"/>
    <p:sldId id="273" r:id="rId32"/>
    <p:sldId id="274" r:id="rId33"/>
    <p:sldId id="8042" r:id="rId34"/>
    <p:sldId id="282" r:id="rId35"/>
    <p:sldId id="8043" r:id="rId36"/>
    <p:sldId id="281" r:id="rId37"/>
    <p:sldId id="8001" r:id="rId38"/>
    <p:sldId id="801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8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AC5D3F-1A1B-4569-A414-E4FA95E1771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4FF5B9-E023-46C4-A242-D7576BEF8A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/>
            <a:t>Standard  Helm chart </a:t>
          </a:r>
          <a:endParaRPr lang="en-US" dirty="0"/>
        </a:p>
      </dgm:t>
    </dgm:pt>
    <dgm:pt modelId="{18B32330-D7BE-4E10-8FFD-9E5238DDC2C1}" type="parTrans" cxnId="{FCE78CBF-ECB1-49C8-AF31-3B14F55FDE23}">
      <dgm:prSet/>
      <dgm:spPr/>
      <dgm:t>
        <a:bodyPr/>
        <a:lstStyle/>
        <a:p>
          <a:endParaRPr lang="en-US"/>
        </a:p>
      </dgm:t>
    </dgm:pt>
    <dgm:pt modelId="{7A91CB67-DA62-44DF-943E-319B0E4E1CE1}" type="sibTrans" cxnId="{FCE78CBF-ECB1-49C8-AF31-3B14F55FDE23}">
      <dgm:prSet/>
      <dgm:spPr/>
      <dgm:t>
        <a:bodyPr/>
        <a:lstStyle/>
        <a:p>
          <a:endParaRPr lang="en-US"/>
        </a:p>
      </dgm:t>
    </dgm:pt>
    <dgm:pt modelId="{F5799416-E2E6-44CF-8CBD-44E0929A93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Custom Helm chart </a:t>
          </a:r>
          <a:endParaRPr lang="en-US"/>
        </a:p>
      </dgm:t>
    </dgm:pt>
    <dgm:pt modelId="{BD13D8DB-D3FB-4C98-A940-2D5F6A334B0D}" type="parTrans" cxnId="{B9CAD0C2-7994-4D98-9729-81966F13B57C}">
      <dgm:prSet/>
      <dgm:spPr/>
      <dgm:t>
        <a:bodyPr/>
        <a:lstStyle/>
        <a:p>
          <a:endParaRPr lang="en-US"/>
        </a:p>
      </dgm:t>
    </dgm:pt>
    <dgm:pt modelId="{37F586C8-0326-488F-9D2E-0AC0B271E0C5}" type="sibTrans" cxnId="{B9CAD0C2-7994-4D98-9729-81966F13B57C}">
      <dgm:prSet/>
      <dgm:spPr/>
      <dgm:t>
        <a:bodyPr/>
        <a:lstStyle/>
        <a:p>
          <a:endParaRPr lang="en-US"/>
        </a:p>
      </dgm:t>
    </dgm:pt>
    <dgm:pt modelId="{13D0E207-181C-4582-A70A-160C090BFA29}" type="pres">
      <dgm:prSet presAssocID="{95AC5D3F-1A1B-4569-A414-E4FA95E1771D}" presName="root" presStyleCnt="0">
        <dgm:presLayoutVars>
          <dgm:dir/>
          <dgm:resizeHandles val="exact"/>
        </dgm:presLayoutVars>
      </dgm:prSet>
      <dgm:spPr/>
    </dgm:pt>
    <dgm:pt modelId="{0115ED02-D3B8-4D53-B9B5-BEAC62A8851D}" type="pres">
      <dgm:prSet presAssocID="{5E4FF5B9-E023-46C4-A242-D7576BEF8ABC}" presName="compNode" presStyleCnt="0"/>
      <dgm:spPr/>
    </dgm:pt>
    <dgm:pt modelId="{524837A7-1214-4902-94BA-CA3E4BD31CE9}" type="pres">
      <dgm:prSet presAssocID="{5E4FF5B9-E023-46C4-A242-D7576BEF8ABC}" presName="iconBgRect" presStyleLbl="bgShp" presStyleIdx="0" presStyleCnt="2"/>
      <dgm:spPr/>
    </dgm:pt>
    <dgm:pt modelId="{390E57CE-280E-4C29-978F-8211A7EC14DD}" type="pres">
      <dgm:prSet presAssocID="{5E4FF5B9-E023-46C4-A242-D7576BEF8AB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71D8029-4DA8-4B0C-B2C6-4298FD7A47FF}" type="pres">
      <dgm:prSet presAssocID="{5E4FF5B9-E023-46C4-A242-D7576BEF8ABC}" presName="spaceRect" presStyleCnt="0"/>
      <dgm:spPr/>
    </dgm:pt>
    <dgm:pt modelId="{1C15041F-B90B-480C-B915-9CB4B5FEB5A4}" type="pres">
      <dgm:prSet presAssocID="{5E4FF5B9-E023-46C4-A242-D7576BEF8ABC}" presName="textRect" presStyleLbl="revTx" presStyleIdx="0" presStyleCnt="2">
        <dgm:presLayoutVars>
          <dgm:chMax val="1"/>
          <dgm:chPref val="1"/>
        </dgm:presLayoutVars>
      </dgm:prSet>
      <dgm:spPr/>
    </dgm:pt>
    <dgm:pt modelId="{5F4808A1-C7C7-4A8E-A017-16B25D51CDE0}" type="pres">
      <dgm:prSet presAssocID="{7A91CB67-DA62-44DF-943E-319B0E4E1CE1}" presName="sibTrans" presStyleCnt="0"/>
      <dgm:spPr/>
    </dgm:pt>
    <dgm:pt modelId="{60B8BC88-347B-434E-9FDB-CB5BA0F0919D}" type="pres">
      <dgm:prSet presAssocID="{F5799416-E2E6-44CF-8CBD-44E0929A934E}" presName="compNode" presStyleCnt="0"/>
      <dgm:spPr/>
    </dgm:pt>
    <dgm:pt modelId="{BE7883AC-7C37-450B-9ADF-FDB932099330}" type="pres">
      <dgm:prSet presAssocID="{F5799416-E2E6-44CF-8CBD-44E0929A934E}" presName="iconBgRect" presStyleLbl="bgShp" presStyleIdx="1" presStyleCnt="2"/>
      <dgm:spPr/>
    </dgm:pt>
    <dgm:pt modelId="{A18FBCAD-7638-4766-AA1A-11C2DBBA1318}" type="pres">
      <dgm:prSet presAssocID="{F5799416-E2E6-44CF-8CBD-44E0929A934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5E26D8D-CA0D-4B5E-B4AA-134069B05AE5}" type="pres">
      <dgm:prSet presAssocID="{F5799416-E2E6-44CF-8CBD-44E0929A934E}" presName="spaceRect" presStyleCnt="0"/>
      <dgm:spPr/>
    </dgm:pt>
    <dgm:pt modelId="{8BDC0484-63D0-4154-9778-DD720AD89ED8}" type="pres">
      <dgm:prSet presAssocID="{F5799416-E2E6-44CF-8CBD-44E0929A934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91D162D-4992-4EC1-99D4-6E425C61FCE4}" type="presOf" srcId="{F5799416-E2E6-44CF-8CBD-44E0929A934E}" destId="{8BDC0484-63D0-4154-9778-DD720AD89ED8}" srcOrd="0" destOrd="0" presId="urn:microsoft.com/office/officeart/2018/5/layout/IconCircleLabelList"/>
    <dgm:cxn modelId="{610B2830-9C9E-4C8C-A933-4E2D6CF59C02}" type="presOf" srcId="{95AC5D3F-1A1B-4569-A414-E4FA95E1771D}" destId="{13D0E207-181C-4582-A70A-160C090BFA29}" srcOrd="0" destOrd="0" presId="urn:microsoft.com/office/officeart/2018/5/layout/IconCircleLabelList"/>
    <dgm:cxn modelId="{37D0773D-A9AF-42C4-894A-E29AF73E6CA4}" type="presOf" srcId="{5E4FF5B9-E023-46C4-A242-D7576BEF8ABC}" destId="{1C15041F-B90B-480C-B915-9CB4B5FEB5A4}" srcOrd="0" destOrd="0" presId="urn:microsoft.com/office/officeart/2018/5/layout/IconCircleLabelList"/>
    <dgm:cxn modelId="{FCE78CBF-ECB1-49C8-AF31-3B14F55FDE23}" srcId="{95AC5D3F-1A1B-4569-A414-E4FA95E1771D}" destId="{5E4FF5B9-E023-46C4-A242-D7576BEF8ABC}" srcOrd="0" destOrd="0" parTransId="{18B32330-D7BE-4E10-8FFD-9E5238DDC2C1}" sibTransId="{7A91CB67-DA62-44DF-943E-319B0E4E1CE1}"/>
    <dgm:cxn modelId="{B9CAD0C2-7994-4D98-9729-81966F13B57C}" srcId="{95AC5D3F-1A1B-4569-A414-E4FA95E1771D}" destId="{F5799416-E2E6-44CF-8CBD-44E0929A934E}" srcOrd="1" destOrd="0" parTransId="{BD13D8DB-D3FB-4C98-A940-2D5F6A334B0D}" sibTransId="{37F586C8-0326-488F-9D2E-0AC0B271E0C5}"/>
    <dgm:cxn modelId="{F66E19D9-7C7B-48AB-8813-408AF9D522A2}" type="presParOf" srcId="{13D0E207-181C-4582-A70A-160C090BFA29}" destId="{0115ED02-D3B8-4D53-B9B5-BEAC62A8851D}" srcOrd="0" destOrd="0" presId="urn:microsoft.com/office/officeart/2018/5/layout/IconCircleLabelList"/>
    <dgm:cxn modelId="{2EE2335A-34EE-4876-B816-EB90551BC772}" type="presParOf" srcId="{0115ED02-D3B8-4D53-B9B5-BEAC62A8851D}" destId="{524837A7-1214-4902-94BA-CA3E4BD31CE9}" srcOrd="0" destOrd="0" presId="urn:microsoft.com/office/officeart/2018/5/layout/IconCircleLabelList"/>
    <dgm:cxn modelId="{AD9ED73B-9C73-4AA7-820D-24A5DD466C11}" type="presParOf" srcId="{0115ED02-D3B8-4D53-B9B5-BEAC62A8851D}" destId="{390E57CE-280E-4C29-978F-8211A7EC14DD}" srcOrd="1" destOrd="0" presId="urn:microsoft.com/office/officeart/2018/5/layout/IconCircleLabelList"/>
    <dgm:cxn modelId="{019B3CB0-A80E-4A35-9D15-EB17C085E416}" type="presParOf" srcId="{0115ED02-D3B8-4D53-B9B5-BEAC62A8851D}" destId="{871D8029-4DA8-4B0C-B2C6-4298FD7A47FF}" srcOrd="2" destOrd="0" presId="urn:microsoft.com/office/officeart/2018/5/layout/IconCircleLabelList"/>
    <dgm:cxn modelId="{5DDC18EC-1DE9-458C-AAEB-3429363B93ED}" type="presParOf" srcId="{0115ED02-D3B8-4D53-B9B5-BEAC62A8851D}" destId="{1C15041F-B90B-480C-B915-9CB4B5FEB5A4}" srcOrd="3" destOrd="0" presId="urn:microsoft.com/office/officeart/2018/5/layout/IconCircleLabelList"/>
    <dgm:cxn modelId="{5A513ABA-3478-49DC-B6EB-D697CF1AAB0A}" type="presParOf" srcId="{13D0E207-181C-4582-A70A-160C090BFA29}" destId="{5F4808A1-C7C7-4A8E-A017-16B25D51CDE0}" srcOrd="1" destOrd="0" presId="urn:microsoft.com/office/officeart/2018/5/layout/IconCircleLabelList"/>
    <dgm:cxn modelId="{459A9D7E-BDD3-46FC-81BA-875D51EDEF74}" type="presParOf" srcId="{13D0E207-181C-4582-A70A-160C090BFA29}" destId="{60B8BC88-347B-434E-9FDB-CB5BA0F0919D}" srcOrd="2" destOrd="0" presId="urn:microsoft.com/office/officeart/2018/5/layout/IconCircleLabelList"/>
    <dgm:cxn modelId="{2D7D2C05-A957-4116-9021-6F216F3B0298}" type="presParOf" srcId="{60B8BC88-347B-434E-9FDB-CB5BA0F0919D}" destId="{BE7883AC-7C37-450B-9ADF-FDB932099330}" srcOrd="0" destOrd="0" presId="urn:microsoft.com/office/officeart/2018/5/layout/IconCircleLabelList"/>
    <dgm:cxn modelId="{0CC95A7A-D89F-4044-8C78-880141C0A48E}" type="presParOf" srcId="{60B8BC88-347B-434E-9FDB-CB5BA0F0919D}" destId="{A18FBCAD-7638-4766-AA1A-11C2DBBA1318}" srcOrd="1" destOrd="0" presId="urn:microsoft.com/office/officeart/2018/5/layout/IconCircleLabelList"/>
    <dgm:cxn modelId="{803DCC09-34E3-4C1A-A020-CB69D91E272E}" type="presParOf" srcId="{60B8BC88-347B-434E-9FDB-CB5BA0F0919D}" destId="{F5E26D8D-CA0D-4B5E-B4AA-134069B05AE5}" srcOrd="2" destOrd="0" presId="urn:microsoft.com/office/officeart/2018/5/layout/IconCircleLabelList"/>
    <dgm:cxn modelId="{F01F1D53-B42E-44AB-94C8-572B14BC33C6}" type="presParOf" srcId="{60B8BC88-347B-434E-9FDB-CB5BA0F0919D}" destId="{8BDC0484-63D0-4154-9778-DD720AD89ED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837A7-1214-4902-94BA-CA3E4BD31CE9}">
      <dsp:nvSpPr>
        <dsp:cNvPr id="0" name=""/>
        <dsp:cNvSpPr/>
      </dsp:nvSpPr>
      <dsp:spPr>
        <a:xfrm>
          <a:off x="1816199" y="211362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E57CE-280E-4C29-978F-8211A7EC14DD}">
      <dsp:nvSpPr>
        <dsp:cNvPr id="0" name=""/>
        <dsp:cNvSpPr/>
      </dsp:nvSpPr>
      <dsp:spPr>
        <a:xfrm>
          <a:off x="2284199" y="67936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5041F-B90B-480C-B915-9CB4B5FEB5A4}">
      <dsp:nvSpPr>
        <dsp:cNvPr id="0" name=""/>
        <dsp:cNvSpPr/>
      </dsp:nvSpPr>
      <dsp:spPr>
        <a:xfrm>
          <a:off x="1114199" y="309136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700" kern="1200" dirty="0"/>
            <a:t>Standard  Helm chart </a:t>
          </a:r>
          <a:endParaRPr lang="en-US" sz="2700" kern="1200" dirty="0"/>
        </a:p>
      </dsp:txBody>
      <dsp:txXfrm>
        <a:off x="1114199" y="3091362"/>
        <a:ext cx="3600000" cy="720000"/>
      </dsp:txXfrm>
    </dsp:sp>
    <dsp:sp modelId="{BE7883AC-7C37-450B-9ADF-FDB932099330}">
      <dsp:nvSpPr>
        <dsp:cNvPr id="0" name=""/>
        <dsp:cNvSpPr/>
      </dsp:nvSpPr>
      <dsp:spPr>
        <a:xfrm>
          <a:off x="6046199" y="211362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FBCAD-7638-4766-AA1A-11C2DBBA1318}">
      <dsp:nvSpPr>
        <dsp:cNvPr id="0" name=""/>
        <dsp:cNvSpPr/>
      </dsp:nvSpPr>
      <dsp:spPr>
        <a:xfrm>
          <a:off x="6514199" y="67936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C0484-63D0-4154-9778-DD720AD89ED8}">
      <dsp:nvSpPr>
        <dsp:cNvPr id="0" name=""/>
        <dsp:cNvSpPr/>
      </dsp:nvSpPr>
      <dsp:spPr>
        <a:xfrm>
          <a:off x="5344199" y="309136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700" kern="1200"/>
            <a:t>Custom Helm chart </a:t>
          </a:r>
          <a:endParaRPr lang="en-US" sz="2700" kern="1200"/>
        </a:p>
      </dsp:txBody>
      <dsp:txXfrm>
        <a:off x="5344199" y="309136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3CA29-C67C-486E-8BDC-44D9B1ECF29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3EF77-555D-41DE-A4A4-D637ED014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7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2298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B818E9-1BFE-48FC-84DF-C252CD3E6CD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646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EF54-BB2C-AB0E-10ED-834D414EB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6DCC7-3BAB-B317-8699-C1E5C2CB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3D352-5544-F9EE-1433-65E6C56F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AB25-110A-CA95-C846-6B37000E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AF1A4-A325-434D-22F9-55DD0D1A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99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5DFC-D17E-950F-67B9-C9FFE07F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683DF-B67E-BC57-F246-4E84CA6FC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0AA45-F55D-82C6-4CC3-3C03BCF6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685C6-C183-1928-3A22-2A931F7A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D7DD-B8BD-EF81-3F25-CBAFCEA4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66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C0DB-0C49-190A-F235-76C24693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9FC5B-2864-D6B0-5405-1E96931C7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EEF16-2B11-7B0F-9301-37930476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0FC4C-7371-DBBB-77C7-AF7D7586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D13F3-5EB4-EE60-F903-9E50D280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15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2C3F-C857-401F-8222-8A9CF9888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890BC-E2B8-34EE-0DBC-D64EAF42A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655E6-9B43-09C5-E6D2-05D06015E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4BBE3-C77C-CA06-60FE-3248F3E4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5863A-281E-757C-94BC-289FA573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D625F-581F-22A2-6DBC-4D393A49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38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B66C-8920-FE41-B042-B71DDA7EC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FA5DD-4138-E26F-F2D4-B584496AF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B224E-EC0E-61B9-F9DD-3FE8F6311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58B65-79D4-2FAA-954F-912CFA227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21B5A-6249-3EEB-C3CE-74AF72558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F3C62-B2A0-A8C6-5C23-EC932428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F86DE-4882-319C-50E8-0E4525BE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4C42F-B0B3-FF21-76F2-EB948565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98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8198-E553-6CA9-D594-0E2B7F3F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1F770C-96E4-8606-C68E-FB3B6E1B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16DEB-0C7C-07E7-819F-28ED758B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A473A-4215-9161-5689-C47D3195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60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1A8D7-7CAE-EAE1-C69A-C36FA39A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BE38F-27CE-3114-A178-E0B37DE6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ABC7C-9C59-7A28-CCC7-5FFAF2A9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03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766D-A441-FAE4-A962-F1BACB27A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A6AC-EFE4-98A8-BF8A-BB2206AB1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97F64-9616-D189-0339-38630D161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34959-D2B1-0F00-FE5D-3E68B29A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4195-574A-294B-2032-889B1550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3495-D238-5FB4-0EFD-0ED4F97A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92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BC32-E04C-9F20-5888-4BC0B75A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DEF2A-8913-DC0D-3DA2-4D271270A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1B0F7-092C-BDE4-E8D8-9AC0B3A77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F3693-D0E5-F59F-5AB8-234F1AD8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729A9-A201-6ED9-02A3-8ABE2DB0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60A82-2A45-EF92-6BD6-0E862F23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97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DFCD-B3A3-F81E-D1DB-AE42A692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2F594-4CAA-7C06-B7C4-80964C308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AD626-B37A-3C34-9E70-4745F8F41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B6B5-801D-EAEC-BC67-40D8FED0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8270C-3975-6798-14CA-F40B6578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30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2DF90-F122-3EA2-435A-8B98E04C1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D96BD-249D-53AC-2CBB-924EA9558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80FBE-BE6D-4394-8167-DF3E9634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EA056-E7D3-9002-278C-55E095C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E65D6-063B-B228-BD3C-3D73716F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353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03" y="245889"/>
            <a:ext cx="8226803" cy="2387600"/>
          </a:xfrm>
        </p:spPr>
        <p:txBody>
          <a:bodyPr anchor="b"/>
          <a:lstStyle>
            <a:lvl1pPr algn="l"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3" y="2965683"/>
            <a:ext cx="7145107" cy="56358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7308BC-16A6-FE0F-1C94-589D59CB9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03" y="6074695"/>
            <a:ext cx="2438400" cy="308863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05CE355-F97C-EEBD-8CA6-D3AFCDD669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64827" y="1456877"/>
            <a:ext cx="6627173" cy="4926681"/>
          </a:xfrm>
          <a:custGeom>
            <a:avLst/>
            <a:gdLst>
              <a:gd name="connsiteX0" fmla="*/ 2214828 w 4970380"/>
              <a:gd name="connsiteY0" fmla="*/ 0 h 3695011"/>
              <a:gd name="connsiteX1" fmla="*/ 3322219 w 4970380"/>
              <a:gd name="connsiteY1" fmla="*/ 0 h 3695011"/>
              <a:gd name="connsiteX2" fmla="*/ 3690426 w 4970380"/>
              <a:gd name="connsiteY2" fmla="*/ 369936 h 3695011"/>
              <a:gd name="connsiteX3" fmla="*/ 3690426 w 4970380"/>
              <a:gd name="connsiteY3" fmla="*/ 1478494 h 3695011"/>
              <a:gd name="connsiteX4" fmla="*/ 4061726 w 4970380"/>
              <a:gd name="connsiteY4" fmla="*/ 1847829 h 3695011"/>
              <a:gd name="connsiteX5" fmla="*/ 4061726 w 4970380"/>
              <a:gd name="connsiteY5" fmla="*/ 1847922 h 3695011"/>
              <a:gd name="connsiteX6" fmla="*/ 4970380 w 4970380"/>
              <a:gd name="connsiteY6" fmla="*/ 1847922 h 3695011"/>
              <a:gd name="connsiteX7" fmla="*/ 4970380 w 4970380"/>
              <a:gd name="connsiteY7" fmla="*/ 3695011 h 3695011"/>
              <a:gd name="connsiteX8" fmla="*/ 4059372 w 4970380"/>
              <a:gd name="connsiteY8" fmla="*/ 3695011 h 3695011"/>
              <a:gd name="connsiteX9" fmla="*/ 3690380 w 4970380"/>
              <a:gd name="connsiteY9" fmla="*/ 3326139 h 3695011"/>
              <a:gd name="connsiteX10" fmla="*/ 3690380 w 4970380"/>
              <a:gd name="connsiteY10" fmla="*/ 2218319 h 3695011"/>
              <a:gd name="connsiteX11" fmla="*/ 3320326 w 4970380"/>
              <a:gd name="connsiteY11" fmla="*/ 1847922 h 3695011"/>
              <a:gd name="connsiteX12" fmla="*/ 2214782 w 4970380"/>
              <a:gd name="connsiteY12" fmla="*/ 1847922 h 3695011"/>
              <a:gd name="connsiteX13" fmla="*/ 1845513 w 4970380"/>
              <a:gd name="connsiteY13" fmla="*/ 2218319 h 3695011"/>
              <a:gd name="connsiteX14" fmla="*/ 1845513 w 4970380"/>
              <a:gd name="connsiteY14" fmla="*/ 3326139 h 3695011"/>
              <a:gd name="connsiteX15" fmla="*/ 1476845 w 4970380"/>
              <a:gd name="connsiteY15" fmla="*/ 3695011 h 3695011"/>
              <a:gd name="connsiteX16" fmla="*/ 369269 w 4970380"/>
              <a:gd name="connsiteY16" fmla="*/ 3695011 h 3695011"/>
              <a:gd name="connsiteX17" fmla="*/ 0 w 4970380"/>
              <a:gd name="connsiteY17" fmla="*/ 3326139 h 3695011"/>
              <a:gd name="connsiteX18" fmla="*/ 0 w 4970380"/>
              <a:gd name="connsiteY18" fmla="*/ 2217210 h 3695011"/>
              <a:gd name="connsiteX19" fmla="*/ 369269 w 4970380"/>
              <a:gd name="connsiteY19" fmla="*/ 1847875 h 3695011"/>
              <a:gd name="connsiteX20" fmla="*/ 1476891 w 4970380"/>
              <a:gd name="connsiteY20" fmla="*/ 1847875 h 3695011"/>
              <a:gd name="connsiteX21" fmla="*/ 1845559 w 4970380"/>
              <a:gd name="connsiteY21" fmla="*/ 1476831 h 3695011"/>
              <a:gd name="connsiteX22" fmla="*/ 1845559 w 4970380"/>
              <a:gd name="connsiteY22" fmla="*/ 369936 h 3695011"/>
              <a:gd name="connsiteX23" fmla="*/ 2214828 w 4970380"/>
              <a:gd name="connsiteY23" fmla="*/ 0 h 369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70380" h="3695011">
                <a:moveTo>
                  <a:pt x="2214828" y="0"/>
                </a:moveTo>
                <a:lnTo>
                  <a:pt x="3322219" y="0"/>
                </a:lnTo>
                <a:cubicBezTo>
                  <a:pt x="3525296" y="0"/>
                  <a:pt x="3690426" y="165607"/>
                  <a:pt x="3690426" y="369936"/>
                </a:cubicBezTo>
                <a:lnTo>
                  <a:pt x="3690426" y="1478494"/>
                </a:lnTo>
                <a:cubicBezTo>
                  <a:pt x="3691673" y="1682084"/>
                  <a:pt x="3857587" y="1847044"/>
                  <a:pt x="4061726" y="1847829"/>
                </a:cubicBezTo>
                <a:lnTo>
                  <a:pt x="4061726" y="1847922"/>
                </a:lnTo>
                <a:lnTo>
                  <a:pt x="4970380" y="1847922"/>
                </a:lnTo>
                <a:lnTo>
                  <a:pt x="4970380" y="3695011"/>
                </a:lnTo>
                <a:lnTo>
                  <a:pt x="4059372" y="3695011"/>
                </a:lnTo>
                <a:cubicBezTo>
                  <a:pt x="3855972" y="3695011"/>
                  <a:pt x="3690380" y="3529728"/>
                  <a:pt x="3690380" y="3326139"/>
                </a:cubicBezTo>
                <a:lnTo>
                  <a:pt x="3690380" y="2218319"/>
                </a:lnTo>
                <a:cubicBezTo>
                  <a:pt x="3690380" y="2014591"/>
                  <a:pt x="3525250" y="1848846"/>
                  <a:pt x="3320326" y="1847922"/>
                </a:cubicBezTo>
                <a:lnTo>
                  <a:pt x="2214782" y="1847922"/>
                </a:lnTo>
                <a:cubicBezTo>
                  <a:pt x="2011105" y="1848846"/>
                  <a:pt x="1846160" y="2013529"/>
                  <a:pt x="1845513" y="2218319"/>
                </a:cubicBezTo>
                <a:lnTo>
                  <a:pt x="1845513" y="3326139"/>
                </a:lnTo>
                <a:cubicBezTo>
                  <a:pt x="1845513" y="3529728"/>
                  <a:pt x="1679598" y="3695011"/>
                  <a:pt x="1476845" y="3695011"/>
                </a:cubicBezTo>
                <a:lnTo>
                  <a:pt x="369269" y="3695011"/>
                </a:lnTo>
                <a:cubicBezTo>
                  <a:pt x="164853" y="3695011"/>
                  <a:pt x="0" y="3529728"/>
                  <a:pt x="0" y="3326139"/>
                </a:cubicBezTo>
                <a:lnTo>
                  <a:pt x="0" y="2217210"/>
                </a:lnTo>
                <a:cubicBezTo>
                  <a:pt x="0" y="2013159"/>
                  <a:pt x="164807" y="1847875"/>
                  <a:pt x="369269" y="1847875"/>
                </a:cubicBezTo>
                <a:lnTo>
                  <a:pt x="1476891" y="1847875"/>
                </a:lnTo>
                <a:cubicBezTo>
                  <a:pt x="1680568" y="1847090"/>
                  <a:pt x="1845559" y="1681160"/>
                  <a:pt x="1845559" y="1476831"/>
                </a:cubicBezTo>
                <a:lnTo>
                  <a:pt x="1845559" y="369936"/>
                </a:lnTo>
                <a:cubicBezTo>
                  <a:pt x="1845559" y="165607"/>
                  <a:pt x="2010366" y="0"/>
                  <a:pt x="221482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33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AD93-1930-9CE4-92F9-CB4BBA8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8836D-CD11-8E19-E371-1C055D33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5A415D-2F1F-B143-BA62-6BABD16E70A1}" type="datetime1">
              <a:rPr lang="en-GB" smtClean="0"/>
              <a:t>06/12/2025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6451-A3A9-4898-B96A-F430C303279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ACEE6-6DDC-172B-7E6A-1F5B9901B8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63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65640B-18BE-F499-9E93-F03ED27A8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03" y="245889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3" y="2965682"/>
            <a:ext cx="9144000" cy="1655233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3CDAB6F-9CDA-C09A-F754-FDAC6DF5F9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103" y="6074695"/>
            <a:ext cx="2438400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45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03" y="245889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3" y="2965682"/>
            <a:ext cx="3670845" cy="1655233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3CDAB6F-9CDA-C09A-F754-FDAC6DF5F9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103" y="6074695"/>
            <a:ext cx="2438400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93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03" y="245889"/>
            <a:ext cx="8226803" cy="2387600"/>
          </a:xfrm>
        </p:spPr>
        <p:txBody>
          <a:bodyPr anchor="b"/>
          <a:lstStyle>
            <a:lvl1pPr algn="l"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3" y="2965683"/>
            <a:ext cx="7145107" cy="56358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7308BC-16A6-FE0F-1C94-589D59CB9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03" y="6074695"/>
            <a:ext cx="2438400" cy="308863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05CE355-F97C-EEBD-8CA6-D3AFCDD669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64827" y="1456877"/>
            <a:ext cx="6627173" cy="4926681"/>
          </a:xfrm>
          <a:custGeom>
            <a:avLst/>
            <a:gdLst>
              <a:gd name="connsiteX0" fmla="*/ 2214828 w 4970380"/>
              <a:gd name="connsiteY0" fmla="*/ 0 h 3695011"/>
              <a:gd name="connsiteX1" fmla="*/ 3322219 w 4970380"/>
              <a:gd name="connsiteY1" fmla="*/ 0 h 3695011"/>
              <a:gd name="connsiteX2" fmla="*/ 3690426 w 4970380"/>
              <a:gd name="connsiteY2" fmla="*/ 369936 h 3695011"/>
              <a:gd name="connsiteX3" fmla="*/ 3690426 w 4970380"/>
              <a:gd name="connsiteY3" fmla="*/ 1478494 h 3695011"/>
              <a:gd name="connsiteX4" fmla="*/ 4061726 w 4970380"/>
              <a:gd name="connsiteY4" fmla="*/ 1847829 h 3695011"/>
              <a:gd name="connsiteX5" fmla="*/ 4061726 w 4970380"/>
              <a:gd name="connsiteY5" fmla="*/ 1847922 h 3695011"/>
              <a:gd name="connsiteX6" fmla="*/ 4970380 w 4970380"/>
              <a:gd name="connsiteY6" fmla="*/ 1847922 h 3695011"/>
              <a:gd name="connsiteX7" fmla="*/ 4970380 w 4970380"/>
              <a:gd name="connsiteY7" fmla="*/ 3695011 h 3695011"/>
              <a:gd name="connsiteX8" fmla="*/ 4059372 w 4970380"/>
              <a:gd name="connsiteY8" fmla="*/ 3695011 h 3695011"/>
              <a:gd name="connsiteX9" fmla="*/ 3690380 w 4970380"/>
              <a:gd name="connsiteY9" fmla="*/ 3326139 h 3695011"/>
              <a:gd name="connsiteX10" fmla="*/ 3690380 w 4970380"/>
              <a:gd name="connsiteY10" fmla="*/ 2218319 h 3695011"/>
              <a:gd name="connsiteX11" fmla="*/ 3320326 w 4970380"/>
              <a:gd name="connsiteY11" fmla="*/ 1847922 h 3695011"/>
              <a:gd name="connsiteX12" fmla="*/ 2214782 w 4970380"/>
              <a:gd name="connsiteY12" fmla="*/ 1847922 h 3695011"/>
              <a:gd name="connsiteX13" fmla="*/ 1845513 w 4970380"/>
              <a:gd name="connsiteY13" fmla="*/ 2218319 h 3695011"/>
              <a:gd name="connsiteX14" fmla="*/ 1845513 w 4970380"/>
              <a:gd name="connsiteY14" fmla="*/ 3326139 h 3695011"/>
              <a:gd name="connsiteX15" fmla="*/ 1476845 w 4970380"/>
              <a:gd name="connsiteY15" fmla="*/ 3695011 h 3695011"/>
              <a:gd name="connsiteX16" fmla="*/ 369269 w 4970380"/>
              <a:gd name="connsiteY16" fmla="*/ 3695011 h 3695011"/>
              <a:gd name="connsiteX17" fmla="*/ 0 w 4970380"/>
              <a:gd name="connsiteY17" fmla="*/ 3326139 h 3695011"/>
              <a:gd name="connsiteX18" fmla="*/ 0 w 4970380"/>
              <a:gd name="connsiteY18" fmla="*/ 2217210 h 3695011"/>
              <a:gd name="connsiteX19" fmla="*/ 369269 w 4970380"/>
              <a:gd name="connsiteY19" fmla="*/ 1847875 h 3695011"/>
              <a:gd name="connsiteX20" fmla="*/ 1476891 w 4970380"/>
              <a:gd name="connsiteY20" fmla="*/ 1847875 h 3695011"/>
              <a:gd name="connsiteX21" fmla="*/ 1845559 w 4970380"/>
              <a:gd name="connsiteY21" fmla="*/ 1476831 h 3695011"/>
              <a:gd name="connsiteX22" fmla="*/ 1845559 w 4970380"/>
              <a:gd name="connsiteY22" fmla="*/ 369936 h 3695011"/>
              <a:gd name="connsiteX23" fmla="*/ 2214828 w 4970380"/>
              <a:gd name="connsiteY23" fmla="*/ 0 h 369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70380" h="3695011">
                <a:moveTo>
                  <a:pt x="2214828" y="0"/>
                </a:moveTo>
                <a:lnTo>
                  <a:pt x="3322219" y="0"/>
                </a:lnTo>
                <a:cubicBezTo>
                  <a:pt x="3525296" y="0"/>
                  <a:pt x="3690426" y="165607"/>
                  <a:pt x="3690426" y="369936"/>
                </a:cubicBezTo>
                <a:lnTo>
                  <a:pt x="3690426" y="1478494"/>
                </a:lnTo>
                <a:cubicBezTo>
                  <a:pt x="3691673" y="1682084"/>
                  <a:pt x="3857587" y="1847044"/>
                  <a:pt x="4061726" y="1847829"/>
                </a:cubicBezTo>
                <a:lnTo>
                  <a:pt x="4061726" y="1847922"/>
                </a:lnTo>
                <a:lnTo>
                  <a:pt x="4970380" y="1847922"/>
                </a:lnTo>
                <a:lnTo>
                  <a:pt x="4970380" y="3695011"/>
                </a:lnTo>
                <a:lnTo>
                  <a:pt x="4059372" y="3695011"/>
                </a:lnTo>
                <a:cubicBezTo>
                  <a:pt x="3855972" y="3695011"/>
                  <a:pt x="3690380" y="3529728"/>
                  <a:pt x="3690380" y="3326139"/>
                </a:cubicBezTo>
                <a:lnTo>
                  <a:pt x="3690380" y="2218319"/>
                </a:lnTo>
                <a:cubicBezTo>
                  <a:pt x="3690380" y="2014591"/>
                  <a:pt x="3525250" y="1848846"/>
                  <a:pt x="3320326" y="1847922"/>
                </a:cubicBezTo>
                <a:lnTo>
                  <a:pt x="2214782" y="1847922"/>
                </a:lnTo>
                <a:cubicBezTo>
                  <a:pt x="2011105" y="1848846"/>
                  <a:pt x="1846160" y="2013529"/>
                  <a:pt x="1845513" y="2218319"/>
                </a:cubicBezTo>
                <a:lnTo>
                  <a:pt x="1845513" y="3326139"/>
                </a:lnTo>
                <a:cubicBezTo>
                  <a:pt x="1845513" y="3529728"/>
                  <a:pt x="1679598" y="3695011"/>
                  <a:pt x="1476845" y="3695011"/>
                </a:cubicBezTo>
                <a:lnTo>
                  <a:pt x="369269" y="3695011"/>
                </a:lnTo>
                <a:cubicBezTo>
                  <a:pt x="164853" y="3695011"/>
                  <a:pt x="0" y="3529728"/>
                  <a:pt x="0" y="3326139"/>
                </a:cubicBezTo>
                <a:lnTo>
                  <a:pt x="0" y="2217210"/>
                </a:lnTo>
                <a:cubicBezTo>
                  <a:pt x="0" y="2013159"/>
                  <a:pt x="164807" y="1847875"/>
                  <a:pt x="369269" y="1847875"/>
                </a:cubicBezTo>
                <a:lnTo>
                  <a:pt x="1476891" y="1847875"/>
                </a:lnTo>
                <a:cubicBezTo>
                  <a:pt x="1680568" y="1847090"/>
                  <a:pt x="1845559" y="1681160"/>
                  <a:pt x="1845559" y="1476831"/>
                </a:cubicBezTo>
                <a:lnTo>
                  <a:pt x="1845559" y="369936"/>
                </a:lnTo>
                <a:cubicBezTo>
                  <a:pt x="1845559" y="165607"/>
                  <a:pt x="2010366" y="0"/>
                  <a:pt x="221482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31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10515600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0025-1574-D642-8EE0-174E1486F67F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71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64ED63-6F5C-5942-83E2-082A9F04AE53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AFCFC0-61CB-5669-F6FB-6544D710AC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16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Dark">
    <p:bg>
      <p:bgPr>
        <a:gradFill>
          <a:gsLst>
            <a:gs pos="53000">
              <a:schemeClr val="tx1"/>
            </a:gs>
            <a:gs pos="0">
              <a:srgbClr val="1D4582"/>
            </a:gs>
            <a:gs pos="100000">
              <a:schemeClr val="tx1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D6F75-6C30-D546-9F6A-480A3E7FC071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E8B6D-C22D-8AD4-E922-BB2D78DAD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64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 Cor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6044132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A84BA-CF94-9DAF-E4F8-052633D7CD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4536" y="1801368"/>
            <a:ext cx="5197465" cy="5056632"/>
          </a:xfrm>
          <a:custGeom>
            <a:avLst/>
            <a:gdLst>
              <a:gd name="connsiteX0" fmla="*/ 3898050 w 3898099"/>
              <a:gd name="connsiteY0" fmla="*/ 3792424 h 3792474"/>
              <a:gd name="connsiteX1" fmla="*/ 3898099 w 3898099"/>
              <a:gd name="connsiteY1" fmla="*/ 3792424 h 3792474"/>
              <a:gd name="connsiteX2" fmla="*/ 3898050 w 3898099"/>
              <a:gd name="connsiteY2" fmla="*/ 3792474 h 3792474"/>
              <a:gd name="connsiteX3" fmla="*/ 531417 w 3898099"/>
              <a:gd name="connsiteY3" fmla="*/ 0 h 3792474"/>
              <a:gd name="connsiteX4" fmla="*/ 2125123 w 3898099"/>
              <a:gd name="connsiteY4" fmla="*/ 0 h 3792474"/>
              <a:gd name="connsiteX5" fmla="*/ 2655648 w 3898099"/>
              <a:gd name="connsiteY5" fmla="*/ 530048 h 3792474"/>
              <a:gd name="connsiteX6" fmla="*/ 2655648 w 3898099"/>
              <a:gd name="connsiteY6" fmla="*/ 2121974 h 3792474"/>
              <a:gd name="connsiteX7" fmla="*/ 3187065 w 3898099"/>
              <a:gd name="connsiteY7" fmla="*/ 2654251 h 3792474"/>
              <a:gd name="connsiteX8" fmla="*/ 3898050 w 3898099"/>
              <a:gd name="connsiteY8" fmla="*/ 2654251 h 3792474"/>
              <a:gd name="connsiteX9" fmla="*/ 3898050 w 3898099"/>
              <a:gd name="connsiteY9" fmla="*/ 3792424 h 3792474"/>
              <a:gd name="connsiteX10" fmla="*/ 2655697 w 3898099"/>
              <a:gd name="connsiteY10" fmla="*/ 3792424 h 3792474"/>
              <a:gd name="connsiteX11" fmla="*/ 2655697 w 3898099"/>
              <a:gd name="connsiteY11" fmla="*/ 3187420 h 3792474"/>
              <a:gd name="connsiteX12" fmla="*/ 2125173 w 3898099"/>
              <a:gd name="connsiteY12" fmla="*/ 2654251 h 3792474"/>
              <a:gd name="connsiteX13" fmla="*/ 531417 w 3898099"/>
              <a:gd name="connsiteY13" fmla="*/ 2654251 h 3792474"/>
              <a:gd name="connsiteX14" fmla="*/ 0 w 3898099"/>
              <a:gd name="connsiteY14" fmla="*/ 2123559 h 3792474"/>
              <a:gd name="connsiteX15" fmla="*/ 0 w 3898099"/>
              <a:gd name="connsiteY15" fmla="*/ 530048 h 3792474"/>
              <a:gd name="connsiteX16" fmla="*/ 531417 w 3898099"/>
              <a:gd name="connsiteY16" fmla="*/ 0 h 379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8099" h="3792474">
                <a:moveTo>
                  <a:pt x="3898050" y="3792424"/>
                </a:moveTo>
                <a:lnTo>
                  <a:pt x="3898099" y="3792424"/>
                </a:lnTo>
                <a:lnTo>
                  <a:pt x="3898050" y="3792474"/>
                </a:lnTo>
                <a:close/>
                <a:moveTo>
                  <a:pt x="531417" y="0"/>
                </a:moveTo>
                <a:lnTo>
                  <a:pt x="2125123" y="0"/>
                </a:lnTo>
                <a:cubicBezTo>
                  <a:pt x="2416902" y="0"/>
                  <a:pt x="2655648" y="237503"/>
                  <a:pt x="2655648" y="530048"/>
                </a:cubicBezTo>
                <a:lnTo>
                  <a:pt x="2655648" y="2121974"/>
                </a:lnTo>
                <a:cubicBezTo>
                  <a:pt x="2656590" y="2416302"/>
                  <a:pt x="2893948" y="2652914"/>
                  <a:pt x="3187065" y="2654251"/>
                </a:cubicBezTo>
                <a:lnTo>
                  <a:pt x="3898050" y="2654251"/>
                </a:lnTo>
                <a:lnTo>
                  <a:pt x="3898050" y="3792424"/>
                </a:lnTo>
                <a:lnTo>
                  <a:pt x="2655697" y="3792424"/>
                </a:lnTo>
                <a:lnTo>
                  <a:pt x="2655697" y="3187420"/>
                </a:lnTo>
                <a:cubicBezTo>
                  <a:pt x="2655697" y="2893786"/>
                  <a:pt x="2418290" y="2655391"/>
                  <a:pt x="2125173" y="2654251"/>
                </a:cubicBezTo>
                <a:lnTo>
                  <a:pt x="531417" y="2654251"/>
                </a:lnTo>
                <a:cubicBezTo>
                  <a:pt x="237210" y="2654251"/>
                  <a:pt x="0" y="2416748"/>
                  <a:pt x="0" y="2123559"/>
                </a:cubicBezTo>
                <a:lnTo>
                  <a:pt x="0" y="530048"/>
                </a:lnTo>
                <a:cubicBezTo>
                  <a:pt x="0" y="237503"/>
                  <a:pt x="237210" y="0"/>
                  <a:pt x="53141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973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 Corner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6044132" cy="4349749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A84BA-CF94-9DAF-E4F8-052633D7CD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4536" y="1801368"/>
            <a:ext cx="5197465" cy="5056632"/>
          </a:xfrm>
          <a:custGeom>
            <a:avLst/>
            <a:gdLst>
              <a:gd name="connsiteX0" fmla="*/ 3898050 w 3898099"/>
              <a:gd name="connsiteY0" fmla="*/ 3792424 h 3792474"/>
              <a:gd name="connsiteX1" fmla="*/ 3898099 w 3898099"/>
              <a:gd name="connsiteY1" fmla="*/ 3792424 h 3792474"/>
              <a:gd name="connsiteX2" fmla="*/ 3898050 w 3898099"/>
              <a:gd name="connsiteY2" fmla="*/ 3792474 h 3792474"/>
              <a:gd name="connsiteX3" fmla="*/ 531417 w 3898099"/>
              <a:gd name="connsiteY3" fmla="*/ 0 h 3792474"/>
              <a:gd name="connsiteX4" fmla="*/ 2125123 w 3898099"/>
              <a:gd name="connsiteY4" fmla="*/ 0 h 3792474"/>
              <a:gd name="connsiteX5" fmla="*/ 2655648 w 3898099"/>
              <a:gd name="connsiteY5" fmla="*/ 530048 h 3792474"/>
              <a:gd name="connsiteX6" fmla="*/ 2655648 w 3898099"/>
              <a:gd name="connsiteY6" fmla="*/ 2121974 h 3792474"/>
              <a:gd name="connsiteX7" fmla="*/ 3187065 w 3898099"/>
              <a:gd name="connsiteY7" fmla="*/ 2654251 h 3792474"/>
              <a:gd name="connsiteX8" fmla="*/ 3898050 w 3898099"/>
              <a:gd name="connsiteY8" fmla="*/ 2654251 h 3792474"/>
              <a:gd name="connsiteX9" fmla="*/ 3898050 w 3898099"/>
              <a:gd name="connsiteY9" fmla="*/ 3792424 h 3792474"/>
              <a:gd name="connsiteX10" fmla="*/ 2655697 w 3898099"/>
              <a:gd name="connsiteY10" fmla="*/ 3792424 h 3792474"/>
              <a:gd name="connsiteX11" fmla="*/ 2655697 w 3898099"/>
              <a:gd name="connsiteY11" fmla="*/ 3187420 h 3792474"/>
              <a:gd name="connsiteX12" fmla="*/ 2125173 w 3898099"/>
              <a:gd name="connsiteY12" fmla="*/ 2654251 h 3792474"/>
              <a:gd name="connsiteX13" fmla="*/ 531417 w 3898099"/>
              <a:gd name="connsiteY13" fmla="*/ 2654251 h 3792474"/>
              <a:gd name="connsiteX14" fmla="*/ 0 w 3898099"/>
              <a:gd name="connsiteY14" fmla="*/ 2123559 h 3792474"/>
              <a:gd name="connsiteX15" fmla="*/ 0 w 3898099"/>
              <a:gd name="connsiteY15" fmla="*/ 530048 h 3792474"/>
              <a:gd name="connsiteX16" fmla="*/ 531417 w 3898099"/>
              <a:gd name="connsiteY16" fmla="*/ 0 h 379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8099" h="3792474">
                <a:moveTo>
                  <a:pt x="3898050" y="3792424"/>
                </a:moveTo>
                <a:lnTo>
                  <a:pt x="3898099" y="3792424"/>
                </a:lnTo>
                <a:lnTo>
                  <a:pt x="3898050" y="3792474"/>
                </a:lnTo>
                <a:close/>
                <a:moveTo>
                  <a:pt x="531417" y="0"/>
                </a:moveTo>
                <a:lnTo>
                  <a:pt x="2125123" y="0"/>
                </a:lnTo>
                <a:cubicBezTo>
                  <a:pt x="2416902" y="0"/>
                  <a:pt x="2655648" y="237503"/>
                  <a:pt x="2655648" y="530048"/>
                </a:cubicBezTo>
                <a:lnTo>
                  <a:pt x="2655648" y="2121974"/>
                </a:lnTo>
                <a:cubicBezTo>
                  <a:pt x="2656590" y="2416302"/>
                  <a:pt x="2893948" y="2652914"/>
                  <a:pt x="3187065" y="2654251"/>
                </a:cubicBezTo>
                <a:lnTo>
                  <a:pt x="3898050" y="2654251"/>
                </a:lnTo>
                <a:lnTo>
                  <a:pt x="3898050" y="3792424"/>
                </a:lnTo>
                <a:lnTo>
                  <a:pt x="2655697" y="3792424"/>
                </a:lnTo>
                <a:lnTo>
                  <a:pt x="2655697" y="3187420"/>
                </a:lnTo>
                <a:cubicBezTo>
                  <a:pt x="2655697" y="2893786"/>
                  <a:pt x="2418290" y="2655391"/>
                  <a:pt x="2125173" y="2654251"/>
                </a:cubicBezTo>
                <a:lnTo>
                  <a:pt x="531417" y="2654251"/>
                </a:lnTo>
                <a:cubicBezTo>
                  <a:pt x="237210" y="2654251"/>
                  <a:pt x="0" y="2416748"/>
                  <a:pt x="0" y="2123559"/>
                </a:cubicBezTo>
                <a:lnTo>
                  <a:pt x="0" y="530048"/>
                </a:lnTo>
                <a:cubicBezTo>
                  <a:pt x="0" y="237503"/>
                  <a:pt x="237210" y="0"/>
                  <a:pt x="53141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2B6AF-9798-AAE8-1C64-AD3BE58970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667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1826684"/>
            <a:ext cx="4824932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0025-1574-D642-8EE0-174E1486F67F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ED5484D-3E81-C5C1-0DE4-59CA5DD1C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3624" y="1248283"/>
            <a:ext cx="6508376" cy="4838367"/>
          </a:xfrm>
          <a:custGeom>
            <a:avLst/>
            <a:gdLst>
              <a:gd name="connsiteX0" fmla="*/ 2214828 w 4970380"/>
              <a:gd name="connsiteY0" fmla="*/ 0 h 3695011"/>
              <a:gd name="connsiteX1" fmla="*/ 3322219 w 4970380"/>
              <a:gd name="connsiteY1" fmla="*/ 0 h 3695011"/>
              <a:gd name="connsiteX2" fmla="*/ 3690426 w 4970380"/>
              <a:gd name="connsiteY2" fmla="*/ 369936 h 3695011"/>
              <a:gd name="connsiteX3" fmla="*/ 3690426 w 4970380"/>
              <a:gd name="connsiteY3" fmla="*/ 1478494 h 3695011"/>
              <a:gd name="connsiteX4" fmla="*/ 4061726 w 4970380"/>
              <a:gd name="connsiteY4" fmla="*/ 1847829 h 3695011"/>
              <a:gd name="connsiteX5" fmla="*/ 4061726 w 4970380"/>
              <a:gd name="connsiteY5" fmla="*/ 1847922 h 3695011"/>
              <a:gd name="connsiteX6" fmla="*/ 4970380 w 4970380"/>
              <a:gd name="connsiteY6" fmla="*/ 1847922 h 3695011"/>
              <a:gd name="connsiteX7" fmla="*/ 4970380 w 4970380"/>
              <a:gd name="connsiteY7" fmla="*/ 3695011 h 3695011"/>
              <a:gd name="connsiteX8" fmla="*/ 4059372 w 4970380"/>
              <a:gd name="connsiteY8" fmla="*/ 3695011 h 3695011"/>
              <a:gd name="connsiteX9" fmla="*/ 3690380 w 4970380"/>
              <a:gd name="connsiteY9" fmla="*/ 3326139 h 3695011"/>
              <a:gd name="connsiteX10" fmla="*/ 3690380 w 4970380"/>
              <a:gd name="connsiteY10" fmla="*/ 2218319 h 3695011"/>
              <a:gd name="connsiteX11" fmla="*/ 3320326 w 4970380"/>
              <a:gd name="connsiteY11" fmla="*/ 1847922 h 3695011"/>
              <a:gd name="connsiteX12" fmla="*/ 2214782 w 4970380"/>
              <a:gd name="connsiteY12" fmla="*/ 1847922 h 3695011"/>
              <a:gd name="connsiteX13" fmla="*/ 1845513 w 4970380"/>
              <a:gd name="connsiteY13" fmla="*/ 2218319 h 3695011"/>
              <a:gd name="connsiteX14" fmla="*/ 1845513 w 4970380"/>
              <a:gd name="connsiteY14" fmla="*/ 3326139 h 3695011"/>
              <a:gd name="connsiteX15" fmla="*/ 1476845 w 4970380"/>
              <a:gd name="connsiteY15" fmla="*/ 3695011 h 3695011"/>
              <a:gd name="connsiteX16" fmla="*/ 369269 w 4970380"/>
              <a:gd name="connsiteY16" fmla="*/ 3695011 h 3695011"/>
              <a:gd name="connsiteX17" fmla="*/ 0 w 4970380"/>
              <a:gd name="connsiteY17" fmla="*/ 3326139 h 3695011"/>
              <a:gd name="connsiteX18" fmla="*/ 0 w 4970380"/>
              <a:gd name="connsiteY18" fmla="*/ 2217210 h 3695011"/>
              <a:gd name="connsiteX19" fmla="*/ 369269 w 4970380"/>
              <a:gd name="connsiteY19" fmla="*/ 1847875 h 3695011"/>
              <a:gd name="connsiteX20" fmla="*/ 1476891 w 4970380"/>
              <a:gd name="connsiteY20" fmla="*/ 1847875 h 3695011"/>
              <a:gd name="connsiteX21" fmla="*/ 1845559 w 4970380"/>
              <a:gd name="connsiteY21" fmla="*/ 1476831 h 3695011"/>
              <a:gd name="connsiteX22" fmla="*/ 1845559 w 4970380"/>
              <a:gd name="connsiteY22" fmla="*/ 369936 h 3695011"/>
              <a:gd name="connsiteX23" fmla="*/ 2214828 w 4970380"/>
              <a:gd name="connsiteY23" fmla="*/ 0 h 369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70380" h="3695011">
                <a:moveTo>
                  <a:pt x="2214828" y="0"/>
                </a:moveTo>
                <a:lnTo>
                  <a:pt x="3322219" y="0"/>
                </a:lnTo>
                <a:cubicBezTo>
                  <a:pt x="3525296" y="0"/>
                  <a:pt x="3690426" y="165607"/>
                  <a:pt x="3690426" y="369936"/>
                </a:cubicBezTo>
                <a:lnTo>
                  <a:pt x="3690426" y="1478494"/>
                </a:lnTo>
                <a:cubicBezTo>
                  <a:pt x="3691673" y="1682084"/>
                  <a:pt x="3857587" y="1847044"/>
                  <a:pt x="4061726" y="1847829"/>
                </a:cubicBezTo>
                <a:lnTo>
                  <a:pt x="4061726" y="1847922"/>
                </a:lnTo>
                <a:lnTo>
                  <a:pt x="4970380" y="1847922"/>
                </a:lnTo>
                <a:lnTo>
                  <a:pt x="4970380" y="3695011"/>
                </a:lnTo>
                <a:lnTo>
                  <a:pt x="4059372" y="3695011"/>
                </a:lnTo>
                <a:cubicBezTo>
                  <a:pt x="3855972" y="3695011"/>
                  <a:pt x="3690380" y="3529728"/>
                  <a:pt x="3690380" y="3326139"/>
                </a:cubicBezTo>
                <a:lnTo>
                  <a:pt x="3690380" y="2218319"/>
                </a:lnTo>
                <a:cubicBezTo>
                  <a:pt x="3690380" y="2014591"/>
                  <a:pt x="3525250" y="1848846"/>
                  <a:pt x="3320326" y="1847922"/>
                </a:cubicBezTo>
                <a:lnTo>
                  <a:pt x="2214782" y="1847922"/>
                </a:lnTo>
                <a:cubicBezTo>
                  <a:pt x="2011105" y="1848846"/>
                  <a:pt x="1846160" y="2013529"/>
                  <a:pt x="1845513" y="2218319"/>
                </a:cubicBezTo>
                <a:lnTo>
                  <a:pt x="1845513" y="3326139"/>
                </a:lnTo>
                <a:cubicBezTo>
                  <a:pt x="1845513" y="3529728"/>
                  <a:pt x="1679598" y="3695011"/>
                  <a:pt x="1476845" y="3695011"/>
                </a:cubicBezTo>
                <a:lnTo>
                  <a:pt x="369269" y="3695011"/>
                </a:lnTo>
                <a:cubicBezTo>
                  <a:pt x="164853" y="3695011"/>
                  <a:pt x="0" y="3529728"/>
                  <a:pt x="0" y="3326139"/>
                </a:cubicBezTo>
                <a:lnTo>
                  <a:pt x="0" y="2217210"/>
                </a:lnTo>
                <a:cubicBezTo>
                  <a:pt x="0" y="2013159"/>
                  <a:pt x="164807" y="1847875"/>
                  <a:pt x="369269" y="1847875"/>
                </a:cubicBezTo>
                <a:lnTo>
                  <a:pt x="1476891" y="1847875"/>
                </a:lnTo>
                <a:cubicBezTo>
                  <a:pt x="1680568" y="1847090"/>
                  <a:pt x="1845559" y="1681160"/>
                  <a:pt x="1845559" y="1476831"/>
                </a:cubicBezTo>
                <a:lnTo>
                  <a:pt x="1845559" y="369936"/>
                </a:lnTo>
                <a:cubicBezTo>
                  <a:pt x="1845559" y="165607"/>
                  <a:pt x="2010366" y="0"/>
                  <a:pt x="221482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68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s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Our customers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5871BD-21DB-4143-921E-431F94C3EA03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E8B6D-C22D-8AD4-E922-BB2D78DAD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10BB31-E8E2-663E-931B-076D862D6B80}"/>
              </a:ext>
            </a:extLst>
          </p:cNvPr>
          <p:cNvGrpSpPr/>
          <p:nvPr userDrawn="1"/>
        </p:nvGrpSpPr>
        <p:grpSpPr>
          <a:xfrm>
            <a:off x="500103" y="1794062"/>
            <a:ext cx="11046439" cy="3805100"/>
            <a:chOff x="737836" y="1631312"/>
            <a:chExt cx="10716327" cy="369138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5F75DFA-5602-E1B6-619E-F3B24B1228E1}"/>
                </a:ext>
              </a:extLst>
            </p:cNvPr>
            <p:cNvSpPr/>
            <p:nvPr userDrawn="1"/>
          </p:nvSpPr>
          <p:spPr>
            <a:xfrm>
              <a:off x="444802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E4EC00-562F-A299-B747-7BB6FEA97A01}"/>
                </a:ext>
              </a:extLst>
            </p:cNvPr>
            <p:cNvSpPr/>
            <p:nvPr userDrawn="1"/>
          </p:nvSpPr>
          <p:spPr>
            <a:xfrm>
              <a:off x="8158216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562FAD8-BB1F-3CF2-8D92-3DCF63546A60}"/>
                </a:ext>
              </a:extLst>
            </p:cNvPr>
            <p:cNvSpPr/>
            <p:nvPr userDrawn="1"/>
          </p:nvSpPr>
          <p:spPr>
            <a:xfrm>
              <a:off x="815821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2CDECEC-1AEC-AC26-FE82-CFE9B24BE3A5}"/>
                </a:ext>
              </a:extLst>
            </p:cNvPr>
            <p:cNvSpPr/>
            <p:nvPr userDrawn="1"/>
          </p:nvSpPr>
          <p:spPr>
            <a:xfrm>
              <a:off x="4438955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D70B812-90BE-EFF0-A375-351B45F9E2A0}"/>
                </a:ext>
              </a:extLst>
            </p:cNvPr>
            <p:cNvSpPr/>
            <p:nvPr userDrawn="1"/>
          </p:nvSpPr>
          <p:spPr>
            <a:xfrm>
              <a:off x="737836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806D2A5-D49A-2B4C-6945-B4D6AAF6AA58}"/>
                </a:ext>
              </a:extLst>
            </p:cNvPr>
            <p:cNvSpPr/>
            <p:nvPr userDrawn="1"/>
          </p:nvSpPr>
          <p:spPr>
            <a:xfrm>
              <a:off x="73783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 sz="2400">
                <a:latin typeface="Outfit Ligh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286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ai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4573-FE2C-D346-94B5-229A35198143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E9D9364F-7640-F911-F9B3-BD269AE140FD}"/>
              </a:ext>
            </a:extLst>
          </p:cNvPr>
          <p:cNvSpPr/>
          <p:nvPr userDrawn="1"/>
        </p:nvSpPr>
        <p:spPr>
          <a:xfrm rot="10800000">
            <a:off x="6431181" y="-1"/>
            <a:ext cx="5760819" cy="5869517"/>
          </a:xfrm>
          <a:prstGeom prst="round1Rect">
            <a:avLst>
              <a:gd name="adj" fmla="val 157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Outfit Light" pitchFamily="2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3200"/>
            </a:lvl1pPr>
            <a:lvl2pPr>
              <a:buClr>
                <a:schemeClr val="tx1"/>
              </a:buClr>
              <a:defRPr sz="2667"/>
            </a:lvl2pPr>
            <a:lvl3pPr>
              <a:buClr>
                <a:schemeClr val="tx1"/>
              </a:buClr>
              <a:defRPr sz="2400"/>
            </a:lvl3pPr>
            <a:lvl4pPr>
              <a:buClr>
                <a:schemeClr val="tx1"/>
              </a:buClr>
              <a:defRPr sz="2133"/>
            </a:lvl4pPr>
            <a:lvl5pPr>
              <a:buClr>
                <a:schemeClr val="tx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AB042-33D2-AF6C-C382-47B2851991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9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2704-0E1C-9397-E348-29721F6D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7EE6A-B54E-B7F7-240D-9E6057722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103" y="1826684"/>
            <a:ext cx="5156200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281A-E911-2BEF-9A1F-C54E8A2D4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9503" y="1826684"/>
            <a:ext cx="5156200" cy="434974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6D3B9-0985-24EE-1FE1-CF4099ED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01BE8-2B0B-6B4A-8735-36A00D72CA1D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F2E6E-C0CC-FF12-9A5E-0E4C5351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3D8C02-941C-F029-E6E7-EA2BD40DF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42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25F0E8-F5F1-60C4-3084-306D732AFD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3E142-DAA7-27A2-8354-3A782E07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51" y="736956"/>
            <a:ext cx="10515600" cy="285326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E803F-EF23-8347-5303-1873D6E22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151" y="3615623"/>
            <a:ext cx="10515600" cy="150071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AB8DA-5AF4-DA55-F9DC-4F3507D5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1D9-B955-6D4E-924E-589B300E56CD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AD0A0-72F8-A422-2355-060C5E73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D4C21-94F7-3567-9B76-A2CDBE604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24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4573-FE2C-D346-94B5-229A35198143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/>
            </a:lvl1pPr>
            <a:lvl2pPr>
              <a:buClr>
                <a:schemeClr val="accent1"/>
              </a:buClr>
              <a:defRPr sz="2667"/>
            </a:lvl2pPr>
            <a:lvl3pPr>
              <a:buClr>
                <a:schemeClr val="accent1"/>
              </a:buClr>
              <a:defRPr sz="2400"/>
            </a:lvl3pPr>
            <a:lvl4pPr>
              <a:buClr>
                <a:schemeClr val="accent1"/>
              </a:buClr>
              <a:defRPr sz="2133"/>
            </a:lvl4pPr>
            <a:lvl5pPr>
              <a:buClr>
                <a:schemeClr val="accent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59345-2B48-7408-B9FC-93473DEE3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A6D3706-E79A-720B-0681-29BC862ABD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0332" y="10335"/>
            <a:ext cx="5761669" cy="5870384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348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239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4358-7872-7045-8E26-B70E23714E9F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239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/>
            </a:lvl1pPr>
            <a:lvl2pPr>
              <a:buClr>
                <a:schemeClr val="accent1"/>
              </a:buClr>
              <a:defRPr sz="2667"/>
            </a:lvl2pPr>
            <a:lvl3pPr>
              <a:buClr>
                <a:schemeClr val="accent1"/>
              </a:buClr>
              <a:defRPr sz="2400"/>
            </a:lvl3pPr>
            <a:lvl4pPr>
              <a:buClr>
                <a:schemeClr val="accent1"/>
              </a:buClr>
              <a:defRPr sz="2133"/>
            </a:lvl4pPr>
            <a:lvl5pPr>
              <a:buClr>
                <a:schemeClr val="accent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4D12E-29B6-4024-75B6-3367AA77A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0699E0-C88B-EE65-CF5E-576FE0E6EF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69517" cy="5760819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11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239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6DFC-2749-0949-A903-DD3A2385A57C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239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3200"/>
            </a:lvl1pPr>
            <a:lvl2pPr>
              <a:buClr>
                <a:schemeClr val="tx1"/>
              </a:buClr>
              <a:defRPr sz="2667"/>
            </a:lvl2pPr>
            <a:lvl3pPr>
              <a:buClr>
                <a:schemeClr val="tx1"/>
              </a:buClr>
              <a:defRPr sz="2400"/>
            </a:lvl3pPr>
            <a:lvl4pPr>
              <a:buClr>
                <a:schemeClr val="tx1"/>
              </a:buClr>
              <a:defRPr sz="2133"/>
            </a:lvl4pPr>
            <a:lvl5pPr>
              <a:buClr>
                <a:schemeClr val="tx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23D9E-98AA-549D-5D65-976FB6406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6506CC4-37C9-6069-50BC-0B27E5FA02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69517" cy="5760819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90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C6DD-C821-6C4C-8902-4089A37EB26A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3200"/>
            </a:lvl1pPr>
            <a:lvl2pPr>
              <a:buClr>
                <a:schemeClr val="tx1"/>
              </a:buClr>
              <a:defRPr sz="2667"/>
            </a:lvl2pPr>
            <a:lvl3pPr>
              <a:buClr>
                <a:schemeClr val="tx1"/>
              </a:buClr>
              <a:defRPr sz="2400"/>
            </a:lvl3pPr>
            <a:lvl4pPr>
              <a:buClr>
                <a:schemeClr val="tx1"/>
              </a:buClr>
              <a:defRPr sz="2133"/>
            </a:lvl4pPr>
            <a:lvl5pPr>
              <a:buClr>
                <a:schemeClr val="tx1"/>
              </a:buClr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EB0CB-6F24-1A96-F589-420A8A2589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59" y="6074827"/>
            <a:ext cx="728100" cy="308043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AF8107-1F67-F3DD-F642-04E5F35BE4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0332" y="10335"/>
            <a:ext cx="5761669" cy="5870384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99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 Dark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239" y="457200"/>
            <a:ext cx="5142560" cy="1600200"/>
          </a:xfrm>
        </p:spPr>
        <p:txBody>
          <a:bodyPr anchor="b"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E0E52D-B26A-6647-98C0-F359F0FA0DC9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239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2667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4D12E-29B6-4024-75B6-3367AA77A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346D8F-BE67-2A37-EEAD-442FFA1962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69517" cy="5760819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744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 Dark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" y="457200"/>
            <a:ext cx="5142560" cy="1600200"/>
          </a:xfrm>
        </p:spPr>
        <p:txBody>
          <a:bodyPr anchor="b"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22EC9D-9608-D048-B827-27F744EB6E71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03" y="2325158"/>
            <a:ext cx="5142560" cy="354435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32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2667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2133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59345-2B48-7408-B9FC-93473DEE3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484570-6241-2AA8-DAED-5F742839FF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0332" y="28668"/>
            <a:ext cx="5761669" cy="5870384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10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AD93-1930-9CE4-92F9-CB4BBA8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8836D-CD11-8E19-E371-1C055D33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5A415D-2F1F-B143-BA62-6BABD16E70A1}" type="datetime1">
              <a:rPr lang="en-GB" smtClean="0"/>
              <a:t>06/12/2025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6451-A3A9-4898-B96A-F430C303279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ACEE6-6DDC-172B-7E6A-1F5B9901B8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153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8836D-CD11-8E19-E371-1C055D33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9F6446-2BF2-4D44-B716-2ABFAF5C8941}" type="datetime1">
              <a:rPr lang="en-GB" smtClean="0"/>
              <a:t>06/12/2025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6451-A3A9-4898-B96A-F430C303279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1A223-3602-1C4D-02A2-7752E0A4E5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51" y="6086649"/>
            <a:ext cx="733008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03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FD2358-4116-32B5-F26F-D0222662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82312" cy="690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0EAD93-1930-9CE4-92F9-CB4BBA813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03" y="567346"/>
            <a:ext cx="10515600" cy="13250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14766F-CA55-B58F-B135-B22E4B217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102" y="2245038"/>
            <a:ext cx="8751473" cy="18700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95825-72A7-324E-9A24-5E7861E4F7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105" y="5742414"/>
            <a:ext cx="2836347" cy="36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9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with Addres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B82B64C-4A21-48EF-230D-CF646101A9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82312" cy="690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D9A4C-D34B-B0BC-0E62-A6F8857C8C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305" y="937331"/>
            <a:ext cx="2836347" cy="36308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535EE59-ECCB-8065-694C-8E4E76D63E7D}"/>
              </a:ext>
            </a:extLst>
          </p:cNvPr>
          <p:cNvGrpSpPr/>
          <p:nvPr userDrawn="1"/>
        </p:nvGrpSpPr>
        <p:grpSpPr>
          <a:xfrm>
            <a:off x="836306" y="2555969"/>
            <a:ext cx="6192909" cy="3390523"/>
            <a:chOff x="1243806" y="6879747"/>
            <a:chExt cx="5311140" cy="3705984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5CDD6526-A240-87EB-44B1-FCEC4312E6AF}"/>
                </a:ext>
              </a:extLst>
            </p:cNvPr>
            <p:cNvSpPr txBox="1"/>
            <p:nvPr/>
          </p:nvSpPr>
          <p:spPr>
            <a:xfrm>
              <a:off x="1243806" y="8198706"/>
              <a:ext cx="2432497" cy="107862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Microlise Limited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Farrington Way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Eastwood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Nottinghamshire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NG16 3AG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D3AEB353-018B-618A-B8F0-7C8493D19746}"/>
                </a:ext>
              </a:extLst>
            </p:cNvPr>
            <p:cNvSpPr txBox="1"/>
            <p:nvPr/>
          </p:nvSpPr>
          <p:spPr>
            <a:xfrm>
              <a:off x="1243807" y="9765024"/>
              <a:ext cx="1500244" cy="82070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40808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Registered in England &amp; Wales with</a:t>
              </a:r>
              <a:r>
                <a:rPr lang="en-GB"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 </a:t>
              </a: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Company No. 03037936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7B1C569B-8C1B-4838-1EA3-33558516C075}"/>
                </a:ext>
              </a:extLst>
            </p:cNvPr>
            <p:cNvSpPr txBox="1"/>
            <p:nvPr/>
          </p:nvSpPr>
          <p:spPr>
            <a:xfrm>
              <a:off x="2744051" y="8198706"/>
              <a:ext cx="1688171" cy="103657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Microlise Group plc Farrington Way </a:t>
              </a:r>
              <a:br>
                <a:rPr lang="en-GB"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</a:b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Eastwood </a:t>
              </a:r>
              <a:br>
                <a:rPr lang="en-GB"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</a:b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Nottinghamshire </a:t>
              </a:r>
              <a:endParaRPr lang="en-GB" sz="12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NG16 3AG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BFF300BA-FBA5-33AB-D570-DEF601C7592E}"/>
                </a:ext>
              </a:extLst>
            </p:cNvPr>
            <p:cNvSpPr txBox="1"/>
            <p:nvPr/>
          </p:nvSpPr>
          <p:spPr>
            <a:xfrm>
              <a:off x="2744052" y="9765024"/>
              <a:ext cx="1308883" cy="82070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6933" marR="6773">
                <a:lnSpc>
                  <a:spcPct val="100000"/>
                </a:lnSpc>
                <a:spcBef>
                  <a:spcPts val="127"/>
                </a:spcBef>
              </a:pPr>
              <a:r>
                <a:rPr sz="12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Registered in England &amp;  Wales with Company No. 11553192</a:t>
              </a:r>
              <a:endParaRPr sz="1200">
                <a:latin typeface="DM Sans" pitchFamily="2" charset="77"/>
                <a:cs typeface="Calibri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434445B8-5756-9429-2A0F-FEE153B50457}"/>
                </a:ext>
              </a:extLst>
            </p:cNvPr>
            <p:cNvSpPr txBox="1"/>
            <p:nvPr/>
          </p:nvSpPr>
          <p:spPr>
            <a:xfrm>
              <a:off x="1243806" y="6879747"/>
              <a:ext cx="5311140" cy="557184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6933">
                <a:lnSpc>
                  <a:spcPct val="100000"/>
                </a:lnSpc>
                <a:spcBef>
                  <a:spcPts val="180"/>
                </a:spcBef>
              </a:pPr>
              <a:r>
                <a:rPr sz="3200">
                  <a:solidFill>
                    <a:schemeClr val="accent1"/>
                  </a:solidFill>
                  <a:latin typeface="DM Sans" pitchFamily="2" charset="77"/>
                  <a:cs typeface="Calibri"/>
                </a:rPr>
                <a:t>www.microlise.com</a:t>
              </a:r>
              <a:r>
                <a:rPr lang="en-GB" sz="3200">
                  <a:solidFill>
                    <a:schemeClr val="accent1"/>
                  </a:solidFill>
                  <a:latin typeface="DM Sans" pitchFamily="2" charset="77"/>
                  <a:cs typeface="Calibri"/>
                </a:rPr>
                <a:t> </a:t>
              </a:r>
              <a:endParaRPr sz="3200">
                <a:solidFill>
                  <a:schemeClr val="accent1"/>
                </a:solidFill>
                <a:latin typeface="DM Sans" pitchFamily="2" charset="77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783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odule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80096" cy="685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1400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23" y="2134953"/>
            <a:ext cx="6189797" cy="3755104"/>
          </a:xfrm>
        </p:spPr>
        <p:txBody>
          <a:bodyPr rtlCol="0" anchor="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CFFCFE-1D31-A30F-F50C-B0F2410A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23" y="412259"/>
            <a:ext cx="6189797" cy="1111368"/>
          </a:xfr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A5A7F9-815F-CB72-FEA5-B883FA33AAEE}"/>
              </a:ext>
            </a:extLst>
          </p:cNvPr>
          <p:cNvCxnSpPr/>
          <p:nvPr userDrawn="1"/>
        </p:nvCxnSpPr>
        <p:spPr>
          <a:xfrm>
            <a:off x="4984723" y="1768415"/>
            <a:ext cx="618979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9637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3928" y="1222867"/>
            <a:ext cx="7075451" cy="452090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842" y="1363853"/>
            <a:ext cx="3434279" cy="4937360"/>
          </a:xfrm>
        </p:spPr>
        <p:txBody>
          <a:bodyPr rtlCol="0"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CFFCFE-1D31-A30F-F50C-B0F2410A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41" y="365580"/>
            <a:ext cx="3452385" cy="702877"/>
          </a:xfrm>
        </p:spPr>
        <p:txBody>
          <a:bodyPr rtlCol="0">
            <a:noAutofit/>
          </a:bodyPr>
          <a:lstStyle>
            <a:lvl1pPr>
              <a:defRPr sz="2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A5A7F9-815F-CB72-FEA5-B883FA33AAEE}"/>
              </a:ext>
            </a:extLst>
          </p:cNvPr>
          <p:cNvCxnSpPr>
            <a:cxnSpLocks/>
          </p:cNvCxnSpPr>
          <p:nvPr userDrawn="1"/>
        </p:nvCxnSpPr>
        <p:spPr>
          <a:xfrm>
            <a:off x="123732" y="1222867"/>
            <a:ext cx="345238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C02E08-8FFB-2F32-CE3B-196AD2A7D13E}"/>
              </a:ext>
            </a:extLst>
          </p:cNvPr>
          <p:cNvCxnSpPr>
            <a:cxnSpLocks/>
          </p:cNvCxnSpPr>
          <p:nvPr userDrawn="1"/>
        </p:nvCxnSpPr>
        <p:spPr>
          <a:xfrm>
            <a:off x="3689289" y="365579"/>
            <a:ext cx="0" cy="593563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2602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11291" y="-1"/>
            <a:ext cx="5179243" cy="6858001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4" name="Picture 2" descr="Y:\Branding &amp; Graphics JD\Microlise Logos\Standard logo\White\PNG\Microlise_Logo_White_800px_web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3238" y="664535"/>
            <a:ext cx="1338137" cy="61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23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69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38055-2C64-3A7C-EB0C-E54DBA8F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FB1F4-82BA-02F8-938E-2E204F477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F281-1FA3-E3A0-A5F6-1AED31595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47892-5885-4592-8826-1D5801BC7FD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85B30-03A0-AC4D-780A-39EFB4DE8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43C-14AB-D914-ACFE-6F2C6618E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17E61-C870-4212-B321-8585F03E09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29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77C89-30AF-531D-EA53-92B212C5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3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950DF-701D-D598-68F0-FCD09E758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03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03E1-14AE-35AA-9268-AE524D44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0549" y="6176434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Outfit Light" pitchFamily="2" charset="0"/>
              </a:defRPr>
            </a:lvl1pPr>
          </a:lstStyle>
          <a:p>
            <a:fld id="{B8DA1A95-0620-4B43-9EA1-72D8A64E0460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16C77-B5B6-9D68-8334-B64DFFC7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750" y="6176434"/>
            <a:ext cx="812276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Outfit Light" pitchFamily="2" charset="0"/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333" kern="1200">
          <a:solidFill>
            <a:schemeClr val="tx1"/>
          </a:solidFill>
          <a:latin typeface="Archia" panose="02000503000000020004" pitchFamily="2" charset="77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zdo.microlise.com/MicroliseCollection/Microlise/_git/MicroliseStandardHelmChart" TargetMode="External"/><Relationship Id="rId7" Type="http://schemas.openxmlformats.org/officeDocument/2006/relationships/image" Target="../media/image70.png"/><Relationship Id="rId2" Type="http://schemas.openxmlformats.org/officeDocument/2006/relationships/hyperlink" Target="https://azdo.microlise.com/MicroliseCollection/Microlise/_git/Gryphon.OpenShift.Pipeline.ReleaseAgentScript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zdo.microlise.com/MicroliseCollection/Microlise/_releaseDefinition?definitionId=266&amp;_a=definition-pipeline" TargetMode="External"/><Relationship Id="rId5" Type="http://schemas.openxmlformats.org/officeDocument/2006/relationships/hyperlink" Target="https://azdo.microlise.com/MicroliseCollection/Microlise/_git/AssetTagService.Release" TargetMode="External"/><Relationship Id="rId4" Type="http://schemas.openxmlformats.org/officeDocument/2006/relationships/hyperlink" Target="https://azdo.microlise.com/MicroliseCollection/Microlise/_git/Alchemy.TemperatureIngestService.Carrier.Release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jhooq/complete-helm-chart-tutorial-from-beginner-to-expert-guide-54lg" TargetMode="External"/><Relationship Id="rId2" Type="http://schemas.openxmlformats.org/officeDocument/2006/relationships/hyperlink" Target="https://kodekloud.com/blog/helm-chart-tutorial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evopsroles.com/kubernetes-helm-chart-tutorial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A163-7275-AC26-92BC-4D0DCD188E9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83880" y="697929"/>
            <a:ext cx="5808663" cy="1373188"/>
          </a:xfrm>
        </p:spPr>
        <p:txBody>
          <a:bodyPr>
            <a:normAutofit/>
          </a:bodyPr>
          <a:lstStyle/>
          <a:p>
            <a:r>
              <a:rPr lang="en-US" dirty="0"/>
              <a:t>   Helm Deep Dive</a:t>
            </a:r>
          </a:p>
        </p:txBody>
      </p:sp>
      <p:pic>
        <p:nvPicPr>
          <p:cNvPr id="2050" name="Picture 2" descr="4-day Docker and Kubernetes Training – Software Blog">
            <a:extLst>
              <a:ext uri="{FF2B5EF4-FFF2-40B4-BE49-F238E27FC236}">
                <a16:creationId xmlns:a16="http://schemas.microsoft.com/office/drawing/2014/main" id="{35B88B29-7892-D800-4EF8-46A6BC5A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75" y="332644"/>
            <a:ext cx="1555996" cy="1555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786020-AC45-EEDB-148D-417C580E11EE}"/>
              </a:ext>
            </a:extLst>
          </p:cNvPr>
          <p:cNvSpPr txBox="1">
            <a:spLocks/>
          </p:cNvSpPr>
          <p:nvPr/>
        </p:nvSpPr>
        <p:spPr>
          <a:xfrm>
            <a:off x="4434604" y="1452461"/>
            <a:ext cx="3935107" cy="1373076"/>
          </a:xfrm>
          <a:prstGeom prst="rect">
            <a:avLst/>
          </a:prstGeom>
        </p:spPr>
        <p:txBody>
          <a:bodyPr vert="horz" lIns="121920" tIns="60960" rIns="121920" bIns="6096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Archia" panose="02000503000000020004" pitchFamily="2" charset="77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2800" dirty="0"/>
              <a:t>     By Anish Jain</a:t>
            </a:r>
          </a:p>
        </p:txBody>
      </p:sp>
      <p:pic>
        <p:nvPicPr>
          <p:cNvPr id="5122" name="Picture 2" descr="OpenShift Monitoring with Instana | IBM">
            <a:extLst>
              <a:ext uri="{FF2B5EF4-FFF2-40B4-BE49-F238E27FC236}">
                <a16:creationId xmlns:a16="http://schemas.microsoft.com/office/drawing/2014/main" id="{9A81D826-87DD-E69A-D303-5548D3210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6933" y="235184"/>
            <a:ext cx="3934501" cy="296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0E5012-10BC-E2C2-0587-B2BAA6ACFC4E}"/>
              </a:ext>
            </a:extLst>
          </p:cNvPr>
          <p:cNvSpPr txBox="1"/>
          <p:nvPr/>
        </p:nvSpPr>
        <p:spPr>
          <a:xfrm>
            <a:off x="170654" y="5359964"/>
            <a:ext cx="5226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Steering Your Kubernetes Deployments</a:t>
            </a:r>
          </a:p>
        </p:txBody>
      </p:sp>
      <p:pic>
        <p:nvPicPr>
          <p:cNvPr id="6" name="Picture 6" descr="helm&quot; Icon - Download for free – Iconduck">
            <a:extLst>
              <a:ext uri="{FF2B5EF4-FFF2-40B4-BE49-F238E27FC236}">
                <a16:creationId xmlns:a16="http://schemas.microsoft.com/office/drawing/2014/main" id="{5E321C23-814C-20D8-21BD-A29C44567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654" y="1267203"/>
            <a:ext cx="1564908" cy="1628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A9EBB9-2D1D-4705-56D7-ED5711140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974" y="3830284"/>
            <a:ext cx="1799594" cy="139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2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Chaliye Shuru Karte hai meme | Technical Guruji meme | Memes Raj - YouTube">
            <a:extLst>
              <a:ext uri="{FF2B5EF4-FFF2-40B4-BE49-F238E27FC236}">
                <a16:creationId xmlns:a16="http://schemas.microsoft.com/office/drawing/2014/main" id="{94600BE5-8962-7C11-0ABC-F268D1967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89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8637D-EFBA-1735-4DEC-1B00C19157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Chaliye</a:t>
            </a:r>
            <a:r>
              <a:rPr lang="en-US" sz="5200" dirty="0"/>
              <a:t> </a:t>
            </a:r>
            <a:r>
              <a:rPr lang="en-US" sz="5200"/>
              <a:t>Shuru</a:t>
            </a:r>
            <a:r>
              <a:rPr lang="en-US" sz="5200" dirty="0"/>
              <a:t> Karte </a:t>
            </a:r>
            <a:r>
              <a:rPr lang="en-US" sz="5200"/>
              <a:t>hai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351219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64CBB-549C-7A7E-6B3D-45598B5A1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833438"/>
          </a:xfrm>
        </p:spPr>
        <p:txBody>
          <a:bodyPr>
            <a:normAutofit/>
          </a:bodyPr>
          <a:lstStyle/>
          <a:p>
            <a:r>
              <a:rPr lang="en-IN" sz="3200" dirty="0"/>
              <a:t> 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29A80-80B3-E7BC-BB6E-32689695BB6F}"/>
              </a:ext>
            </a:extLst>
          </p:cNvPr>
          <p:cNvSpPr txBox="1"/>
          <p:nvPr/>
        </p:nvSpPr>
        <p:spPr>
          <a:xfrm>
            <a:off x="345904" y="662004"/>
            <a:ext cx="3972910" cy="550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50" b="1" dirty="0"/>
              <a:t>Why Helm is important?</a:t>
            </a:r>
          </a:p>
          <a:p>
            <a:r>
              <a:rPr lang="en-IN" sz="950" dirty="0"/>
              <a:t> - AZDO Pipe line benefits</a:t>
            </a:r>
          </a:p>
          <a:p>
            <a:r>
              <a:rPr lang="en-IN" sz="950" dirty="0"/>
              <a:t> - Problem 1: Challenges Without Azure DevOps CI/CD in Kubernetes</a:t>
            </a:r>
          </a:p>
          <a:p>
            <a:r>
              <a:rPr lang="en-IN" sz="950" dirty="0"/>
              <a:t> - Problem 2: Deployment Challenges in Kubernetes Without Helm Chart</a:t>
            </a:r>
          </a:p>
          <a:p>
            <a:r>
              <a:rPr lang="en-IN" sz="950" dirty="0"/>
              <a:t> - What is Helm?</a:t>
            </a:r>
          </a:p>
          <a:p>
            <a:r>
              <a:rPr lang="en-IN" sz="950" dirty="0"/>
              <a:t> - Helm's Handling of Kubernetes Object Tree</a:t>
            </a:r>
          </a:p>
          <a:p>
            <a:r>
              <a:rPr lang="en-IN" sz="950" dirty="0"/>
              <a:t> </a:t>
            </a:r>
          </a:p>
          <a:p>
            <a:r>
              <a:rPr lang="en-IN" sz="950" b="1" dirty="0"/>
              <a:t>Helm Chart Directory &amp; K8s Objects</a:t>
            </a:r>
          </a:p>
          <a:p>
            <a:r>
              <a:rPr lang="en-IN" sz="950" dirty="0"/>
              <a:t> - Chart Directory</a:t>
            </a:r>
          </a:p>
          <a:p>
            <a:r>
              <a:rPr lang="en-IN" sz="950" dirty="0"/>
              <a:t> - Defining Kubernetes Resources with Helm Templates</a:t>
            </a:r>
          </a:p>
          <a:p>
            <a:r>
              <a:rPr lang="en-IN" sz="950" dirty="0"/>
              <a:t> - Deployments</a:t>
            </a:r>
          </a:p>
          <a:p>
            <a:r>
              <a:rPr lang="en-IN" sz="950" dirty="0"/>
              <a:t> - Services</a:t>
            </a:r>
          </a:p>
          <a:p>
            <a:r>
              <a:rPr lang="en-IN" sz="950" dirty="0"/>
              <a:t> - </a:t>
            </a:r>
            <a:r>
              <a:rPr lang="en-IN" sz="950" dirty="0" err="1"/>
              <a:t>ConfigMaps</a:t>
            </a:r>
            <a:endParaRPr lang="en-IN" sz="950" dirty="0"/>
          </a:p>
          <a:p>
            <a:r>
              <a:rPr lang="en-IN" sz="950" dirty="0"/>
              <a:t> - Secrets</a:t>
            </a:r>
          </a:p>
          <a:p>
            <a:r>
              <a:rPr lang="en-IN" sz="950" dirty="0"/>
              <a:t> </a:t>
            </a:r>
          </a:p>
          <a:p>
            <a:r>
              <a:rPr lang="en-IN" sz="950" b="1" dirty="0"/>
              <a:t>Helm Chart Template</a:t>
            </a:r>
          </a:p>
          <a:p>
            <a:r>
              <a:rPr lang="en-IN" sz="950" dirty="0"/>
              <a:t> - Template Syntax</a:t>
            </a:r>
          </a:p>
          <a:p>
            <a:r>
              <a:rPr lang="en-IN" sz="950" dirty="0"/>
              <a:t> - Defining a Helper for Labels</a:t>
            </a:r>
          </a:p>
          <a:p>
            <a:r>
              <a:rPr lang="en-IN" sz="950" dirty="0"/>
              <a:t> - </a:t>
            </a:r>
            <a:r>
              <a:rPr lang="en-IN" sz="950" dirty="0" err="1"/>
              <a:t>values.yaml</a:t>
            </a:r>
            <a:endParaRPr lang="en-IN" sz="950" dirty="0"/>
          </a:p>
          <a:p>
            <a:r>
              <a:rPr lang="en-IN" sz="950" dirty="0"/>
              <a:t> - Pipe</a:t>
            </a:r>
          </a:p>
          <a:p>
            <a:r>
              <a:rPr lang="en-IN" sz="950" dirty="0"/>
              <a:t> - Scopes</a:t>
            </a:r>
          </a:p>
          <a:p>
            <a:r>
              <a:rPr lang="en-IN" sz="950" dirty="0"/>
              <a:t> - </a:t>
            </a:r>
            <a:r>
              <a:rPr lang="en-IN" sz="950" dirty="0" err="1"/>
              <a:t>Release.Name</a:t>
            </a:r>
            <a:endParaRPr lang="en-IN" sz="950" dirty="0"/>
          </a:p>
          <a:p>
            <a:r>
              <a:rPr lang="en-IN" sz="950" dirty="0"/>
              <a:t> - Linting</a:t>
            </a:r>
          </a:p>
          <a:p>
            <a:r>
              <a:rPr lang="en-IN" sz="950" dirty="0"/>
              <a:t> - Helm Hooks</a:t>
            </a:r>
          </a:p>
          <a:p>
            <a:endParaRPr lang="en-IN" sz="950" dirty="0"/>
          </a:p>
          <a:p>
            <a:r>
              <a:rPr lang="en-IN" sz="950" b="1" dirty="0"/>
              <a:t>Best Practices</a:t>
            </a:r>
          </a:p>
          <a:p>
            <a:r>
              <a:rPr lang="en-IN" sz="950" dirty="0"/>
              <a:t> - Labelling and Selectors</a:t>
            </a:r>
          </a:p>
          <a:p>
            <a:r>
              <a:rPr lang="en-IN" sz="950" dirty="0"/>
              <a:t> - Security</a:t>
            </a:r>
          </a:p>
          <a:p>
            <a:r>
              <a:rPr lang="en-IN" sz="950" dirty="0"/>
              <a:t> - Resource Policies</a:t>
            </a:r>
          </a:p>
          <a:p>
            <a:r>
              <a:rPr lang="en-IN" sz="950" dirty="0"/>
              <a:t> - Documentation</a:t>
            </a:r>
          </a:p>
          <a:p>
            <a:r>
              <a:rPr lang="en-IN" sz="950" dirty="0"/>
              <a:t> - </a:t>
            </a:r>
            <a:r>
              <a:rPr lang="en-US" sz="950" dirty="0"/>
              <a:t>Plugins for Helm Charts in Visual Studio Code</a:t>
            </a:r>
          </a:p>
          <a:p>
            <a:endParaRPr lang="en-IN" sz="950" dirty="0"/>
          </a:p>
          <a:p>
            <a:r>
              <a:rPr lang="en-IN" sz="950" b="1" dirty="0"/>
              <a:t>Microlise helm chart</a:t>
            </a:r>
          </a:p>
          <a:p>
            <a:endParaRPr lang="en-IN" sz="950" b="1" dirty="0"/>
          </a:p>
          <a:p>
            <a:r>
              <a:rPr lang="en-IN" sz="1000" b="1" dirty="0"/>
              <a:t>Microlise Repo to refer</a:t>
            </a:r>
            <a:endParaRPr lang="en-IN" sz="950" b="1" dirty="0"/>
          </a:p>
          <a:p>
            <a:endParaRPr lang="en-IN" sz="950" dirty="0"/>
          </a:p>
          <a:p>
            <a:r>
              <a:rPr lang="en-IN" sz="950" b="1" dirty="0"/>
              <a:t>More About Helm</a:t>
            </a:r>
          </a:p>
        </p:txBody>
      </p:sp>
      <p:pic>
        <p:nvPicPr>
          <p:cNvPr id="1026" name="Picture 2" descr="Kubernetes 101- Concepts, Potential, and lots of Container Orchestrations |  HackerNoon">
            <a:extLst>
              <a:ext uri="{FF2B5EF4-FFF2-40B4-BE49-F238E27FC236}">
                <a16:creationId xmlns:a16="http://schemas.microsoft.com/office/drawing/2014/main" id="{AF4D5CDC-1113-F966-E22D-791F8E78F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013" y="1321460"/>
            <a:ext cx="8136884" cy="457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60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49FB-7DAB-F3D5-240A-C9583E04FE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96850"/>
            <a:ext cx="10515600" cy="1325563"/>
          </a:xfrm>
        </p:spPr>
        <p:txBody>
          <a:bodyPr/>
          <a:lstStyle/>
          <a:p>
            <a:r>
              <a:rPr lang="en-IN" dirty="0"/>
              <a:t>Upcoming sessions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F5ADF-5FFD-5F24-9969-31145A21B359}"/>
              </a:ext>
            </a:extLst>
          </p:cNvPr>
          <p:cNvSpPr txBox="1"/>
          <p:nvPr/>
        </p:nvSpPr>
        <p:spPr>
          <a:xfrm>
            <a:off x="-400661" y="1226001"/>
            <a:ext cx="41885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DD590-CB97-9605-C8B9-9C87698A3917}"/>
              </a:ext>
            </a:extLst>
          </p:cNvPr>
          <p:cNvSpPr/>
          <p:nvPr/>
        </p:nvSpPr>
        <p:spPr>
          <a:xfrm>
            <a:off x="117979" y="1515729"/>
            <a:ext cx="2831690" cy="23990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HELM CHART</a:t>
            </a:r>
          </a:p>
          <a:p>
            <a:r>
              <a:rPr lang="en-US" sz="1200" dirty="0"/>
              <a:t>  - Introduction to Helm and Kubernetes:</a:t>
            </a:r>
          </a:p>
          <a:p>
            <a:r>
              <a:rPr lang="en-US" sz="1200" dirty="0"/>
              <a:t>  - Helm Chart Structure</a:t>
            </a:r>
          </a:p>
          <a:p>
            <a:r>
              <a:rPr lang="en-US" sz="1200" dirty="0"/>
              <a:t>  - Values Files</a:t>
            </a:r>
          </a:p>
          <a:p>
            <a:r>
              <a:rPr lang="en-US" sz="1200" dirty="0"/>
              <a:t>  - Templates</a:t>
            </a:r>
          </a:p>
          <a:p>
            <a:r>
              <a:rPr lang="en-US" sz="1200" dirty="0"/>
              <a:t>  - Labels and Annotations</a:t>
            </a:r>
          </a:p>
          <a:p>
            <a:r>
              <a:rPr lang="en-US" sz="1200" dirty="0"/>
              <a:t>  - Dependencies and </a:t>
            </a:r>
            <a:r>
              <a:rPr lang="en-US" sz="1200" dirty="0" err="1"/>
              <a:t>Subcharts</a:t>
            </a:r>
            <a:endParaRPr lang="en-US" sz="1200" dirty="0"/>
          </a:p>
          <a:p>
            <a:r>
              <a:rPr lang="en-US" sz="1200" dirty="0"/>
              <a:t>  - Helm CLI Commands</a:t>
            </a:r>
          </a:p>
          <a:p>
            <a:r>
              <a:rPr lang="en-US" sz="1200" dirty="0"/>
              <a:t>  - Security</a:t>
            </a:r>
          </a:p>
          <a:p>
            <a:r>
              <a:rPr lang="en-US" sz="1200" dirty="0"/>
              <a:t>  - Hooks and Tests</a:t>
            </a:r>
          </a:p>
          <a:p>
            <a:r>
              <a:rPr lang="en-US" sz="1200" dirty="0"/>
              <a:t>  - Best Practices</a:t>
            </a:r>
            <a:endParaRPr lang="en-IN" sz="1200" dirty="0"/>
          </a:p>
          <a:p>
            <a:pPr algn="ctr"/>
            <a:endParaRPr lang="en-IN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CBAA5-E953-B976-2B00-6C4329133D76}"/>
              </a:ext>
            </a:extLst>
          </p:cNvPr>
          <p:cNvSpPr/>
          <p:nvPr/>
        </p:nvSpPr>
        <p:spPr>
          <a:xfrm>
            <a:off x="6140290" y="1523027"/>
            <a:ext cx="2585882" cy="2399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Resource Quota Allocation</a:t>
            </a:r>
          </a:p>
          <a:p>
            <a:r>
              <a:rPr lang="en-IN" sz="1200" dirty="0"/>
              <a:t>  - Introduction to Resource Quotas</a:t>
            </a:r>
          </a:p>
          <a:p>
            <a:r>
              <a:rPr lang="en-IN" sz="1200" dirty="0"/>
              <a:t>  - Setting Resource Quotas</a:t>
            </a:r>
          </a:p>
          <a:p>
            <a:r>
              <a:rPr lang="en-IN" sz="1200" dirty="0"/>
              <a:t>  - Resource Requests and Limits</a:t>
            </a:r>
          </a:p>
          <a:p>
            <a:r>
              <a:rPr lang="en-IN" sz="1200" dirty="0"/>
              <a:t>  - Namespace Isolation</a:t>
            </a:r>
          </a:p>
          <a:p>
            <a:pPr algn="ctr"/>
            <a:endParaRPr lang="en-IN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5B1EE-4DAD-BE51-D674-945EFB7EBFB5}"/>
              </a:ext>
            </a:extLst>
          </p:cNvPr>
          <p:cNvSpPr/>
          <p:nvPr/>
        </p:nvSpPr>
        <p:spPr>
          <a:xfrm>
            <a:off x="8974463" y="1523027"/>
            <a:ext cx="3008672" cy="2399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Networking</a:t>
            </a:r>
          </a:p>
          <a:p>
            <a:r>
              <a:rPr lang="en-US" sz="1200" dirty="0"/>
              <a:t>  - Introduction to Kubernetes Networking</a:t>
            </a:r>
          </a:p>
          <a:p>
            <a:r>
              <a:rPr lang="en-US" sz="1200" dirty="0"/>
              <a:t>  - Cluster Networking</a:t>
            </a:r>
          </a:p>
          <a:p>
            <a:r>
              <a:rPr lang="en-US" sz="1200" dirty="0"/>
              <a:t>  - Network Policies</a:t>
            </a:r>
          </a:p>
          <a:p>
            <a:r>
              <a:rPr lang="en-US" sz="1200" dirty="0"/>
              <a:t>  - Service Types</a:t>
            </a:r>
          </a:p>
          <a:p>
            <a:r>
              <a:rPr lang="en-US" sz="1200" dirty="0"/>
              <a:t>  - Route</a:t>
            </a:r>
          </a:p>
          <a:p>
            <a:r>
              <a:rPr lang="en-US" sz="1200" dirty="0"/>
              <a:t>  - Container-to-Container Networking</a:t>
            </a:r>
          </a:p>
          <a:p>
            <a:r>
              <a:rPr lang="en-US" sz="1200" dirty="0"/>
              <a:t>  - Pod-to-Service Networking</a:t>
            </a:r>
          </a:p>
          <a:p>
            <a:r>
              <a:rPr lang="en-US" sz="1200" dirty="0"/>
              <a:t>  - External-to-Service Networking</a:t>
            </a:r>
          </a:p>
          <a:p>
            <a:pPr algn="ctr"/>
            <a:endParaRPr lang="en-IN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FD584-EBC7-1EE2-662C-148586496431}"/>
              </a:ext>
            </a:extLst>
          </p:cNvPr>
          <p:cNvSpPr/>
          <p:nvPr/>
        </p:nvSpPr>
        <p:spPr>
          <a:xfrm>
            <a:off x="3197960" y="1517292"/>
            <a:ext cx="2694039" cy="2399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Deployment</a:t>
            </a:r>
          </a:p>
          <a:p>
            <a:r>
              <a:rPr lang="en-US" sz="1200" dirty="0"/>
              <a:t>  - Introduction to Deployments</a:t>
            </a:r>
          </a:p>
          <a:p>
            <a:r>
              <a:rPr lang="en-US" sz="1200" dirty="0"/>
              <a:t>  - Deployment Object Structure</a:t>
            </a:r>
          </a:p>
          <a:p>
            <a:r>
              <a:rPr lang="en-US" sz="1200" dirty="0"/>
              <a:t>  - Creating and Managing Deployments</a:t>
            </a:r>
          </a:p>
          <a:p>
            <a:r>
              <a:rPr lang="en-US" sz="1200" dirty="0"/>
              <a:t>  - </a:t>
            </a:r>
            <a:r>
              <a:rPr lang="en-US" sz="1200" dirty="0" err="1"/>
              <a:t>ReplicaSets</a:t>
            </a:r>
            <a:endParaRPr lang="en-US" sz="1200" dirty="0"/>
          </a:p>
          <a:p>
            <a:r>
              <a:rPr lang="en-US" sz="1200" dirty="0"/>
              <a:t>  - Rolling Updates and Rollbacks</a:t>
            </a:r>
          </a:p>
          <a:p>
            <a:r>
              <a:rPr lang="en-US" sz="1200" dirty="0"/>
              <a:t>  - Scaling Applications</a:t>
            </a:r>
          </a:p>
          <a:p>
            <a:r>
              <a:rPr lang="en-US" sz="1200" dirty="0"/>
              <a:t>  - Deployment Strategies</a:t>
            </a:r>
          </a:p>
          <a:p>
            <a:pPr algn="ctr"/>
            <a:endParaRPr lang="en-IN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C2198-3E90-E193-97FF-EF0329D36107}"/>
              </a:ext>
            </a:extLst>
          </p:cNvPr>
          <p:cNvSpPr/>
          <p:nvPr/>
        </p:nvSpPr>
        <p:spPr>
          <a:xfrm>
            <a:off x="1779660" y="4145397"/>
            <a:ext cx="4112339" cy="2197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Volume</a:t>
            </a:r>
          </a:p>
          <a:p>
            <a:r>
              <a:rPr lang="en-IN" sz="1200" dirty="0"/>
              <a:t>  - Introduction to Kubernetes Volumes</a:t>
            </a:r>
          </a:p>
          <a:p>
            <a:r>
              <a:rPr lang="en-IN" sz="1200" dirty="0"/>
              <a:t>  - Volume Types</a:t>
            </a:r>
          </a:p>
          <a:p>
            <a:r>
              <a:rPr lang="en-IN" sz="1200" dirty="0"/>
              <a:t>  - Persistent Volumes (PV) and Persistent Volume Claims (PVC)</a:t>
            </a:r>
          </a:p>
          <a:p>
            <a:r>
              <a:rPr lang="en-IN" sz="1200" dirty="0"/>
              <a:t>  - Storage Classes</a:t>
            </a:r>
          </a:p>
          <a:p>
            <a:r>
              <a:rPr lang="en-IN" sz="1200" dirty="0"/>
              <a:t>  - </a:t>
            </a:r>
            <a:r>
              <a:rPr lang="en-IN" sz="1200" dirty="0" err="1"/>
              <a:t>VolumeMounts</a:t>
            </a:r>
            <a:endParaRPr lang="en-IN" sz="1200" dirty="0"/>
          </a:p>
          <a:p>
            <a:r>
              <a:rPr lang="en-IN" sz="1200" dirty="0"/>
              <a:t>  - Data Persistence and Sharing</a:t>
            </a:r>
          </a:p>
          <a:p>
            <a:r>
              <a:rPr lang="en-IN" sz="1200" dirty="0"/>
              <a:t>  - Configuring Volumes in Pod Specifications</a:t>
            </a:r>
          </a:p>
          <a:p>
            <a:r>
              <a:rPr lang="en-IN" sz="1200" dirty="0"/>
              <a:t>  - Security Considerations</a:t>
            </a:r>
          </a:p>
          <a:p>
            <a:pPr algn="ctr"/>
            <a:endParaRPr lang="en-IN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D005A-7578-DF91-BAAA-7B91F4A64BEA}"/>
              </a:ext>
            </a:extLst>
          </p:cNvPr>
          <p:cNvSpPr/>
          <p:nvPr/>
        </p:nvSpPr>
        <p:spPr>
          <a:xfrm>
            <a:off x="6570424" y="4148905"/>
            <a:ext cx="2585882" cy="2197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Issue investigation</a:t>
            </a:r>
          </a:p>
          <a:p>
            <a:r>
              <a:rPr lang="en-US" sz="1200" dirty="0"/>
              <a:t>  - Deployment issue</a:t>
            </a:r>
          </a:p>
          <a:p>
            <a:r>
              <a:rPr lang="en-US" sz="1200" dirty="0"/>
              <a:t>  - Resources quota issue etc.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5957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930400" y="2381250"/>
            <a:ext cx="10261600" cy="1516063"/>
          </a:xfrm>
        </p:spPr>
        <p:txBody>
          <a:bodyPr vert="horz" lIns="121920" tIns="60960" rIns="121920" bIns="60960" rtlCol="0" anchor="b">
            <a:normAutofit/>
          </a:bodyPr>
          <a:lstStyle/>
          <a:p>
            <a:r>
              <a:rPr lang="en-US" sz="72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Why Helm is important?</a:t>
            </a:r>
          </a:p>
        </p:txBody>
      </p:sp>
    </p:spTree>
    <p:extLst>
      <p:ext uri="{BB962C8B-B14F-4D97-AF65-F5344CB8AC3E}">
        <p14:creationId xmlns:p14="http://schemas.microsoft.com/office/powerpoint/2010/main" val="2597028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-GB" kern="0">
                <a:solidFill>
                  <a:srgbClr val="151D24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6</a:t>
            </a:fld>
            <a:endParaRPr lang="en-GB" kern="0">
              <a:solidFill>
                <a:srgbClr val="151D24"/>
              </a:solidFill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64CBB-549C-7A7E-6B3D-45598B5A1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57163"/>
            <a:ext cx="10515600" cy="1323975"/>
          </a:xfrm>
        </p:spPr>
        <p:txBody>
          <a:bodyPr/>
          <a:lstStyle/>
          <a:p>
            <a:r>
              <a:rPr lang="en-IN" dirty="0"/>
              <a:t>AZDO Pipe line benefits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043FE-DD2C-9A64-D4F3-913F4D577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8" y="1892854"/>
            <a:ext cx="10646063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2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1F289-70C9-1F94-7665-D0DC3ED7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655F0-5226-37FE-5D1E-B6E89B622F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US" sz="3200" dirty="0"/>
              <a:t>Problem 1: Challenges Without Azure DevOps CI/CD in Kubernetes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9D2AE-483A-5114-06A4-603BF8A9A095}"/>
              </a:ext>
            </a:extLst>
          </p:cNvPr>
          <p:cNvSpPr txBox="1"/>
          <p:nvPr/>
        </p:nvSpPr>
        <p:spPr>
          <a:xfrm>
            <a:off x="658761" y="1691218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50" b="1" dirty="0"/>
              <a:t>Key Problems</a:t>
            </a:r>
          </a:p>
          <a:p>
            <a:endParaRPr lang="en-IN" sz="175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b="1" dirty="0"/>
              <a:t>Lack of Automation</a:t>
            </a:r>
            <a:r>
              <a:rPr lang="en-IN" sz="1750" dirty="0"/>
              <a:t>: Absence of automated build, test, and deployment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b="1" dirty="0"/>
              <a:t>Inconsistent Environments</a:t>
            </a:r>
            <a:r>
              <a:rPr lang="en-IN" sz="1750" dirty="0"/>
              <a:t>: Manual deployments can lead to differences between development, staging, and production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b="1" dirty="0"/>
              <a:t>Security Risks</a:t>
            </a:r>
            <a:r>
              <a:rPr lang="en-IN" sz="1750" dirty="0"/>
              <a:t>: Increased chances of human error in manual deployments.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b="1" dirty="0"/>
              <a:t>Resource Management</a:t>
            </a:r>
            <a:r>
              <a:rPr lang="en-IN" sz="1750" dirty="0"/>
              <a:t>: Difficulty in managing resources and infrastructure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b="1" dirty="0"/>
              <a:t>Collaboration Challenges</a:t>
            </a:r>
            <a:r>
              <a:rPr lang="en-IN" sz="1750" dirty="0"/>
              <a:t>: Lack of CI/CD can hinder collaboration between development, QA, and operations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b="1" dirty="0"/>
              <a:t>Compliance and Governance</a:t>
            </a:r>
            <a:r>
              <a:rPr lang="en-IN" sz="1750" dirty="0"/>
              <a:t>: Ensuring adherence to policies and standards without automation is challenging.</a:t>
            </a:r>
          </a:p>
        </p:txBody>
      </p:sp>
    </p:spTree>
    <p:extLst>
      <p:ext uri="{BB962C8B-B14F-4D97-AF65-F5344CB8AC3E}">
        <p14:creationId xmlns:p14="http://schemas.microsoft.com/office/powerpoint/2010/main" val="3801311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75B53-488E-9808-0187-0580C565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BF8A8-AED8-E411-4785-29535575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2736E-7E3D-787E-A243-535EDD054C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US" sz="3200" dirty="0"/>
              <a:t>Problem 2: Deployment Challenges in Kubernetes Without Helm Chart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BA249-55B8-5FE4-AED5-808CC82B75F7}"/>
              </a:ext>
            </a:extLst>
          </p:cNvPr>
          <p:cNvSpPr txBox="1"/>
          <p:nvPr/>
        </p:nvSpPr>
        <p:spPr>
          <a:xfrm>
            <a:off x="757084" y="1948677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Complex YAML Management</a:t>
            </a:r>
            <a:r>
              <a:rPr lang="en-US" dirty="0"/>
              <a:t>: Managing multiple YAML files for different resources (e.g., deployments, services, ingresses) can become cumbersome and error-prone.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Repetitive Configuration</a:t>
            </a:r>
            <a:r>
              <a:rPr lang="en-US" dirty="0"/>
              <a:t>: Repetition of similar configurations across different files can lead to inconsistencies and maintenance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Deployment Consistency</a:t>
            </a:r>
            <a:r>
              <a:rPr lang="en-US" dirty="0"/>
              <a:t>: Ensuring consistent deployments across different environments (development, staging, production) can be challenging without a standardized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Security Concerns</a:t>
            </a:r>
            <a:r>
              <a:rPr lang="en-US" dirty="0"/>
              <a:t>: Ensuring security policies and practices without Helm can be more complex.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1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73DC4-53F8-66F4-3D8C-5F14C7EF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E246F-C66A-F8E0-F578-316ADB2CCF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IN" dirty="0"/>
              <a:t>What is Helm?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FD51C-09AF-1323-C9B3-E4A8BD72AF93}"/>
              </a:ext>
            </a:extLst>
          </p:cNvPr>
          <p:cNvSpPr txBox="1"/>
          <p:nvPr/>
        </p:nvSpPr>
        <p:spPr>
          <a:xfrm>
            <a:off x="894953" y="1984798"/>
            <a:ext cx="73145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Helm is a Package Manager for Kubernetes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package multiple K8s resources into a single logical deployment unit: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Helm is a Deployment Management for Kubernetes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 a repeatable deployment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management dependencies: reuse and share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update, rollback and test application deployments (Releases)</a:t>
            </a:r>
          </a:p>
        </p:txBody>
      </p:sp>
      <p:pic>
        <p:nvPicPr>
          <p:cNvPr id="6" name="Picture 2" descr="Helm T-Shirts, Hoodies, Tank Top, Sweatshirts, Sweaters">
            <a:extLst>
              <a:ext uri="{FF2B5EF4-FFF2-40B4-BE49-F238E27FC236}">
                <a16:creationId xmlns:a16="http://schemas.microsoft.com/office/drawing/2014/main" id="{9143A25A-185B-E949-470E-64C545365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9633" y="1456882"/>
            <a:ext cx="4001315" cy="400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26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A2DBB-6A92-774B-F33C-990062E6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409CC-8ACD-1F03-A708-B23DC10AC6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766763"/>
          </a:xfrm>
        </p:spPr>
        <p:txBody>
          <a:bodyPr/>
          <a:lstStyle/>
          <a:p>
            <a:r>
              <a:rPr lang="en-US" sz="3200" dirty="0"/>
              <a:t>Helm's Handling of Kubernetes Object Tree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305C7-8EE2-7993-D53E-C43C8AA8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32" y="670586"/>
            <a:ext cx="6433068" cy="29888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5B6C90-D548-CCBF-2510-D7335FE8BE5B}"/>
              </a:ext>
            </a:extLst>
          </p:cNvPr>
          <p:cNvSpPr txBox="1"/>
          <p:nvPr/>
        </p:nvSpPr>
        <p:spPr>
          <a:xfrm>
            <a:off x="205135" y="670586"/>
            <a:ext cx="555379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Helm's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Helm Chart Definition</a:t>
            </a:r>
            <a:r>
              <a:rPr lang="en-IN" sz="1400" dirty="0"/>
              <a:t>: Helm uses charts, which are collections of YAML templates and configuration files, to define Kubernetes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Rendering Templates</a:t>
            </a:r>
            <a:r>
              <a:rPr lang="en-IN" sz="1400" dirty="0"/>
              <a:t>: Helm renders the templates using the values specified in the `</a:t>
            </a:r>
            <a:r>
              <a:rPr lang="en-IN" sz="1400" dirty="0" err="1"/>
              <a:t>values.yaml</a:t>
            </a:r>
            <a:r>
              <a:rPr lang="en-IN" sz="1400" dirty="0"/>
              <a:t>` file or provided by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Helm Install/Upgrade Command</a:t>
            </a:r>
            <a:r>
              <a:rPr lang="en-IN" sz="1400" dirty="0"/>
              <a:t>: Helm uses the `helm install` or `helm upgrade` command to deploy or update the Kubernetes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Kubernetes API Interaction</a:t>
            </a:r>
            <a:r>
              <a:rPr lang="en-IN" sz="1400" dirty="0"/>
              <a:t>: Helm interacts with the Kubernetes API server to apply the rendered manifests.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Checking Existing Objects</a:t>
            </a:r>
            <a:r>
              <a:rPr lang="en-IN" sz="1400" dirty="0"/>
              <a:t>: Helm checks if the objects defined in the rendered manifests already exist in the Kubernetes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Object Comparison and Update</a:t>
            </a:r>
            <a:r>
              <a:rPr lang="en-IN" sz="1400" dirty="0"/>
              <a:t>: Helm compares the existing objects with the new rendered manifests to determine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Apply Changes</a:t>
            </a:r>
            <a:r>
              <a:rPr lang="en-IN" sz="1400" dirty="0"/>
              <a:t>: Helm applies the changes by sending the updated manifests to the Kubernetes API server.</a:t>
            </a:r>
          </a:p>
        </p:txBody>
      </p:sp>
      <p:pic>
        <p:nvPicPr>
          <p:cNvPr id="8" name="Picture 2" descr="Redefining Deployment: A Comparative Study of Kubernetes vs OpenShift">
            <a:extLst>
              <a:ext uri="{FF2B5EF4-FFF2-40B4-BE49-F238E27FC236}">
                <a16:creationId xmlns:a16="http://schemas.microsoft.com/office/drawing/2014/main" id="{9C98C301-5789-66BE-BE94-6DC14F1BA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505" y="3726601"/>
            <a:ext cx="4693360" cy="281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4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16975-8B14-B1A3-6CD1-D6F3058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D9140BA4-3C9B-2B53-8F0B-2759E78F41B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8666F0-E1D1-1B2D-3531-D8F710647DF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250950" y="2381250"/>
            <a:ext cx="10941050" cy="1516063"/>
          </a:xfrm>
        </p:spPr>
        <p:txBody>
          <a:bodyPr vert="horz" lIns="121920" tIns="60960" rIns="121920" bIns="60960" rtlCol="0" anchor="b">
            <a:noAutofit/>
          </a:bodyPr>
          <a:lstStyle/>
          <a:p>
            <a:r>
              <a:rPr lang="en-US" sz="50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Helm Chart Directory &amp; K8s Objects</a:t>
            </a:r>
          </a:p>
        </p:txBody>
      </p:sp>
    </p:spTree>
    <p:extLst>
      <p:ext uri="{BB962C8B-B14F-4D97-AF65-F5344CB8AC3E}">
        <p14:creationId xmlns:p14="http://schemas.microsoft.com/office/powerpoint/2010/main" val="999571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55365-ECBD-6419-DCCC-9933DD27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0BCBC-3FD1-0C44-76E3-415890CDFD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8588"/>
            <a:ext cx="10515600" cy="1323975"/>
          </a:xfrm>
        </p:spPr>
        <p:txBody>
          <a:bodyPr/>
          <a:lstStyle/>
          <a:p>
            <a:r>
              <a:rPr lang="en-IN" sz="3600" dirty="0"/>
              <a:t>       Chart Directory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F8E78F-F36E-AFDE-4F94-909AC222E108}"/>
              </a:ext>
            </a:extLst>
          </p:cNvPr>
          <p:cNvSpPr txBox="1"/>
          <p:nvPr/>
        </p:nvSpPr>
        <p:spPr>
          <a:xfrm>
            <a:off x="8229601" y="2119730"/>
            <a:ext cx="396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my-chart/</a:t>
            </a:r>
          </a:p>
          <a:p>
            <a:r>
              <a:rPr lang="en-IN" sz="1800" dirty="0"/>
              <a:t>  ├── charts/</a:t>
            </a:r>
          </a:p>
          <a:p>
            <a:r>
              <a:rPr lang="en-IN" sz="1800" dirty="0"/>
              <a:t>  ├── templates/</a:t>
            </a:r>
          </a:p>
          <a:p>
            <a:r>
              <a:rPr lang="en-IN" sz="1800" dirty="0"/>
              <a:t>  │   ├── </a:t>
            </a:r>
            <a:r>
              <a:rPr lang="en-IN" sz="1800" dirty="0" err="1"/>
              <a:t>deployment.yaml</a:t>
            </a:r>
            <a:endParaRPr lang="en-IN" sz="1800" dirty="0"/>
          </a:p>
          <a:p>
            <a:r>
              <a:rPr lang="en-IN" sz="1800" dirty="0"/>
              <a:t>  │   ├── </a:t>
            </a:r>
            <a:r>
              <a:rPr lang="en-IN" sz="1800" dirty="0" err="1"/>
              <a:t>service.yaml</a:t>
            </a:r>
            <a:endParaRPr lang="en-IN" sz="1800" dirty="0"/>
          </a:p>
          <a:p>
            <a:r>
              <a:rPr lang="en-IN" sz="1800" dirty="0"/>
              <a:t>  │   ├── _</a:t>
            </a:r>
            <a:r>
              <a:rPr lang="en-IN" sz="1800" dirty="0" err="1"/>
              <a:t>helpers.tpl</a:t>
            </a:r>
            <a:endParaRPr lang="en-IN" sz="1800" dirty="0"/>
          </a:p>
          <a:p>
            <a:r>
              <a:rPr lang="en-IN" sz="1800" dirty="0"/>
              <a:t>  │   └── ...</a:t>
            </a:r>
          </a:p>
          <a:p>
            <a:r>
              <a:rPr lang="en-IN" sz="1800" dirty="0"/>
              <a:t>  ├── </a:t>
            </a:r>
            <a:r>
              <a:rPr lang="en-IN" sz="1800" dirty="0" err="1"/>
              <a:t>Chart.yaml</a:t>
            </a:r>
            <a:endParaRPr lang="en-IN" sz="1800" dirty="0"/>
          </a:p>
          <a:p>
            <a:r>
              <a:rPr lang="en-IN" sz="1800" dirty="0"/>
              <a:t>  ├── </a:t>
            </a:r>
            <a:r>
              <a:rPr lang="en-IN" sz="1800" dirty="0" err="1"/>
              <a:t>values.yaml</a:t>
            </a:r>
            <a:endParaRPr lang="en-IN" sz="1800" dirty="0"/>
          </a:p>
          <a:p>
            <a:r>
              <a:rPr lang="en-IN" sz="1800" dirty="0"/>
              <a:t>  ├── </a:t>
            </a:r>
            <a:r>
              <a:rPr lang="en-IN" sz="1800" dirty="0" err="1"/>
              <a:t>values.schema.json</a:t>
            </a:r>
            <a:r>
              <a:rPr lang="en-IN" sz="1800" dirty="0"/>
              <a:t> (optional)</a:t>
            </a:r>
          </a:p>
          <a:p>
            <a:r>
              <a:rPr lang="en-IN" sz="1800" dirty="0"/>
              <a:t>  └── README.md</a:t>
            </a:r>
          </a:p>
          <a:p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37485-CFF7-4D99-7A58-8398A6E5B3BA}"/>
              </a:ext>
            </a:extLst>
          </p:cNvPr>
          <p:cNvSpPr txBox="1"/>
          <p:nvPr/>
        </p:nvSpPr>
        <p:spPr>
          <a:xfrm>
            <a:off x="850043" y="1480631"/>
            <a:ext cx="74778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charts/</a:t>
            </a:r>
            <a:r>
              <a:rPr lang="en-IN" sz="1600" dirty="0"/>
              <a:t>: This directory contains any dependencies your chart has. You can include other Helm charts here that your chart depends 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templates/</a:t>
            </a:r>
            <a:r>
              <a:rPr lang="en-IN" sz="1600" dirty="0"/>
              <a:t>: This is where you define your Kubernetes resources (manifests) using templates. Common files include </a:t>
            </a:r>
            <a:r>
              <a:rPr lang="en-IN" sz="1600" dirty="0" err="1"/>
              <a:t>deployment.yaml</a:t>
            </a:r>
            <a:r>
              <a:rPr lang="en-IN" sz="1600" dirty="0"/>
              <a:t>, </a:t>
            </a:r>
            <a:r>
              <a:rPr lang="en-IN" sz="1600" dirty="0" err="1"/>
              <a:t>service.yaml</a:t>
            </a:r>
            <a:r>
              <a:rPr lang="en-IN" sz="1600" dirty="0"/>
              <a:t>, and _</a:t>
            </a:r>
            <a:r>
              <a:rPr lang="en-IN" sz="1600" dirty="0" err="1"/>
              <a:t>helpers.tpl</a:t>
            </a:r>
            <a:r>
              <a:rPr lang="en-IN" sz="1600" dirty="0"/>
              <a:t> for helper templates.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Chart.yaml</a:t>
            </a:r>
            <a:r>
              <a:rPr lang="en-IN" sz="1600" dirty="0"/>
              <a:t>: This file contains metadata about your chart. It is essential for defining the name, version, and other properties of the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values.yaml</a:t>
            </a:r>
            <a:r>
              <a:rPr lang="en-IN" sz="1600" dirty="0"/>
              <a:t>: This file holds the default configuration values for your chart. Users can override these values when they install the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values.schema.json</a:t>
            </a:r>
            <a:r>
              <a:rPr lang="en-IN" sz="1600" b="1" dirty="0"/>
              <a:t> (optional)</a:t>
            </a:r>
            <a:r>
              <a:rPr lang="en-IN" sz="1600" dirty="0"/>
              <a:t>: This JSON schema file can be used to validate the </a:t>
            </a:r>
            <a:r>
              <a:rPr lang="en-IN" sz="1600" dirty="0" err="1"/>
              <a:t>values.yaml</a:t>
            </a:r>
            <a:r>
              <a:rPr lang="en-IN" sz="1600" dirty="0"/>
              <a:t> file, ensuring that the provided values conform to expected types and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README.md</a:t>
            </a:r>
            <a:r>
              <a:rPr lang="en-IN" sz="1600" dirty="0"/>
              <a:t>: This file provides documentation for your chart, explaining what it does, how to use it, and any configuration options available.</a:t>
            </a:r>
          </a:p>
        </p:txBody>
      </p:sp>
      <p:pic>
        <p:nvPicPr>
          <p:cNvPr id="8" name="Picture 3" descr="folder&quot; Icon - Download for free – Iconduck">
            <a:extLst>
              <a:ext uri="{FF2B5EF4-FFF2-40B4-BE49-F238E27FC236}">
                <a16:creationId xmlns:a16="http://schemas.microsoft.com/office/drawing/2014/main" id="{72EB5A43-B986-8268-530C-2D79D5A45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06" y="485386"/>
            <a:ext cx="663381" cy="52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085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2802F-03DA-A805-44F3-897B7365D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4AB76-B5C8-09B6-FF30-9601D68839C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US" sz="3200" dirty="0"/>
              <a:t>Defining Kubernetes Resources with Helm Templates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2998E-C46D-8921-6179-535D07C0DF1C}"/>
              </a:ext>
            </a:extLst>
          </p:cNvPr>
          <p:cNvSpPr txBox="1"/>
          <p:nvPr/>
        </p:nvSpPr>
        <p:spPr>
          <a:xfrm>
            <a:off x="776749" y="1849420"/>
            <a:ext cx="81607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Helm templates are used to define Kubernetes resources in YAML files. These templates generate the manifest files that Kubernetes uses to create and manage resources.</a:t>
            </a:r>
          </a:p>
          <a:p>
            <a:pPr marL="0" indent="0">
              <a:buNone/>
            </a:pPr>
            <a:endParaRPr lang="en-IN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Types of Resources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Deployments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Define the desired state for application deployments.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Define how to expose your application inside and outside the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ConfigMaps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Store non-confidential data in key-value pairs.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Secrets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Securely store sensitive data like passwords, OAuth tokens, and SSH keys.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64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4C37E4-AAD7-6691-B7D9-91F0CEE2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1C3DC-8457-799B-3E7D-122EF03E3A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228975"/>
            <a:ext cx="2992438" cy="720725"/>
          </a:xfrm>
        </p:spPr>
        <p:txBody>
          <a:bodyPr/>
          <a:lstStyle/>
          <a:p>
            <a:r>
              <a:rPr lang="en-IN" sz="3200" dirty="0"/>
              <a:t>Deployments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AB953-0C19-732D-CF4E-FCD3DB0057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813" b="1"/>
          <a:stretch/>
        </p:blipFill>
        <p:spPr>
          <a:xfrm>
            <a:off x="4267944" y="214505"/>
            <a:ext cx="7079836" cy="6428990"/>
          </a:xfrm>
          <a:prstGeom prst="rect">
            <a:avLst/>
          </a:prstGeom>
        </p:spPr>
      </p:pic>
      <p:pic>
        <p:nvPicPr>
          <p:cNvPr id="5" name="Picture 2" descr="Deployment - Free web icons">
            <a:extLst>
              <a:ext uri="{FF2B5EF4-FFF2-40B4-BE49-F238E27FC236}">
                <a16:creationId xmlns:a16="http://schemas.microsoft.com/office/drawing/2014/main" id="{0869589C-0D73-E27B-335E-9A420A7B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979" y="2211918"/>
            <a:ext cx="1016691" cy="101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96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F29F81-87F1-360B-DED5-1E56FCA1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B0D6B-99C2-391D-8C81-F390546EBA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429000"/>
            <a:ext cx="1968500" cy="839788"/>
          </a:xfrm>
        </p:spPr>
        <p:txBody>
          <a:bodyPr/>
          <a:lstStyle/>
          <a:p>
            <a:r>
              <a:rPr lang="en-IN" sz="3200" dirty="0"/>
              <a:t>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0F992-C893-58E0-3F37-6F914468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1" b="-1"/>
          <a:stretch/>
        </p:blipFill>
        <p:spPr>
          <a:xfrm>
            <a:off x="4296141" y="199108"/>
            <a:ext cx="7113747" cy="6459784"/>
          </a:xfrm>
          <a:prstGeom prst="rect">
            <a:avLst/>
          </a:prstGeom>
        </p:spPr>
      </p:pic>
      <p:pic>
        <p:nvPicPr>
          <p:cNvPr id="5" name="Picture 2" descr="Service - Free ui icons">
            <a:extLst>
              <a:ext uri="{FF2B5EF4-FFF2-40B4-BE49-F238E27FC236}">
                <a16:creationId xmlns:a16="http://schemas.microsoft.com/office/drawing/2014/main" id="{43386943-3875-A64C-AFC2-5FA4C8722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282" y="2380270"/>
            <a:ext cx="1048730" cy="104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828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0CF797-252C-DA54-A774-89314E6F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E8185-0E77-B642-166A-3DCD26728E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67013"/>
            <a:ext cx="2903538" cy="1323975"/>
          </a:xfrm>
        </p:spPr>
        <p:txBody>
          <a:bodyPr/>
          <a:lstStyle/>
          <a:p>
            <a:r>
              <a:rPr lang="en-IN" sz="3200" dirty="0" err="1"/>
              <a:t>ConfigMaps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9DB14-59AD-A2D4-24E1-BB02C689B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85" y="1382294"/>
            <a:ext cx="8337277" cy="3423892"/>
          </a:xfrm>
          <a:prstGeom prst="rect">
            <a:avLst/>
          </a:prstGeom>
        </p:spPr>
      </p:pic>
      <p:pic>
        <p:nvPicPr>
          <p:cNvPr id="5" name="Picture 2" descr="config&quot; Icon - Download for free – Iconduck">
            <a:extLst>
              <a:ext uri="{FF2B5EF4-FFF2-40B4-BE49-F238E27FC236}">
                <a16:creationId xmlns:a16="http://schemas.microsoft.com/office/drawing/2014/main" id="{3750B7C7-4AAD-758B-1B97-DB209A97D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957" y="1921670"/>
            <a:ext cx="975388" cy="97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346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634FF-FA21-B47D-A6F4-0E8A58CF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F514ED-B59B-CF83-02E0-BA2E64E1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EF297-B74D-1EDE-8169-5E5195AED5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949575"/>
            <a:ext cx="1811338" cy="1325563"/>
          </a:xfrm>
        </p:spPr>
        <p:txBody>
          <a:bodyPr/>
          <a:lstStyle/>
          <a:p>
            <a:r>
              <a:rPr lang="en-IN" sz="3200" dirty="0"/>
              <a:t>Secrets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1F58E-9689-0BD1-58E2-08307861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066" y="1773753"/>
            <a:ext cx="7205684" cy="2612060"/>
          </a:xfrm>
          <a:prstGeom prst="rect">
            <a:avLst/>
          </a:prstGeom>
        </p:spPr>
      </p:pic>
      <p:pic>
        <p:nvPicPr>
          <p:cNvPr id="7" name="Picture 2" descr="Secret - Free files and folders icons">
            <a:extLst>
              <a:ext uri="{FF2B5EF4-FFF2-40B4-BE49-F238E27FC236}">
                <a16:creationId xmlns:a16="http://schemas.microsoft.com/office/drawing/2014/main" id="{84106DFF-A66D-DA1F-62B2-CC26DDF8B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673" y="1992596"/>
            <a:ext cx="1079650" cy="107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07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68CFD-BAD1-D1DA-7DBB-B943BF46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1EF20ADA-4256-BC80-099D-7BA7FEC3303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91348-CDD8-904B-72BE-F4A77A1C952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392488" y="2559050"/>
            <a:ext cx="8799512" cy="1514475"/>
          </a:xfrm>
        </p:spPr>
        <p:txBody>
          <a:bodyPr vert="horz" lIns="121920" tIns="60960" rIns="121920" bIns="60960" rtlCol="0" anchor="b">
            <a:noAutofit/>
          </a:bodyPr>
          <a:lstStyle/>
          <a:p>
            <a:r>
              <a:rPr lang="en-US" sz="70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Helm Chart Template</a:t>
            </a:r>
          </a:p>
        </p:txBody>
      </p:sp>
    </p:spTree>
    <p:extLst>
      <p:ext uri="{BB962C8B-B14F-4D97-AF65-F5344CB8AC3E}">
        <p14:creationId xmlns:p14="http://schemas.microsoft.com/office/powerpoint/2010/main" val="522127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6BAE-4B8D-392F-01AB-0FB5B32F22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IN" dirty="0"/>
              <a:t>Template Syntax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EAE0F1-2B9F-308D-E18B-1BC5D9E94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6" y="2111348"/>
            <a:ext cx="5582697" cy="1368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A94705-070E-1D49-3AE6-29E6FC6BC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86" y="3609702"/>
            <a:ext cx="5726102" cy="16602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9ED4C4-FE29-C739-D860-CDE49D23A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88" y="1828025"/>
            <a:ext cx="6323236" cy="284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67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D3BF-BB9B-88AE-B162-FC10314294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20638"/>
            <a:ext cx="10058400" cy="1450976"/>
          </a:xfrm>
        </p:spPr>
        <p:txBody>
          <a:bodyPr/>
          <a:lstStyle/>
          <a:p>
            <a:r>
              <a:rPr lang="nb-NO" dirty="0"/>
              <a:t>Defining a Helper for Labels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58201-5B71-493F-D6E3-A558F8F19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5" y="1326769"/>
            <a:ext cx="5452725" cy="2381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B8DF94-86A8-1A34-1E86-F0E7C839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395" y="1538596"/>
            <a:ext cx="6594270" cy="4859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72F906-B30D-209F-3D3E-5C2295C54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5" y="3738224"/>
            <a:ext cx="5452724" cy="22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76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2126-8634-9F33-81C5-E49B627F06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763"/>
            <a:ext cx="10093325" cy="1325562"/>
          </a:xfrm>
        </p:spPr>
        <p:txBody>
          <a:bodyPr/>
          <a:lstStyle/>
          <a:p>
            <a:r>
              <a:rPr lang="en-IN" dirty="0"/>
              <a:t>      </a:t>
            </a:r>
            <a:r>
              <a:rPr lang="en-IN" dirty="0" err="1"/>
              <a:t>values.yaml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8078-826F-773A-F0AC-7F82CDF53CA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58938"/>
            <a:ext cx="4722813" cy="4530725"/>
          </a:xfrm>
        </p:spPr>
        <p:txBody>
          <a:bodyPr>
            <a:noAutofit/>
          </a:bodyPr>
          <a:lstStyle/>
          <a:p>
            <a:r>
              <a:rPr lang="en-US" sz="1800" dirty="0">
                <a:latin typeface="Arial (Body)"/>
              </a:rPr>
              <a:t>Purpose: The `</a:t>
            </a:r>
            <a:r>
              <a:rPr lang="en-US" sz="1800" dirty="0" err="1">
                <a:latin typeface="Arial (Body)"/>
              </a:rPr>
              <a:t>values.yaml</a:t>
            </a:r>
            <a:r>
              <a:rPr lang="en-US" sz="1800" dirty="0">
                <a:latin typeface="Arial (Body)"/>
              </a:rPr>
              <a:t>` file is used to define the </a:t>
            </a:r>
            <a:r>
              <a:rPr lang="en-US" sz="1800" b="1" dirty="0">
                <a:latin typeface="Arial (Body)"/>
              </a:rPr>
              <a:t>default configuration</a:t>
            </a:r>
            <a:r>
              <a:rPr lang="en-US" sz="1800" dirty="0">
                <a:latin typeface="Arial (Body)"/>
              </a:rPr>
              <a:t> values for your Helm chart.</a:t>
            </a:r>
          </a:p>
          <a:p>
            <a:r>
              <a:rPr lang="en-US" sz="1800" dirty="0">
                <a:latin typeface="Arial (Body)"/>
              </a:rPr>
              <a:t>Structure: This file contains </a:t>
            </a:r>
            <a:r>
              <a:rPr lang="en-US" sz="1800" b="1" dirty="0">
                <a:latin typeface="Arial (Body)"/>
              </a:rPr>
              <a:t>key-value </a:t>
            </a:r>
            <a:r>
              <a:rPr lang="en-US" sz="1800" dirty="0">
                <a:latin typeface="Arial (Body)"/>
              </a:rPr>
              <a:t>pairs that specify the </a:t>
            </a:r>
            <a:r>
              <a:rPr lang="en-US" sz="1800" b="1" dirty="0">
                <a:latin typeface="Arial (Body)"/>
              </a:rPr>
              <a:t>default settings </a:t>
            </a:r>
            <a:r>
              <a:rPr lang="en-US" sz="1800" dirty="0">
                <a:latin typeface="Arial (Body)"/>
              </a:rPr>
              <a:t>for your chart. These values are used to populate the templates in the `templates` directory.</a:t>
            </a:r>
          </a:p>
          <a:p>
            <a:r>
              <a:rPr lang="en-US" sz="1800" dirty="0">
                <a:latin typeface="Arial (Body)"/>
              </a:rPr>
              <a:t>Customization: Users can override these default values during chart installation to tailor the deployment to their specific needs.</a:t>
            </a:r>
          </a:p>
          <a:p>
            <a:r>
              <a:rPr lang="en-US" sz="1800" dirty="0">
                <a:latin typeface="Arial (Body)"/>
              </a:rPr>
              <a:t>Custom Values File: Users can specify a custom values file with the `-f` or `--values` flag.</a:t>
            </a:r>
            <a:endParaRPr lang="en-IN" sz="1800" dirty="0">
              <a:latin typeface="Arial (Body)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74D58-D300-1203-784D-DB1CB2A5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367" y="2442925"/>
            <a:ext cx="2720576" cy="4351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14E13-7FFD-8CC5-A694-EA648AE00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367" y="1358801"/>
            <a:ext cx="6149873" cy="1082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67E3D8-B0CF-4B0A-DC89-6BF29B079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077" y="2440935"/>
            <a:ext cx="2720576" cy="3020638"/>
          </a:xfrm>
          <a:prstGeom prst="rect">
            <a:avLst/>
          </a:prstGeom>
        </p:spPr>
      </p:pic>
      <p:pic>
        <p:nvPicPr>
          <p:cNvPr id="13314" name="Picture 2" descr="Value free icons designed by Freepik">
            <a:extLst>
              <a:ext uri="{FF2B5EF4-FFF2-40B4-BE49-F238E27FC236}">
                <a16:creationId xmlns:a16="http://schemas.microsoft.com/office/drawing/2014/main" id="{B6865DD5-B738-4550-839B-29CA076D9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30" y="90788"/>
            <a:ext cx="947797" cy="94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852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7801-FF12-6983-4895-95DBEB4326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22250"/>
            <a:ext cx="10058400" cy="936625"/>
          </a:xfrm>
        </p:spPr>
        <p:txBody>
          <a:bodyPr/>
          <a:lstStyle/>
          <a:p>
            <a:r>
              <a:rPr lang="en-IN" dirty="0"/>
              <a:t>       Pipe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487C3-F59D-1D85-4E2E-392FB00981D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14550"/>
            <a:ext cx="4837113" cy="262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 (Body)"/>
              </a:rPr>
              <a:t>Purpose: Pipes are used in Helm charts to </a:t>
            </a:r>
            <a:r>
              <a:rPr lang="en-US" sz="1800" b="1" dirty="0">
                <a:latin typeface="Arial (Body)"/>
              </a:rPr>
              <a:t>process and transform values</a:t>
            </a:r>
            <a:r>
              <a:rPr lang="en-US" sz="1800" dirty="0">
                <a:latin typeface="Arial (Body)"/>
              </a:rPr>
              <a:t> within templates. They allow you to format, modify, and handle values dynamically, making your Helm templates more powerful and flexible.</a:t>
            </a:r>
          </a:p>
          <a:p>
            <a:pPr marL="0" indent="0">
              <a:buNone/>
            </a:pPr>
            <a:r>
              <a:rPr lang="en-US" sz="1800" b="1" dirty="0">
                <a:latin typeface="Arial (Body)"/>
              </a:rPr>
              <a:t>Chaining Functions</a:t>
            </a:r>
            <a:r>
              <a:rPr lang="en-US" sz="1800" dirty="0">
                <a:latin typeface="Arial (Body)"/>
              </a:rPr>
              <a:t>: Use pipes to chain </a:t>
            </a:r>
            <a:r>
              <a:rPr lang="en-US" sz="1800" b="1" dirty="0">
                <a:latin typeface="Arial (Body)"/>
              </a:rPr>
              <a:t>multiple functions</a:t>
            </a:r>
            <a:r>
              <a:rPr lang="en-US" sz="1800" dirty="0">
                <a:latin typeface="Arial (Body)"/>
              </a:rPr>
              <a:t> together for more complex transformations.</a:t>
            </a:r>
            <a:endParaRPr lang="en-IN" sz="1800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87C8B-096C-54B8-3A40-11C34D41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514" y="402406"/>
            <a:ext cx="6340389" cy="1089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D367B-353E-21D1-9C26-A48095F95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14" y="1538177"/>
            <a:ext cx="6370872" cy="1082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532E4A-3D56-F75F-00E7-74D473D8B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513" y="2751373"/>
            <a:ext cx="6340389" cy="10516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D17216-9AF6-5BE4-C8BD-4D1553BD3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513" y="3936594"/>
            <a:ext cx="6370872" cy="10440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6BA806-D365-D158-3CC8-5BD0BCA68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4651" y="5114194"/>
            <a:ext cx="6363251" cy="1044030"/>
          </a:xfrm>
          <a:prstGeom prst="rect">
            <a:avLst/>
          </a:prstGeom>
        </p:spPr>
      </p:pic>
      <p:pic>
        <p:nvPicPr>
          <p:cNvPr id="14338" name="Picture 2" descr="Pipes Icons - Free SVG &amp; PNG Pipes Images - Noun Project">
            <a:extLst>
              <a:ext uri="{FF2B5EF4-FFF2-40B4-BE49-F238E27FC236}">
                <a16:creationId xmlns:a16="http://schemas.microsoft.com/office/drawing/2014/main" id="{85C3D510-6A44-2C7E-1F4E-89E706DB4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96" y="393372"/>
            <a:ext cx="778408" cy="7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010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E403-9FA3-3EED-0D24-220319B8E5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0638"/>
            <a:ext cx="2679700" cy="1135062"/>
          </a:xfrm>
        </p:spPr>
        <p:txBody>
          <a:bodyPr/>
          <a:lstStyle/>
          <a:p>
            <a:r>
              <a:rPr lang="en-IN" dirty="0"/>
              <a:t>     </a:t>
            </a:r>
            <a:r>
              <a:rPr lang="en-IN" sz="3200" dirty="0"/>
              <a:t>Scopes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B150D-EB8E-3E42-7B98-67AB449F181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911350"/>
            <a:ext cx="5900738" cy="3611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rial (Body)"/>
              </a:rPr>
              <a:t>Purpose</a:t>
            </a:r>
            <a:r>
              <a:rPr lang="en-US" sz="1800" dirty="0">
                <a:latin typeface="Arial (Body)"/>
              </a:rPr>
              <a:t>: Understanding scopes in Helm charts is crucial for creating dynamic and flexible templates. Scopes </a:t>
            </a:r>
            <a:r>
              <a:rPr lang="en-US" sz="1800" b="1" dirty="0">
                <a:latin typeface="Arial (Body)"/>
              </a:rPr>
              <a:t>determine the context </a:t>
            </a:r>
            <a:r>
              <a:rPr lang="en-US" sz="1800" dirty="0">
                <a:latin typeface="Arial (Body)"/>
              </a:rPr>
              <a:t>in which templates are rendered, allowing you to manage variables and functions effectively.</a:t>
            </a:r>
          </a:p>
          <a:p>
            <a:pPr marL="0" indent="0">
              <a:buNone/>
            </a:pPr>
            <a:r>
              <a:rPr lang="en-US" sz="1800" dirty="0">
                <a:latin typeface="Arial (Body)"/>
              </a:rPr>
              <a:t>Dot (.)</a:t>
            </a:r>
          </a:p>
          <a:p>
            <a:pPr marL="0" indent="0">
              <a:buNone/>
            </a:pPr>
            <a:r>
              <a:rPr lang="en-US" sz="1800" dirty="0">
                <a:latin typeface="Arial (Body)"/>
              </a:rPr>
              <a:t>Purpose: The . symbol represents the current context or scope, which includes the data and functions available at that point in the template.</a:t>
            </a:r>
          </a:p>
          <a:p>
            <a:pPr marL="0" indent="0">
              <a:buNone/>
            </a:pPr>
            <a:r>
              <a:rPr lang="en-US" sz="1800" dirty="0">
                <a:latin typeface="Arial (Body)"/>
              </a:rPr>
              <a:t>Dollar ($)</a:t>
            </a:r>
          </a:p>
          <a:p>
            <a:pPr marL="0" indent="0">
              <a:buNone/>
            </a:pPr>
            <a:r>
              <a:rPr lang="en-US" sz="1800" dirty="0">
                <a:latin typeface="Arial (Body)"/>
              </a:rPr>
              <a:t>Purpose: The $ symbol is used to capture and reference the top-level or root scope, allowing you to access global values from within nested scopes.</a:t>
            </a:r>
            <a:endParaRPr lang="en-IN" sz="1800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67014-E5A4-683D-D7D4-DCED8C00C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119" y="350875"/>
            <a:ext cx="4029085" cy="23441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EB58E0-4622-9EE5-94D1-B519608AE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45107"/>
            <a:ext cx="6064897" cy="3611094"/>
          </a:xfrm>
          <a:prstGeom prst="rect">
            <a:avLst/>
          </a:prstGeom>
        </p:spPr>
      </p:pic>
      <p:pic>
        <p:nvPicPr>
          <p:cNvPr id="15362" name="Picture 2" descr="Rifle Scope Clipart PNG Images, Rifle Scope Crosshair Isolated On White  Background, Attack, Army, Mil Dot PNG Image For Free Download">
            <a:extLst>
              <a:ext uri="{FF2B5EF4-FFF2-40B4-BE49-F238E27FC236}">
                <a16:creationId xmlns:a16="http://schemas.microsoft.com/office/drawing/2014/main" id="{58EC3989-502C-6447-5FAF-217D53DEC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94" y="292008"/>
            <a:ext cx="643660" cy="64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EE0CF5-42F2-F7CA-9685-0188F217F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882" y="350875"/>
            <a:ext cx="3749365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66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CAA2-9B4F-F336-0ABC-C1180BBB89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90713"/>
            <a:ext cx="3481388" cy="871537"/>
          </a:xfrm>
        </p:spPr>
        <p:txBody>
          <a:bodyPr/>
          <a:lstStyle/>
          <a:p>
            <a:r>
              <a:rPr lang="en-IN" sz="3200" dirty="0" err="1"/>
              <a:t>Release.Name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39064-D206-2745-1C19-A0D4EE01870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08213"/>
            <a:ext cx="4260850" cy="2441575"/>
          </a:xfrm>
        </p:spPr>
        <p:txBody>
          <a:bodyPr>
            <a:normAutofit/>
          </a:bodyPr>
          <a:lstStyle/>
          <a:p>
            <a:endParaRPr lang="en-IN" sz="1800" dirty="0">
              <a:latin typeface="Arial (Body)"/>
            </a:endParaRPr>
          </a:p>
          <a:p>
            <a:endParaRPr lang="en-IN" sz="1800" dirty="0">
              <a:latin typeface="Arial (Body)"/>
            </a:endParaRPr>
          </a:p>
          <a:p>
            <a:pPr marL="0" indent="0">
              <a:buNone/>
            </a:pPr>
            <a:r>
              <a:rPr lang="en-IN" sz="1800" dirty="0" err="1">
                <a:latin typeface="Arial (Body)"/>
              </a:rPr>
              <a:t>Release.Name</a:t>
            </a:r>
            <a:r>
              <a:rPr lang="en-IN" sz="1800" dirty="0">
                <a:latin typeface="Arial (Body)"/>
              </a:rPr>
              <a:t>: </a:t>
            </a:r>
            <a:r>
              <a:rPr lang="en-US" sz="1800" dirty="0">
                <a:latin typeface="Arial (Body)"/>
              </a:rPr>
              <a:t>When you </a:t>
            </a:r>
            <a:r>
              <a:rPr lang="en-US" sz="1800" b="1" dirty="0">
                <a:latin typeface="Arial (Body)"/>
              </a:rPr>
              <a:t>install or upgrade</a:t>
            </a:r>
            <a:r>
              <a:rPr lang="en-US" sz="1800" dirty="0">
                <a:latin typeface="Arial (Body)"/>
              </a:rPr>
              <a:t> a Helm chart, you specify the </a:t>
            </a:r>
            <a:r>
              <a:rPr lang="en-US" sz="1800" b="1" dirty="0">
                <a:latin typeface="Arial (Body)"/>
              </a:rPr>
              <a:t>release name</a:t>
            </a:r>
            <a:r>
              <a:rPr lang="en-US" sz="1800" dirty="0">
                <a:latin typeface="Arial (Body)"/>
              </a:rPr>
              <a:t>. This name is then available to all templates in the chart.</a:t>
            </a:r>
            <a:endParaRPr lang="en-IN" sz="1800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9E922-50B8-62C8-CE47-7EE0E8B1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31770"/>
            <a:ext cx="5997460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13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2C46-B7BB-F0F0-913E-BDD56FF5E3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5750"/>
            <a:ext cx="10058400" cy="998538"/>
          </a:xfrm>
        </p:spPr>
        <p:txBody>
          <a:bodyPr/>
          <a:lstStyle/>
          <a:p>
            <a:r>
              <a:rPr lang="en-IN" sz="3200" dirty="0"/>
              <a:t>         Linting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7B91-436D-D0D9-DBDC-1A6C8BF79CB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700338"/>
            <a:ext cx="10058400" cy="435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rial (Body)"/>
              </a:rPr>
              <a:t>Purpose</a:t>
            </a:r>
            <a:r>
              <a:rPr lang="en-US" sz="1800" dirty="0">
                <a:latin typeface="Arial (Body)"/>
              </a:rPr>
              <a:t>: Linting checks your chart for common issues and enforces best practices. This ensures your chart is syntactically correct and adheres to Helm standards.</a:t>
            </a:r>
          </a:p>
          <a:p>
            <a:pPr marL="0" indent="0">
              <a:buNone/>
            </a:pPr>
            <a:endParaRPr lang="en-US" sz="1800" dirty="0">
              <a:latin typeface="Arial (Body)"/>
            </a:endParaRPr>
          </a:p>
          <a:p>
            <a:pPr marL="0" indent="0">
              <a:buNone/>
            </a:pPr>
            <a:r>
              <a:rPr lang="en-US" sz="1800" dirty="0">
                <a:latin typeface="Arial (Body)"/>
              </a:rPr>
              <a:t>Helm Lint Command: Use the helm lint command to validate your chart.</a:t>
            </a:r>
          </a:p>
          <a:p>
            <a:r>
              <a:rPr lang="en-US" sz="1800" dirty="0">
                <a:latin typeface="Arial (Body)"/>
              </a:rPr>
              <a:t>Usage: Run the helm lint command in the directory of your chart.</a:t>
            </a:r>
          </a:p>
          <a:p>
            <a:r>
              <a:rPr lang="en-US" sz="1800" dirty="0">
                <a:latin typeface="Arial (Body)"/>
              </a:rPr>
              <a:t>Output: The command outputs any errors, warnings, or suggestions for improvement in your chart's YAML files and templates.</a:t>
            </a:r>
          </a:p>
          <a:p>
            <a:r>
              <a:rPr lang="en-US" sz="1800" dirty="0">
                <a:latin typeface="Arial (Body)"/>
              </a:rPr>
              <a:t>Common Checks: helm lint checks for issues such as missing mandatory fields, template syntax errors, and best practice violations.</a:t>
            </a:r>
            <a:endParaRPr lang="en-IN" sz="1800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85C3B-6373-91FF-8997-9E2FDB92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96" y="1244734"/>
            <a:ext cx="7250491" cy="1282155"/>
          </a:xfrm>
          <a:prstGeom prst="rect">
            <a:avLst/>
          </a:prstGeom>
        </p:spPr>
      </p:pic>
      <p:pic>
        <p:nvPicPr>
          <p:cNvPr id="3074" name="Picture 2" descr="Linting Icons - Free SVG &amp; PNG Linting Images - Noun Project">
            <a:extLst>
              <a:ext uri="{FF2B5EF4-FFF2-40B4-BE49-F238E27FC236}">
                <a16:creationId xmlns:a16="http://schemas.microsoft.com/office/drawing/2014/main" id="{2D3FA1AA-44BC-45BA-4DDF-76E2F1E0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43" y="411721"/>
            <a:ext cx="746503" cy="74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45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0D123-5B84-836B-F14C-71608CFEF1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61975"/>
            <a:ext cx="3127375" cy="754063"/>
          </a:xfrm>
        </p:spPr>
        <p:txBody>
          <a:bodyPr/>
          <a:lstStyle/>
          <a:p>
            <a:r>
              <a:rPr lang="en-IN" sz="3200" dirty="0"/>
              <a:t>Helm </a:t>
            </a:r>
            <a:r>
              <a:rPr lang="en-US" sz="3200" dirty="0"/>
              <a:t>Hooks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42FD-4B31-2EE6-C11D-C8029FB8CA3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43088"/>
            <a:ext cx="12192000" cy="4022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Arial (Body)"/>
              </a:rPr>
              <a:t>Purpose:</a:t>
            </a:r>
            <a:r>
              <a:rPr lang="en-IN" sz="1600" dirty="0">
                <a:latin typeface="Arial (Body)"/>
              </a:rPr>
              <a:t> </a:t>
            </a:r>
            <a:r>
              <a:rPr lang="en-US" sz="1600" dirty="0">
                <a:latin typeface="Arial (Body)"/>
              </a:rPr>
              <a:t>Helm hooks are special Kubernetes resources that execute at specific points during the release lifecycle, such as pre-install, post-install, pre-delete, and more. They allow you to automate and customize the deployment process.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pre-install: Executes before any resources are installed.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post-install: Executes after all resources are installed.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pre-delete: Executes before any resources are deleted.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post-delete: Executes after all resources are deleted.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pre-upgrade: Executes before any resources are upgraded.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post-upgrade: Executes after all resources are upgraded.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pre-rollback: Executes before any resources are rolled back.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dirty="0">
                <a:latin typeface="Arial (Body)"/>
              </a:rPr>
              <a:t>post-rollback: Executes after all resources are rolled back.</a:t>
            </a:r>
            <a:endParaRPr lang="en-IN" sz="1600" dirty="0">
              <a:latin typeface="Arial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0A51D1-CF84-CB0A-1C8C-612CF975F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542" y="2389239"/>
            <a:ext cx="5997460" cy="3589331"/>
          </a:xfrm>
          <a:prstGeom prst="rect">
            <a:avLst/>
          </a:prstGeom>
        </p:spPr>
      </p:pic>
      <p:pic>
        <p:nvPicPr>
          <p:cNvPr id="22533" name="Picture 5" descr="Hook - Free weapons icons">
            <a:extLst>
              <a:ext uri="{FF2B5EF4-FFF2-40B4-BE49-F238E27FC236}">
                <a16:creationId xmlns:a16="http://schemas.microsoft.com/office/drawing/2014/main" id="{A9C1B851-F301-9FDF-E950-F56ECC74E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" y="677313"/>
            <a:ext cx="522093" cy="522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135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49CA5-7E46-89EC-6A14-35CF9308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3BF35C87-70D2-43C4-EA29-27795A96126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FF3E24-BB72-4716-0C5E-CB988C1A106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392488" y="2814638"/>
            <a:ext cx="8799512" cy="1514475"/>
          </a:xfrm>
        </p:spPr>
        <p:txBody>
          <a:bodyPr vert="horz" lIns="121920" tIns="60960" rIns="121920" bIns="60960" rtlCol="0" anchor="b">
            <a:noAutofit/>
          </a:bodyPr>
          <a:lstStyle/>
          <a:p>
            <a:r>
              <a:rPr lang="en-US" sz="100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734928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6A6B-76A8-E7DF-14A8-EBFD9B6EFE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74650"/>
            <a:ext cx="6096000" cy="661988"/>
          </a:xfrm>
        </p:spPr>
        <p:txBody>
          <a:bodyPr/>
          <a:lstStyle/>
          <a:p>
            <a:r>
              <a:rPr lang="en-IN" sz="3200" dirty="0"/>
              <a:t>       Labelling and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8D8F-D6CD-C2F5-5DFC-4B6E0E2E2C1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530350"/>
            <a:ext cx="8967788" cy="45847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>
                <a:latin typeface="Arial (Body)"/>
              </a:rPr>
              <a:t>Purpose</a:t>
            </a:r>
            <a:r>
              <a:rPr lang="en-US" sz="1700" dirty="0">
                <a:latin typeface="Arial (Body)"/>
              </a:rPr>
              <a:t>: Labels and selectors are key to managing Kubernetes resources effectively. They help organize and group resources, making it easier to apply configurations and policies.</a:t>
            </a:r>
          </a:p>
          <a:p>
            <a:pPr marL="0" indent="0">
              <a:buNone/>
            </a:pPr>
            <a:r>
              <a:rPr lang="en-US" sz="1700" b="1" dirty="0">
                <a:latin typeface="Arial (Body)"/>
              </a:rPr>
              <a:t>Labels</a:t>
            </a:r>
            <a:r>
              <a:rPr lang="en-US" sz="1700" dirty="0">
                <a:latin typeface="Arial (Body)"/>
              </a:rPr>
              <a:t>:</a:t>
            </a:r>
          </a:p>
          <a:p>
            <a:r>
              <a:rPr lang="en-US" sz="1700" dirty="0">
                <a:latin typeface="Arial (Body)"/>
              </a:rPr>
              <a:t>Definition: Key-value pairs attached to Kubernetes objects, such as pods, services, and deployments.</a:t>
            </a:r>
          </a:p>
          <a:p>
            <a:r>
              <a:rPr lang="en-US" sz="1700" dirty="0">
                <a:latin typeface="Arial (Body)"/>
              </a:rPr>
              <a:t>Usage: Use meaningful labels to categorize and identify resources. For example, app: my-app, environment: production, tier: backend.</a:t>
            </a:r>
          </a:p>
          <a:p>
            <a:r>
              <a:rPr lang="en-US" sz="1700" dirty="0">
                <a:latin typeface="Arial (Body)"/>
              </a:rPr>
              <a:t>Best Practices: Standardize label keys and values across your organization for consistency.</a:t>
            </a:r>
          </a:p>
          <a:p>
            <a:pPr marL="0" indent="0">
              <a:buNone/>
            </a:pPr>
            <a:r>
              <a:rPr lang="en-US" sz="1700" b="1" dirty="0">
                <a:latin typeface="Arial (Body)"/>
              </a:rPr>
              <a:t>Selectors</a:t>
            </a:r>
            <a:r>
              <a:rPr lang="en-US" sz="1700" dirty="0">
                <a:latin typeface="Arial (Body)"/>
              </a:rPr>
              <a:t>:</a:t>
            </a:r>
          </a:p>
          <a:p>
            <a:r>
              <a:rPr lang="en-US" sz="1700" dirty="0">
                <a:latin typeface="Arial (Body)"/>
              </a:rPr>
              <a:t>Definition: Used to match a set of resources based on their labels.</a:t>
            </a:r>
          </a:p>
          <a:p>
            <a:r>
              <a:rPr lang="en-US" sz="1700" dirty="0">
                <a:latin typeface="Arial (Body)"/>
              </a:rPr>
              <a:t>Usage: Define selectors in controllers like Deployments and Services to identify which resources they should manage.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BD28B7-680D-11DE-829D-51409FF9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950" y="2061600"/>
            <a:ext cx="3362253" cy="3759187"/>
          </a:xfrm>
          <a:prstGeom prst="rect">
            <a:avLst/>
          </a:prstGeom>
        </p:spPr>
      </p:pic>
      <p:pic>
        <p:nvPicPr>
          <p:cNvPr id="4100" name="Picture 4" descr="Label - Free files and folders icons">
            <a:extLst>
              <a:ext uri="{FF2B5EF4-FFF2-40B4-BE49-F238E27FC236}">
                <a16:creationId xmlns:a16="http://schemas.microsoft.com/office/drawing/2014/main" id="{AC919A77-0A26-137B-2C67-6DFA75CE2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13" y="435087"/>
            <a:ext cx="522441" cy="54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699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B4B1-CB45-E1DE-B161-B25177015A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98475"/>
            <a:ext cx="2763838" cy="744538"/>
          </a:xfrm>
        </p:spPr>
        <p:txBody>
          <a:bodyPr/>
          <a:lstStyle/>
          <a:p>
            <a:r>
              <a:rPr lang="en-IN" sz="3200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4F2-E225-DE7A-7C4C-7EDC8C501CA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71638"/>
            <a:ext cx="6081713" cy="414178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b="1" dirty="0">
              <a:latin typeface="Arial (Body)"/>
            </a:endParaRPr>
          </a:p>
          <a:p>
            <a:pPr marL="0" indent="0">
              <a:buNone/>
            </a:pPr>
            <a:r>
              <a:rPr lang="en-US" sz="1800" b="1" dirty="0">
                <a:latin typeface="Arial (Body)"/>
              </a:rPr>
              <a:t>Purpose</a:t>
            </a:r>
            <a:r>
              <a:rPr lang="en-US" sz="1800" dirty="0">
                <a:latin typeface="Arial (Body)"/>
              </a:rPr>
              <a:t>: Protect sensitive information, such as passwords and API keys, by securing them within your Helm charts.</a:t>
            </a:r>
          </a:p>
          <a:p>
            <a:pPr marL="0" indent="0">
              <a:buNone/>
            </a:pPr>
            <a:r>
              <a:rPr lang="en-US" sz="1800" b="1" dirty="0">
                <a:latin typeface="Arial (Body)"/>
              </a:rPr>
              <a:t>Helm Secrets:</a:t>
            </a:r>
          </a:p>
          <a:p>
            <a:r>
              <a:rPr lang="en-US" sz="1800" dirty="0">
                <a:latin typeface="Arial (Body)"/>
              </a:rPr>
              <a:t>Definition: Helm Secrets plugin encrypts your Helm value files to secure sensitive data</a:t>
            </a:r>
          </a:p>
          <a:p>
            <a:pPr marL="0" indent="0">
              <a:buNone/>
            </a:pPr>
            <a:r>
              <a:rPr lang="en-US" sz="1800" b="1" dirty="0">
                <a:latin typeface="Arial (Body)"/>
              </a:rPr>
              <a:t>Kubernetes Secrets:</a:t>
            </a:r>
          </a:p>
          <a:p>
            <a:r>
              <a:rPr lang="en-US" sz="1800" dirty="0">
                <a:latin typeface="Arial (Body)"/>
              </a:rPr>
              <a:t>Definition: Kubernetes-native way to store and manage sensitive information.</a:t>
            </a:r>
          </a:p>
          <a:p>
            <a:r>
              <a:rPr lang="en-US" sz="1800" dirty="0">
                <a:latin typeface="Arial (Body)"/>
              </a:rPr>
              <a:t>Usage: Define Secrets in your Helm templates and reference them in your deployments.</a:t>
            </a:r>
            <a:endParaRPr lang="en-IN" sz="1800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D5440-0818-F87A-2976-E7B774422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05487"/>
            <a:ext cx="6081287" cy="2263336"/>
          </a:xfrm>
          <a:prstGeom prst="rect">
            <a:avLst/>
          </a:prstGeom>
        </p:spPr>
      </p:pic>
      <p:pic>
        <p:nvPicPr>
          <p:cNvPr id="19458" name="Picture 2" descr="Security - Free security icons">
            <a:extLst>
              <a:ext uri="{FF2B5EF4-FFF2-40B4-BE49-F238E27FC236}">
                <a16:creationId xmlns:a16="http://schemas.microsoft.com/office/drawing/2014/main" id="{E29AED86-4E0E-CA71-0C0E-3E3502192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73" y="570503"/>
            <a:ext cx="599661" cy="59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783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E548-757B-EC6B-A141-49858C2023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0713"/>
            <a:ext cx="3873500" cy="646112"/>
          </a:xfrm>
        </p:spPr>
        <p:txBody>
          <a:bodyPr/>
          <a:lstStyle/>
          <a:p>
            <a:r>
              <a:rPr lang="en-IN" sz="3200" dirty="0"/>
              <a:t>Resource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1A31-595D-4EA2-FCC8-848162DAC7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22425"/>
            <a:ext cx="5630863" cy="38560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800" dirty="0">
              <a:latin typeface="Arial (Body)"/>
            </a:endParaRPr>
          </a:p>
          <a:p>
            <a:pPr marL="0" indent="0">
              <a:buNone/>
            </a:pPr>
            <a:r>
              <a:rPr lang="en-US" sz="1800" dirty="0">
                <a:latin typeface="Arial (Body)"/>
              </a:rPr>
              <a:t>Purpose: Manage resource usage to ensure your applications have the necessary resources and to prevent resource contention.</a:t>
            </a:r>
          </a:p>
          <a:p>
            <a:endParaRPr lang="en-US" sz="1800" dirty="0">
              <a:latin typeface="Arial (Body)"/>
            </a:endParaRPr>
          </a:p>
          <a:p>
            <a:pPr marL="0" indent="0">
              <a:buNone/>
            </a:pPr>
            <a:r>
              <a:rPr lang="en-US" sz="1800" dirty="0">
                <a:latin typeface="Arial (Body)"/>
              </a:rPr>
              <a:t>Resource Requests and Limits:</a:t>
            </a:r>
          </a:p>
          <a:p>
            <a:r>
              <a:rPr lang="en-US" sz="1800" dirty="0">
                <a:latin typeface="Arial (Body)"/>
              </a:rPr>
              <a:t>Definition: Requests specify the minimum resources required for a container, while limits specify the maximum resources a container can use.</a:t>
            </a:r>
          </a:p>
          <a:p>
            <a:r>
              <a:rPr lang="en-US" sz="1800" dirty="0">
                <a:latin typeface="Arial (Body)"/>
              </a:rPr>
              <a:t>Usage: Define resource requests and limits in your Helm templates to manage CPU and memory usage.</a:t>
            </a:r>
            <a:endParaRPr lang="en-IN" sz="1800" dirty="0">
              <a:latin typeface="Arial (Body)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25134C-B1DF-792F-F9D1-F86A9FCBE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963" y="1928988"/>
            <a:ext cx="4588812" cy="3760277"/>
          </a:xfrm>
          <a:prstGeom prst="rect">
            <a:avLst/>
          </a:prstGeom>
        </p:spPr>
      </p:pic>
      <p:pic>
        <p:nvPicPr>
          <p:cNvPr id="20482" name="Picture 2" descr="Policy icons for free download | Freepik">
            <a:extLst>
              <a:ext uri="{FF2B5EF4-FFF2-40B4-BE49-F238E27FC236}">
                <a16:creationId xmlns:a16="http://schemas.microsoft.com/office/drawing/2014/main" id="{03F5FB0B-CD45-AF6D-9E72-5064871E0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91" y="620869"/>
            <a:ext cx="529505" cy="52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065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640F-843D-A323-AF44-829652AF88A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549650"/>
            <a:ext cx="3835400" cy="835025"/>
          </a:xfrm>
        </p:spPr>
        <p:txBody>
          <a:bodyPr anchor="ctr">
            <a:normAutofit/>
          </a:bodyPr>
          <a:lstStyle/>
          <a:p>
            <a:r>
              <a:rPr lang="en-IN" sz="3200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692C-9AD8-4CD3-6484-67FAE8767B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25938" y="606425"/>
            <a:ext cx="7866062" cy="56451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 (Body)"/>
              </a:rPr>
              <a:t>Purpose</a:t>
            </a:r>
            <a:r>
              <a:rPr lang="en-US" sz="1800" dirty="0">
                <a:latin typeface="Arial (Body)"/>
              </a:rPr>
              <a:t>: The README.md file provides clear and comprehensive documentation for your Helm chart, helping users understand how to install and use the chart.</a:t>
            </a:r>
          </a:p>
          <a:p>
            <a:pPr marL="0" indent="0">
              <a:buNone/>
            </a:pPr>
            <a:endParaRPr lang="en-US" sz="1800" b="1" dirty="0">
              <a:latin typeface="Arial (Body)"/>
            </a:endParaRPr>
          </a:p>
          <a:p>
            <a:pPr marL="0" indent="0">
              <a:buNone/>
            </a:pPr>
            <a:r>
              <a:rPr lang="en-US" sz="1800" b="1" dirty="0">
                <a:latin typeface="Arial (Body)"/>
              </a:rPr>
              <a:t>Content</a:t>
            </a:r>
            <a:r>
              <a:rPr lang="en-US" sz="1800" dirty="0">
                <a:latin typeface="Arial (Body)"/>
              </a:rPr>
              <a:t>:</a:t>
            </a:r>
          </a:p>
          <a:p>
            <a:r>
              <a:rPr lang="en-US" sz="1800" dirty="0">
                <a:latin typeface="Arial (Body)"/>
              </a:rPr>
              <a:t>Introduction: Briefly describe the chart and its purpose.</a:t>
            </a:r>
          </a:p>
          <a:p>
            <a:r>
              <a:rPr lang="en-US" sz="1800" dirty="0">
                <a:latin typeface="Arial (Body)"/>
              </a:rPr>
              <a:t>Prerequisites: List any prerequisites needed to use the chart (e.g., Kubernetes version, Helm version).</a:t>
            </a:r>
          </a:p>
          <a:p>
            <a:r>
              <a:rPr lang="en-US" sz="1800" dirty="0">
                <a:latin typeface="Arial (Body)"/>
              </a:rPr>
              <a:t>Installation Instructions: Provide step-by-step instructions on how to install the chart.</a:t>
            </a:r>
          </a:p>
          <a:p>
            <a:r>
              <a:rPr lang="en-US" sz="1800" dirty="0">
                <a:latin typeface="Arial (Body)"/>
              </a:rPr>
              <a:t>Configuration: Detail all configurable parameters and their default values.</a:t>
            </a:r>
          </a:p>
          <a:p>
            <a:r>
              <a:rPr lang="en-US" sz="1800" dirty="0">
                <a:latin typeface="Arial (Body)"/>
              </a:rPr>
              <a:t>Contributing: Provide guidelines for contributing to the chart, if applicable.</a:t>
            </a:r>
            <a:endParaRPr lang="en-IN" sz="1800" dirty="0">
              <a:latin typeface="Arial (Body)"/>
            </a:endParaRPr>
          </a:p>
        </p:txBody>
      </p:sp>
      <p:pic>
        <p:nvPicPr>
          <p:cNvPr id="21506" name="Picture 2" descr="DOC File Icon Flat - Icon Shop - Download free icons for commercial use">
            <a:extLst>
              <a:ext uri="{FF2B5EF4-FFF2-40B4-BE49-F238E27FC236}">
                <a16:creationId xmlns:a16="http://schemas.microsoft.com/office/drawing/2014/main" id="{0844B0B6-DB26-5F8E-07E2-7A87AE797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60" y="2251587"/>
            <a:ext cx="1080052" cy="108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858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D3D8F-76A7-0D6F-B7E4-7736D51E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0000000-1234-1234-1234-123412341234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  <a:defRPr/>
              </a:pPr>
              <a:t>32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0DA0E-6AC4-D4A8-54B6-DCE501735D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47125" y="714375"/>
            <a:ext cx="3444875" cy="39020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600" kern="1200" dirty="0">
                <a:ln w="22225">
                  <a:solidFill>
                    <a:srgbClr val="FFFFFF"/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Plugins for Helm Charts in Visual Studio Code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45F5B6-4E1C-B2D3-19CF-930EF3F8C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4" r="7877"/>
          <a:stretch/>
        </p:blipFill>
        <p:spPr bwMode="auto">
          <a:xfrm>
            <a:off x="-1" y="-1"/>
            <a:ext cx="3787591" cy="685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8A1CE-7A63-DE15-168D-3F0FF9476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85" r="-2" b="-2"/>
          <a:stretch/>
        </p:blipFill>
        <p:spPr>
          <a:xfrm>
            <a:off x="3783324" y="-3"/>
            <a:ext cx="3787591" cy="68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73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0E0A-E458-B591-738F-547DF05452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143000"/>
          </a:xfrm>
        </p:spPr>
        <p:txBody>
          <a:bodyPr/>
          <a:lstStyle/>
          <a:p>
            <a:r>
              <a:rPr lang="en-IN" sz="3200" dirty="0"/>
              <a:t>    Microlise helm chart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3CF101-76B4-734B-0247-0EB75468493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49477001"/>
              </p:ext>
            </p:extLst>
          </p:nvPr>
        </p:nvGraphicFramePr>
        <p:xfrm>
          <a:off x="0" y="1690688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639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8BB91F-0228-398A-128F-68BD598C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BE6DF-7E63-22AF-5867-954206D0C7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IN" sz="3200" dirty="0"/>
              <a:t>         Microlise Repo to refer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99BBF-8F42-4B1C-155B-49F1E196F893}"/>
              </a:ext>
            </a:extLst>
          </p:cNvPr>
          <p:cNvSpPr txBox="1"/>
          <p:nvPr/>
        </p:nvSpPr>
        <p:spPr>
          <a:xfrm>
            <a:off x="963560" y="1830947"/>
            <a:ext cx="83279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hlinkClick r:id="rId2"/>
              </a:rPr>
              <a:t>Gryphon.OpenShift.Pipeline.ReleaseAgentScripts</a:t>
            </a:r>
            <a:r>
              <a:rPr lang="en-IN" dirty="0">
                <a:hlinkClick r:id="rId2"/>
              </a:rPr>
              <a:t> – Repos</a:t>
            </a:r>
            <a:endParaRPr lang="en-IN" dirty="0"/>
          </a:p>
          <a:p>
            <a:endParaRPr lang="en-IN" dirty="0"/>
          </a:p>
          <a:p>
            <a:r>
              <a:rPr lang="en-IN" dirty="0" err="1">
                <a:hlinkClick r:id="rId3"/>
              </a:rPr>
              <a:t>MicroliseStandardHelmChart</a:t>
            </a:r>
            <a:r>
              <a:rPr lang="en-IN" dirty="0">
                <a:hlinkClick r:id="rId3"/>
              </a:rPr>
              <a:t> - Repos</a:t>
            </a:r>
            <a:endParaRPr lang="en-IN" dirty="0"/>
          </a:p>
          <a:p>
            <a:endParaRPr lang="en-IN" dirty="0"/>
          </a:p>
          <a:p>
            <a:r>
              <a:rPr lang="en-IN" dirty="0" err="1">
                <a:hlinkClick r:id="rId4"/>
              </a:rPr>
              <a:t>Alchemy.TemperatureIngestService.Carrier.Release</a:t>
            </a:r>
            <a:r>
              <a:rPr lang="en-IN" dirty="0">
                <a:hlinkClick r:id="rId4"/>
              </a:rPr>
              <a:t> – Repos</a:t>
            </a:r>
            <a:endParaRPr lang="en-IN" dirty="0"/>
          </a:p>
          <a:p>
            <a:endParaRPr lang="en-IN" dirty="0"/>
          </a:p>
          <a:p>
            <a:r>
              <a:rPr lang="en-IN" dirty="0" err="1">
                <a:hlinkClick r:id="rId5"/>
              </a:rPr>
              <a:t>AssetTagService.Release</a:t>
            </a:r>
            <a:r>
              <a:rPr lang="en-IN" dirty="0">
                <a:hlinkClick r:id="rId5"/>
              </a:rPr>
              <a:t> – Repos</a:t>
            </a:r>
            <a:endParaRPr lang="en-IN" dirty="0"/>
          </a:p>
          <a:p>
            <a:endParaRPr lang="en-IN" dirty="0"/>
          </a:p>
          <a:p>
            <a:r>
              <a:rPr lang="en-IN" dirty="0" err="1">
                <a:hlinkClick r:id="rId6"/>
              </a:rPr>
              <a:t>Alchemy.TemperatureIngestService.Carrier</a:t>
            </a:r>
            <a:r>
              <a:rPr lang="en-IN" dirty="0">
                <a:hlinkClick r:id="rId6"/>
              </a:rPr>
              <a:t> Release - Pipelines</a:t>
            </a:r>
            <a:endParaRPr lang="en-IN" dirty="0"/>
          </a:p>
        </p:txBody>
      </p:sp>
      <p:pic>
        <p:nvPicPr>
          <p:cNvPr id="1028" name="Picture 4" descr="Git - Logo Downloads">
            <a:extLst>
              <a:ext uri="{FF2B5EF4-FFF2-40B4-BE49-F238E27FC236}">
                <a16:creationId xmlns:a16="http://schemas.microsoft.com/office/drawing/2014/main" id="{DA9F5A36-8B22-AEBA-C5A1-8F8C41157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1" y="581557"/>
            <a:ext cx="726248" cy="72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785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AA53-82B2-22A3-7984-EA16214BC9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10515600" cy="1323975"/>
          </a:xfrm>
        </p:spPr>
        <p:txBody>
          <a:bodyPr/>
          <a:lstStyle/>
          <a:p>
            <a:r>
              <a:rPr lang="en-IN" dirty="0"/>
              <a:t>More About Helm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26BC-3BAE-48EC-5394-AE17C37B415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41538"/>
            <a:ext cx="10515600" cy="434975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 (Body)"/>
                <a:hlinkClick r:id="rId2"/>
              </a:rPr>
              <a:t>Helm Chart Tutorial</a:t>
            </a:r>
            <a:r>
              <a:rPr lang="en-US" sz="2000" dirty="0">
                <a:latin typeface="Arial (Body)"/>
              </a:rPr>
              <a:t>: A comprehensive guide to creating and managing Helm charts.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 (Body)"/>
                <a:hlinkClick r:id="rId3"/>
              </a:rPr>
              <a:t>Complete Helm Chart Tutorial</a:t>
            </a:r>
            <a:r>
              <a:rPr lang="en-US" sz="2000" dirty="0">
                <a:latin typeface="Arial (Body)"/>
              </a:rPr>
              <a:t>: From Beginner to Expert Guide: A detailed tutorial covering everything from basic concepts to advanced usage.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 (Body)"/>
                <a:hlinkClick r:id="rId4"/>
              </a:rPr>
              <a:t>Kubernetes Helm Chart Tutorial: A Comprehensive Guide to Managing Kubernetes Applications</a:t>
            </a:r>
            <a:r>
              <a:rPr lang="en-US" sz="2000" dirty="0">
                <a:latin typeface="Arial (Body)"/>
              </a:rPr>
              <a:t>]: A step-by-step guide to managing Kubernetes applications using Helm.</a:t>
            </a:r>
            <a:endParaRPr lang="en-IN" sz="20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4078800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Ye sab doglapan hai - Indian Meme Templates">
            <a:extLst>
              <a:ext uri="{FF2B5EF4-FFF2-40B4-BE49-F238E27FC236}">
                <a16:creationId xmlns:a16="http://schemas.microsoft.com/office/drawing/2014/main" id="{5A0B2858-6A63-901E-979C-B0CAF5BA9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9" r="3720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5F0C2-DC39-CF5D-933A-058A848D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0000000-1234-1234-1234-123412341234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sym typeface="Arial"/>
              </a:rPr>
              <a:pPr>
                <a:spcAft>
                  <a:spcPts val="600"/>
                </a:spcAft>
                <a:defRPr/>
              </a:pPr>
              <a:t>36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772C7-500A-2223-813E-1095508A88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47125" y="742950"/>
            <a:ext cx="3444875" cy="369252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>
                <a:latin typeface="+mj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81862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1B1A-1FEB-2267-47CC-A145314A798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246063"/>
            <a:ext cx="9144000" cy="2387600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133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Microlise 1">
      <a:dk1>
        <a:srgbClr val="151D24"/>
      </a:dk1>
      <a:lt1>
        <a:srgbClr val="FFFFFF"/>
      </a:lt1>
      <a:dk2>
        <a:srgbClr val="152644"/>
      </a:dk2>
      <a:lt2>
        <a:srgbClr val="DEDEDE"/>
      </a:lt2>
      <a:accent1>
        <a:srgbClr val="01CBDE"/>
      </a:accent1>
      <a:accent2>
        <a:srgbClr val="DCFF66"/>
      </a:accent2>
      <a:accent3>
        <a:srgbClr val="ED4956"/>
      </a:accent3>
      <a:accent4>
        <a:srgbClr val="F99D4C"/>
      </a:accent4>
      <a:accent5>
        <a:srgbClr val="FFD059"/>
      </a:accent5>
      <a:accent6>
        <a:srgbClr val="00B683"/>
      </a:accent6>
      <a:hlink>
        <a:srgbClr val="787DB8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8FEB7D-CD16-4E32-97B9-BD426FB98EB5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2149</Words>
  <Application>Microsoft Office PowerPoint</Application>
  <PresentationFormat>Widescreen</PresentationFormat>
  <Paragraphs>293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Archia</vt:lpstr>
      <vt:lpstr>Arial</vt:lpstr>
      <vt:lpstr>Arial (Body)</vt:lpstr>
      <vt:lpstr>Calibri</vt:lpstr>
      <vt:lpstr>Calibri Light</vt:lpstr>
      <vt:lpstr>DM Sans</vt:lpstr>
      <vt:lpstr>Outfit Light</vt:lpstr>
      <vt:lpstr>Office Theme</vt:lpstr>
      <vt:lpstr>Custom Design</vt:lpstr>
      <vt:lpstr>   Helm Deep Dive</vt:lpstr>
      <vt:lpstr>Chaliye Shuru Karte hai</vt:lpstr>
      <vt:lpstr> Agenda</vt:lpstr>
      <vt:lpstr>Upcoming sessions</vt:lpstr>
      <vt:lpstr>Why Helm is important?</vt:lpstr>
      <vt:lpstr>AZDO Pipe line benefits</vt:lpstr>
      <vt:lpstr>Problem 1: Challenges Without Azure DevOps CI/CD in Kubernetes</vt:lpstr>
      <vt:lpstr>Problem 2: Deployment Challenges in Kubernetes Without Helm Chart</vt:lpstr>
      <vt:lpstr>What is Helm?</vt:lpstr>
      <vt:lpstr>Helm's Handling of Kubernetes Object Tree</vt:lpstr>
      <vt:lpstr>Helm Chart Directory &amp; K8s Objects</vt:lpstr>
      <vt:lpstr>       Chart Directory</vt:lpstr>
      <vt:lpstr>Defining Kubernetes Resources with Helm Templates</vt:lpstr>
      <vt:lpstr>Deployments</vt:lpstr>
      <vt:lpstr>Services</vt:lpstr>
      <vt:lpstr>ConfigMaps</vt:lpstr>
      <vt:lpstr>Secrets</vt:lpstr>
      <vt:lpstr>Helm Chart Template</vt:lpstr>
      <vt:lpstr>Template Syntax</vt:lpstr>
      <vt:lpstr>Defining a Helper for Labels</vt:lpstr>
      <vt:lpstr>      values.yaml</vt:lpstr>
      <vt:lpstr>       Pipe</vt:lpstr>
      <vt:lpstr>     Scopes </vt:lpstr>
      <vt:lpstr>Release.Name</vt:lpstr>
      <vt:lpstr>         Linting</vt:lpstr>
      <vt:lpstr>Helm Hooks</vt:lpstr>
      <vt:lpstr>Best Practices</vt:lpstr>
      <vt:lpstr>       Labelling and Selectors</vt:lpstr>
      <vt:lpstr>Security</vt:lpstr>
      <vt:lpstr>Resource Policies</vt:lpstr>
      <vt:lpstr>Documentation</vt:lpstr>
      <vt:lpstr>Plugins for Helm Charts in Visual Studio Code</vt:lpstr>
      <vt:lpstr>    Microlise helm chart</vt:lpstr>
      <vt:lpstr>         Microlise Repo to refer</vt:lpstr>
      <vt:lpstr>More About Helm</vt:lpstr>
      <vt:lpstr>Any 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Jain</dc:creator>
  <cp:lastModifiedBy>Anish Jain</cp:lastModifiedBy>
  <cp:revision>91</cp:revision>
  <dcterms:created xsi:type="dcterms:W3CDTF">2024-11-02T05:52:33Z</dcterms:created>
  <dcterms:modified xsi:type="dcterms:W3CDTF">2025-12-06T06:38:40Z</dcterms:modified>
</cp:coreProperties>
</file>