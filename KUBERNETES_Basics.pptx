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36"/>
  </p:notesMasterIdLst>
  <p:sldIdLst>
    <p:sldId id="7882" r:id="rId2"/>
    <p:sldId id="8000" r:id="rId3"/>
    <p:sldId id="8023" r:id="rId4"/>
    <p:sldId id="8013" r:id="rId5"/>
    <p:sldId id="8017" r:id="rId6"/>
    <p:sldId id="8018" r:id="rId7"/>
    <p:sldId id="8019" r:id="rId8"/>
    <p:sldId id="8022" r:id="rId9"/>
    <p:sldId id="8014" r:id="rId10"/>
    <p:sldId id="7961" r:id="rId11"/>
    <p:sldId id="7950" r:id="rId12"/>
    <p:sldId id="7962" r:id="rId13"/>
    <p:sldId id="7963" r:id="rId14"/>
    <p:sldId id="7964" r:id="rId15"/>
    <p:sldId id="7965" r:id="rId16"/>
    <p:sldId id="7951" r:id="rId17"/>
    <p:sldId id="8015" r:id="rId18"/>
    <p:sldId id="7979" r:id="rId19"/>
    <p:sldId id="7980" r:id="rId20"/>
    <p:sldId id="8016" r:id="rId21"/>
    <p:sldId id="7988" r:id="rId22"/>
    <p:sldId id="7992" r:id="rId23"/>
    <p:sldId id="7989" r:id="rId24"/>
    <p:sldId id="7993" r:id="rId25"/>
    <p:sldId id="7990" r:id="rId26"/>
    <p:sldId id="7994" r:id="rId27"/>
    <p:sldId id="8009" r:id="rId28"/>
    <p:sldId id="7991" r:id="rId29"/>
    <p:sldId id="8020" r:id="rId30"/>
    <p:sldId id="8025" r:id="rId31"/>
    <p:sldId id="8021" r:id="rId32"/>
    <p:sldId id="8024" r:id="rId33"/>
    <p:sldId id="8001" r:id="rId34"/>
    <p:sldId id="801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3CA29-C67C-486E-8BDC-44D9B1ECF29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A3EF77-555D-41DE-A4A4-D637ED014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78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erno.io/learn/kubernetes-services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vrom.medium.com/implementing-and-working-with-kubernetes-services-4f2f885a673e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evops-mojo/kubernetes-probes-liveness-readiness-startup-overview-introduction-to-probes-types-configure-health-checks-206ff7c24487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swlh/pattern-sidecars-ambassadors-and-adapters-containers-ec8f4140c495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raghavramesh.github.io/posts/kubernetes-multi-container-patterns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evops-mojo/kubernetes-probes-liveness-readiness-startup-overview-introduction-to-probes-types-configure-health-checks-206ff7c24487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2298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var(--font-stack-heading)"/>
              </a:rPr>
              <a:t>Edit Pods</a:t>
            </a:r>
          </a:p>
          <a:p>
            <a:pPr algn="l"/>
            <a:r>
              <a:rPr lang="en-US" b="0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A Note on Editing Existing Pods</a:t>
            </a:r>
          </a:p>
          <a:p>
            <a:pPr algn="l"/>
            <a:r>
              <a:rPr lang="en-US" b="0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In any of the practical quizzes, if you are asked to </a:t>
            </a:r>
            <a:r>
              <a:rPr lang="en-US" b="1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edit an existing POD</a:t>
            </a:r>
            <a:r>
              <a:rPr lang="en-US" b="0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, please note the following: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If you are given a pod definition file, edit that file and use it to create a new pod.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If you are not given a pod definition file</a:t>
            </a:r>
            <a:r>
              <a:rPr lang="en-US" b="0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, you may extract the definition to a file using the below command: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kubectl</a:t>
            </a:r>
            <a:r>
              <a:rPr lang="en-US" b="0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 get pod &lt;pod-name&gt; -o </a:t>
            </a:r>
            <a:r>
              <a:rPr lang="en-US" b="0" i="0" dirty="0" err="1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yaml</a:t>
            </a:r>
            <a:r>
              <a:rPr lang="en-US" b="0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 &gt; pod-</a:t>
            </a:r>
            <a:r>
              <a:rPr lang="en-US" b="0" i="0" dirty="0" err="1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definition.yaml</a:t>
            </a:r>
            <a:endParaRPr lang="en-US" b="0" i="0" dirty="0">
              <a:solidFill>
                <a:srgbClr val="2D2F31"/>
              </a:solidFill>
              <a:effectLst/>
              <a:highlight>
                <a:srgbClr val="FFFFFF"/>
              </a:highlight>
              <a:latin typeface="Udemy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Then edit the file to make the necessary changes, delete, and re-create the pod.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To modify the properties of the pod, you can utilize the </a:t>
            </a:r>
            <a:r>
              <a:rPr lang="en-US" b="0" i="0" dirty="0" err="1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kubectl</a:t>
            </a:r>
            <a:r>
              <a:rPr lang="en-US" b="0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 edit pod &lt;pod-name&gt; command. Please note that only the properties listed below are editable.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spec.containers</a:t>
            </a:r>
            <a:r>
              <a:rPr lang="en-US" b="0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[*].image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spec.initContainers</a:t>
            </a:r>
            <a:r>
              <a:rPr lang="en-US" b="0" i="0" dirty="0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[*].image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spec.activeDeadlineSeconds</a:t>
            </a:r>
            <a:endParaRPr lang="en-US" b="0" i="0" dirty="0">
              <a:solidFill>
                <a:srgbClr val="2D2F31"/>
              </a:solidFill>
              <a:effectLst/>
              <a:highlight>
                <a:srgbClr val="FFFFFF"/>
              </a:highlight>
              <a:latin typeface="Udemy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spec.tolerations</a:t>
            </a:r>
            <a:endParaRPr lang="en-US" b="0" i="0" dirty="0">
              <a:solidFill>
                <a:srgbClr val="2D2F31"/>
              </a:solidFill>
              <a:effectLst/>
              <a:highlight>
                <a:srgbClr val="FFFFFF"/>
              </a:highlight>
              <a:latin typeface="Udemy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2D2F31"/>
                </a:solidFill>
                <a:effectLst/>
                <a:highlight>
                  <a:srgbClr val="FFFFFF"/>
                </a:highlight>
                <a:latin typeface="Udemy Sans"/>
              </a:rPr>
              <a:t>spec.terminationGracePeriodSeconds</a:t>
            </a:r>
            <a:endParaRPr lang="en-US" b="0" i="0" dirty="0">
              <a:solidFill>
                <a:srgbClr val="2D2F31"/>
              </a:solidFill>
              <a:effectLst/>
              <a:highlight>
                <a:srgbClr val="FFFFFF"/>
              </a:highlight>
              <a:latin typeface="Udemy San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4281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Kubernetes Services (kerno.io)</a:t>
            </a:r>
            <a:endParaRPr lang="en-IN" dirty="0"/>
          </a:p>
          <a:p>
            <a:r>
              <a:rPr lang="en-US">
                <a:hlinkClick r:id="rId4"/>
              </a:rPr>
              <a:t>Implementing and Working With Kubernetes Services | by Vladimir Romanov | Medium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3456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4107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Kubernetes — Probes (Liveness, Readiness, and Startup) Overview | by Ashish Patel | DevOps Mojo | Medium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2768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Patterns: Sidecars, Ambassadors, and Adapters Containers | by Vittorio Nardone | The Startup | Medium</a:t>
            </a:r>
            <a:endParaRPr lang="en-IN" dirty="0"/>
          </a:p>
          <a:p>
            <a:r>
              <a:rPr lang="en-IN" dirty="0">
                <a:hlinkClick r:id="rId4"/>
              </a:rPr>
              <a:t>Talk: Kubernetes multi-container patterns | Raghav Ramesh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6743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Kubernetes — Probes (Liveness, Readiness, and Startup) Overview | by Ashish Patel | DevOps Mojo | Medium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28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2768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A3EF77-555D-41DE-A4A4-D637ED01456D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524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65640B-18BE-F499-9E93-F03ED27A8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124BE9-2446-D088-B919-8590FE1B9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103" y="245889"/>
            <a:ext cx="9144000" cy="2387600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58D79-E36A-CAB8-74D1-C7AD4448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103" y="2965682"/>
            <a:ext cx="9144000" cy="1655233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3CDAB6F-9CDA-C09A-F754-FDAC6DF5F9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103" y="6074695"/>
            <a:ext cx="2438400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45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4BE9-2446-D088-B919-8590FE1B9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103" y="245889"/>
            <a:ext cx="9144000" cy="2387600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58D79-E36A-CAB8-74D1-C7AD4448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103" y="2965682"/>
            <a:ext cx="3670845" cy="1655233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3CDAB6F-9CDA-C09A-F754-FDAC6DF5F9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103" y="6074695"/>
            <a:ext cx="2438400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9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4BE9-2446-D088-B919-8590FE1B9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103" y="245889"/>
            <a:ext cx="8226803" cy="2387600"/>
          </a:xfrm>
        </p:spPr>
        <p:txBody>
          <a:bodyPr anchor="b"/>
          <a:lstStyle>
            <a:lvl1pPr algn="l"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58D79-E36A-CAB8-74D1-C7AD4448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103" y="2965683"/>
            <a:ext cx="7145107" cy="56358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7308BC-16A6-FE0F-1C94-589D59CB9D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103" y="6074695"/>
            <a:ext cx="2438400" cy="308863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05CE355-F97C-EEBD-8CA6-D3AFCDD669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64827" y="1456877"/>
            <a:ext cx="6627173" cy="4926681"/>
          </a:xfrm>
          <a:custGeom>
            <a:avLst/>
            <a:gdLst>
              <a:gd name="connsiteX0" fmla="*/ 2214828 w 4970380"/>
              <a:gd name="connsiteY0" fmla="*/ 0 h 3695011"/>
              <a:gd name="connsiteX1" fmla="*/ 3322219 w 4970380"/>
              <a:gd name="connsiteY1" fmla="*/ 0 h 3695011"/>
              <a:gd name="connsiteX2" fmla="*/ 3690426 w 4970380"/>
              <a:gd name="connsiteY2" fmla="*/ 369936 h 3695011"/>
              <a:gd name="connsiteX3" fmla="*/ 3690426 w 4970380"/>
              <a:gd name="connsiteY3" fmla="*/ 1478494 h 3695011"/>
              <a:gd name="connsiteX4" fmla="*/ 4061726 w 4970380"/>
              <a:gd name="connsiteY4" fmla="*/ 1847829 h 3695011"/>
              <a:gd name="connsiteX5" fmla="*/ 4061726 w 4970380"/>
              <a:gd name="connsiteY5" fmla="*/ 1847922 h 3695011"/>
              <a:gd name="connsiteX6" fmla="*/ 4970380 w 4970380"/>
              <a:gd name="connsiteY6" fmla="*/ 1847922 h 3695011"/>
              <a:gd name="connsiteX7" fmla="*/ 4970380 w 4970380"/>
              <a:gd name="connsiteY7" fmla="*/ 3695011 h 3695011"/>
              <a:gd name="connsiteX8" fmla="*/ 4059372 w 4970380"/>
              <a:gd name="connsiteY8" fmla="*/ 3695011 h 3695011"/>
              <a:gd name="connsiteX9" fmla="*/ 3690380 w 4970380"/>
              <a:gd name="connsiteY9" fmla="*/ 3326139 h 3695011"/>
              <a:gd name="connsiteX10" fmla="*/ 3690380 w 4970380"/>
              <a:gd name="connsiteY10" fmla="*/ 2218319 h 3695011"/>
              <a:gd name="connsiteX11" fmla="*/ 3320326 w 4970380"/>
              <a:gd name="connsiteY11" fmla="*/ 1847922 h 3695011"/>
              <a:gd name="connsiteX12" fmla="*/ 2214782 w 4970380"/>
              <a:gd name="connsiteY12" fmla="*/ 1847922 h 3695011"/>
              <a:gd name="connsiteX13" fmla="*/ 1845513 w 4970380"/>
              <a:gd name="connsiteY13" fmla="*/ 2218319 h 3695011"/>
              <a:gd name="connsiteX14" fmla="*/ 1845513 w 4970380"/>
              <a:gd name="connsiteY14" fmla="*/ 3326139 h 3695011"/>
              <a:gd name="connsiteX15" fmla="*/ 1476845 w 4970380"/>
              <a:gd name="connsiteY15" fmla="*/ 3695011 h 3695011"/>
              <a:gd name="connsiteX16" fmla="*/ 369269 w 4970380"/>
              <a:gd name="connsiteY16" fmla="*/ 3695011 h 3695011"/>
              <a:gd name="connsiteX17" fmla="*/ 0 w 4970380"/>
              <a:gd name="connsiteY17" fmla="*/ 3326139 h 3695011"/>
              <a:gd name="connsiteX18" fmla="*/ 0 w 4970380"/>
              <a:gd name="connsiteY18" fmla="*/ 2217210 h 3695011"/>
              <a:gd name="connsiteX19" fmla="*/ 369269 w 4970380"/>
              <a:gd name="connsiteY19" fmla="*/ 1847875 h 3695011"/>
              <a:gd name="connsiteX20" fmla="*/ 1476891 w 4970380"/>
              <a:gd name="connsiteY20" fmla="*/ 1847875 h 3695011"/>
              <a:gd name="connsiteX21" fmla="*/ 1845559 w 4970380"/>
              <a:gd name="connsiteY21" fmla="*/ 1476831 h 3695011"/>
              <a:gd name="connsiteX22" fmla="*/ 1845559 w 4970380"/>
              <a:gd name="connsiteY22" fmla="*/ 369936 h 3695011"/>
              <a:gd name="connsiteX23" fmla="*/ 2214828 w 4970380"/>
              <a:gd name="connsiteY23" fmla="*/ 0 h 3695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970380" h="3695011">
                <a:moveTo>
                  <a:pt x="2214828" y="0"/>
                </a:moveTo>
                <a:lnTo>
                  <a:pt x="3322219" y="0"/>
                </a:lnTo>
                <a:cubicBezTo>
                  <a:pt x="3525296" y="0"/>
                  <a:pt x="3690426" y="165607"/>
                  <a:pt x="3690426" y="369936"/>
                </a:cubicBezTo>
                <a:lnTo>
                  <a:pt x="3690426" y="1478494"/>
                </a:lnTo>
                <a:cubicBezTo>
                  <a:pt x="3691673" y="1682084"/>
                  <a:pt x="3857587" y="1847044"/>
                  <a:pt x="4061726" y="1847829"/>
                </a:cubicBezTo>
                <a:lnTo>
                  <a:pt x="4061726" y="1847922"/>
                </a:lnTo>
                <a:lnTo>
                  <a:pt x="4970380" y="1847922"/>
                </a:lnTo>
                <a:lnTo>
                  <a:pt x="4970380" y="3695011"/>
                </a:lnTo>
                <a:lnTo>
                  <a:pt x="4059372" y="3695011"/>
                </a:lnTo>
                <a:cubicBezTo>
                  <a:pt x="3855972" y="3695011"/>
                  <a:pt x="3690380" y="3529728"/>
                  <a:pt x="3690380" y="3326139"/>
                </a:cubicBezTo>
                <a:lnTo>
                  <a:pt x="3690380" y="2218319"/>
                </a:lnTo>
                <a:cubicBezTo>
                  <a:pt x="3690380" y="2014591"/>
                  <a:pt x="3525250" y="1848846"/>
                  <a:pt x="3320326" y="1847922"/>
                </a:cubicBezTo>
                <a:lnTo>
                  <a:pt x="2214782" y="1847922"/>
                </a:lnTo>
                <a:cubicBezTo>
                  <a:pt x="2011105" y="1848846"/>
                  <a:pt x="1846160" y="2013529"/>
                  <a:pt x="1845513" y="2218319"/>
                </a:cubicBezTo>
                <a:lnTo>
                  <a:pt x="1845513" y="3326139"/>
                </a:lnTo>
                <a:cubicBezTo>
                  <a:pt x="1845513" y="3529728"/>
                  <a:pt x="1679598" y="3695011"/>
                  <a:pt x="1476845" y="3695011"/>
                </a:cubicBezTo>
                <a:lnTo>
                  <a:pt x="369269" y="3695011"/>
                </a:lnTo>
                <a:cubicBezTo>
                  <a:pt x="164853" y="3695011"/>
                  <a:pt x="0" y="3529728"/>
                  <a:pt x="0" y="3326139"/>
                </a:cubicBezTo>
                <a:lnTo>
                  <a:pt x="0" y="2217210"/>
                </a:lnTo>
                <a:cubicBezTo>
                  <a:pt x="0" y="2013159"/>
                  <a:pt x="164807" y="1847875"/>
                  <a:pt x="369269" y="1847875"/>
                </a:cubicBezTo>
                <a:lnTo>
                  <a:pt x="1476891" y="1847875"/>
                </a:lnTo>
                <a:cubicBezTo>
                  <a:pt x="1680568" y="1847090"/>
                  <a:pt x="1845559" y="1681160"/>
                  <a:pt x="1845559" y="1476831"/>
                </a:cubicBezTo>
                <a:lnTo>
                  <a:pt x="1845559" y="369936"/>
                </a:lnTo>
                <a:cubicBezTo>
                  <a:pt x="1845559" y="165607"/>
                  <a:pt x="2010366" y="0"/>
                  <a:pt x="221482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3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1826684"/>
            <a:ext cx="10515600" cy="434974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0025-1574-D642-8EE0-174E1486F67F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87F0B3-F48E-9221-7329-DFD95F5095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7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trik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64ED63-6F5C-5942-83E2-082A9F04AE53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AFCFC0-61CB-5669-F6FB-6544D710AC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059" y="6074827"/>
            <a:ext cx="728100" cy="30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16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Dark">
    <p:bg>
      <p:bgPr>
        <a:gradFill>
          <a:gsLst>
            <a:gs pos="53000">
              <a:schemeClr val="tx1"/>
            </a:gs>
            <a:gs pos="0">
              <a:srgbClr val="1D4582"/>
            </a:gs>
            <a:gs pos="100000">
              <a:schemeClr val="tx1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9D6F75-6C30-D546-9F6A-480A3E7FC071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E8B6D-C22D-8AD4-E922-BB2D78DAD5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86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loud Cor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1826684"/>
            <a:ext cx="6044132" cy="434974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87F0B3-F48E-9221-7329-DFD95F5095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A84BA-CF94-9DAF-E4F8-052633D7CD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4536" y="1801368"/>
            <a:ext cx="5197465" cy="5056632"/>
          </a:xfrm>
          <a:custGeom>
            <a:avLst/>
            <a:gdLst>
              <a:gd name="connsiteX0" fmla="*/ 3898050 w 3898099"/>
              <a:gd name="connsiteY0" fmla="*/ 3792424 h 3792474"/>
              <a:gd name="connsiteX1" fmla="*/ 3898099 w 3898099"/>
              <a:gd name="connsiteY1" fmla="*/ 3792424 h 3792474"/>
              <a:gd name="connsiteX2" fmla="*/ 3898050 w 3898099"/>
              <a:gd name="connsiteY2" fmla="*/ 3792474 h 3792474"/>
              <a:gd name="connsiteX3" fmla="*/ 531417 w 3898099"/>
              <a:gd name="connsiteY3" fmla="*/ 0 h 3792474"/>
              <a:gd name="connsiteX4" fmla="*/ 2125123 w 3898099"/>
              <a:gd name="connsiteY4" fmla="*/ 0 h 3792474"/>
              <a:gd name="connsiteX5" fmla="*/ 2655648 w 3898099"/>
              <a:gd name="connsiteY5" fmla="*/ 530048 h 3792474"/>
              <a:gd name="connsiteX6" fmla="*/ 2655648 w 3898099"/>
              <a:gd name="connsiteY6" fmla="*/ 2121974 h 3792474"/>
              <a:gd name="connsiteX7" fmla="*/ 3187065 w 3898099"/>
              <a:gd name="connsiteY7" fmla="*/ 2654251 h 3792474"/>
              <a:gd name="connsiteX8" fmla="*/ 3898050 w 3898099"/>
              <a:gd name="connsiteY8" fmla="*/ 2654251 h 3792474"/>
              <a:gd name="connsiteX9" fmla="*/ 3898050 w 3898099"/>
              <a:gd name="connsiteY9" fmla="*/ 3792424 h 3792474"/>
              <a:gd name="connsiteX10" fmla="*/ 2655697 w 3898099"/>
              <a:gd name="connsiteY10" fmla="*/ 3792424 h 3792474"/>
              <a:gd name="connsiteX11" fmla="*/ 2655697 w 3898099"/>
              <a:gd name="connsiteY11" fmla="*/ 3187420 h 3792474"/>
              <a:gd name="connsiteX12" fmla="*/ 2125173 w 3898099"/>
              <a:gd name="connsiteY12" fmla="*/ 2654251 h 3792474"/>
              <a:gd name="connsiteX13" fmla="*/ 531417 w 3898099"/>
              <a:gd name="connsiteY13" fmla="*/ 2654251 h 3792474"/>
              <a:gd name="connsiteX14" fmla="*/ 0 w 3898099"/>
              <a:gd name="connsiteY14" fmla="*/ 2123559 h 3792474"/>
              <a:gd name="connsiteX15" fmla="*/ 0 w 3898099"/>
              <a:gd name="connsiteY15" fmla="*/ 530048 h 3792474"/>
              <a:gd name="connsiteX16" fmla="*/ 531417 w 3898099"/>
              <a:gd name="connsiteY16" fmla="*/ 0 h 379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98099" h="3792474">
                <a:moveTo>
                  <a:pt x="3898050" y="3792424"/>
                </a:moveTo>
                <a:lnTo>
                  <a:pt x="3898099" y="3792424"/>
                </a:lnTo>
                <a:lnTo>
                  <a:pt x="3898050" y="3792474"/>
                </a:lnTo>
                <a:close/>
                <a:moveTo>
                  <a:pt x="531417" y="0"/>
                </a:moveTo>
                <a:lnTo>
                  <a:pt x="2125123" y="0"/>
                </a:lnTo>
                <a:cubicBezTo>
                  <a:pt x="2416902" y="0"/>
                  <a:pt x="2655648" y="237503"/>
                  <a:pt x="2655648" y="530048"/>
                </a:cubicBezTo>
                <a:lnTo>
                  <a:pt x="2655648" y="2121974"/>
                </a:lnTo>
                <a:cubicBezTo>
                  <a:pt x="2656590" y="2416302"/>
                  <a:pt x="2893948" y="2652914"/>
                  <a:pt x="3187065" y="2654251"/>
                </a:cubicBezTo>
                <a:lnTo>
                  <a:pt x="3898050" y="2654251"/>
                </a:lnTo>
                <a:lnTo>
                  <a:pt x="3898050" y="3792424"/>
                </a:lnTo>
                <a:lnTo>
                  <a:pt x="2655697" y="3792424"/>
                </a:lnTo>
                <a:lnTo>
                  <a:pt x="2655697" y="3187420"/>
                </a:lnTo>
                <a:cubicBezTo>
                  <a:pt x="2655697" y="2893786"/>
                  <a:pt x="2418290" y="2655391"/>
                  <a:pt x="2125173" y="2654251"/>
                </a:cubicBezTo>
                <a:lnTo>
                  <a:pt x="531417" y="2654251"/>
                </a:lnTo>
                <a:cubicBezTo>
                  <a:pt x="237210" y="2654251"/>
                  <a:pt x="0" y="2416748"/>
                  <a:pt x="0" y="2123559"/>
                </a:cubicBezTo>
                <a:lnTo>
                  <a:pt x="0" y="530048"/>
                </a:lnTo>
                <a:cubicBezTo>
                  <a:pt x="0" y="237503"/>
                  <a:pt x="237210" y="0"/>
                  <a:pt x="531417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97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loud Corner Strik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1826684"/>
            <a:ext cx="6044132" cy="4349749"/>
          </a:xfrm>
        </p:spPr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A84BA-CF94-9DAF-E4F8-052633D7CD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4536" y="1801368"/>
            <a:ext cx="5197465" cy="5056632"/>
          </a:xfrm>
          <a:custGeom>
            <a:avLst/>
            <a:gdLst>
              <a:gd name="connsiteX0" fmla="*/ 3898050 w 3898099"/>
              <a:gd name="connsiteY0" fmla="*/ 3792424 h 3792474"/>
              <a:gd name="connsiteX1" fmla="*/ 3898099 w 3898099"/>
              <a:gd name="connsiteY1" fmla="*/ 3792424 h 3792474"/>
              <a:gd name="connsiteX2" fmla="*/ 3898050 w 3898099"/>
              <a:gd name="connsiteY2" fmla="*/ 3792474 h 3792474"/>
              <a:gd name="connsiteX3" fmla="*/ 531417 w 3898099"/>
              <a:gd name="connsiteY3" fmla="*/ 0 h 3792474"/>
              <a:gd name="connsiteX4" fmla="*/ 2125123 w 3898099"/>
              <a:gd name="connsiteY4" fmla="*/ 0 h 3792474"/>
              <a:gd name="connsiteX5" fmla="*/ 2655648 w 3898099"/>
              <a:gd name="connsiteY5" fmla="*/ 530048 h 3792474"/>
              <a:gd name="connsiteX6" fmla="*/ 2655648 w 3898099"/>
              <a:gd name="connsiteY6" fmla="*/ 2121974 h 3792474"/>
              <a:gd name="connsiteX7" fmla="*/ 3187065 w 3898099"/>
              <a:gd name="connsiteY7" fmla="*/ 2654251 h 3792474"/>
              <a:gd name="connsiteX8" fmla="*/ 3898050 w 3898099"/>
              <a:gd name="connsiteY8" fmla="*/ 2654251 h 3792474"/>
              <a:gd name="connsiteX9" fmla="*/ 3898050 w 3898099"/>
              <a:gd name="connsiteY9" fmla="*/ 3792424 h 3792474"/>
              <a:gd name="connsiteX10" fmla="*/ 2655697 w 3898099"/>
              <a:gd name="connsiteY10" fmla="*/ 3792424 h 3792474"/>
              <a:gd name="connsiteX11" fmla="*/ 2655697 w 3898099"/>
              <a:gd name="connsiteY11" fmla="*/ 3187420 h 3792474"/>
              <a:gd name="connsiteX12" fmla="*/ 2125173 w 3898099"/>
              <a:gd name="connsiteY12" fmla="*/ 2654251 h 3792474"/>
              <a:gd name="connsiteX13" fmla="*/ 531417 w 3898099"/>
              <a:gd name="connsiteY13" fmla="*/ 2654251 h 3792474"/>
              <a:gd name="connsiteX14" fmla="*/ 0 w 3898099"/>
              <a:gd name="connsiteY14" fmla="*/ 2123559 h 3792474"/>
              <a:gd name="connsiteX15" fmla="*/ 0 w 3898099"/>
              <a:gd name="connsiteY15" fmla="*/ 530048 h 3792474"/>
              <a:gd name="connsiteX16" fmla="*/ 531417 w 3898099"/>
              <a:gd name="connsiteY16" fmla="*/ 0 h 379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98099" h="3792474">
                <a:moveTo>
                  <a:pt x="3898050" y="3792424"/>
                </a:moveTo>
                <a:lnTo>
                  <a:pt x="3898099" y="3792424"/>
                </a:lnTo>
                <a:lnTo>
                  <a:pt x="3898050" y="3792474"/>
                </a:lnTo>
                <a:close/>
                <a:moveTo>
                  <a:pt x="531417" y="0"/>
                </a:moveTo>
                <a:lnTo>
                  <a:pt x="2125123" y="0"/>
                </a:lnTo>
                <a:cubicBezTo>
                  <a:pt x="2416902" y="0"/>
                  <a:pt x="2655648" y="237503"/>
                  <a:pt x="2655648" y="530048"/>
                </a:cubicBezTo>
                <a:lnTo>
                  <a:pt x="2655648" y="2121974"/>
                </a:lnTo>
                <a:cubicBezTo>
                  <a:pt x="2656590" y="2416302"/>
                  <a:pt x="2893948" y="2652914"/>
                  <a:pt x="3187065" y="2654251"/>
                </a:cubicBezTo>
                <a:lnTo>
                  <a:pt x="3898050" y="2654251"/>
                </a:lnTo>
                <a:lnTo>
                  <a:pt x="3898050" y="3792424"/>
                </a:lnTo>
                <a:lnTo>
                  <a:pt x="2655697" y="3792424"/>
                </a:lnTo>
                <a:lnTo>
                  <a:pt x="2655697" y="3187420"/>
                </a:lnTo>
                <a:cubicBezTo>
                  <a:pt x="2655697" y="2893786"/>
                  <a:pt x="2418290" y="2655391"/>
                  <a:pt x="2125173" y="2654251"/>
                </a:cubicBezTo>
                <a:lnTo>
                  <a:pt x="531417" y="2654251"/>
                </a:lnTo>
                <a:cubicBezTo>
                  <a:pt x="237210" y="2654251"/>
                  <a:pt x="0" y="2416748"/>
                  <a:pt x="0" y="2123559"/>
                </a:cubicBezTo>
                <a:lnTo>
                  <a:pt x="0" y="530048"/>
                </a:lnTo>
                <a:cubicBezTo>
                  <a:pt x="0" y="237503"/>
                  <a:pt x="237210" y="0"/>
                  <a:pt x="531417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2B6AF-9798-AAE8-1C64-AD3BE58970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059" y="6074827"/>
            <a:ext cx="728100" cy="30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66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1826684"/>
            <a:ext cx="4824932" cy="434974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0025-1574-D642-8EE0-174E1486F67F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87F0B3-F48E-9221-7329-DFD95F5095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ED5484D-3E81-C5C1-0DE4-59CA5DD1C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3624" y="1248283"/>
            <a:ext cx="6508376" cy="4838367"/>
          </a:xfrm>
          <a:custGeom>
            <a:avLst/>
            <a:gdLst>
              <a:gd name="connsiteX0" fmla="*/ 2214828 w 4970380"/>
              <a:gd name="connsiteY0" fmla="*/ 0 h 3695011"/>
              <a:gd name="connsiteX1" fmla="*/ 3322219 w 4970380"/>
              <a:gd name="connsiteY1" fmla="*/ 0 h 3695011"/>
              <a:gd name="connsiteX2" fmla="*/ 3690426 w 4970380"/>
              <a:gd name="connsiteY2" fmla="*/ 369936 h 3695011"/>
              <a:gd name="connsiteX3" fmla="*/ 3690426 w 4970380"/>
              <a:gd name="connsiteY3" fmla="*/ 1478494 h 3695011"/>
              <a:gd name="connsiteX4" fmla="*/ 4061726 w 4970380"/>
              <a:gd name="connsiteY4" fmla="*/ 1847829 h 3695011"/>
              <a:gd name="connsiteX5" fmla="*/ 4061726 w 4970380"/>
              <a:gd name="connsiteY5" fmla="*/ 1847922 h 3695011"/>
              <a:gd name="connsiteX6" fmla="*/ 4970380 w 4970380"/>
              <a:gd name="connsiteY6" fmla="*/ 1847922 h 3695011"/>
              <a:gd name="connsiteX7" fmla="*/ 4970380 w 4970380"/>
              <a:gd name="connsiteY7" fmla="*/ 3695011 h 3695011"/>
              <a:gd name="connsiteX8" fmla="*/ 4059372 w 4970380"/>
              <a:gd name="connsiteY8" fmla="*/ 3695011 h 3695011"/>
              <a:gd name="connsiteX9" fmla="*/ 3690380 w 4970380"/>
              <a:gd name="connsiteY9" fmla="*/ 3326139 h 3695011"/>
              <a:gd name="connsiteX10" fmla="*/ 3690380 w 4970380"/>
              <a:gd name="connsiteY10" fmla="*/ 2218319 h 3695011"/>
              <a:gd name="connsiteX11" fmla="*/ 3320326 w 4970380"/>
              <a:gd name="connsiteY11" fmla="*/ 1847922 h 3695011"/>
              <a:gd name="connsiteX12" fmla="*/ 2214782 w 4970380"/>
              <a:gd name="connsiteY12" fmla="*/ 1847922 h 3695011"/>
              <a:gd name="connsiteX13" fmla="*/ 1845513 w 4970380"/>
              <a:gd name="connsiteY13" fmla="*/ 2218319 h 3695011"/>
              <a:gd name="connsiteX14" fmla="*/ 1845513 w 4970380"/>
              <a:gd name="connsiteY14" fmla="*/ 3326139 h 3695011"/>
              <a:gd name="connsiteX15" fmla="*/ 1476845 w 4970380"/>
              <a:gd name="connsiteY15" fmla="*/ 3695011 h 3695011"/>
              <a:gd name="connsiteX16" fmla="*/ 369269 w 4970380"/>
              <a:gd name="connsiteY16" fmla="*/ 3695011 h 3695011"/>
              <a:gd name="connsiteX17" fmla="*/ 0 w 4970380"/>
              <a:gd name="connsiteY17" fmla="*/ 3326139 h 3695011"/>
              <a:gd name="connsiteX18" fmla="*/ 0 w 4970380"/>
              <a:gd name="connsiteY18" fmla="*/ 2217210 h 3695011"/>
              <a:gd name="connsiteX19" fmla="*/ 369269 w 4970380"/>
              <a:gd name="connsiteY19" fmla="*/ 1847875 h 3695011"/>
              <a:gd name="connsiteX20" fmla="*/ 1476891 w 4970380"/>
              <a:gd name="connsiteY20" fmla="*/ 1847875 h 3695011"/>
              <a:gd name="connsiteX21" fmla="*/ 1845559 w 4970380"/>
              <a:gd name="connsiteY21" fmla="*/ 1476831 h 3695011"/>
              <a:gd name="connsiteX22" fmla="*/ 1845559 w 4970380"/>
              <a:gd name="connsiteY22" fmla="*/ 369936 h 3695011"/>
              <a:gd name="connsiteX23" fmla="*/ 2214828 w 4970380"/>
              <a:gd name="connsiteY23" fmla="*/ 0 h 3695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970380" h="3695011">
                <a:moveTo>
                  <a:pt x="2214828" y="0"/>
                </a:moveTo>
                <a:lnTo>
                  <a:pt x="3322219" y="0"/>
                </a:lnTo>
                <a:cubicBezTo>
                  <a:pt x="3525296" y="0"/>
                  <a:pt x="3690426" y="165607"/>
                  <a:pt x="3690426" y="369936"/>
                </a:cubicBezTo>
                <a:lnTo>
                  <a:pt x="3690426" y="1478494"/>
                </a:lnTo>
                <a:cubicBezTo>
                  <a:pt x="3691673" y="1682084"/>
                  <a:pt x="3857587" y="1847044"/>
                  <a:pt x="4061726" y="1847829"/>
                </a:cubicBezTo>
                <a:lnTo>
                  <a:pt x="4061726" y="1847922"/>
                </a:lnTo>
                <a:lnTo>
                  <a:pt x="4970380" y="1847922"/>
                </a:lnTo>
                <a:lnTo>
                  <a:pt x="4970380" y="3695011"/>
                </a:lnTo>
                <a:lnTo>
                  <a:pt x="4059372" y="3695011"/>
                </a:lnTo>
                <a:cubicBezTo>
                  <a:pt x="3855972" y="3695011"/>
                  <a:pt x="3690380" y="3529728"/>
                  <a:pt x="3690380" y="3326139"/>
                </a:cubicBezTo>
                <a:lnTo>
                  <a:pt x="3690380" y="2218319"/>
                </a:lnTo>
                <a:cubicBezTo>
                  <a:pt x="3690380" y="2014591"/>
                  <a:pt x="3525250" y="1848846"/>
                  <a:pt x="3320326" y="1847922"/>
                </a:cubicBezTo>
                <a:lnTo>
                  <a:pt x="2214782" y="1847922"/>
                </a:lnTo>
                <a:cubicBezTo>
                  <a:pt x="2011105" y="1848846"/>
                  <a:pt x="1846160" y="2013529"/>
                  <a:pt x="1845513" y="2218319"/>
                </a:cubicBezTo>
                <a:lnTo>
                  <a:pt x="1845513" y="3326139"/>
                </a:lnTo>
                <a:cubicBezTo>
                  <a:pt x="1845513" y="3529728"/>
                  <a:pt x="1679598" y="3695011"/>
                  <a:pt x="1476845" y="3695011"/>
                </a:cubicBezTo>
                <a:lnTo>
                  <a:pt x="369269" y="3695011"/>
                </a:lnTo>
                <a:cubicBezTo>
                  <a:pt x="164853" y="3695011"/>
                  <a:pt x="0" y="3529728"/>
                  <a:pt x="0" y="3326139"/>
                </a:cubicBezTo>
                <a:lnTo>
                  <a:pt x="0" y="2217210"/>
                </a:lnTo>
                <a:cubicBezTo>
                  <a:pt x="0" y="2013159"/>
                  <a:pt x="164807" y="1847875"/>
                  <a:pt x="369269" y="1847875"/>
                </a:cubicBezTo>
                <a:lnTo>
                  <a:pt x="1476891" y="1847875"/>
                </a:lnTo>
                <a:cubicBezTo>
                  <a:pt x="1680568" y="1847090"/>
                  <a:pt x="1845559" y="1681160"/>
                  <a:pt x="1845559" y="1476831"/>
                </a:cubicBezTo>
                <a:lnTo>
                  <a:pt x="1845559" y="369936"/>
                </a:lnTo>
                <a:cubicBezTo>
                  <a:pt x="1845559" y="165607"/>
                  <a:pt x="2010366" y="0"/>
                  <a:pt x="221482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68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s">
    <p:bg>
      <p:bgPr>
        <a:gradFill>
          <a:gsLst>
            <a:gs pos="0">
              <a:schemeClr val="tx2"/>
            </a:gs>
            <a:gs pos="100000">
              <a:schemeClr val="tx1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Our customers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5871BD-21DB-4143-921E-431F94C3EA03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E8B6D-C22D-8AD4-E922-BB2D78DAD5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010BB31-E8E2-663E-931B-076D862D6B80}"/>
              </a:ext>
            </a:extLst>
          </p:cNvPr>
          <p:cNvGrpSpPr/>
          <p:nvPr userDrawn="1"/>
        </p:nvGrpSpPr>
        <p:grpSpPr>
          <a:xfrm>
            <a:off x="500103" y="1794062"/>
            <a:ext cx="11046439" cy="3805100"/>
            <a:chOff x="737836" y="1631312"/>
            <a:chExt cx="10716327" cy="3691389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5F75DFA-5602-E1B6-619E-F3B24B1228E1}"/>
                </a:ext>
              </a:extLst>
            </p:cNvPr>
            <p:cNvSpPr/>
            <p:nvPr userDrawn="1"/>
          </p:nvSpPr>
          <p:spPr>
            <a:xfrm>
              <a:off x="4448026" y="1631312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 sz="2400">
                <a:latin typeface="Outfit Light" pitchFamily="2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1E4EC00-562F-A299-B747-7BB6FEA97A01}"/>
                </a:ext>
              </a:extLst>
            </p:cNvPr>
            <p:cNvSpPr/>
            <p:nvPr userDrawn="1"/>
          </p:nvSpPr>
          <p:spPr>
            <a:xfrm>
              <a:off x="8158216" y="3676424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 sz="2400">
                <a:latin typeface="Outfit Light" pitchFamily="2" charset="0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562FAD8-BB1F-3CF2-8D92-3DCF63546A60}"/>
                </a:ext>
              </a:extLst>
            </p:cNvPr>
            <p:cNvSpPr/>
            <p:nvPr userDrawn="1"/>
          </p:nvSpPr>
          <p:spPr>
            <a:xfrm>
              <a:off x="8158216" y="1631312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 sz="2400">
                <a:latin typeface="Outfit Light" pitchFamily="2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2CDECEC-1AEC-AC26-FE82-CFE9B24BE3A5}"/>
                </a:ext>
              </a:extLst>
            </p:cNvPr>
            <p:cNvSpPr/>
            <p:nvPr userDrawn="1"/>
          </p:nvSpPr>
          <p:spPr>
            <a:xfrm>
              <a:off x="4438955" y="3676424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 sz="2400">
                <a:latin typeface="Outfit Light" pitchFamily="2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2D70B812-90BE-EFF0-A375-351B45F9E2A0}"/>
                </a:ext>
              </a:extLst>
            </p:cNvPr>
            <p:cNvSpPr/>
            <p:nvPr userDrawn="1"/>
          </p:nvSpPr>
          <p:spPr>
            <a:xfrm>
              <a:off x="737836" y="3676424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 sz="2400">
                <a:latin typeface="Outfit Light" pitchFamily="2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806D2A5-D49A-2B4C-6945-B4D6AAF6AA58}"/>
                </a:ext>
              </a:extLst>
            </p:cNvPr>
            <p:cNvSpPr/>
            <p:nvPr userDrawn="1"/>
          </p:nvSpPr>
          <p:spPr>
            <a:xfrm>
              <a:off x="737836" y="1631312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 sz="2400">
                <a:latin typeface="Outfit Ligh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286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ain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" y="457200"/>
            <a:ext cx="5142560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C4573-FE2C-D346-94B5-229A35198143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E9D9364F-7640-F911-F9B3-BD269AE140FD}"/>
              </a:ext>
            </a:extLst>
          </p:cNvPr>
          <p:cNvSpPr/>
          <p:nvPr userDrawn="1"/>
        </p:nvSpPr>
        <p:spPr>
          <a:xfrm rot="10800000">
            <a:off x="6431181" y="-1"/>
            <a:ext cx="5760819" cy="5869517"/>
          </a:xfrm>
          <a:prstGeom prst="round1Rect">
            <a:avLst>
              <a:gd name="adj" fmla="val 1570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Outfit Light" pitchFamily="2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C6FC79-F9CB-5F2F-EF3B-3BD3B45E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3200"/>
            </a:lvl1pPr>
            <a:lvl2pPr>
              <a:buClr>
                <a:schemeClr val="tx1"/>
              </a:buClr>
              <a:defRPr sz="2667"/>
            </a:lvl2pPr>
            <a:lvl3pPr>
              <a:buClr>
                <a:schemeClr val="tx1"/>
              </a:buClr>
              <a:defRPr sz="2400"/>
            </a:lvl3pPr>
            <a:lvl4pPr>
              <a:buClr>
                <a:schemeClr val="tx1"/>
              </a:buClr>
              <a:defRPr sz="2133"/>
            </a:lvl4pPr>
            <a:lvl5pPr>
              <a:buClr>
                <a:schemeClr val="tx1"/>
              </a:buClr>
              <a:defRPr sz="2133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6AB042-33D2-AF6C-C382-47B2851991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059" y="6074827"/>
            <a:ext cx="728100" cy="30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9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62704-0E1C-9397-E348-29721F6D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7EE6A-B54E-B7F7-240D-9E6057722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103" y="1826684"/>
            <a:ext cx="5156200" cy="434974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7281A-E911-2BEF-9A1F-C54E8A2D4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9503" y="1826684"/>
            <a:ext cx="5156200" cy="434974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6D3B9-0985-24EE-1FE1-CF4099ED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01BE8-2B0B-6B4A-8735-36A00D72CA1D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F2E6E-C0CC-FF12-9A5E-0E4C5351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3D8C02-941C-F029-E6E7-EA2BD40DFF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42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725F0E8-F5F1-60C4-3084-306D732AFD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3E142-DAA7-27A2-8354-3A782E07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151" y="736956"/>
            <a:ext cx="10515600" cy="285326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E803F-EF23-8347-5303-1873D6E22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151" y="3615623"/>
            <a:ext cx="10515600" cy="150071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AB8DA-5AF4-DA55-F9DC-4F3507D53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1D9-B955-6D4E-924E-589B300E56CD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AD0A0-72F8-A422-2355-060C5E73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6D4C21-94F7-3567-9B76-A2CDBE604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24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" y="457200"/>
            <a:ext cx="5142560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C4573-FE2C-D346-94B5-229A35198143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C6FC79-F9CB-5F2F-EF3B-3BD3B45E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3200"/>
            </a:lvl1pPr>
            <a:lvl2pPr>
              <a:buClr>
                <a:schemeClr val="accent1"/>
              </a:buClr>
              <a:defRPr sz="2667"/>
            </a:lvl2pPr>
            <a:lvl3pPr>
              <a:buClr>
                <a:schemeClr val="accent1"/>
              </a:buClr>
              <a:defRPr sz="2400"/>
            </a:lvl3pPr>
            <a:lvl4pPr>
              <a:buClr>
                <a:schemeClr val="accent1"/>
              </a:buClr>
              <a:defRPr sz="2133"/>
            </a:lvl4pPr>
            <a:lvl5pPr>
              <a:buClr>
                <a:schemeClr val="accent1"/>
              </a:buClr>
              <a:defRPr sz="2133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859345-2B48-7408-B9FC-93473DEE30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A6D3706-E79A-720B-0681-29BC862ABD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0332" y="10335"/>
            <a:ext cx="5761669" cy="5870384"/>
          </a:xfrm>
          <a:custGeom>
            <a:avLst/>
            <a:gdLst>
              <a:gd name="connsiteX0" fmla="*/ 0 w 3935125"/>
              <a:gd name="connsiteY0" fmla="*/ 0 h 4009375"/>
              <a:gd name="connsiteX1" fmla="*/ 3935125 w 3935125"/>
              <a:gd name="connsiteY1" fmla="*/ 0 h 4009375"/>
              <a:gd name="connsiteX2" fmla="*/ 3935125 w 3935125"/>
              <a:gd name="connsiteY2" fmla="*/ 4009375 h 4009375"/>
              <a:gd name="connsiteX3" fmla="*/ 618169 w 3935125"/>
              <a:gd name="connsiteY3" fmla="*/ 4009375 h 4009375"/>
              <a:gd name="connsiteX4" fmla="*/ 0 w 3935125"/>
              <a:gd name="connsiteY4" fmla="*/ 3391206 h 400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5125" h="4009375">
                <a:moveTo>
                  <a:pt x="0" y="0"/>
                </a:moveTo>
                <a:lnTo>
                  <a:pt x="3935125" y="0"/>
                </a:lnTo>
                <a:lnTo>
                  <a:pt x="3935125" y="4009375"/>
                </a:lnTo>
                <a:lnTo>
                  <a:pt x="618169" y="4009375"/>
                </a:lnTo>
                <a:cubicBezTo>
                  <a:pt x="276764" y="4009375"/>
                  <a:pt x="0" y="3732611"/>
                  <a:pt x="0" y="339120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34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239" y="457200"/>
            <a:ext cx="5142560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4358-7872-7045-8E26-B70E23714E9F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1D83-03EE-0022-D7CC-89030E92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239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3200"/>
            </a:lvl1pPr>
            <a:lvl2pPr>
              <a:buClr>
                <a:schemeClr val="accent1"/>
              </a:buClr>
              <a:defRPr sz="2667"/>
            </a:lvl2pPr>
            <a:lvl3pPr>
              <a:buClr>
                <a:schemeClr val="accent1"/>
              </a:buClr>
              <a:defRPr sz="2400"/>
            </a:lvl3pPr>
            <a:lvl4pPr>
              <a:buClr>
                <a:schemeClr val="accent1"/>
              </a:buClr>
              <a:defRPr sz="2133"/>
            </a:lvl4pPr>
            <a:lvl5pPr>
              <a:buClr>
                <a:schemeClr val="accent1"/>
              </a:buClr>
              <a:defRPr sz="2133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4D12E-29B6-4024-75B6-3367AA77A4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0699E0-C88B-EE65-CF5E-576FE0E6EF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69517" cy="5760819"/>
          </a:xfrm>
          <a:custGeom>
            <a:avLst/>
            <a:gdLst>
              <a:gd name="connsiteX0" fmla="*/ 0 w 4402138"/>
              <a:gd name="connsiteY0" fmla="*/ 0 h 4320614"/>
              <a:gd name="connsiteX1" fmla="*/ 4402138 w 4402138"/>
              <a:gd name="connsiteY1" fmla="*/ 0 h 4320614"/>
              <a:gd name="connsiteX2" fmla="*/ 4402138 w 4402138"/>
              <a:gd name="connsiteY2" fmla="*/ 3641889 h 4320614"/>
              <a:gd name="connsiteX3" fmla="*/ 3723413 w 4402138"/>
              <a:gd name="connsiteY3" fmla="*/ 4320614 h 4320614"/>
              <a:gd name="connsiteX4" fmla="*/ 0 w 4402138"/>
              <a:gd name="connsiteY4" fmla="*/ 4320614 h 432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138" h="4320614">
                <a:moveTo>
                  <a:pt x="0" y="0"/>
                </a:moveTo>
                <a:lnTo>
                  <a:pt x="4402138" y="0"/>
                </a:lnTo>
                <a:lnTo>
                  <a:pt x="4402138" y="3641889"/>
                </a:lnTo>
                <a:cubicBezTo>
                  <a:pt x="4402138" y="4016738"/>
                  <a:pt x="4098262" y="4320614"/>
                  <a:pt x="3723413" y="4320614"/>
                </a:cubicBezTo>
                <a:lnTo>
                  <a:pt x="0" y="43206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11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 Strik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239" y="457200"/>
            <a:ext cx="5142560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6DFC-2749-0949-A903-DD3A2385A57C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1D83-03EE-0022-D7CC-89030E92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239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3200"/>
            </a:lvl1pPr>
            <a:lvl2pPr>
              <a:buClr>
                <a:schemeClr val="tx1"/>
              </a:buClr>
              <a:defRPr sz="2667"/>
            </a:lvl2pPr>
            <a:lvl3pPr>
              <a:buClr>
                <a:schemeClr val="tx1"/>
              </a:buClr>
              <a:defRPr sz="2400"/>
            </a:lvl3pPr>
            <a:lvl4pPr>
              <a:buClr>
                <a:schemeClr val="tx1"/>
              </a:buClr>
              <a:defRPr sz="2133"/>
            </a:lvl4pPr>
            <a:lvl5pPr>
              <a:buClr>
                <a:schemeClr val="tx1"/>
              </a:buClr>
              <a:defRPr sz="2133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423D9E-98AA-549D-5D65-976FB6406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059" y="6074827"/>
            <a:ext cx="728100" cy="308043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6506CC4-37C9-6069-50BC-0B27E5FA02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69517" cy="5760819"/>
          </a:xfrm>
          <a:custGeom>
            <a:avLst/>
            <a:gdLst>
              <a:gd name="connsiteX0" fmla="*/ 0 w 4402138"/>
              <a:gd name="connsiteY0" fmla="*/ 0 h 4320614"/>
              <a:gd name="connsiteX1" fmla="*/ 4402138 w 4402138"/>
              <a:gd name="connsiteY1" fmla="*/ 0 h 4320614"/>
              <a:gd name="connsiteX2" fmla="*/ 4402138 w 4402138"/>
              <a:gd name="connsiteY2" fmla="*/ 3641889 h 4320614"/>
              <a:gd name="connsiteX3" fmla="*/ 3723413 w 4402138"/>
              <a:gd name="connsiteY3" fmla="*/ 4320614 h 4320614"/>
              <a:gd name="connsiteX4" fmla="*/ 0 w 4402138"/>
              <a:gd name="connsiteY4" fmla="*/ 4320614 h 432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138" h="4320614">
                <a:moveTo>
                  <a:pt x="0" y="0"/>
                </a:moveTo>
                <a:lnTo>
                  <a:pt x="4402138" y="0"/>
                </a:lnTo>
                <a:lnTo>
                  <a:pt x="4402138" y="3641889"/>
                </a:lnTo>
                <a:cubicBezTo>
                  <a:pt x="4402138" y="4016738"/>
                  <a:pt x="4098262" y="4320614"/>
                  <a:pt x="3723413" y="4320614"/>
                </a:cubicBezTo>
                <a:lnTo>
                  <a:pt x="0" y="43206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79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 Strik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" y="457200"/>
            <a:ext cx="5142560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C6DD-C821-6C4C-8902-4089A37EB26A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C6FC79-F9CB-5F2F-EF3B-3BD3B45E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3200"/>
            </a:lvl1pPr>
            <a:lvl2pPr>
              <a:buClr>
                <a:schemeClr val="tx1"/>
              </a:buClr>
              <a:defRPr sz="2667"/>
            </a:lvl2pPr>
            <a:lvl3pPr>
              <a:buClr>
                <a:schemeClr val="tx1"/>
              </a:buClr>
              <a:defRPr sz="2400"/>
            </a:lvl3pPr>
            <a:lvl4pPr>
              <a:buClr>
                <a:schemeClr val="tx1"/>
              </a:buClr>
              <a:defRPr sz="2133"/>
            </a:lvl4pPr>
            <a:lvl5pPr>
              <a:buClr>
                <a:schemeClr val="tx1"/>
              </a:buClr>
              <a:defRPr sz="2133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2EB0CB-6F24-1A96-F589-420A8A2589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059" y="6074827"/>
            <a:ext cx="728100" cy="308043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AF8107-1F67-F3DD-F642-04E5F35BE4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0332" y="10335"/>
            <a:ext cx="5761669" cy="5870384"/>
          </a:xfrm>
          <a:custGeom>
            <a:avLst/>
            <a:gdLst>
              <a:gd name="connsiteX0" fmla="*/ 0 w 3935125"/>
              <a:gd name="connsiteY0" fmla="*/ 0 h 4009375"/>
              <a:gd name="connsiteX1" fmla="*/ 3935125 w 3935125"/>
              <a:gd name="connsiteY1" fmla="*/ 0 h 4009375"/>
              <a:gd name="connsiteX2" fmla="*/ 3935125 w 3935125"/>
              <a:gd name="connsiteY2" fmla="*/ 4009375 h 4009375"/>
              <a:gd name="connsiteX3" fmla="*/ 618169 w 3935125"/>
              <a:gd name="connsiteY3" fmla="*/ 4009375 h 4009375"/>
              <a:gd name="connsiteX4" fmla="*/ 0 w 3935125"/>
              <a:gd name="connsiteY4" fmla="*/ 3391206 h 400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5125" h="4009375">
                <a:moveTo>
                  <a:pt x="0" y="0"/>
                </a:moveTo>
                <a:lnTo>
                  <a:pt x="3935125" y="0"/>
                </a:lnTo>
                <a:lnTo>
                  <a:pt x="3935125" y="4009375"/>
                </a:lnTo>
                <a:lnTo>
                  <a:pt x="618169" y="4009375"/>
                </a:lnTo>
                <a:cubicBezTo>
                  <a:pt x="276764" y="4009375"/>
                  <a:pt x="0" y="3732611"/>
                  <a:pt x="0" y="339120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199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 Dark">
    <p:bg>
      <p:bgPr>
        <a:gradFill>
          <a:gsLst>
            <a:gs pos="0">
              <a:schemeClr val="tx2"/>
            </a:gs>
            <a:gs pos="100000">
              <a:schemeClr val="tx1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239" y="457200"/>
            <a:ext cx="5142560" cy="1600200"/>
          </a:xfrm>
        </p:spPr>
        <p:txBody>
          <a:bodyPr anchor="b"/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E0E52D-B26A-6647-98C0-F359F0FA0DC9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1D83-03EE-0022-D7CC-89030E92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239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32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2667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2133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2133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4D12E-29B6-4024-75B6-3367AA77A4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346D8F-BE67-2A37-EEAD-442FFA1962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69517" cy="5760819"/>
          </a:xfrm>
          <a:custGeom>
            <a:avLst/>
            <a:gdLst>
              <a:gd name="connsiteX0" fmla="*/ 0 w 4402138"/>
              <a:gd name="connsiteY0" fmla="*/ 0 h 4320614"/>
              <a:gd name="connsiteX1" fmla="*/ 4402138 w 4402138"/>
              <a:gd name="connsiteY1" fmla="*/ 0 h 4320614"/>
              <a:gd name="connsiteX2" fmla="*/ 4402138 w 4402138"/>
              <a:gd name="connsiteY2" fmla="*/ 3641889 h 4320614"/>
              <a:gd name="connsiteX3" fmla="*/ 3723413 w 4402138"/>
              <a:gd name="connsiteY3" fmla="*/ 4320614 h 4320614"/>
              <a:gd name="connsiteX4" fmla="*/ 0 w 4402138"/>
              <a:gd name="connsiteY4" fmla="*/ 4320614 h 432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138" h="4320614">
                <a:moveTo>
                  <a:pt x="0" y="0"/>
                </a:moveTo>
                <a:lnTo>
                  <a:pt x="4402138" y="0"/>
                </a:lnTo>
                <a:lnTo>
                  <a:pt x="4402138" y="3641889"/>
                </a:lnTo>
                <a:cubicBezTo>
                  <a:pt x="4402138" y="4016738"/>
                  <a:pt x="4098262" y="4320614"/>
                  <a:pt x="3723413" y="4320614"/>
                </a:cubicBezTo>
                <a:lnTo>
                  <a:pt x="0" y="43206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74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 Dark">
    <p:bg>
      <p:bgPr>
        <a:gradFill>
          <a:gsLst>
            <a:gs pos="0">
              <a:schemeClr val="tx2"/>
            </a:gs>
            <a:gs pos="100000">
              <a:schemeClr val="tx1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" y="457200"/>
            <a:ext cx="5142560" cy="1600200"/>
          </a:xfrm>
        </p:spPr>
        <p:txBody>
          <a:bodyPr anchor="b"/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22EC9D-9608-D048-B827-27F744EB6E71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C6FC79-F9CB-5F2F-EF3B-3BD3B45E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32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2667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2133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2133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859345-2B48-7408-B9FC-93473DEE30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484570-6241-2AA8-DAED-5F742839FF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0332" y="28668"/>
            <a:ext cx="5761669" cy="5870384"/>
          </a:xfrm>
          <a:custGeom>
            <a:avLst/>
            <a:gdLst>
              <a:gd name="connsiteX0" fmla="*/ 0 w 3935125"/>
              <a:gd name="connsiteY0" fmla="*/ 0 h 4009375"/>
              <a:gd name="connsiteX1" fmla="*/ 3935125 w 3935125"/>
              <a:gd name="connsiteY1" fmla="*/ 0 h 4009375"/>
              <a:gd name="connsiteX2" fmla="*/ 3935125 w 3935125"/>
              <a:gd name="connsiteY2" fmla="*/ 4009375 h 4009375"/>
              <a:gd name="connsiteX3" fmla="*/ 618169 w 3935125"/>
              <a:gd name="connsiteY3" fmla="*/ 4009375 h 4009375"/>
              <a:gd name="connsiteX4" fmla="*/ 0 w 3935125"/>
              <a:gd name="connsiteY4" fmla="*/ 3391206 h 400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5125" h="4009375">
                <a:moveTo>
                  <a:pt x="0" y="0"/>
                </a:moveTo>
                <a:lnTo>
                  <a:pt x="3935125" y="0"/>
                </a:lnTo>
                <a:lnTo>
                  <a:pt x="3935125" y="4009375"/>
                </a:lnTo>
                <a:lnTo>
                  <a:pt x="618169" y="4009375"/>
                </a:lnTo>
                <a:cubicBezTo>
                  <a:pt x="276764" y="4009375"/>
                  <a:pt x="0" y="3732611"/>
                  <a:pt x="0" y="339120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10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AD93-1930-9CE4-92F9-CB4BBA8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8836D-CD11-8E19-E371-1C055D33C9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5A415D-2F1F-B143-BA62-6BABD16E70A1}" type="datetime1">
              <a:rPr lang="en-GB" smtClean="0"/>
              <a:t>06/12/2025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D6451-A3A9-4898-B96A-F430C3032798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 algn="r">
              <a:defRPr/>
            </a:lvl1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ACEE6-6DDC-172B-7E6A-1F5B9901B8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15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8836D-CD11-8E19-E371-1C055D33C9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9F6446-2BF2-4D44-B716-2ABFAF5C8941}" type="datetime1">
              <a:rPr lang="en-GB" smtClean="0"/>
              <a:t>06/12/2025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D6451-A3A9-4898-B96A-F430C3032798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 algn="r">
              <a:defRPr/>
            </a:lvl1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1A223-3602-1C4D-02A2-7752E0A4E5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032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FD2358-4116-32B5-F26F-D0222662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82312" cy="6908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0EAD93-1930-9CE4-92F9-CB4BBA813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103" y="567346"/>
            <a:ext cx="10515600" cy="13250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14766F-CA55-B58F-B135-B22E4B217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102" y="2245038"/>
            <a:ext cx="8751473" cy="18700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95825-72A7-324E-9A24-5E7861E4F7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105" y="5742414"/>
            <a:ext cx="2836347" cy="36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9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with Addres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B82B64C-4A21-48EF-230D-CF646101A9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82312" cy="690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D9A4C-D34B-B0BC-0E62-A6F8857C8C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305" y="937331"/>
            <a:ext cx="2836347" cy="36308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535EE59-ECCB-8065-694C-8E4E76D63E7D}"/>
              </a:ext>
            </a:extLst>
          </p:cNvPr>
          <p:cNvGrpSpPr/>
          <p:nvPr userDrawn="1"/>
        </p:nvGrpSpPr>
        <p:grpSpPr>
          <a:xfrm>
            <a:off x="836306" y="2555969"/>
            <a:ext cx="6192909" cy="3390523"/>
            <a:chOff x="1243806" y="6879747"/>
            <a:chExt cx="5311140" cy="3705984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5CDD6526-A240-87EB-44B1-FCEC4312E6AF}"/>
                </a:ext>
              </a:extLst>
            </p:cNvPr>
            <p:cNvSpPr txBox="1"/>
            <p:nvPr/>
          </p:nvSpPr>
          <p:spPr>
            <a:xfrm>
              <a:off x="1243806" y="8198706"/>
              <a:ext cx="2432497" cy="107862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Microlise Limited </a:t>
              </a:r>
              <a:endParaRPr lang="en-GB" sz="12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Farrington Way </a:t>
              </a:r>
              <a:endParaRPr lang="en-GB" sz="12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Eastwood </a:t>
              </a:r>
              <a:endParaRPr lang="en-GB" sz="12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Nottinghamshire</a:t>
              </a:r>
              <a:endParaRPr lang="en-GB" sz="12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NG16 3AG</a:t>
              </a:r>
              <a:endParaRPr sz="1200">
                <a:latin typeface="DM Sans" pitchFamily="2" charset="77"/>
                <a:cs typeface="Calibri"/>
              </a:endParaRPr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D3AEB353-018B-618A-B8F0-7C8493D19746}"/>
                </a:ext>
              </a:extLst>
            </p:cNvPr>
            <p:cNvSpPr txBox="1"/>
            <p:nvPr/>
          </p:nvSpPr>
          <p:spPr>
            <a:xfrm>
              <a:off x="1243807" y="9765024"/>
              <a:ext cx="1500244" cy="820707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6933" marR="40808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Registered in England &amp; Wales with</a:t>
              </a:r>
              <a:r>
                <a:rPr lang="en-GB"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 </a:t>
              </a: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Company No. 03037936</a:t>
              </a:r>
              <a:endParaRPr sz="1200">
                <a:latin typeface="DM Sans" pitchFamily="2" charset="77"/>
                <a:cs typeface="Calibri"/>
              </a:endParaRPr>
            </a:p>
          </p:txBody>
        </p:sp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7B1C569B-8C1B-4838-1EA3-33558516C075}"/>
                </a:ext>
              </a:extLst>
            </p:cNvPr>
            <p:cNvSpPr txBox="1"/>
            <p:nvPr/>
          </p:nvSpPr>
          <p:spPr>
            <a:xfrm>
              <a:off x="2744051" y="8198706"/>
              <a:ext cx="1688171" cy="103657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Microlise Group plc Farrington Way </a:t>
              </a:r>
              <a:br>
                <a:rPr lang="en-GB"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</a:b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Eastwood </a:t>
              </a:r>
              <a:br>
                <a:rPr lang="en-GB"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</a:b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Nottinghamshire </a:t>
              </a:r>
              <a:endParaRPr lang="en-GB" sz="12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NG16 3AG</a:t>
              </a:r>
              <a:endParaRPr sz="1200">
                <a:latin typeface="DM Sans" pitchFamily="2" charset="77"/>
                <a:cs typeface="Calibri"/>
              </a:endParaRPr>
            </a:p>
          </p:txBody>
        </p:sp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BFF300BA-FBA5-33AB-D570-DEF601C7592E}"/>
                </a:ext>
              </a:extLst>
            </p:cNvPr>
            <p:cNvSpPr txBox="1"/>
            <p:nvPr/>
          </p:nvSpPr>
          <p:spPr>
            <a:xfrm>
              <a:off x="2744052" y="9765024"/>
              <a:ext cx="1308883" cy="820707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Registered in England &amp;  Wales with Company No. 11553192</a:t>
              </a:r>
              <a:endParaRPr sz="1200">
                <a:latin typeface="DM Sans" pitchFamily="2" charset="77"/>
                <a:cs typeface="Calibri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434445B8-5756-9429-2A0F-FEE153B50457}"/>
                </a:ext>
              </a:extLst>
            </p:cNvPr>
            <p:cNvSpPr txBox="1"/>
            <p:nvPr/>
          </p:nvSpPr>
          <p:spPr>
            <a:xfrm>
              <a:off x="1243806" y="6879747"/>
              <a:ext cx="5311140" cy="557184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6933">
                <a:lnSpc>
                  <a:spcPct val="100000"/>
                </a:lnSpc>
                <a:spcBef>
                  <a:spcPts val="180"/>
                </a:spcBef>
              </a:pPr>
              <a:r>
                <a:rPr sz="3200">
                  <a:solidFill>
                    <a:schemeClr val="accent1"/>
                  </a:solidFill>
                  <a:latin typeface="DM Sans" pitchFamily="2" charset="77"/>
                  <a:cs typeface="Calibri"/>
                </a:rPr>
                <a:t>www.microlise.com</a:t>
              </a:r>
              <a:r>
                <a:rPr lang="en-GB" sz="3200">
                  <a:solidFill>
                    <a:schemeClr val="accent1"/>
                  </a:solidFill>
                  <a:latin typeface="DM Sans" pitchFamily="2" charset="77"/>
                  <a:cs typeface="Calibri"/>
                </a:rPr>
                <a:t> </a:t>
              </a:r>
              <a:endParaRPr sz="3200">
                <a:solidFill>
                  <a:schemeClr val="accent1"/>
                </a:solidFill>
                <a:latin typeface="DM Sans" pitchFamily="2" charset="77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783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odule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580096" cy="6858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0" name="Parallelogra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sz="1400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23" y="2134953"/>
            <a:ext cx="6189797" cy="3755104"/>
          </a:xfrm>
        </p:spPr>
        <p:txBody>
          <a:bodyPr rtlCol="0" anchor="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CFFCFE-1D31-A30F-F50C-B0F2410A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23" y="412259"/>
            <a:ext cx="6189797" cy="1111368"/>
          </a:xfr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A5A7F9-815F-CB72-FEA5-B883FA33AAEE}"/>
              </a:ext>
            </a:extLst>
          </p:cNvPr>
          <p:cNvCxnSpPr/>
          <p:nvPr userDrawn="1"/>
        </p:nvCxnSpPr>
        <p:spPr>
          <a:xfrm>
            <a:off x="4984723" y="1768415"/>
            <a:ext cx="618979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9637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3928" y="1222867"/>
            <a:ext cx="7075451" cy="452090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842" y="1363853"/>
            <a:ext cx="3434279" cy="4937360"/>
          </a:xfrm>
        </p:spPr>
        <p:txBody>
          <a:bodyPr rtlCol="0"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CFFCFE-1D31-A30F-F50C-B0F2410A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41" y="365580"/>
            <a:ext cx="3452385" cy="702877"/>
          </a:xfrm>
        </p:spPr>
        <p:txBody>
          <a:bodyPr rtlCol="0">
            <a:noAutofit/>
          </a:bodyPr>
          <a:lstStyle>
            <a:lvl1pPr>
              <a:defRPr sz="2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A5A7F9-815F-CB72-FEA5-B883FA33AAEE}"/>
              </a:ext>
            </a:extLst>
          </p:cNvPr>
          <p:cNvCxnSpPr>
            <a:cxnSpLocks/>
          </p:cNvCxnSpPr>
          <p:nvPr userDrawn="1"/>
        </p:nvCxnSpPr>
        <p:spPr>
          <a:xfrm>
            <a:off x="123732" y="1222867"/>
            <a:ext cx="345238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C02E08-8FFB-2F32-CE3B-196AD2A7D13E}"/>
              </a:ext>
            </a:extLst>
          </p:cNvPr>
          <p:cNvCxnSpPr>
            <a:cxnSpLocks/>
          </p:cNvCxnSpPr>
          <p:nvPr userDrawn="1"/>
        </p:nvCxnSpPr>
        <p:spPr>
          <a:xfrm>
            <a:off x="3689289" y="365579"/>
            <a:ext cx="0" cy="5935635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2602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-11291" y="-1"/>
            <a:ext cx="5179243" cy="6858001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4" name="Picture 2" descr="Y:\Branding &amp; Graphics JD\Microlise Logos\Standard logo\White\PNG\Microlise_Logo_White_800px_web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3238" y="664535"/>
            <a:ext cx="1338137" cy="61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23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69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77C89-30AF-531D-EA53-92B212C5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3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950DF-701D-D598-68F0-FCD09E758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103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F03E1-14AE-35AA-9268-AE524D44C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60549" y="6176434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Outfit Light" pitchFamily="2" charset="0"/>
              </a:defRPr>
            </a:lvl1pPr>
          </a:lstStyle>
          <a:p>
            <a:fld id="{B8DA1A95-0620-4B43-9EA1-72D8A64E0460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16C77-B5B6-9D68-8334-B64DFFC7C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750" y="6176434"/>
            <a:ext cx="812276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Outfit Light" pitchFamily="2" charset="0"/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</p:sldLayoutIdLst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333" kern="1200">
          <a:solidFill>
            <a:schemeClr val="tx1"/>
          </a:solidFill>
          <a:latin typeface="Archia" panose="02000503000000020004" pitchFamily="2" charset="77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4" Type="http://schemas.openxmlformats.org/officeDocument/2006/relationships/hyperlink" Target="https://oauth-openshift.apps.gen.ocp.mms.local/oauth/authorize?client_id=console&amp;redirect_uri=https%3A%2F%2Fconsole-openshift-console.apps.gen.ocp.mms.local%2Fauth%2Fcallback&amp;response_type=code&amp;scope=user%3Afull&amp;state=bd4066c5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A163-7275-AC26-92BC-4D0DCD188E9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775198" y="1022307"/>
            <a:ext cx="5380038" cy="1373188"/>
          </a:xfrm>
        </p:spPr>
        <p:txBody>
          <a:bodyPr/>
          <a:lstStyle/>
          <a:p>
            <a:r>
              <a:rPr lang="en-US" dirty="0"/>
              <a:t>KUBERNETES</a:t>
            </a:r>
          </a:p>
        </p:txBody>
      </p:sp>
      <p:pic>
        <p:nvPicPr>
          <p:cNvPr id="2050" name="Picture 2" descr="4-day Docker and Kubernetes Training – Software Blog">
            <a:extLst>
              <a:ext uri="{FF2B5EF4-FFF2-40B4-BE49-F238E27FC236}">
                <a16:creationId xmlns:a16="http://schemas.microsoft.com/office/drawing/2014/main" id="{35B88B29-7892-D800-4EF8-46A6BC5A8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03" y="930903"/>
            <a:ext cx="1555996" cy="1555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786020-AC45-EEDB-148D-417C580E11EE}"/>
              </a:ext>
            </a:extLst>
          </p:cNvPr>
          <p:cNvSpPr txBox="1">
            <a:spLocks/>
          </p:cNvSpPr>
          <p:nvPr/>
        </p:nvSpPr>
        <p:spPr>
          <a:xfrm>
            <a:off x="3301163" y="1800361"/>
            <a:ext cx="3935107" cy="1373076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Archia" panose="02000503000000020004" pitchFamily="2" charset="77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4267" dirty="0"/>
              <a:t>By Anish Jain</a:t>
            </a:r>
          </a:p>
        </p:txBody>
      </p:sp>
      <p:pic>
        <p:nvPicPr>
          <p:cNvPr id="5122" name="Picture 2" descr="OpenShift Monitoring with Instana | IBM">
            <a:extLst>
              <a:ext uri="{FF2B5EF4-FFF2-40B4-BE49-F238E27FC236}">
                <a16:creationId xmlns:a16="http://schemas.microsoft.com/office/drawing/2014/main" id="{9A81D826-87DD-E69A-D303-5548D3210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9303" y="819953"/>
            <a:ext cx="3934501" cy="2968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0E5012-10BC-E2C2-0587-B2BAA6ACFC4E}"/>
              </a:ext>
            </a:extLst>
          </p:cNvPr>
          <p:cNvSpPr txBox="1"/>
          <p:nvPr/>
        </p:nvSpPr>
        <p:spPr>
          <a:xfrm>
            <a:off x="230450" y="4205210"/>
            <a:ext cx="44930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Orchestrating containers, scaling workloads, and securing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62682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64CBB-549C-7A7E-6B3D-45598B5A12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0163"/>
            <a:ext cx="10515600" cy="833437"/>
          </a:xfrm>
        </p:spPr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A453F-E082-6AEE-C301-955AC952F11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629A80-80B3-E7BC-BB6E-32689695BB6F}"/>
              </a:ext>
            </a:extLst>
          </p:cNvPr>
          <p:cNvSpPr txBox="1"/>
          <p:nvPr/>
        </p:nvSpPr>
        <p:spPr>
          <a:xfrm>
            <a:off x="533400" y="863567"/>
            <a:ext cx="373867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Upcoming sessions</a:t>
            </a:r>
          </a:p>
          <a:p>
            <a:r>
              <a:rPr lang="en-IN" sz="1200" b="1" dirty="0"/>
              <a:t>Architecture of Kubernetes</a:t>
            </a:r>
          </a:p>
          <a:p>
            <a:r>
              <a:rPr lang="en-IN" sz="1200" dirty="0"/>
              <a:t> - Control Plane Components</a:t>
            </a:r>
          </a:p>
          <a:p>
            <a:r>
              <a:rPr lang="en-IN" sz="1200" dirty="0"/>
              <a:t> - NODE Components</a:t>
            </a:r>
          </a:p>
          <a:p>
            <a:r>
              <a:rPr lang="en-IN" sz="1200" b="1" dirty="0"/>
              <a:t>CORE OBJECTS AND APIS</a:t>
            </a:r>
          </a:p>
          <a:p>
            <a:r>
              <a:rPr lang="en-IN" sz="1200" dirty="0"/>
              <a:t> - POD</a:t>
            </a:r>
          </a:p>
          <a:p>
            <a:r>
              <a:rPr lang="en-IN" sz="1200" dirty="0"/>
              <a:t> - Labels</a:t>
            </a:r>
          </a:p>
          <a:p>
            <a:r>
              <a:rPr lang="en-IN" sz="1200" dirty="0"/>
              <a:t> - Selectors</a:t>
            </a:r>
          </a:p>
          <a:p>
            <a:r>
              <a:rPr lang="en-IN" sz="1200" dirty="0"/>
              <a:t> - Services</a:t>
            </a:r>
          </a:p>
          <a:p>
            <a:r>
              <a:rPr lang="en-IN" sz="1200" dirty="0"/>
              <a:t> - Namespace</a:t>
            </a:r>
          </a:p>
          <a:p>
            <a:r>
              <a:rPr lang="en-IN" sz="1200" b="1" dirty="0"/>
              <a:t>Configuration</a:t>
            </a:r>
          </a:p>
          <a:p>
            <a:r>
              <a:rPr lang="en-IN" sz="1200" dirty="0"/>
              <a:t> - Config map</a:t>
            </a:r>
          </a:p>
          <a:p>
            <a:r>
              <a:rPr lang="en-IN" sz="1200" dirty="0"/>
              <a:t> - Config Secret</a:t>
            </a:r>
          </a:p>
          <a:p>
            <a:r>
              <a:rPr lang="en-IN" sz="1200" b="1" dirty="0"/>
              <a:t>Probes</a:t>
            </a:r>
          </a:p>
          <a:p>
            <a:r>
              <a:rPr lang="en-IN" sz="1200" dirty="0"/>
              <a:t> - Startup </a:t>
            </a:r>
          </a:p>
          <a:p>
            <a:r>
              <a:rPr lang="en-IN" sz="1200" dirty="0"/>
              <a:t> - Liveness </a:t>
            </a:r>
          </a:p>
          <a:p>
            <a:r>
              <a:rPr lang="en-IN" sz="1200" dirty="0"/>
              <a:t> - Readiness </a:t>
            </a:r>
          </a:p>
          <a:p>
            <a:r>
              <a:rPr lang="en-IN" sz="1200" b="1" dirty="0"/>
              <a:t>Container Patterns</a:t>
            </a:r>
          </a:p>
          <a:p>
            <a:r>
              <a:rPr lang="en-IN" sz="1200" dirty="0"/>
              <a:t> - Side car</a:t>
            </a:r>
          </a:p>
          <a:p>
            <a:r>
              <a:rPr lang="en-IN" sz="1200" dirty="0"/>
              <a:t> - Ambassador</a:t>
            </a:r>
          </a:p>
          <a:p>
            <a:r>
              <a:rPr lang="en-IN" sz="1200" dirty="0"/>
              <a:t> - Adapter</a:t>
            </a:r>
          </a:p>
          <a:p>
            <a:r>
              <a:rPr lang="en-IN" sz="1200" b="1" dirty="0"/>
              <a:t>Getting started with Open shift in Microlise</a:t>
            </a:r>
          </a:p>
          <a:p>
            <a:r>
              <a:rPr lang="en-IN" sz="1200" dirty="0"/>
              <a:t> - Creation of repo</a:t>
            </a:r>
          </a:p>
          <a:p>
            <a:r>
              <a:rPr lang="en-IN" sz="1200" dirty="0"/>
              <a:t> - Create namespace in </a:t>
            </a:r>
            <a:r>
              <a:rPr lang="en-IN" sz="1200" dirty="0" err="1"/>
              <a:t>Gryphon.OpenShift.Projects</a:t>
            </a:r>
            <a:endParaRPr lang="en-IN" sz="1200" dirty="0"/>
          </a:p>
          <a:p>
            <a:r>
              <a:rPr lang="en-IN" sz="1200" dirty="0"/>
              <a:t> - Create entry in </a:t>
            </a:r>
            <a:r>
              <a:rPr lang="en-IN" sz="1200" dirty="0" err="1"/>
              <a:t>Gryphon.Quay.Config.registry</a:t>
            </a:r>
            <a:endParaRPr lang="en-IN" sz="1200" dirty="0"/>
          </a:p>
          <a:p>
            <a:r>
              <a:rPr lang="en-IN" sz="1200" dirty="0"/>
              <a:t> - Open shift UI etc.</a:t>
            </a:r>
          </a:p>
          <a:p>
            <a:r>
              <a:rPr lang="en-US" sz="1200" dirty="0"/>
              <a:t> - Check-in to deployment process</a:t>
            </a:r>
          </a:p>
          <a:p>
            <a:r>
              <a:rPr lang="en-US" sz="1200" dirty="0"/>
              <a:t> - Get Help and Contribution</a:t>
            </a:r>
            <a:endParaRPr lang="en-IN" sz="1200" dirty="0"/>
          </a:p>
        </p:txBody>
      </p:sp>
      <p:pic>
        <p:nvPicPr>
          <p:cNvPr id="1026" name="Picture 2" descr="Kubernetes 101- Concepts, Potential, and lots of Container Orchestrations |  HackerNoon">
            <a:extLst>
              <a:ext uri="{FF2B5EF4-FFF2-40B4-BE49-F238E27FC236}">
                <a16:creationId xmlns:a16="http://schemas.microsoft.com/office/drawing/2014/main" id="{AF4D5CDC-1113-F966-E22D-791F8E78F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189" y="1321460"/>
            <a:ext cx="8136884" cy="457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60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49FB-7DAB-F3D5-240A-C9583E04FE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96850"/>
            <a:ext cx="10515600" cy="1325563"/>
          </a:xfrm>
        </p:spPr>
        <p:txBody>
          <a:bodyPr/>
          <a:lstStyle/>
          <a:p>
            <a:r>
              <a:rPr lang="en-IN" dirty="0"/>
              <a:t>Upcoming sessions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F5ADF-5FFD-5F24-9969-31145A21B359}"/>
              </a:ext>
            </a:extLst>
          </p:cNvPr>
          <p:cNvSpPr txBox="1"/>
          <p:nvPr/>
        </p:nvSpPr>
        <p:spPr>
          <a:xfrm>
            <a:off x="-400661" y="1226001"/>
            <a:ext cx="41885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b="1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DD590-CB97-9605-C8B9-9C87698A3917}"/>
              </a:ext>
            </a:extLst>
          </p:cNvPr>
          <p:cNvSpPr/>
          <p:nvPr/>
        </p:nvSpPr>
        <p:spPr>
          <a:xfrm>
            <a:off x="117979" y="1515729"/>
            <a:ext cx="2831690" cy="23990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HELM CHART</a:t>
            </a:r>
          </a:p>
          <a:p>
            <a:r>
              <a:rPr lang="en-US" sz="1200" dirty="0"/>
              <a:t>  - Introduction to Helm and Kubernetes:</a:t>
            </a:r>
          </a:p>
          <a:p>
            <a:r>
              <a:rPr lang="en-US" sz="1200" dirty="0"/>
              <a:t>  - Helm Chart Structure</a:t>
            </a:r>
          </a:p>
          <a:p>
            <a:r>
              <a:rPr lang="en-US" sz="1200" dirty="0"/>
              <a:t>  - Values Files</a:t>
            </a:r>
          </a:p>
          <a:p>
            <a:r>
              <a:rPr lang="en-US" sz="1200" dirty="0"/>
              <a:t>  - Templates</a:t>
            </a:r>
          </a:p>
          <a:p>
            <a:r>
              <a:rPr lang="en-US" sz="1200" dirty="0"/>
              <a:t>  - Labels and Annotations</a:t>
            </a:r>
          </a:p>
          <a:p>
            <a:r>
              <a:rPr lang="en-US" sz="1200" dirty="0"/>
              <a:t>  - Dependencies and </a:t>
            </a:r>
            <a:r>
              <a:rPr lang="en-US" sz="1200" dirty="0" err="1"/>
              <a:t>Subcharts</a:t>
            </a:r>
            <a:endParaRPr lang="en-US" sz="1200" dirty="0"/>
          </a:p>
          <a:p>
            <a:r>
              <a:rPr lang="en-US" sz="1200" dirty="0"/>
              <a:t>  - Helm CLI Commands</a:t>
            </a:r>
          </a:p>
          <a:p>
            <a:r>
              <a:rPr lang="en-US" sz="1200" dirty="0"/>
              <a:t>  - Security</a:t>
            </a:r>
          </a:p>
          <a:p>
            <a:r>
              <a:rPr lang="en-US" sz="1200" dirty="0"/>
              <a:t>  - Hooks and Tests</a:t>
            </a:r>
          </a:p>
          <a:p>
            <a:r>
              <a:rPr lang="en-US" sz="1200" dirty="0"/>
              <a:t>  - Best Practices</a:t>
            </a:r>
            <a:endParaRPr lang="en-IN" sz="1200" dirty="0"/>
          </a:p>
          <a:p>
            <a:pPr algn="ctr"/>
            <a:endParaRPr lang="en-IN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3CBAA5-E953-B976-2B00-6C4329133D76}"/>
              </a:ext>
            </a:extLst>
          </p:cNvPr>
          <p:cNvSpPr/>
          <p:nvPr/>
        </p:nvSpPr>
        <p:spPr>
          <a:xfrm>
            <a:off x="6140290" y="1523027"/>
            <a:ext cx="2585882" cy="2399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Resource Quota Allocation</a:t>
            </a:r>
          </a:p>
          <a:p>
            <a:r>
              <a:rPr lang="en-IN" sz="1200" dirty="0"/>
              <a:t>  - Introduction to Resource Quotas</a:t>
            </a:r>
          </a:p>
          <a:p>
            <a:r>
              <a:rPr lang="en-IN" sz="1200" dirty="0"/>
              <a:t>  - Setting Resource Quotas</a:t>
            </a:r>
          </a:p>
          <a:p>
            <a:r>
              <a:rPr lang="en-IN" sz="1200" dirty="0"/>
              <a:t>  - Resource Requests and Limits</a:t>
            </a:r>
          </a:p>
          <a:p>
            <a:r>
              <a:rPr lang="en-IN" sz="1200" dirty="0"/>
              <a:t>  - Namespace Isolation</a:t>
            </a:r>
          </a:p>
          <a:p>
            <a:pPr algn="ctr"/>
            <a:endParaRPr lang="en-IN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95B1EE-4DAD-BE51-D674-945EFB7EBFB5}"/>
              </a:ext>
            </a:extLst>
          </p:cNvPr>
          <p:cNvSpPr/>
          <p:nvPr/>
        </p:nvSpPr>
        <p:spPr>
          <a:xfrm>
            <a:off x="8974463" y="1523027"/>
            <a:ext cx="3008672" cy="2399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Networking</a:t>
            </a:r>
          </a:p>
          <a:p>
            <a:r>
              <a:rPr lang="en-US" sz="1200" dirty="0"/>
              <a:t>  - Introduction to Kubernetes Networking</a:t>
            </a:r>
          </a:p>
          <a:p>
            <a:r>
              <a:rPr lang="en-US" sz="1200" dirty="0"/>
              <a:t>  - Cluster Networking</a:t>
            </a:r>
          </a:p>
          <a:p>
            <a:r>
              <a:rPr lang="en-US" sz="1200" dirty="0"/>
              <a:t>  - Network Policies</a:t>
            </a:r>
          </a:p>
          <a:p>
            <a:r>
              <a:rPr lang="en-US" sz="1200" dirty="0"/>
              <a:t>  - Service Types</a:t>
            </a:r>
          </a:p>
          <a:p>
            <a:r>
              <a:rPr lang="en-US" sz="1200" dirty="0"/>
              <a:t>  - Route</a:t>
            </a:r>
          </a:p>
          <a:p>
            <a:r>
              <a:rPr lang="en-US" sz="1200" dirty="0"/>
              <a:t>  - Container-to-Container Networking</a:t>
            </a:r>
          </a:p>
          <a:p>
            <a:r>
              <a:rPr lang="en-US" sz="1200" dirty="0"/>
              <a:t>  - Pod-to-Service Networking</a:t>
            </a:r>
          </a:p>
          <a:p>
            <a:r>
              <a:rPr lang="en-US" sz="1200" dirty="0"/>
              <a:t>  - External-to-Service Networking</a:t>
            </a:r>
          </a:p>
          <a:p>
            <a:pPr algn="ctr"/>
            <a:endParaRPr lang="en-IN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6FD584-EBC7-1EE2-662C-148586496431}"/>
              </a:ext>
            </a:extLst>
          </p:cNvPr>
          <p:cNvSpPr/>
          <p:nvPr/>
        </p:nvSpPr>
        <p:spPr>
          <a:xfrm>
            <a:off x="3197960" y="1517292"/>
            <a:ext cx="2694039" cy="2399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Deployment</a:t>
            </a:r>
          </a:p>
          <a:p>
            <a:r>
              <a:rPr lang="en-US" sz="1200" dirty="0"/>
              <a:t>  - Introduction to Deployments</a:t>
            </a:r>
          </a:p>
          <a:p>
            <a:r>
              <a:rPr lang="en-US" sz="1200" dirty="0"/>
              <a:t>  - Deployment Object Structure</a:t>
            </a:r>
          </a:p>
          <a:p>
            <a:r>
              <a:rPr lang="en-US" sz="1200" dirty="0"/>
              <a:t>  - Creating and Managing Deployments</a:t>
            </a:r>
          </a:p>
          <a:p>
            <a:r>
              <a:rPr lang="en-US" sz="1200" dirty="0"/>
              <a:t>  - </a:t>
            </a:r>
            <a:r>
              <a:rPr lang="en-US" sz="1200" dirty="0" err="1"/>
              <a:t>ReplicaSets</a:t>
            </a:r>
            <a:endParaRPr lang="en-US" sz="1200" dirty="0"/>
          </a:p>
          <a:p>
            <a:r>
              <a:rPr lang="en-US" sz="1200" dirty="0"/>
              <a:t>  - Rolling Updates and Rollbacks</a:t>
            </a:r>
          </a:p>
          <a:p>
            <a:r>
              <a:rPr lang="en-US" sz="1200" dirty="0"/>
              <a:t>  - Scaling Applications</a:t>
            </a:r>
          </a:p>
          <a:p>
            <a:r>
              <a:rPr lang="en-US" sz="1200" dirty="0"/>
              <a:t>  - Deployment Strategies</a:t>
            </a:r>
          </a:p>
          <a:p>
            <a:pPr algn="ctr"/>
            <a:endParaRPr lang="en-IN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7C2198-3E90-E193-97FF-EF0329D36107}"/>
              </a:ext>
            </a:extLst>
          </p:cNvPr>
          <p:cNvSpPr/>
          <p:nvPr/>
        </p:nvSpPr>
        <p:spPr>
          <a:xfrm>
            <a:off x="1779660" y="4145397"/>
            <a:ext cx="4112339" cy="21975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Volume</a:t>
            </a:r>
          </a:p>
          <a:p>
            <a:r>
              <a:rPr lang="en-IN" sz="1200" dirty="0"/>
              <a:t>  - Introduction to Kubernetes Volumes</a:t>
            </a:r>
          </a:p>
          <a:p>
            <a:r>
              <a:rPr lang="en-IN" sz="1200" dirty="0"/>
              <a:t>  - Volume Types</a:t>
            </a:r>
          </a:p>
          <a:p>
            <a:r>
              <a:rPr lang="en-IN" sz="1200" dirty="0"/>
              <a:t>  - Persistent Volumes (PV) and Persistent Volume Claims (PVC)</a:t>
            </a:r>
          </a:p>
          <a:p>
            <a:r>
              <a:rPr lang="en-IN" sz="1200" dirty="0"/>
              <a:t>  - Storage Classes</a:t>
            </a:r>
          </a:p>
          <a:p>
            <a:r>
              <a:rPr lang="en-IN" sz="1200" dirty="0"/>
              <a:t>  - </a:t>
            </a:r>
            <a:r>
              <a:rPr lang="en-IN" sz="1200" dirty="0" err="1"/>
              <a:t>VolumeMounts</a:t>
            </a:r>
            <a:endParaRPr lang="en-IN" sz="1200" dirty="0"/>
          </a:p>
          <a:p>
            <a:r>
              <a:rPr lang="en-IN" sz="1200" dirty="0"/>
              <a:t>  - Data Persistence and Sharing</a:t>
            </a:r>
          </a:p>
          <a:p>
            <a:r>
              <a:rPr lang="en-IN" sz="1200" dirty="0"/>
              <a:t>  - Configuring Volumes in Pod Specifications</a:t>
            </a:r>
          </a:p>
          <a:p>
            <a:r>
              <a:rPr lang="en-IN" sz="1200" dirty="0"/>
              <a:t>  - Security Considerations</a:t>
            </a:r>
          </a:p>
          <a:p>
            <a:pPr algn="ctr"/>
            <a:endParaRPr lang="en-IN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AD005A-7578-DF91-BAAA-7B91F4A64BEA}"/>
              </a:ext>
            </a:extLst>
          </p:cNvPr>
          <p:cNvSpPr/>
          <p:nvPr/>
        </p:nvSpPr>
        <p:spPr>
          <a:xfrm>
            <a:off x="6570424" y="4148905"/>
            <a:ext cx="2585882" cy="21975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Issue investigation</a:t>
            </a:r>
          </a:p>
          <a:p>
            <a:r>
              <a:rPr lang="en-US" sz="1200" dirty="0"/>
              <a:t>  - Deployment issue</a:t>
            </a:r>
          </a:p>
          <a:p>
            <a:r>
              <a:rPr lang="en-US" sz="1200" dirty="0"/>
              <a:t>  - Resources quota issue etc.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659571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92BB618F-20D8-D500-F22F-6DC91B9B3D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alphaModFix amt="40000"/>
          </a:blip>
          <a:srcRect b="174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62A728-15BF-FB7A-792A-E7371AA6CF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965200"/>
            <a:ext cx="10261600" cy="3565525"/>
          </a:xfrm>
        </p:spPr>
        <p:txBody>
          <a:bodyPr vert="horz" lIns="121920" tIns="60960" rIns="121920" bIns="60960" rtlCol="0" anchor="b">
            <a:normAutofit/>
          </a:bodyPr>
          <a:lstStyle/>
          <a:p>
            <a:r>
              <a:rPr lang="en-US" sz="11466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Architecture of Kubernetes</a:t>
            </a:r>
          </a:p>
        </p:txBody>
      </p:sp>
    </p:spTree>
    <p:extLst>
      <p:ext uri="{BB962C8B-B14F-4D97-AF65-F5344CB8AC3E}">
        <p14:creationId xmlns:p14="http://schemas.microsoft.com/office/powerpoint/2010/main" val="2597028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A453F-E082-6AEE-C301-955AC952F11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79200" y="6176963"/>
            <a:ext cx="812800" cy="365125"/>
          </a:xfrm>
        </p:spPr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-GB" kern="0">
                <a:solidFill>
                  <a:srgbClr val="151D24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5</a:t>
            </a:fld>
            <a:endParaRPr lang="en-GB" kern="0">
              <a:solidFill>
                <a:srgbClr val="151D24"/>
              </a:solidFill>
              <a:cs typeface="Arial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676EBE-DB31-D756-E8FE-F1FE4CDB5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6" y="0"/>
            <a:ext cx="108452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253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64CBB-549C-7A7E-6B3D-45598B5A12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46050"/>
            <a:ext cx="10515600" cy="1325563"/>
          </a:xfrm>
        </p:spPr>
        <p:txBody>
          <a:bodyPr/>
          <a:lstStyle/>
          <a:p>
            <a:r>
              <a:rPr lang="en-IN" dirty="0"/>
              <a:t>Control Plane Components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A453F-E082-6AEE-C301-955AC952F11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79200" y="6176963"/>
            <a:ext cx="812800" cy="365125"/>
          </a:xfrm>
        </p:spPr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-GB" kern="0">
                <a:solidFill>
                  <a:srgbClr val="151D24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6</a:t>
            </a:fld>
            <a:endParaRPr lang="en-GB" kern="0">
              <a:solidFill>
                <a:srgbClr val="151D24"/>
              </a:solidFill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629A80-80B3-E7BC-BB6E-32689695BB6F}"/>
              </a:ext>
            </a:extLst>
          </p:cNvPr>
          <p:cNvSpPr txBox="1"/>
          <p:nvPr/>
        </p:nvSpPr>
        <p:spPr>
          <a:xfrm>
            <a:off x="0" y="1835680"/>
            <a:ext cx="881953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1400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kube-apiserver</a:t>
            </a:r>
            <a:endParaRPr lang="en-IN" sz="14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- Provide REST interface.</a:t>
            </a:r>
          </a:p>
          <a:p>
            <a:pPr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- Strictly all client communicate via API server.</a:t>
            </a:r>
          </a:p>
          <a:p>
            <a:pPr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- Act as gatekeeper to handle authentication, request validation etc.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IN" sz="14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1400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Etcd</a:t>
            </a:r>
            <a:endParaRPr lang="en-IN" sz="14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lvl="1"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- Act as cluster data store.</a:t>
            </a:r>
          </a:p>
          <a:p>
            <a:pPr marL="0" lvl="1"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- key-value store for persisting cluster state.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IN" sz="14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1400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kube</a:t>
            </a:r>
            <a:r>
              <a:rPr lang="en-IN" sz="1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-controller-manager</a:t>
            </a:r>
          </a:p>
          <a:p>
            <a:pPr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- Steers the cluster towards the desire state</a:t>
            </a:r>
          </a:p>
          <a:p>
            <a:pPr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- Node controller, Replication controller, endpoint controller, Service account and token controller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IN" sz="14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1400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kube</a:t>
            </a:r>
            <a:r>
              <a:rPr lang="en-IN" sz="1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-scheduler</a:t>
            </a:r>
          </a:p>
          <a:p>
            <a:pPr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- Assigning node for newly created pod</a:t>
            </a:r>
          </a:p>
          <a:p>
            <a:pPr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- Scheduling decision: resources required, constraints etc.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IN" sz="14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1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cloud-controller-manager</a:t>
            </a:r>
          </a:p>
          <a:p>
            <a:pPr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-  Node, Route, Service, Volume Controllers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F36A15-6540-E7CB-5671-3E30E6DD4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659" y="1185140"/>
            <a:ext cx="3472941" cy="463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20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64CBB-549C-7A7E-6B3D-45598B5A12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6713"/>
            <a:ext cx="10515600" cy="1323975"/>
          </a:xfrm>
        </p:spPr>
        <p:txBody>
          <a:bodyPr/>
          <a:lstStyle/>
          <a:p>
            <a:r>
              <a:rPr lang="en-US" dirty="0"/>
              <a:t>NODE Components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A453F-E082-6AEE-C301-955AC952F11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79200" y="6176963"/>
            <a:ext cx="812800" cy="365125"/>
          </a:xfrm>
        </p:spPr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-GB" kern="0">
                <a:solidFill>
                  <a:srgbClr val="151D24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7</a:t>
            </a:fld>
            <a:endParaRPr lang="en-GB" kern="0">
              <a:solidFill>
                <a:srgbClr val="151D24"/>
              </a:solidFill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75BC9-A776-F07A-D447-5F79226BD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588" y="1691218"/>
            <a:ext cx="3373412" cy="42370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33C7E0-9A93-68C5-4719-B74ADB069245}"/>
              </a:ext>
            </a:extLst>
          </p:cNvPr>
          <p:cNvSpPr txBox="1"/>
          <p:nvPr/>
        </p:nvSpPr>
        <p:spPr>
          <a:xfrm>
            <a:off x="0" y="2263238"/>
            <a:ext cx="88316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1400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Kubelet</a:t>
            </a:r>
            <a:endParaRPr lang="en-IN" sz="14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lvl="4"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- </a:t>
            </a:r>
            <a:r>
              <a:rPr 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An agent that runs on each node in the cluster. It makes sure that containers are running in a pod.</a:t>
            </a:r>
          </a:p>
          <a:p>
            <a:pPr marL="0" lvl="4" defTabSz="1219170">
              <a:buClr>
                <a:srgbClr val="000000"/>
              </a:buClr>
            </a:pPr>
            <a:r>
              <a:rPr 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- The </a:t>
            </a:r>
            <a:r>
              <a:rPr lang="en-US" sz="14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kubelet</a:t>
            </a:r>
            <a:r>
              <a:rPr 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takes a set of </a:t>
            </a:r>
            <a:r>
              <a:rPr lang="en-US" sz="14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PodSpecs</a:t>
            </a:r>
            <a:r>
              <a:rPr 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that are provided through various mechanisms and ensures that the    containers described in those </a:t>
            </a:r>
            <a:r>
              <a:rPr lang="en-US" sz="14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PodSpecs</a:t>
            </a:r>
            <a:r>
              <a:rPr 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are running and healthy.</a:t>
            </a:r>
          </a:p>
          <a:p>
            <a:pPr marL="0" lvl="4" defTabSz="1219170">
              <a:buClr>
                <a:srgbClr val="000000"/>
              </a:buClr>
            </a:pPr>
            <a:endParaRPr lang="en-IN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1400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kube</a:t>
            </a:r>
            <a:r>
              <a:rPr lang="en-IN" sz="1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-proxy</a:t>
            </a:r>
          </a:p>
          <a:p>
            <a:pPr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- </a:t>
            </a:r>
            <a:r>
              <a:rPr 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Manages the network rules on each node.</a:t>
            </a:r>
          </a:p>
          <a:p>
            <a:pPr defTabSz="1219170">
              <a:buClr>
                <a:srgbClr val="000000"/>
              </a:buClr>
            </a:pPr>
            <a:r>
              <a:rPr 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- Performs connection forwarding or load balancing for Kubernetes cluster services.</a:t>
            </a:r>
          </a:p>
          <a:p>
            <a:pPr defTabSz="1219170">
              <a:buClr>
                <a:srgbClr val="000000"/>
              </a:buClr>
            </a:pPr>
            <a:endParaRPr lang="en-IN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1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Container Runtime Engine</a:t>
            </a:r>
          </a:p>
          <a:p>
            <a:pPr defTabSz="1219170">
              <a:buClr>
                <a:srgbClr val="000000"/>
              </a:buClr>
            </a:pP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- </a:t>
            </a:r>
            <a:r>
              <a:rPr 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 container runtime is a CRI (Container Runtime Interface) compatible application that executes and manages containers.</a:t>
            </a: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IN" sz="14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Containerd</a:t>
            </a:r>
            <a:r>
              <a:rPr lang="en-IN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(docker), Cri-o, </a:t>
            </a:r>
            <a:r>
              <a:rPr lang="en-IN" sz="14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Rkt</a:t>
            </a:r>
            <a:endParaRPr lang="en-IN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3475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D2B4-5789-9AEB-1105-342B84DF75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6713"/>
            <a:ext cx="10515600" cy="1323975"/>
          </a:xfrm>
        </p:spPr>
        <p:txBody>
          <a:bodyPr/>
          <a:lstStyle/>
          <a:p>
            <a:r>
              <a:rPr lang="en-IN" dirty="0"/>
              <a:t>Developer Use Case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509D17-E2C7-1B81-DDE0-99AA5307182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79200" y="6176963"/>
            <a:ext cx="8128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B864D2-BA65-438B-4433-DC82B0E9FF00}"/>
              </a:ext>
            </a:extLst>
          </p:cNvPr>
          <p:cNvSpPr/>
          <p:nvPr/>
        </p:nvSpPr>
        <p:spPr>
          <a:xfrm>
            <a:off x="1750142" y="2300749"/>
            <a:ext cx="3598591" cy="1425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Ensure Config/secrets are working properly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6DB061-3F8D-3FA3-D44B-4CE683A9F6B8}"/>
              </a:ext>
            </a:extLst>
          </p:cNvPr>
          <p:cNvSpPr/>
          <p:nvPr/>
        </p:nvSpPr>
        <p:spPr>
          <a:xfrm>
            <a:off x="5970430" y="2300067"/>
            <a:ext cx="3935935" cy="1426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Performance testing scenarios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5A2F75-326F-1BB5-0B0A-DB16EFCFD406}"/>
              </a:ext>
            </a:extLst>
          </p:cNvPr>
          <p:cNvCxnSpPr>
            <a:cxnSpLocks/>
          </p:cNvCxnSpPr>
          <p:nvPr/>
        </p:nvCxnSpPr>
        <p:spPr>
          <a:xfrm>
            <a:off x="5659581" y="2182762"/>
            <a:ext cx="0" cy="3411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09B649-B768-647F-024E-A7A887B9467D}"/>
              </a:ext>
            </a:extLst>
          </p:cNvPr>
          <p:cNvCxnSpPr>
            <a:cxnSpLocks/>
          </p:cNvCxnSpPr>
          <p:nvPr/>
        </p:nvCxnSpPr>
        <p:spPr>
          <a:xfrm>
            <a:off x="1750142" y="3888658"/>
            <a:ext cx="8288593" cy="27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B48ECB-D3EF-0E69-C250-08B686167143}"/>
              </a:ext>
            </a:extLst>
          </p:cNvPr>
          <p:cNvSpPr/>
          <p:nvPr/>
        </p:nvSpPr>
        <p:spPr>
          <a:xfrm>
            <a:off x="1750142" y="4041059"/>
            <a:ext cx="3598591" cy="1425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Ensure Application scales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112904-EFD0-3A6D-8DAF-3597B1EC6A32}"/>
              </a:ext>
            </a:extLst>
          </p:cNvPr>
          <p:cNvSpPr/>
          <p:nvPr/>
        </p:nvSpPr>
        <p:spPr>
          <a:xfrm>
            <a:off x="5970430" y="4084621"/>
            <a:ext cx="3935935" cy="1426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Workload scenarios CI/CD</a:t>
            </a:r>
          </a:p>
        </p:txBody>
      </p:sp>
    </p:spTree>
    <p:extLst>
      <p:ext uri="{BB962C8B-B14F-4D97-AF65-F5344CB8AC3E}">
        <p14:creationId xmlns:p14="http://schemas.microsoft.com/office/powerpoint/2010/main" val="336269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92BB618F-20D8-D500-F22F-6DC91B9B3D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alphaModFix amt="40000"/>
          </a:blip>
          <a:srcRect b="174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62A728-15BF-FB7A-792A-E7371AA6CF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965200"/>
            <a:ext cx="10261600" cy="3565525"/>
          </a:xfrm>
        </p:spPr>
        <p:txBody>
          <a:bodyPr vert="horz" lIns="121920" tIns="60960" rIns="121920" bIns="60960" rtlCol="0" anchor="b">
            <a:normAutofit/>
          </a:bodyPr>
          <a:lstStyle/>
          <a:p>
            <a:br>
              <a:rPr lang="en-US" sz="6267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</a:br>
            <a:br>
              <a:rPr lang="en-US" sz="6267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</a:br>
            <a:r>
              <a:rPr lang="en-US" sz="6267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CORE OBJECTS AND APIS</a:t>
            </a:r>
          </a:p>
        </p:txBody>
      </p:sp>
    </p:spTree>
    <p:extLst>
      <p:ext uri="{BB962C8B-B14F-4D97-AF65-F5344CB8AC3E}">
        <p14:creationId xmlns:p14="http://schemas.microsoft.com/office/powerpoint/2010/main" val="3184590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E6CD5-5DE4-5E8B-3122-25E0ACF57C5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dirty="0"/>
              <a:t>           Core objects and APIs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3B7EC8-449E-34F4-AF43-52821BB7556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15AF9-FF1B-763A-A233-74B444E354CF}"/>
              </a:ext>
            </a:extLst>
          </p:cNvPr>
          <p:cNvSpPr txBox="1"/>
          <p:nvPr/>
        </p:nvSpPr>
        <p:spPr>
          <a:xfrm>
            <a:off x="519768" y="2076957"/>
            <a:ext cx="673643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Namespaces</a:t>
            </a:r>
          </a:p>
          <a:p>
            <a:r>
              <a:rPr lang="en-IN" sz="2400" dirty="0"/>
              <a:t>      - </a:t>
            </a:r>
            <a:r>
              <a:rPr lang="en-US" sz="2400" dirty="0"/>
              <a:t>Namespaces are a logical cluster or environment and are the primary method of partitioning a cluster or scoping access.</a:t>
            </a:r>
            <a:endParaRPr lang="en-IN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Pods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Labels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Selectors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Services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27CB6-DE90-0D74-AFE5-A05444E80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249" y="2758176"/>
            <a:ext cx="3871296" cy="26215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A15BA2-6043-0263-C541-55FF0F871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47" y="556700"/>
            <a:ext cx="1191297" cy="94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32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6AFE-1D61-FFFC-B1B9-35D37F687A7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          PODs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9F438-DD96-AF50-9D85-30131FC0B87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459268-3408-8730-CDD6-9D229A300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638" y="1946025"/>
            <a:ext cx="3497362" cy="41549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A99E70-57B3-0E1E-0110-22518FE42E4F}"/>
              </a:ext>
            </a:extLst>
          </p:cNvPr>
          <p:cNvSpPr txBox="1"/>
          <p:nvPr/>
        </p:nvSpPr>
        <p:spPr>
          <a:xfrm>
            <a:off x="586339" y="1946026"/>
            <a:ext cx="82233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Atomic unit or smallest “unit of work” of Kubernetes.</a:t>
            </a:r>
          </a:p>
          <a:p>
            <a:endParaRPr lang="en-IN" sz="2400" dirty="0"/>
          </a:p>
          <a:p>
            <a:r>
              <a:rPr lang="en-IN" sz="2400" dirty="0"/>
              <a:t>Pods are one or MORE containers that share volumes and namespace.</a:t>
            </a:r>
          </a:p>
          <a:p>
            <a:endParaRPr lang="en-IN" sz="2400" dirty="0"/>
          </a:p>
          <a:p>
            <a:r>
              <a:rPr lang="en-IN" sz="2400" dirty="0"/>
              <a:t>They are also ephemeral!</a:t>
            </a:r>
          </a:p>
          <a:p>
            <a:endParaRPr lang="en-IN" sz="2400" dirty="0"/>
          </a:p>
          <a:p>
            <a:r>
              <a:rPr lang="en-US" sz="2400" dirty="0"/>
              <a:t>Pod containers share the same network namespace (Share IP)</a:t>
            </a:r>
          </a:p>
          <a:p>
            <a:endParaRPr lang="en-US" sz="2400" dirty="0"/>
          </a:p>
          <a:p>
            <a:r>
              <a:rPr lang="en-US" sz="2400" dirty="0"/>
              <a:t>Container processes need to bind to different ports within a pod</a:t>
            </a:r>
            <a:endParaRPr lang="en-IN" sz="2400" dirty="0"/>
          </a:p>
        </p:txBody>
      </p:sp>
      <p:pic>
        <p:nvPicPr>
          <p:cNvPr id="1026" name="Picture 2" descr="Structurizr - Help - Theme browser">
            <a:extLst>
              <a:ext uri="{FF2B5EF4-FFF2-40B4-BE49-F238E27FC236}">
                <a16:creationId xmlns:a16="http://schemas.microsoft.com/office/drawing/2014/main" id="{95FA6046-543E-9414-4E82-055AA1CF3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231" y="454444"/>
            <a:ext cx="1032387" cy="103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572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4ABB-2EDD-EC3B-119C-D18CAD52FE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sz="4400" dirty="0"/>
              <a:t>           Key Pod Container Attributes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7DDF23-1A40-EAEA-AC22-FA4096AFF55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BA4CB-9B03-2AB5-28CC-F9226B855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481" y="723905"/>
            <a:ext cx="2855208" cy="26519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8BBFAA-F656-4544-1701-3BA24C90821B}"/>
              </a:ext>
            </a:extLst>
          </p:cNvPr>
          <p:cNvSpPr txBox="1"/>
          <p:nvPr/>
        </p:nvSpPr>
        <p:spPr>
          <a:xfrm>
            <a:off x="682645" y="2330090"/>
            <a:ext cx="82942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name - The name of the container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image - The container image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ports - array of ports to expose. Can be granted a friendly name and protocol may be specified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env - array of environment variables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command - </a:t>
            </a:r>
            <a:r>
              <a:rPr lang="en-IN" sz="2400" dirty="0" err="1"/>
              <a:t>Entrypoint</a:t>
            </a:r>
            <a:r>
              <a:rPr lang="en-IN" sz="2400" dirty="0"/>
              <a:t> array (</a:t>
            </a:r>
            <a:r>
              <a:rPr lang="en-IN" sz="2400" dirty="0" err="1"/>
              <a:t>equiv</a:t>
            </a:r>
            <a:r>
              <a:rPr lang="en-IN" sz="2400" dirty="0"/>
              <a:t> to Docker ENTRYPOINT)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 err="1"/>
              <a:t>args</a:t>
            </a:r>
            <a:r>
              <a:rPr lang="en-IN" sz="2400" dirty="0"/>
              <a:t> - Arguments to pass to the command (</a:t>
            </a:r>
            <a:r>
              <a:rPr lang="en-IN" sz="2400" dirty="0" err="1"/>
              <a:t>equiv</a:t>
            </a:r>
            <a:r>
              <a:rPr lang="en-IN" sz="2400" dirty="0"/>
              <a:t> to Docker CMD)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CB3D03-A051-A944-9A45-E826FB50D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985" y="3422928"/>
            <a:ext cx="2855209" cy="2844393"/>
          </a:xfrm>
          <a:prstGeom prst="rect">
            <a:avLst/>
          </a:prstGeom>
        </p:spPr>
      </p:pic>
      <p:pic>
        <p:nvPicPr>
          <p:cNvPr id="2050" name="Picture 2" descr="Container - Free transport icons">
            <a:extLst>
              <a:ext uri="{FF2B5EF4-FFF2-40B4-BE49-F238E27FC236}">
                <a16:creationId xmlns:a16="http://schemas.microsoft.com/office/drawing/2014/main" id="{51823511-3E7E-D070-E242-99C21BEA5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96" y="157751"/>
            <a:ext cx="1740310" cy="174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558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8ED1-8E2C-AD4F-8EF9-CABB42C41E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dirty="0"/>
              <a:t>    Labels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C0B06F-C865-2511-C571-50C3A6076C5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C3276-335B-013D-A25D-D6C67383C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015" y="1028700"/>
            <a:ext cx="3718883" cy="49280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8D768A-2002-EDDA-7087-A2153B9043AC}"/>
              </a:ext>
            </a:extLst>
          </p:cNvPr>
          <p:cNvSpPr txBox="1"/>
          <p:nvPr/>
        </p:nvSpPr>
        <p:spPr>
          <a:xfrm>
            <a:off x="629264" y="2167854"/>
            <a:ext cx="66761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key-value pairs that are used to identify, describe and group together related sets of objects or resources.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NOT characteristic of uniqueness.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Have a strict syntax with a slightly limited character set*.</a:t>
            </a:r>
          </a:p>
          <a:p>
            <a:endParaRPr lang="en-IN" sz="2400" dirty="0"/>
          </a:p>
          <a:p>
            <a:r>
              <a:rPr lang="en-IN" sz="2400" dirty="0"/>
              <a:t>* https://kubernetes.io/docs/concepts/overview/working-with-objects/labels/#syntax-and-character-set</a:t>
            </a:r>
          </a:p>
        </p:txBody>
      </p:sp>
      <p:pic>
        <p:nvPicPr>
          <p:cNvPr id="3076" name="Picture 4" descr="Labels - Free commerce and shopping icons">
            <a:extLst>
              <a:ext uri="{FF2B5EF4-FFF2-40B4-BE49-F238E27FC236}">
                <a16:creationId xmlns:a16="http://schemas.microsoft.com/office/drawing/2014/main" id="{AF825BF4-DEF2-2357-BD09-CF197F930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29" y="372323"/>
            <a:ext cx="1064342" cy="106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600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A2EBC-918D-33BD-0C91-48E8EDD6525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4938"/>
            <a:ext cx="10515600" cy="1325562"/>
          </a:xfrm>
        </p:spPr>
        <p:txBody>
          <a:bodyPr/>
          <a:lstStyle/>
          <a:p>
            <a:r>
              <a:rPr lang="en-IN" dirty="0"/>
              <a:t>               Selector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74780B-27A1-D2A7-023D-00F43D73833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89414-8408-5C93-1198-0C8AAC94167D}"/>
              </a:ext>
            </a:extLst>
          </p:cNvPr>
          <p:cNvSpPr txBox="1"/>
          <p:nvPr/>
        </p:nvSpPr>
        <p:spPr>
          <a:xfrm>
            <a:off x="500103" y="1691218"/>
            <a:ext cx="1066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Selectors use labels to filter or select objects, and are used throughout Kubernetes.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4FD2CF-D566-9548-4516-C4824AFAB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04" y="2101587"/>
            <a:ext cx="9315745" cy="3874037"/>
          </a:xfrm>
          <a:prstGeom prst="rect">
            <a:avLst/>
          </a:prstGeom>
        </p:spPr>
      </p:pic>
      <p:pic>
        <p:nvPicPr>
          <p:cNvPr id="4098" name="Picture 2" descr="Select - Free computer icons">
            <a:extLst>
              <a:ext uri="{FF2B5EF4-FFF2-40B4-BE49-F238E27FC236}">
                <a16:creationId xmlns:a16="http://schemas.microsoft.com/office/drawing/2014/main" id="{6362F011-7FC9-7706-A172-65A42141B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2" y="247091"/>
            <a:ext cx="1101221" cy="110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469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EA17D-0739-05DE-C4F8-1402D6CA9C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6525"/>
            <a:ext cx="10515600" cy="1325563"/>
          </a:xfrm>
        </p:spPr>
        <p:txBody>
          <a:bodyPr/>
          <a:lstStyle/>
          <a:p>
            <a:r>
              <a:rPr lang="en-IN" dirty="0"/>
              <a:t>Selector Type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15267A-1E7E-56D4-14C6-171AF2427C3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0F0C96-AF95-9CD8-708C-118700034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03" y="1396772"/>
            <a:ext cx="10085285" cy="462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52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64CBB-549C-7A7E-6B3D-45598B5A12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            SERVICES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A453F-E082-6AEE-C301-955AC952F11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CA287-AF58-E134-C9BE-1710A72D5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699" y="379129"/>
            <a:ext cx="5427245" cy="47044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A254AE-CEFA-F97E-73C2-33D36CE6AD55}"/>
              </a:ext>
            </a:extLst>
          </p:cNvPr>
          <p:cNvSpPr txBox="1"/>
          <p:nvPr/>
        </p:nvSpPr>
        <p:spPr>
          <a:xfrm>
            <a:off x="580103" y="186959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Wingdings" panose="05000000000000000000" pitchFamily="2" charset="2"/>
              <a:buChar char="ü"/>
            </a:pPr>
            <a:r>
              <a:rPr lang="en-IN" sz="1200" dirty="0"/>
              <a:t>Unified method of accessing: the exposed workloads of Pods.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en-IN" sz="1200" dirty="0"/>
              <a:t>Durable resource</a:t>
            </a:r>
          </a:p>
          <a:p>
            <a:r>
              <a:rPr lang="en-IN" sz="1200" dirty="0"/>
              <a:t>          static cluster IP </a:t>
            </a:r>
          </a:p>
          <a:p>
            <a:r>
              <a:rPr lang="en-IN" sz="1200" dirty="0"/>
              <a:t>          static </a:t>
            </a:r>
            <a:r>
              <a:rPr lang="en-IN" sz="1200" dirty="0" err="1"/>
              <a:t>namespaced</a:t>
            </a:r>
            <a:r>
              <a:rPr lang="en-IN" sz="1200" dirty="0"/>
              <a:t> DNS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8C8EC-A8B1-75B4-CD00-0B8E51BED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197" y="3588831"/>
            <a:ext cx="2842145" cy="3136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9C41BF-E2CE-A06B-551C-9744A23BE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276" y="3573051"/>
            <a:ext cx="2974904" cy="3047023"/>
          </a:xfrm>
          <a:prstGeom prst="rect">
            <a:avLst/>
          </a:prstGeom>
        </p:spPr>
      </p:pic>
      <p:pic>
        <p:nvPicPr>
          <p:cNvPr id="5140" name="Picture 20" descr="Service Generic Gradient icon">
            <a:extLst>
              <a:ext uri="{FF2B5EF4-FFF2-40B4-BE49-F238E27FC236}">
                <a16:creationId xmlns:a16="http://schemas.microsoft.com/office/drawing/2014/main" id="{7218A78C-52C9-67EF-F98C-505CBB3C1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82" y="365125"/>
            <a:ext cx="1199535" cy="1199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8754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92BB618F-20D8-D500-F22F-6DC91B9B3D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alphaModFix amt="40000"/>
          </a:blip>
          <a:srcRect b="174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62A728-15BF-FB7A-792A-E7371AA6CF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965200"/>
            <a:ext cx="10261600" cy="3565525"/>
          </a:xfrm>
        </p:spPr>
        <p:txBody>
          <a:bodyPr vert="horz" lIns="121920" tIns="60960" rIns="121920" bIns="60960" rtlCol="0" anchor="b">
            <a:normAutofit/>
          </a:bodyPr>
          <a:lstStyle/>
          <a:p>
            <a:r>
              <a:rPr lang="en-US" sz="11466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Configuration</a:t>
            </a:r>
          </a:p>
        </p:txBody>
      </p:sp>
    </p:spTree>
    <p:extLst>
      <p:ext uri="{BB962C8B-B14F-4D97-AF65-F5344CB8AC3E}">
        <p14:creationId xmlns:p14="http://schemas.microsoft.com/office/powerpoint/2010/main" val="3262110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8F48-5B16-F58B-6F79-F18C8EEA8A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7538" y="0"/>
            <a:ext cx="11574462" cy="1325563"/>
          </a:xfrm>
        </p:spPr>
        <p:txBody>
          <a:bodyPr/>
          <a:lstStyle/>
          <a:p>
            <a:r>
              <a:rPr lang="en-IN" dirty="0"/>
              <a:t>Configuration: </a:t>
            </a:r>
            <a:r>
              <a:rPr lang="en-US" dirty="0"/>
              <a:t>Config Maps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316C79-BE47-47A5-472B-07AB4977BA7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DB8FF7-DF66-6A83-2DAD-44B78BBABE23}"/>
              </a:ext>
            </a:extLst>
          </p:cNvPr>
          <p:cNvSpPr txBox="1"/>
          <p:nvPr/>
        </p:nvSpPr>
        <p:spPr>
          <a:xfrm>
            <a:off x="587477" y="1206610"/>
            <a:ext cx="1076632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Config maps provide a way to store configuration information and provide it to containers.</a:t>
            </a:r>
          </a:p>
          <a:p>
            <a:endParaRPr lang="en-US" sz="2400" dirty="0"/>
          </a:p>
          <a:p>
            <a:r>
              <a:rPr lang="en-US" sz="2400" dirty="0"/>
              <a:t>Kubernetes has an integrated pattern for decoupling configuration from application or container.</a:t>
            </a:r>
          </a:p>
          <a:p>
            <a:endParaRPr lang="en-US" sz="2400" dirty="0"/>
          </a:p>
          <a:p>
            <a:r>
              <a:rPr lang="en-US" sz="2400" dirty="0"/>
              <a:t>This pattern makes use of two Kubernetes components: </a:t>
            </a:r>
            <a:r>
              <a:rPr lang="en-US" sz="2400" b="1" dirty="0" err="1"/>
              <a:t>ConfigMaps</a:t>
            </a:r>
            <a:r>
              <a:rPr lang="en-US" sz="2400" dirty="0"/>
              <a:t> and </a:t>
            </a:r>
            <a:r>
              <a:rPr lang="en-US" sz="2400" b="1" dirty="0"/>
              <a:t>Secrets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24AFD-752C-F76D-F060-35AD34C42122}"/>
              </a:ext>
            </a:extLst>
          </p:cNvPr>
          <p:cNvSpPr txBox="1"/>
          <p:nvPr/>
        </p:nvSpPr>
        <p:spPr>
          <a:xfrm>
            <a:off x="1494505" y="3765843"/>
            <a:ext cx="569287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ConfigMaps</a:t>
            </a:r>
            <a:endParaRPr lang="en-IN" sz="20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/>
              <a:t>Externalized data stored within Kubernetes.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/>
              <a:t>Can be referenced through several different means:</a:t>
            </a:r>
          </a:p>
          <a:p>
            <a:r>
              <a:rPr lang="en-IN" sz="2000" dirty="0"/>
              <a:t>	environment variable</a:t>
            </a:r>
          </a:p>
          <a:p>
            <a:r>
              <a:rPr lang="en-IN" sz="2000" dirty="0"/>
              <a:t>	a command line argument (via env var)</a:t>
            </a:r>
          </a:p>
          <a:p>
            <a:r>
              <a:rPr lang="en-IN" sz="2000" dirty="0"/>
              <a:t>	injected as a file into a volume mount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/>
              <a:t>Can be created from a manifest, literals, directories, or files directly.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492406-3E33-FC10-77C3-A578310DD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185" y="4000930"/>
            <a:ext cx="2892205" cy="272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072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8F48-5B16-F58B-6F79-F18C8EEA8A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7538" y="366713"/>
            <a:ext cx="11574462" cy="1323975"/>
          </a:xfrm>
        </p:spPr>
        <p:txBody>
          <a:bodyPr/>
          <a:lstStyle/>
          <a:p>
            <a:r>
              <a:rPr lang="en-IN" dirty="0"/>
              <a:t>Configuration: </a:t>
            </a:r>
            <a:r>
              <a:rPr lang="en-US" dirty="0"/>
              <a:t>Secret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316C79-BE47-47A5-472B-07AB4977BA7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DB8FF7-DF66-6A83-2DAD-44B78BBABE23}"/>
              </a:ext>
            </a:extLst>
          </p:cNvPr>
          <p:cNvSpPr txBox="1"/>
          <p:nvPr/>
        </p:nvSpPr>
        <p:spPr>
          <a:xfrm>
            <a:off x="117988" y="1762319"/>
            <a:ext cx="905550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Functionally identical to a </a:t>
            </a:r>
            <a:r>
              <a:rPr lang="en-US" sz="2000" dirty="0" err="1"/>
              <a:t>ConfigMap</a:t>
            </a:r>
            <a:r>
              <a:rPr lang="en-US" sz="2000" dirty="0"/>
              <a:t>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Stored as base64 encoded content.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Encrypted at rest within </a:t>
            </a:r>
            <a:r>
              <a:rPr lang="en-US" sz="2000" dirty="0" err="1"/>
              <a:t>etcd</a:t>
            </a:r>
            <a:r>
              <a:rPr lang="en-US" sz="2000" dirty="0"/>
              <a:t> (if configured!).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Stored on each worker node in </a:t>
            </a:r>
            <a:r>
              <a:rPr lang="en-US" sz="2000" dirty="0" err="1"/>
              <a:t>tmpfs</a:t>
            </a:r>
            <a:r>
              <a:rPr lang="en-US" sz="2000" dirty="0"/>
              <a:t> directory.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Ideal for username/passwords, certificates or other sensitive information that should not be stored in a container.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Example: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type: There are three different types of secrets within Kubernetes:</a:t>
            </a:r>
          </a:p>
          <a:p>
            <a:r>
              <a:rPr lang="en-US" sz="2000" dirty="0"/>
              <a:t>	docker-registry - credentials used to authenticate to a container registry</a:t>
            </a:r>
          </a:p>
          <a:p>
            <a:r>
              <a:rPr lang="en-US" sz="2000" dirty="0"/>
              <a:t>	generic/Opaque - literal values from different sources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tls</a:t>
            </a:r>
            <a:r>
              <a:rPr lang="en-US" sz="2000" dirty="0"/>
              <a:t> - a certificate based secret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data: Contains key-value pairs of base64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D5E10-743C-5316-7676-6E687BA9F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0678" y="1762319"/>
            <a:ext cx="3093335" cy="353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05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92BB618F-20D8-D500-F22F-6DC91B9B3D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>
            <a:alphaModFix amt="40000"/>
          </a:blip>
          <a:srcRect b="174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62A728-15BF-FB7A-792A-E7371AA6CF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965200"/>
            <a:ext cx="10261600" cy="3565525"/>
          </a:xfrm>
        </p:spPr>
        <p:txBody>
          <a:bodyPr vert="horz" lIns="121920" tIns="60960" rIns="121920" bIns="60960" rtlCol="0" anchor="b">
            <a:normAutofit/>
          </a:bodyPr>
          <a:lstStyle/>
          <a:p>
            <a:r>
              <a:rPr lang="en-US" sz="11466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K8s Probes</a:t>
            </a:r>
          </a:p>
        </p:txBody>
      </p:sp>
    </p:spTree>
    <p:extLst>
      <p:ext uri="{BB962C8B-B14F-4D97-AF65-F5344CB8AC3E}">
        <p14:creationId xmlns:p14="http://schemas.microsoft.com/office/powerpoint/2010/main" val="104330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A043-840C-183E-C19B-649E3E99FA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dirty="0"/>
              <a:t>Start-Up Probe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D1068D-184B-3556-254D-8BE94F1FE8B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920F7-AD69-B722-6285-8445AD4A5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417" y="1864170"/>
            <a:ext cx="8506705" cy="413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77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900A8-1242-E07E-6574-2070496B5A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dirty="0"/>
              <a:t>Start-up probe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C37DCE-01C1-E22F-E5D9-964798DE3F7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1DA99F-8DCB-CACB-C5BD-17E7DEF0F067}"/>
              </a:ext>
            </a:extLst>
          </p:cNvPr>
          <p:cNvSpPr txBox="1"/>
          <p:nvPr/>
        </p:nvSpPr>
        <p:spPr>
          <a:xfrm>
            <a:off x="786581" y="1983164"/>
            <a:ext cx="85933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To know when a container application has started</a:t>
            </a:r>
          </a:p>
          <a:p>
            <a:r>
              <a:rPr lang="en-IN" sz="2400" dirty="0"/>
              <a:t>It disables liveness and readiness checks until it succeeds</a:t>
            </a:r>
          </a:p>
          <a:p>
            <a:r>
              <a:rPr lang="en-IN" sz="2400" dirty="0"/>
              <a:t>Can be used to adopt liveness checks on slow starting containers</a:t>
            </a:r>
          </a:p>
        </p:txBody>
      </p:sp>
    </p:spTree>
    <p:extLst>
      <p:ext uri="{BB962C8B-B14F-4D97-AF65-F5344CB8AC3E}">
        <p14:creationId xmlns:p14="http://schemas.microsoft.com/office/powerpoint/2010/main" val="71585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0910-7B5B-5291-1997-E8725094B6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dirty="0"/>
              <a:t>Liveness Probe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D6650D-6AA4-090A-34D8-FC97DCA0F00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552616-A09A-2258-1E56-14C021084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079" y="2111398"/>
            <a:ext cx="7258992" cy="406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632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5263-30A3-0CFE-47FD-A60793190D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dirty="0"/>
              <a:t>Liveness Probe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E35027-4D3C-5DDA-A679-704EAD0C894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320A64-777B-4714-995D-482F857D2BB8}"/>
              </a:ext>
            </a:extLst>
          </p:cNvPr>
          <p:cNvSpPr txBox="1"/>
          <p:nvPr/>
        </p:nvSpPr>
        <p:spPr>
          <a:xfrm>
            <a:off x="500103" y="2156857"/>
            <a:ext cx="42572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Used by </a:t>
            </a:r>
            <a:r>
              <a:rPr lang="en-IN" sz="2400" dirty="0" err="1"/>
              <a:t>Kubelet</a:t>
            </a:r>
            <a:endParaRPr lang="en-IN" sz="2400" dirty="0"/>
          </a:p>
          <a:p>
            <a:r>
              <a:rPr lang="en-IN" sz="2400" dirty="0"/>
              <a:t>To know when to restart the container</a:t>
            </a:r>
          </a:p>
          <a:p>
            <a:r>
              <a:rPr lang="en-IN" sz="2400" dirty="0"/>
              <a:t>Catching a Deadlock</a:t>
            </a:r>
          </a:p>
          <a:p>
            <a:r>
              <a:rPr lang="en-IN" sz="2400" dirty="0"/>
              <a:t>Despite App’s Bugs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44403D-7E60-2220-7E77-7C132E4A7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362" y="2156857"/>
            <a:ext cx="7514639" cy="178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09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BFA23-6E5F-8481-C1EA-F97639BBDAB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dirty="0"/>
              <a:t>Readiness Probe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D4631-8363-9BFA-7A24-C5053EC107D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6C0EFC-CDCC-8B75-06D9-3FF6CE914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873" y="1998738"/>
            <a:ext cx="8408352" cy="449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64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88015-1359-3B54-CEF8-FFD4AFF3CB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36575"/>
            <a:ext cx="3967163" cy="1323975"/>
          </a:xfrm>
        </p:spPr>
        <p:txBody>
          <a:bodyPr/>
          <a:lstStyle/>
          <a:p>
            <a:r>
              <a:rPr lang="en-IN" dirty="0"/>
              <a:t>Readiness Probe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222B86-815F-E51C-3950-A755D3F35EA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71E86-305B-F20C-6407-0CF8C3A12EE0}"/>
              </a:ext>
            </a:extLst>
          </p:cNvPr>
          <p:cNvSpPr txBox="1"/>
          <p:nvPr/>
        </p:nvSpPr>
        <p:spPr>
          <a:xfrm>
            <a:off x="500103" y="2268300"/>
            <a:ext cx="1002041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Used by </a:t>
            </a:r>
            <a:r>
              <a:rPr lang="en-IN" sz="2400" dirty="0" err="1"/>
              <a:t>Kubelet</a:t>
            </a:r>
            <a:endParaRPr lang="en-IN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To know when a container is ready to start accepting traffic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/>
              <a:t>When all of its containers are ready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Unlike a liveness probe, a readiness probe doesn’t kill the container. If the readiness probe fails, Kubernetes simply hides the container’s Pod from corresponding Services, so that no traffic is redirected to it.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Liveness probes do not wait for readiness probes to succeed. If you want to wait before executing a liveness probe you should use </a:t>
            </a:r>
            <a:r>
              <a:rPr lang="en-US" sz="2400" dirty="0" err="1"/>
              <a:t>initialDelaySeconds</a:t>
            </a:r>
            <a:r>
              <a:rPr lang="en-US" sz="2400" dirty="0"/>
              <a:t> or </a:t>
            </a:r>
            <a:r>
              <a:rPr lang="en-US" sz="2400" dirty="0" err="1"/>
              <a:t>startupProbe</a:t>
            </a:r>
            <a:r>
              <a:rPr lang="en-US" sz="2400" dirty="0"/>
              <a:t>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A side-effect of using Readiness Probes is that they can increase the time it takes to update Deployments.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DE7B0A-F07B-202C-3695-4FB35E952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930" y="446133"/>
            <a:ext cx="7374071" cy="167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4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37A5-260D-B9E3-F954-884D2281297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41275"/>
            <a:ext cx="10515600" cy="1325563"/>
          </a:xfrm>
        </p:spPr>
        <p:txBody>
          <a:bodyPr/>
          <a:lstStyle/>
          <a:p>
            <a:r>
              <a:rPr lang="en-IN" dirty="0"/>
              <a:t>Container patterns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E28CF7-EAA4-16D4-0A11-E935EF53028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27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DC3E67-3B67-DA38-B6BE-16525F518FE5}"/>
              </a:ext>
            </a:extLst>
          </p:cNvPr>
          <p:cNvGraphicFramePr>
            <a:graphicFrameLocks noGrp="1"/>
          </p:cNvGraphicFramePr>
          <p:nvPr/>
        </p:nvGraphicFramePr>
        <p:xfrm>
          <a:off x="620025" y="1586840"/>
          <a:ext cx="5356054" cy="2600747"/>
        </p:xfrm>
        <a:graphic>
          <a:graphicData uri="http://schemas.openxmlformats.org/drawingml/2006/table">
            <a:tbl>
              <a:tblPr/>
              <a:tblGrid>
                <a:gridCol w="1016141">
                  <a:extLst>
                    <a:ext uri="{9D8B030D-6E8A-4147-A177-3AD203B41FA5}">
                      <a16:colId xmlns:a16="http://schemas.microsoft.com/office/drawing/2014/main" val="2183131044"/>
                    </a:ext>
                  </a:extLst>
                </a:gridCol>
                <a:gridCol w="4339913">
                  <a:extLst>
                    <a:ext uri="{9D8B030D-6E8A-4147-A177-3AD203B41FA5}">
                      <a16:colId xmlns:a16="http://schemas.microsoft.com/office/drawing/2014/main" val="2577039354"/>
                    </a:ext>
                  </a:extLst>
                </a:gridCol>
              </a:tblGrid>
              <a:tr h="308435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Pattern</a:t>
                      </a:r>
                    </a:p>
                  </a:txBody>
                  <a:tcPr marL="46772" marR="46772" marT="52617" marB="5261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Description</a:t>
                      </a:r>
                    </a:p>
                  </a:txBody>
                  <a:tcPr marL="46772" marR="46772" marT="52617" marB="5261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073224"/>
                  </a:ext>
                </a:extLst>
              </a:tr>
              <a:tr h="703144">
                <a:tc>
                  <a:txBody>
                    <a:bodyPr/>
                    <a:lstStyle/>
                    <a:p>
                      <a:r>
                        <a:rPr lang="en-IN" sz="1300" b="1">
                          <a:effectLst/>
                        </a:rPr>
                        <a:t>Sidecar</a:t>
                      </a:r>
                      <a:endParaRPr lang="en-IN" sz="1300">
                        <a:effectLst/>
                      </a:endParaRPr>
                    </a:p>
                  </a:txBody>
                  <a:tcPr marL="46772" marR="46772" marT="46772" marB="46772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An additional container in the same pod that enhances or extends the functionality of the main container. For example, a logging agent alongside the main application container.</a:t>
                      </a:r>
                    </a:p>
                  </a:txBody>
                  <a:tcPr marL="46772" marR="46772" marT="46772" marB="46772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214412"/>
                  </a:ext>
                </a:extLst>
              </a:tr>
              <a:tr h="906344">
                <a:tc>
                  <a:txBody>
                    <a:bodyPr/>
                    <a:lstStyle/>
                    <a:p>
                      <a:r>
                        <a:rPr lang="en-IN" sz="1300" b="1" dirty="0">
                          <a:effectLst/>
                        </a:rPr>
                        <a:t>Ambassador</a:t>
                      </a:r>
                      <a:endParaRPr lang="en-IN" sz="1300" dirty="0">
                        <a:effectLst/>
                      </a:endParaRPr>
                    </a:p>
                  </a:txBody>
                  <a:tcPr marL="46772" marR="46772" marT="46772" marB="46772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A container that acts as a proxy to other parts of the system. It handles network connections for the main container. Common use cases include authentication to external services or proxying to a Redis caching cluster.</a:t>
                      </a:r>
                    </a:p>
                  </a:txBody>
                  <a:tcPr marL="46772" marR="46772" marT="46772" marB="46772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07660"/>
                  </a:ext>
                </a:extLst>
              </a:tr>
              <a:tr h="499944">
                <a:tc>
                  <a:txBody>
                    <a:bodyPr/>
                    <a:lstStyle/>
                    <a:p>
                      <a:r>
                        <a:rPr lang="en-IN" sz="1300" b="1" dirty="0">
                          <a:effectLst/>
                        </a:rPr>
                        <a:t>Adapter</a:t>
                      </a:r>
                      <a:endParaRPr lang="en-IN" sz="1300" dirty="0">
                        <a:effectLst/>
                      </a:endParaRPr>
                    </a:p>
                  </a:txBody>
                  <a:tcPr marL="46772" marR="46772" marT="46772" marB="46772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A container that transforms the output of the main container. It modifies or adapts data before it’s sent out.</a:t>
                      </a:r>
                    </a:p>
                  </a:txBody>
                  <a:tcPr marL="46772" marR="46772" marT="46772" marB="46772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396034"/>
                  </a:ext>
                </a:extLst>
              </a:tr>
            </a:tbl>
          </a:graphicData>
        </a:graphic>
      </p:graphicFrame>
      <p:pic>
        <p:nvPicPr>
          <p:cNvPr id="1029" name="Picture 5" descr="Talk: Kubernetes multi-container patterns | Raghav Ramesh">
            <a:extLst>
              <a:ext uri="{FF2B5EF4-FFF2-40B4-BE49-F238E27FC236}">
                <a16:creationId xmlns:a16="http://schemas.microsoft.com/office/drawing/2014/main" id="{3AD0E507-8567-BCF0-1E35-C832FF670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90" y="4290021"/>
            <a:ext cx="5626311" cy="2567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Talk: Kubernetes multi-container patterns | Raghav Ramesh">
            <a:extLst>
              <a:ext uri="{FF2B5EF4-FFF2-40B4-BE49-F238E27FC236}">
                <a16:creationId xmlns:a16="http://schemas.microsoft.com/office/drawing/2014/main" id="{003972F2-A06D-B9ED-D8CB-1C4227D1E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608" y="3925404"/>
            <a:ext cx="5496393" cy="283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Adapter Pattern">
            <a:extLst>
              <a:ext uri="{FF2B5EF4-FFF2-40B4-BE49-F238E27FC236}">
                <a16:creationId xmlns:a16="http://schemas.microsoft.com/office/drawing/2014/main" id="{AEB4022C-AC20-EF36-13C3-619E97D07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533" y="94461"/>
            <a:ext cx="5226571" cy="3503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309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92BB618F-20D8-D500-F22F-6DC91B9B3D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>
            <a:alphaModFix amt="40000"/>
          </a:blip>
          <a:srcRect b="174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62A728-15BF-FB7A-792A-E7371AA6CF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965200"/>
            <a:ext cx="10261600" cy="4176713"/>
          </a:xfrm>
        </p:spPr>
        <p:txBody>
          <a:bodyPr vert="horz" lIns="121920" tIns="60960" rIns="121920" bIns="60960" rtlCol="0" anchor="b">
            <a:normAutofit fontScale="90000"/>
          </a:bodyPr>
          <a:lstStyle/>
          <a:p>
            <a:r>
              <a:rPr lang="en-US" sz="11466" dirty="0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Getting started with Open shift in Microlise</a:t>
            </a:r>
          </a:p>
        </p:txBody>
      </p:sp>
    </p:spTree>
    <p:extLst>
      <p:ext uri="{BB962C8B-B14F-4D97-AF65-F5344CB8AC3E}">
        <p14:creationId xmlns:p14="http://schemas.microsoft.com/office/powerpoint/2010/main" val="3267611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368E-CFD0-A0FD-3315-B0E6DD19D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65E0A-0F07-EDD4-B06E-9C69B8B75BD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6713"/>
            <a:ext cx="10515600" cy="1323975"/>
          </a:xfrm>
        </p:spPr>
        <p:txBody>
          <a:bodyPr/>
          <a:lstStyle/>
          <a:p>
            <a:r>
              <a:rPr lang="en-US" dirty="0"/>
              <a:t>Getting started with Open shift in Microlise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8E01BE-383D-69D2-5C97-C889E97EF6E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79200" y="6176963"/>
            <a:ext cx="8128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EFD977-6AF5-6F60-44B4-DFBEA8F3F00A}"/>
              </a:ext>
            </a:extLst>
          </p:cNvPr>
          <p:cNvSpPr txBox="1"/>
          <p:nvPr/>
        </p:nvSpPr>
        <p:spPr>
          <a:xfrm>
            <a:off x="786581" y="1983164"/>
            <a:ext cx="85933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 - Creation of repo</a:t>
            </a:r>
          </a:p>
          <a:p>
            <a:r>
              <a:rPr lang="en-US" sz="2400" dirty="0"/>
              <a:t> - Create namespace in </a:t>
            </a:r>
            <a:r>
              <a:rPr lang="en-US" sz="2400" dirty="0" err="1"/>
              <a:t>Gryphon.OpenShift.Projects</a:t>
            </a:r>
            <a:endParaRPr lang="en-US" sz="2400" dirty="0"/>
          </a:p>
          <a:p>
            <a:r>
              <a:rPr lang="en-US" sz="2400" dirty="0"/>
              <a:t> - Create entry in </a:t>
            </a:r>
            <a:r>
              <a:rPr lang="en-US" sz="2400" dirty="0" err="1"/>
              <a:t>Gryphon.Quay.Config.registry</a:t>
            </a:r>
            <a:endParaRPr lang="en-US" sz="2400" dirty="0"/>
          </a:p>
          <a:p>
            <a:r>
              <a:rPr lang="en-US" sz="2400" dirty="0"/>
              <a:t> - Open shift UI etc.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0506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ACF21-2B8A-7753-0B07-4B6BAAA694B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79200" y="6176963"/>
            <a:ext cx="8128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30</a:t>
            </a:fld>
            <a:endParaRPr lang="en-GB"/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951FA4CE-4261-B96F-876C-6D2387A81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290" y="129595"/>
            <a:ext cx="9521210" cy="6046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07BE4B-1394-4C52-08BA-50298814A5CA}"/>
              </a:ext>
            </a:extLst>
          </p:cNvPr>
          <p:cNvSpPr txBox="1"/>
          <p:nvPr/>
        </p:nvSpPr>
        <p:spPr>
          <a:xfrm>
            <a:off x="294968" y="1083695"/>
            <a:ext cx="1622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Open Shift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974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FD2E88-BA69-FCBE-0C6F-2D46055F4486}"/>
              </a:ext>
            </a:extLst>
          </p:cNvPr>
          <p:cNvSpPr/>
          <p:nvPr/>
        </p:nvSpPr>
        <p:spPr>
          <a:xfrm>
            <a:off x="3227548" y="2036709"/>
            <a:ext cx="2465329" cy="4255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Container Build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A44781-FB62-46FE-C95B-7628E1E413D7}"/>
              </a:ext>
            </a:extLst>
          </p:cNvPr>
          <p:cNvSpPr/>
          <p:nvPr/>
        </p:nvSpPr>
        <p:spPr>
          <a:xfrm>
            <a:off x="7364361" y="3018060"/>
            <a:ext cx="4709651" cy="2281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Kubernetes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DD24B-D194-687B-85DC-4A845B27E2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76300" y="366713"/>
            <a:ext cx="11315700" cy="784225"/>
          </a:xfrm>
        </p:spPr>
        <p:txBody>
          <a:bodyPr/>
          <a:lstStyle/>
          <a:p>
            <a:r>
              <a:rPr lang="en-IN" dirty="0"/>
              <a:t>Check-in to deployment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5D7FFC-E974-6CDF-3F59-3E60B2E0F79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79200" y="6176963"/>
            <a:ext cx="8128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5BBFD3-53D1-CD77-08BF-0AFE1A2B2B02}"/>
              </a:ext>
            </a:extLst>
          </p:cNvPr>
          <p:cNvSpPr/>
          <p:nvPr/>
        </p:nvSpPr>
        <p:spPr>
          <a:xfrm>
            <a:off x="3597070" y="4959489"/>
            <a:ext cx="1828801" cy="1036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Push image to Container registry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DE7BB-D56C-8AB8-D526-D38D363A5FD1}"/>
              </a:ext>
            </a:extLst>
          </p:cNvPr>
          <p:cNvSpPr/>
          <p:nvPr/>
        </p:nvSpPr>
        <p:spPr>
          <a:xfrm>
            <a:off x="7796531" y="3661800"/>
            <a:ext cx="1828801" cy="114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Control plane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66A559-832E-0B1A-E247-A83EDAAD1063}"/>
              </a:ext>
            </a:extLst>
          </p:cNvPr>
          <p:cNvSpPr/>
          <p:nvPr/>
        </p:nvSpPr>
        <p:spPr>
          <a:xfrm>
            <a:off x="9772814" y="3654562"/>
            <a:ext cx="1828801" cy="114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Worker Plane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51A093-2BB2-EF41-6AEB-EBB45084B0BB}"/>
              </a:ext>
            </a:extLst>
          </p:cNvPr>
          <p:cNvSpPr/>
          <p:nvPr/>
        </p:nvSpPr>
        <p:spPr>
          <a:xfrm>
            <a:off x="3585141" y="2556935"/>
            <a:ext cx="1828801" cy="1036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Download</a:t>
            </a:r>
          </a:p>
          <a:p>
            <a:pPr algn="ctr"/>
            <a:r>
              <a:rPr lang="en-IN" dirty="0"/>
              <a:t>Container file etc.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5EDD39-70B8-9E5A-026B-EC64FC51DBDD}"/>
              </a:ext>
            </a:extLst>
          </p:cNvPr>
          <p:cNvSpPr/>
          <p:nvPr/>
        </p:nvSpPr>
        <p:spPr>
          <a:xfrm>
            <a:off x="100441" y="3496085"/>
            <a:ext cx="1828801" cy="13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</a:t>
            </a:r>
          </a:p>
          <a:p>
            <a:pPr algn="ctr"/>
            <a:r>
              <a:rPr lang="en-IN" dirty="0"/>
              <a:t>PR completed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6485F3-CE9A-FA7E-F5E0-2DEC175E4E52}"/>
              </a:ext>
            </a:extLst>
          </p:cNvPr>
          <p:cNvSpPr/>
          <p:nvPr/>
        </p:nvSpPr>
        <p:spPr>
          <a:xfrm>
            <a:off x="3597070" y="3764800"/>
            <a:ext cx="1828801" cy="1036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Create image file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42DA55-499B-3890-F1CB-BDC480F97C72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1929242" y="4158602"/>
            <a:ext cx="1298306" cy="6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63522E-C27C-ABA5-CFD8-A7B2CF489D05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H="1">
            <a:off x="3597070" y="4164677"/>
            <a:ext cx="2095807" cy="1312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F163AB-5357-D033-84B1-59FFDB482910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 flipV="1">
            <a:off x="5692877" y="4158602"/>
            <a:ext cx="1671484" cy="6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98B38E9-50DB-BB6D-7569-5168A2011A42}"/>
              </a:ext>
            </a:extLst>
          </p:cNvPr>
          <p:cNvSpPr/>
          <p:nvPr/>
        </p:nvSpPr>
        <p:spPr>
          <a:xfrm>
            <a:off x="2084797" y="3606866"/>
            <a:ext cx="1030044" cy="384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Triggered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DFBBF91-5563-21C3-E98B-673A43796C0F}"/>
              </a:ext>
            </a:extLst>
          </p:cNvPr>
          <p:cNvSpPr/>
          <p:nvPr/>
        </p:nvSpPr>
        <p:spPr>
          <a:xfrm>
            <a:off x="5936295" y="3496085"/>
            <a:ext cx="1184647" cy="489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Triggered Deployment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1DD8942-7F4C-84CD-B925-6B60E371C393}"/>
              </a:ext>
            </a:extLst>
          </p:cNvPr>
          <p:cNvCxnSpPr>
            <a:stCxn id="8" idx="2"/>
          </p:cNvCxnSpPr>
          <p:nvPr/>
        </p:nvCxnSpPr>
        <p:spPr>
          <a:xfrm>
            <a:off x="4499542" y="3593077"/>
            <a:ext cx="11928" cy="147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7A64293-23D9-A2AA-0E65-3306C0E8FC94}"/>
              </a:ext>
            </a:extLst>
          </p:cNvPr>
          <p:cNvCxnSpPr>
            <a:endCxn id="11" idx="0"/>
          </p:cNvCxnSpPr>
          <p:nvPr/>
        </p:nvCxnSpPr>
        <p:spPr>
          <a:xfrm>
            <a:off x="4499541" y="3606866"/>
            <a:ext cx="11930" cy="157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62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7D51-7B24-292A-2968-D7A18680CA2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6400" y="315913"/>
            <a:ext cx="10515600" cy="1325562"/>
          </a:xfrm>
        </p:spPr>
        <p:txBody>
          <a:bodyPr/>
          <a:lstStyle/>
          <a:p>
            <a:r>
              <a:rPr lang="en-IN" dirty="0"/>
              <a:t>     Get Help and Contribution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CE6B62-A9CD-7F33-8D0F-12E38821B11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79200" y="6176963"/>
            <a:ext cx="812800" cy="365125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EBB2D-46D7-5BF4-28DC-FAB035DEBA3C}"/>
              </a:ext>
            </a:extLst>
          </p:cNvPr>
          <p:cNvSpPr txBox="1"/>
          <p:nvPr/>
        </p:nvSpPr>
        <p:spPr>
          <a:xfrm>
            <a:off x="304800" y="1861798"/>
            <a:ext cx="11434916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Slack channels:</a:t>
            </a:r>
          </a:p>
          <a:p>
            <a:endParaRPr lang="en-US" sz="1500" dirty="0"/>
          </a:p>
          <a:p>
            <a:r>
              <a:rPr lang="en-US" sz="1500" dirty="0"/>
              <a:t>  </a:t>
            </a:r>
            <a:r>
              <a:rPr lang="en-US" sz="1500" b="1" dirty="0"/>
              <a:t>- #platform-support-openshift</a:t>
            </a:r>
          </a:p>
          <a:p>
            <a:r>
              <a:rPr lang="en-US" sz="1500" dirty="0"/>
              <a:t>       - In this channel, developers can ask questions or resolve issues by sharing their solutions</a:t>
            </a:r>
          </a:p>
          <a:p>
            <a:endParaRPr lang="en-US" sz="1500" dirty="0"/>
          </a:p>
          <a:p>
            <a:r>
              <a:rPr lang="en-US" sz="1500" dirty="0"/>
              <a:t>  </a:t>
            </a:r>
            <a:r>
              <a:rPr lang="en-US" sz="1500" b="1" dirty="0"/>
              <a:t>- #platform-support-openshift-request-queue</a:t>
            </a:r>
          </a:p>
          <a:p>
            <a:r>
              <a:rPr lang="en-US" sz="1500" dirty="0"/>
              <a:t>       - This channel will notify the platform team when you raise a PR in a platform-related repository. You can also discuss any PR-related concerns here.</a:t>
            </a:r>
          </a:p>
          <a:p>
            <a:endParaRPr lang="en-US" sz="1500" dirty="0"/>
          </a:p>
          <a:p>
            <a:r>
              <a:rPr lang="en-US" sz="1500" b="1" dirty="0"/>
              <a:t>  - #platform-announcements-openshift</a:t>
            </a:r>
          </a:p>
          <a:p>
            <a:r>
              <a:rPr lang="en-US" sz="1500" dirty="0"/>
              <a:t>       - </a:t>
            </a:r>
            <a:r>
              <a:rPr lang="en-US" sz="1600" b="0" i="0" dirty="0">
                <a:solidFill>
                  <a:srgbClr val="111111"/>
                </a:solidFill>
                <a:effectLst/>
                <a:latin typeface="-apple-system"/>
              </a:rPr>
              <a:t>This channel is where the platform team will make announcements related to OpenShift</a:t>
            </a:r>
            <a:endParaRPr lang="en-IN" sz="1500" dirty="0"/>
          </a:p>
        </p:txBody>
      </p:sp>
      <p:pic>
        <p:nvPicPr>
          <p:cNvPr id="6146" name="Picture 2" descr="Contribution - Free miscellaneous icons">
            <a:extLst>
              <a:ext uri="{FF2B5EF4-FFF2-40B4-BE49-F238E27FC236}">
                <a16:creationId xmlns:a16="http://schemas.microsoft.com/office/drawing/2014/main" id="{E767E9F5-4988-F4F5-57B6-AA9750DF5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91" y="224818"/>
            <a:ext cx="1386348" cy="1386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482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72C7-500A-2223-813E-1095508A8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3" y="366185"/>
            <a:ext cx="10515600" cy="1325033"/>
          </a:xfrm>
        </p:spPr>
        <p:txBody>
          <a:bodyPr vert="horz" lIns="121920" tIns="60960" rIns="121920" bIns="60960" rtlCol="0" anchor="ctr">
            <a:normAutofit/>
          </a:bodyPr>
          <a:lstStyle/>
          <a:p>
            <a:r>
              <a:rPr lang="en-US"/>
              <a:t>Any Questions?</a:t>
            </a:r>
          </a:p>
        </p:txBody>
      </p:sp>
      <p:pic>
        <p:nvPicPr>
          <p:cNvPr id="1026" name="Picture 2" descr="Huh Jackie Chan TEFL | English fun, How to memorize things, Teaching english">
            <a:extLst>
              <a:ext uri="{FF2B5EF4-FFF2-40B4-BE49-F238E27FC236}">
                <a16:creationId xmlns:a16="http://schemas.microsoft.com/office/drawing/2014/main" id="{26D55343-77B9-1FF0-CC66-7EDF2F0B14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47" b="13758"/>
          <a:stretch>
            <a:fillRect/>
          </a:stretch>
        </p:blipFill>
        <p:spPr bwMode="auto">
          <a:xfrm>
            <a:off x="500103" y="1826684"/>
            <a:ext cx="10515600" cy="4349749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5F0C2-DC39-CF5D-933A-058A848D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750" y="6176434"/>
            <a:ext cx="812276" cy="366183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defTabSz="1219170">
              <a:spcAft>
                <a:spcPts val="800"/>
              </a:spcAft>
              <a:defRPr/>
            </a:pPr>
            <a:fld id="{00000000-1234-1234-1234-123412341234}" type="slidenum">
              <a:rPr lang="en-US"/>
              <a:pPr defTabSz="1219170">
                <a:spcAft>
                  <a:spcPts val="800"/>
                </a:spcAft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2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1B1A-1FEB-2267-47CC-A145314A798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246063"/>
            <a:ext cx="9144000" cy="2387600"/>
          </a:xfrm>
        </p:spPr>
        <p:txBody>
          <a:bodyPr/>
          <a:lstStyle/>
          <a:p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13380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Microlise 1">
      <a:dk1>
        <a:srgbClr val="151D24"/>
      </a:dk1>
      <a:lt1>
        <a:srgbClr val="FFFFFF"/>
      </a:lt1>
      <a:dk2>
        <a:srgbClr val="152644"/>
      </a:dk2>
      <a:lt2>
        <a:srgbClr val="DEDEDE"/>
      </a:lt2>
      <a:accent1>
        <a:srgbClr val="01CBDE"/>
      </a:accent1>
      <a:accent2>
        <a:srgbClr val="DCFF66"/>
      </a:accent2>
      <a:accent3>
        <a:srgbClr val="ED4956"/>
      </a:accent3>
      <a:accent4>
        <a:srgbClr val="F99D4C"/>
      </a:accent4>
      <a:accent5>
        <a:srgbClr val="FFD059"/>
      </a:accent5>
      <a:accent6>
        <a:srgbClr val="00B683"/>
      </a:accent6>
      <a:hlink>
        <a:srgbClr val="787DB8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8FEB7D-CD16-4E32-97B9-BD426FB98EB5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1736</Words>
  <Application>Microsoft Office PowerPoint</Application>
  <PresentationFormat>Widescreen</PresentationFormat>
  <Paragraphs>334</Paragraphs>
  <Slides>34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-apple-system</vt:lpstr>
      <vt:lpstr>Archia</vt:lpstr>
      <vt:lpstr>Arial</vt:lpstr>
      <vt:lpstr>Calibri</vt:lpstr>
      <vt:lpstr>DM Sans</vt:lpstr>
      <vt:lpstr>Outfit Light</vt:lpstr>
      <vt:lpstr>Udemy Sans</vt:lpstr>
      <vt:lpstr>var(--font-stack-heading)</vt:lpstr>
      <vt:lpstr>Wingdings</vt:lpstr>
      <vt:lpstr>Custom Design</vt:lpstr>
      <vt:lpstr>KUBERNETES</vt:lpstr>
      <vt:lpstr>Agenda</vt:lpstr>
      <vt:lpstr>Upcoming sessions</vt:lpstr>
      <vt:lpstr>Architecture of Kubernetes</vt:lpstr>
      <vt:lpstr>PowerPoint Presentation</vt:lpstr>
      <vt:lpstr>Control Plane Components</vt:lpstr>
      <vt:lpstr>NODE Components</vt:lpstr>
      <vt:lpstr>Developer Use Case</vt:lpstr>
      <vt:lpstr>  CORE OBJECTS AND APIS</vt:lpstr>
      <vt:lpstr>           Core objects and APIs</vt:lpstr>
      <vt:lpstr>          PODs</vt:lpstr>
      <vt:lpstr>           Key Pod Container Attributes</vt:lpstr>
      <vt:lpstr>    Labels</vt:lpstr>
      <vt:lpstr>               Selector</vt:lpstr>
      <vt:lpstr>Selector Type</vt:lpstr>
      <vt:lpstr>            SERVICES</vt:lpstr>
      <vt:lpstr>Configuration</vt:lpstr>
      <vt:lpstr>Configuration: Config Maps</vt:lpstr>
      <vt:lpstr>Configuration: Secret</vt:lpstr>
      <vt:lpstr>K8s Probes</vt:lpstr>
      <vt:lpstr>Start-Up Probe</vt:lpstr>
      <vt:lpstr>Start-up probe</vt:lpstr>
      <vt:lpstr>Liveness Probe</vt:lpstr>
      <vt:lpstr>Liveness Probe</vt:lpstr>
      <vt:lpstr>Readiness Probe</vt:lpstr>
      <vt:lpstr>Readiness Probe</vt:lpstr>
      <vt:lpstr>Container patterns</vt:lpstr>
      <vt:lpstr>Getting started with Open shift in Microlise</vt:lpstr>
      <vt:lpstr>Getting started with Open shift in Microlise</vt:lpstr>
      <vt:lpstr>PowerPoint Presentation</vt:lpstr>
      <vt:lpstr>Check-in to deployment process</vt:lpstr>
      <vt:lpstr>     Get Help and Contribution</vt:lpstr>
      <vt:lpstr>Any 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Jain</dc:creator>
  <cp:lastModifiedBy>Anish Jain</cp:lastModifiedBy>
  <cp:revision>16</cp:revision>
  <dcterms:created xsi:type="dcterms:W3CDTF">2024-11-02T05:52:33Z</dcterms:created>
  <dcterms:modified xsi:type="dcterms:W3CDTF">2025-12-06T06:37:41Z</dcterms:modified>
</cp:coreProperties>
</file>