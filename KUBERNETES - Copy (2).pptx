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autoCompressPictures="0">
  <p:sldMasterIdLst>
    <p:sldMasterId id="2147483653" r:id="rId4"/>
  </p:sldMasterIdLst>
  <p:notesMasterIdLst>
    <p:notesMasterId r:id="rId77"/>
  </p:notesMasterIdLst>
  <p:sldIdLst>
    <p:sldId id="7882" r:id="rId5"/>
    <p:sldId id="8000" r:id="rId6"/>
    <p:sldId id="7952" r:id="rId7"/>
    <p:sldId id="7953" r:id="rId8"/>
    <p:sldId id="7954" r:id="rId9"/>
    <p:sldId id="7955" r:id="rId10"/>
    <p:sldId id="7999" r:id="rId11"/>
    <p:sldId id="8003" r:id="rId12"/>
    <p:sldId id="7972" r:id="rId13"/>
    <p:sldId id="7959" r:id="rId14"/>
    <p:sldId id="7961" r:id="rId15"/>
    <p:sldId id="7950" r:id="rId16"/>
    <p:sldId id="7962" r:id="rId17"/>
    <p:sldId id="7963" r:id="rId18"/>
    <p:sldId id="7964" r:id="rId19"/>
    <p:sldId id="7965" r:id="rId20"/>
    <p:sldId id="7951" r:id="rId21"/>
    <p:sldId id="7957" r:id="rId22"/>
    <p:sldId id="7966" r:id="rId23"/>
    <p:sldId id="7967" r:id="rId24"/>
    <p:sldId id="8023" r:id="rId25"/>
    <p:sldId id="8022" r:id="rId26"/>
    <p:sldId id="8025" r:id="rId27"/>
    <p:sldId id="8024" r:id="rId28"/>
    <p:sldId id="8005" r:id="rId29"/>
    <p:sldId id="7958" r:id="rId30"/>
    <p:sldId id="7968" r:id="rId31"/>
    <p:sldId id="7969" r:id="rId32"/>
    <p:sldId id="7973" r:id="rId33"/>
    <p:sldId id="7970" r:id="rId34"/>
    <p:sldId id="7974" r:id="rId35"/>
    <p:sldId id="8006" r:id="rId36"/>
    <p:sldId id="8007" r:id="rId37"/>
    <p:sldId id="8008" r:id="rId38"/>
    <p:sldId id="7975" r:id="rId39"/>
    <p:sldId id="7976" r:id="rId40"/>
    <p:sldId id="7977" r:id="rId41"/>
    <p:sldId id="7978" r:id="rId42"/>
    <p:sldId id="7979" r:id="rId43"/>
    <p:sldId id="7980" r:id="rId44"/>
    <p:sldId id="7987" r:id="rId45"/>
    <p:sldId id="7984" r:id="rId46"/>
    <p:sldId id="7985" r:id="rId47"/>
    <p:sldId id="7986" r:id="rId48"/>
    <p:sldId id="7995" r:id="rId49"/>
    <p:sldId id="7996" r:id="rId50"/>
    <p:sldId id="7997" r:id="rId51"/>
    <p:sldId id="7998" r:id="rId52"/>
    <p:sldId id="7982" r:id="rId53"/>
    <p:sldId id="7983" r:id="rId54"/>
    <p:sldId id="7991" r:id="rId55"/>
    <p:sldId id="7988" r:id="rId56"/>
    <p:sldId id="7992" r:id="rId57"/>
    <p:sldId id="7989" r:id="rId58"/>
    <p:sldId id="7993" r:id="rId59"/>
    <p:sldId id="7990" r:id="rId60"/>
    <p:sldId id="7994" r:id="rId61"/>
    <p:sldId id="8009" r:id="rId62"/>
    <p:sldId id="8021" r:id="rId63"/>
    <p:sldId id="8011" r:id="rId64"/>
    <p:sldId id="8012" r:id="rId65"/>
    <p:sldId id="8013" r:id="rId66"/>
    <p:sldId id="8014" r:id="rId67"/>
    <p:sldId id="8015" r:id="rId68"/>
    <p:sldId id="8016" r:id="rId69"/>
    <p:sldId id="8017" r:id="rId70"/>
    <p:sldId id="8018" r:id="rId71"/>
    <p:sldId id="8019" r:id="rId72"/>
    <p:sldId id="7981" r:id="rId73"/>
    <p:sldId id="8004" r:id="rId74"/>
    <p:sldId id="8001" r:id="rId75"/>
    <p:sldId id="7842" r:id="rId76"/>
  </p:sldIdLst>
  <p:sldSz cx="9144000" cy="5143500" type="screen16x9"/>
  <p:notesSz cx="6858000" cy="9144000"/>
  <p:embeddedFontLst>
    <p:embeddedFont>
      <p:font typeface="Archia" panose="02000503000000020004" pitchFamily="50" charset="0"/>
      <p:regular r:id="rId78"/>
    </p:embeddedFont>
    <p:embeddedFont>
      <p:font typeface="DM Sans" pitchFamily="2" charset="0"/>
      <p:regular r:id="rId79"/>
      <p:bold r:id="rId80"/>
      <p:italic r:id="rId81"/>
      <p:boldItalic r:id="rId82"/>
    </p:embeddedFont>
    <p:embeddedFont>
      <p:font typeface="Outfit Light" pitchFamily="2" charset="0"/>
      <p:regular r:id="rId83"/>
    </p:embeddedFont>
    <p:embeddedFont>
      <p:font typeface="Work Sans" pitchFamily="2" charset="0"/>
      <p:regular r:id="rId84"/>
      <p:bold r:id="rId85"/>
      <p:italic r:id="rId86"/>
      <p:boldItalic r:id="rId87"/>
    </p:embeddedFont>
  </p:embeddedFontLst>
  <p:custDataLst>
    <p:tags r:id="rId8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9ADD4890-F5AC-40D4-A6AE-ADA05EE06A0C}">
          <p14:sldIdLst>
            <p14:sldId id="7882"/>
            <p14:sldId id="8000"/>
            <p14:sldId id="7952"/>
            <p14:sldId id="7953"/>
            <p14:sldId id="7954"/>
            <p14:sldId id="7955"/>
            <p14:sldId id="7999"/>
            <p14:sldId id="8003"/>
            <p14:sldId id="7972"/>
            <p14:sldId id="7959"/>
            <p14:sldId id="7961"/>
            <p14:sldId id="7950"/>
            <p14:sldId id="7962"/>
            <p14:sldId id="7963"/>
            <p14:sldId id="7964"/>
            <p14:sldId id="7965"/>
            <p14:sldId id="7951"/>
            <p14:sldId id="7957"/>
            <p14:sldId id="7966"/>
            <p14:sldId id="7967"/>
            <p14:sldId id="8023"/>
            <p14:sldId id="8022"/>
            <p14:sldId id="8025"/>
            <p14:sldId id="8024"/>
            <p14:sldId id="8005"/>
            <p14:sldId id="7958"/>
            <p14:sldId id="7968"/>
            <p14:sldId id="7969"/>
            <p14:sldId id="7973"/>
            <p14:sldId id="7970"/>
            <p14:sldId id="7974"/>
            <p14:sldId id="8006"/>
            <p14:sldId id="8007"/>
            <p14:sldId id="8008"/>
            <p14:sldId id="7975"/>
            <p14:sldId id="7976"/>
            <p14:sldId id="7977"/>
            <p14:sldId id="7978"/>
            <p14:sldId id="7979"/>
            <p14:sldId id="7980"/>
            <p14:sldId id="7987"/>
            <p14:sldId id="7984"/>
            <p14:sldId id="7985"/>
            <p14:sldId id="7986"/>
            <p14:sldId id="7995"/>
            <p14:sldId id="7996"/>
            <p14:sldId id="7997"/>
            <p14:sldId id="7998"/>
            <p14:sldId id="7982"/>
            <p14:sldId id="7983"/>
            <p14:sldId id="7991"/>
            <p14:sldId id="7988"/>
            <p14:sldId id="7992"/>
            <p14:sldId id="7989"/>
            <p14:sldId id="7993"/>
            <p14:sldId id="7990"/>
            <p14:sldId id="7994"/>
            <p14:sldId id="8009"/>
            <p14:sldId id="8021"/>
            <p14:sldId id="8011"/>
            <p14:sldId id="8012"/>
            <p14:sldId id="8013"/>
            <p14:sldId id="8014"/>
            <p14:sldId id="8015"/>
            <p14:sldId id="8016"/>
            <p14:sldId id="8017"/>
            <p14:sldId id="8018"/>
            <p14:sldId id="8019"/>
            <p14:sldId id="7981"/>
            <p14:sldId id="8004"/>
            <p14:sldId id="8001"/>
            <p14:sldId id="7842"/>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C90111A-8B88-BB2D-0002-3D2E1A171ED5}" name="Ian Kirkwood" initials="IK" userId="S::Ian.Kirkwood@microlise.com::66b137b6-3709-410b-bb13-94511600efc6" providerId="AD"/>
  <p188:author id="{9DEC5F9F-E859-708C-8023-AAB773053077}" name="Stephane Catelain" initials="SC" userId="S::stephane.catelain@microlise.com::0cba0495-4637-4790-a0a8-9c01f6b912dc" providerId="AD"/>
  <p188:author id="{B2AF64C1-FE8D-8128-B9CD-A91CC5EAEA0A}" name="Charlotte Porter" initials="CP" userId="S::charlotte.porter@microlise.com::ef3b827e-ed93-440f-897b-69c964c52c1a" providerId="AD"/>
  <p188:author id="{5324FDD4-44EB-BECB-786A-993DBACAF15D}" name="Stephen Watson" initials="SW" userId="S::stephen.watson@microlise.com::fa9c6ee7-2c13-4e97-b624-908b4d67296f" providerId="AD"/>
  <p188:author id="{5892B7DC-F644-A09D-E113-B3DE8013DB41}" name="Akshat Dimri" initials="AD" userId="S::akshat.dimri@microlise.com::3412880c-09b6-499d-b329-b4e1df0081c6" providerId="AD"/>
  <p188:author id="{CC210FEA-02E1-42B7-7710-CE9FE45D99E0}" name="Stephen Watson" initials="SW" userId="S::stephen.watson@Microlise.com::fa9c6ee7-2c13-4e97-b624-908b4d67296f" providerId="AD"/>
  <p188:author id="{E9030BEB-20CB-7118-317B-199084D624C3}" name="Andy Avery" initials="AA" userId="S::andy.avery@microlise.com::320ea48f-37aa-4a88-8805-33f0ee22448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291F"/>
    <a:srgbClr val="FFFFFF"/>
    <a:srgbClr val="34543F"/>
    <a:srgbClr val="152644"/>
    <a:srgbClr val="240CB4"/>
    <a:srgbClr val="01CBDE"/>
    <a:srgbClr val="BABCB9"/>
    <a:srgbClr val="152544"/>
    <a:srgbClr val="15243C"/>
    <a:srgbClr val="151D2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E9639D4-E3E2-4D34-9284-5A2195B3D0D7}">
  <a:tblStyle styleId="{6CA9371B-4015-41C4-A221-EC01A6F80B7B}"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464" autoAdjust="0"/>
  </p:normalViewPr>
  <p:slideViewPr>
    <p:cSldViewPr snapToGrid="0">
      <p:cViewPr varScale="1">
        <p:scale>
          <a:sx n="102" d="100"/>
          <a:sy n="102" d="100"/>
        </p:scale>
        <p:origin x="898" y="72"/>
      </p:cViewPr>
      <p:guideLst>
        <p:guide orient="horz" pos="162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7.fntdata"/><Relationship Id="rId89" Type="http://schemas.openxmlformats.org/officeDocument/2006/relationships/presProps" Target="pres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2.fntdata"/><Relationship Id="rId5" Type="http://schemas.openxmlformats.org/officeDocument/2006/relationships/slide" Target="slides/slide1.xml"/><Relationship Id="rId90" Type="http://schemas.openxmlformats.org/officeDocument/2006/relationships/viewProps" Target="view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3.fntdata"/><Relationship Id="rId85" Type="http://schemas.openxmlformats.org/officeDocument/2006/relationships/font" Target="fonts/font8.fntdata"/><Relationship Id="rId93"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6.fntdata"/><Relationship Id="rId88" Type="http://schemas.openxmlformats.org/officeDocument/2006/relationships/tags" Target="tags/tag1.xml"/><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1.fntdata"/><Relationship Id="rId81" Type="http://schemas.openxmlformats.org/officeDocument/2006/relationships/font" Target="fonts/font4.fntdata"/><Relationship Id="rId86" Type="http://schemas.openxmlformats.org/officeDocument/2006/relationships/font" Target="fonts/font9.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0.fntdata"/><Relationship Id="rId61" Type="http://schemas.openxmlformats.org/officeDocument/2006/relationships/slide" Target="slides/slide57.xml"/><Relationship Id="rId82" Type="http://schemas.openxmlformats.org/officeDocument/2006/relationships/font" Target="fonts/font5.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lstStyle>
            <a:lvl1pPr marL="457200" marR="0" lvl="0"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kerno.io/learn/kubernetes-services" TargetMode="External"/><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https://vrom.medium.com/implementing-and-working-with-kubernetes-services-4f2f885a673e"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devopstales.github.io/kubernetes/kubernetes-networking-1/"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medium.com/devops-mojo/kubernetes-probes-liveness-readiness-startup-overview-introduction-to-probes-types-configure-health-checks-206ff7c24487" TargetMode="External"/><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medium.com/swlh/pattern-sidecars-ambassadors-and-adapters-containers-ec8f4140c495" TargetMode="External"/><Relationship Id="rId2" Type="http://schemas.openxmlformats.org/officeDocument/2006/relationships/slide" Target="../slides/slide58.xml"/><Relationship Id="rId1" Type="http://schemas.openxmlformats.org/officeDocument/2006/relationships/notesMaster" Target="../notesMasters/notesMaster1.xml"/><Relationship Id="rId4" Type="http://schemas.openxmlformats.org/officeDocument/2006/relationships/hyperlink" Target="https://raghavramesh.github.io/posts/kubernetes-multi-container-patterns/"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alibabacloud.com/blog/kubernetes-persistent-storage-process_596505" TargetMode="External"/><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1</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02298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2D2F31"/>
                </a:solidFill>
                <a:effectLst/>
                <a:highlight>
                  <a:srgbClr val="FFFFFF"/>
                </a:highlight>
                <a:latin typeface="var(--font-stack-heading)"/>
              </a:rPr>
              <a:t>Edit Pods</a:t>
            </a:r>
          </a:p>
          <a:p>
            <a:pPr algn="l"/>
            <a:r>
              <a:rPr lang="en-US" b="0" i="0" dirty="0">
                <a:solidFill>
                  <a:srgbClr val="2D2F31"/>
                </a:solidFill>
                <a:effectLst/>
                <a:highlight>
                  <a:srgbClr val="FFFFFF"/>
                </a:highlight>
                <a:latin typeface="Udemy Sans"/>
              </a:rPr>
              <a:t>A Note on Editing Existing Pods</a:t>
            </a:r>
          </a:p>
          <a:p>
            <a:pPr algn="l"/>
            <a:r>
              <a:rPr lang="en-US" b="0" i="0" dirty="0">
                <a:solidFill>
                  <a:srgbClr val="2D2F31"/>
                </a:solidFill>
                <a:effectLst/>
                <a:highlight>
                  <a:srgbClr val="FFFFFF"/>
                </a:highlight>
                <a:latin typeface="Udemy Sans"/>
              </a:rPr>
              <a:t>In any of the practical quizzes, if you are asked to </a:t>
            </a:r>
            <a:r>
              <a:rPr lang="en-US" b="1" i="0" dirty="0">
                <a:solidFill>
                  <a:srgbClr val="2D2F31"/>
                </a:solidFill>
                <a:effectLst/>
                <a:highlight>
                  <a:srgbClr val="FFFFFF"/>
                </a:highlight>
                <a:latin typeface="Udemy Sans"/>
              </a:rPr>
              <a:t>edit an existing POD</a:t>
            </a:r>
            <a:r>
              <a:rPr lang="en-US" b="0" i="0" dirty="0">
                <a:solidFill>
                  <a:srgbClr val="2D2F31"/>
                </a:solidFill>
                <a:effectLst/>
                <a:highlight>
                  <a:srgbClr val="FFFFFF"/>
                </a:highlight>
                <a:latin typeface="Udemy Sans"/>
              </a:rPr>
              <a:t>, please note the following:</a:t>
            </a:r>
          </a:p>
          <a:p>
            <a:pPr algn="l">
              <a:buFont typeface="Arial" panose="020B0604020202020204" pitchFamily="34" charset="0"/>
              <a:buChar char="•"/>
            </a:pPr>
            <a:r>
              <a:rPr lang="en-US" b="0" i="0" dirty="0">
                <a:solidFill>
                  <a:srgbClr val="2D2F31"/>
                </a:solidFill>
                <a:effectLst/>
                <a:highlight>
                  <a:srgbClr val="FFFFFF"/>
                </a:highlight>
                <a:latin typeface="Udemy Sans"/>
              </a:rPr>
              <a:t>If you are given a pod definition file, edit that file and use it to create a new pod.</a:t>
            </a:r>
          </a:p>
          <a:p>
            <a:pPr algn="l">
              <a:buFont typeface="Arial" panose="020B0604020202020204" pitchFamily="34" charset="0"/>
              <a:buChar char="•"/>
            </a:pPr>
            <a:r>
              <a:rPr lang="en-US" b="1" i="0" dirty="0">
                <a:solidFill>
                  <a:srgbClr val="2D2F31"/>
                </a:solidFill>
                <a:effectLst/>
                <a:highlight>
                  <a:srgbClr val="FFFFFF"/>
                </a:highlight>
                <a:latin typeface="Udemy Sans"/>
              </a:rPr>
              <a:t>If you are not given a pod definition file</a:t>
            </a:r>
            <a:r>
              <a:rPr lang="en-US" b="0" i="0" dirty="0">
                <a:solidFill>
                  <a:srgbClr val="2D2F31"/>
                </a:solidFill>
                <a:effectLst/>
                <a:highlight>
                  <a:srgbClr val="FFFFFF"/>
                </a:highlight>
                <a:latin typeface="Udemy Sans"/>
              </a:rPr>
              <a:t>, you may extract the definition to a file using the below command:</a:t>
            </a:r>
          </a:p>
          <a:p>
            <a:pPr algn="l">
              <a:buFont typeface="Arial" panose="020B0604020202020204" pitchFamily="34" charset="0"/>
              <a:buChar char="•"/>
            </a:pPr>
            <a:r>
              <a:rPr lang="en-US" b="0" i="0" dirty="0" err="1">
                <a:solidFill>
                  <a:srgbClr val="2D2F31"/>
                </a:solidFill>
                <a:effectLst/>
                <a:highlight>
                  <a:srgbClr val="FFFFFF"/>
                </a:highlight>
                <a:latin typeface="Udemy Sans"/>
              </a:rPr>
              <a:t>kubectl</a:t>
            </a:r>
            <a:r>
              <a:rPr lang="en-US" b="0" i="0" dirty="0">
                <a:solidFill>
                  <a:srgbClr val="2D2F31"/>
                </a:solidFill>
                <a:effectLst/>
                <a:highlight>
                  <a:srgbClr val="FFFFFF"/>
                </a:highlight>
                <a:latin typeface="Udemy Sans"/>
              </a:rPr>
              <a:t> get pod &lt;pod-name&gt; -o </a:t>
            </a:r>
            <a:r>
              <a:rPr lang="en-US" b="0" i="0" dirty="0" err="1">
                <a:solidFill>
                  <a:srgbClr val="2D2F31"/>
                </a:solidFill>
                <a:effectLst/>
                <a:highlight>
                  <a:srgbClr val="FFFFFF"/>
                </a:highlight>
                <a:latin typeface="Udemy Sans"/>
              </a:rPr>
              <a:t>yaml</a:t>
            </a:r>
            <a:r>
              <a:rPr lang="en-US" b="0" i="0" dirty="0">
                <a:solidFill>
                  <a:srgbClr val="2D2F31"/>
                </a:solidFill>
                <a:effectLst/>
                <a:highlight>
                  <a:srgbClr val="FFFFFF"/>
                </a:highlight>
                <a:latin typeface="Udemy Sans"/>
              </a:rPr>
              <a:t> &gt; pod-</a:t>
            </a:r>
            <a:r>
              <a:rPr lang="en-US" b="0" i="0" dirty="0" err="1">
                <a:solidFill>
                  <a:srgbClr val="2D2F31"/>
                </a:solidFill>
                <a:effectLst/>
                <a:highlight>
                  <a:srgbClr val="FFFFFF"/>
                </a:highlight>
                <a:latin typeface="Udemy Sans"/>
              </a:rPr>
              <a:t>definition.yaml</a:t>
            </a:r>
            <a:endParaRPr lang="en-US" b="0" i="0" dirty="0">
              <a:solidFill>
                <a:srgbClr val="2D2F31"/>
              </a:solidFill>
              <a:effectLst/>
              <a:highlight>
                <a:srgbClr val="FFFFFF"/>
              </a:highlight>
              <a:latin typeface="Udemy Sans"/>
            </a:endParaRPr>
          </a:p>
          <a:p>
            <a:pPr algn="l">
              <a:buFont typeface="Arial" panose="020B0604020202020204" pitchFamily="34" charset="0"/>
              <a:buChar char="•"/>
            </a:pPr>
            <a:r>
              <a:rPr lang="en-US" b="0" i="0" dirty="0">
                <a:solidFill>
                  <a:srgbClr val="2D2F31"/>
                </a:solidFill>
                <a:effectLst/>
                <a:highlight>
                  <a:srgbClr val="FFFFFF"/>
                </a:highlight>
                <a:latin typeface="Udemy Sans"/>
              </a:rPr>
              <a:t>Then edit the file to make the necessary changes, delete, and re-create the pod.</a:t>
            </a:r>
          </a:p>
          <a:p>
            <a:pPr algn="l">
              <a:buFont typeface="Arial" panose="020B0604020202020204" pitchFamily="34" charset="0"/>
              <a:buChar char="•"/>
            </a:pPr>
            <a:r>
              <a:rPr lang="en-US" b="0" i="0" dirty="0">
                <a:solidFill>
                  <a:srgbClr val="2D2F31"/>
                </a:solidFill>
                <a:effectLst/>
                <a:highlight>
                  <a:srgbClr val="FFFFFF"/>
                </a:highlight>
                <a:latin typeface="Udemy Sans"/>
              </a:rPr>
              <a:t>To modify the properties of the pod, you can utilize the </a:t>
            </a:r>
            <a:r>
              <a:rPr lang="en-US" b="0" i="0" dirty="0" err="1">
                <a:solidFill>
                  <a:srgbClr val="2D2F31"/>
                </a:solidFill>
                <a:effectLst/>
                <a:highlight>
                  <a:srgbClr val="FFFFFF"/>
                </a:highlight>
                <a:latin typeface="Udemy Sans"/>
              </a:rPr>
              <a:t>kubectl</a:t>
            </a:r>
            <a:r>
              <a:rPr lang="en-US" b="0" i="0" dirty="0">
                <a:solidFill>
                  <a:srgbClr val="2D2F31"/>
                </a:solidFill>
                <a:effectLst/>
                <a:highlight>
                  <a:srgbClr val="FFFFFF"/>
                </a:highlight>
                <a:latin typeface="Udemy Sans"/>
              </a:rPr>
              <a:t> edit pod &lt;pod-name&gt; command. Please note that only the properties listed below are editable.</a:t>
            </a:r>
          </a:p>
          <a:p>
            <a:pPr marL="742950" lvl="1" indent="-285750" algn="l">
              <a:buFont typeface="Arial" panose="020B0604020202020204" pitchFamily="34" charset="0"/>
              <a:buChar char="•"/>
            </a:pPr>
            <a:r>
              <a:rPr lang="en-US" b="0" i="0" dirty="0" err="1">
                <a:solidFill>
                  <a:srgbClr val="2D2F31"/>
                </a:solidFill>
                <a:effectLst/>
                <a:highlight>
                  <a:srgbClr val="FFFFFF"/>
                </a:highlight>
                <a:latin typeface="Udemy Sans"/>
              </a:rPr>
              <a:t>spec.containers</a:t>
            </a:r>
            <a:r>
              <a:rPr lang="en-US" b="0" i="0" dirty="0">
                <a:solidFill>
                  <a:srgbClr val="2D2F31"/>
                </a:solidFill>
                <a:effectLst/>
                <a:highlight>
                  <a:srgbClr val="FFFFFF"/>
                </a:highlight>
                <a:latin typeface="Udemy Sans"/>
              </a:rPr>
              <a:t>[*].image</a:t>
            </a:r>
          </a:p>
          <a:p>
            <a:pPr marL="742950" lvl="1" indent="-285750" algn="l">
              <a:buFont typeface="Arial" panose="020B0604020202020204" pitchFamily="34" charset="0"/>
              <a:buChar char="•"/>
            </a:pPr>
            <a:r>
              <a:rPr lang="en-US" b="0" i="0" dirty="0" err="1">
                <a:solidFill>
                  <a:srgbClr val="2D2F31"/>
                </a:solidFill>
                <a:effectLst/>
                <a:highlight>
                  <a:srgbClr val="FFFFFF"/>
                </a:highlight>
                <a:latin typeface="Udemy Sans"/>
              </a:rPr>
              <a:t>spec.initContainers</a:t>
            </a:r>
            <a:r>
              <a:rPr lang="en-US" b="0" i="0" dirty="0">
                <a:solidFill>
                  <a:srgbClr val="2D2F31"/>
                </a:solidFill>
                <a:effectLst/>
                <a:highlight>
                  <a:srgbClr val="FFFFFF"/>
                </a:highlight>
                <a:latin typeface="Udemy Sans"/>
              </a:rPr>
              <a:t>[*].image</a:t>
            </a:r>
          </a:p>
          <a:p>
            <a:pPr marL="742950" lvl="1" indent="-285750" algn="l">
              <a:buFont typeface="Arial" panose="020B0604020202020204" pitchFamily="34" charset="0"/>
              <a:buChar char="•"/>
            </a:pPr>
            <a:r>
              <a:rPr lang="en-US" b="0" i="0" dirty="0" err="1">
                <a:solidFill>
                  <a:srgbClr val="2D2F31"/>
                </a:solidFill>
                <a:effectLst/>
                <a:highlight>
                  <a:srgbClr val="FFFFFF"/>
                </a:highlight>
                <a:latin typeface="Udemy Sans"/>
              </a:rPr>
              <a:t>spec.activeDeadlineSeconds</a:t>
            </a:r>
            <a:endParaRPr lang="en-US" b="0" i="0" dirty="0">
              <a:solidFill>
                <a:srgbClr val="2D2F31"/>
              </a:solidFill>
              <a:effectLst/>
              <a:highlight>
                <a:srgbClr val="FFFFFF"/>
              </a:highlight>
              <a:latin typeface="Udemy Sans"/>
            </a:endParaRPr>
          </a:p>
          <a:p>
            <a:pPr marL="742950" lvl="1" indent="-285750" algn="l">
              <a:buFont typeface="Arial" panose="020B0604020202020204" pitchFamily="34" charset="0"/>
              <a:buChar char="•"/>
            </a:pPr>
            <a:r>
              <a:rPr lang="en-US" b="0" i="0" dirty="0" err="1">
                <a:solidFill>
                  <a:srgbClr val="2D2F31"/>
                </a:solidFill>
                <a:effectLst/>
                <a:highlight>
                  <a:srgbClr val="FFFFFF"/>
                </a:highlight>
                <a:latin typeface="Udemy Sans"/>
              </a:rPr>
              <a:t>spec.tolerations</a:t>
            </a:r>
            <a:endParaRPr lang="en-US" b="0" i="0" dirty="0">
              <a:solidFill>
                <a:srgbClr val="2D2F31"/>
              </a:solidFill>
              <a:effectLst/>
              <a:highlight>
                <a:srgbClr val="FFFFFF"/>
              </a:highlight>
              <a:latin typeface="Udemy Sans"/>
            </a:endParaRPr>
          </a:p>
          <a:p>
            <a:pPr marL="742950" lvl="1" indent="-285750" algn="l">
              <a:buFont typeface="Arial" panose="020B0604020202020204" pitchFamily="34" charset="0"/>
              <a:buChar char="•"/>
            </a:pPr>
            <a:r>
              <a:rPr lang="en-US" b="0" i="0" dirty="0" err="1">
                <a:solidFill>
                  <a:srgbClr val="2D2F31"/>
                </a:solidFill>
                <a:effectLst/>
                <a:highlight>
                  <a:srgbClr val="FFFFFF"/>
                </a:highlight>
                <a:latin typeface="Udemy Sans"/>
              </a:rPr>
              <a:t>spec.terminationGracePeriodSeconds</a:t>
            </a:r>
            <a:endParaRPr lang="en-US" b="0" i="0" dirty="0">
              <a:solidFill>
                <a:srgbClr val="2D2F31"/>
              </a:solidFill>
              <a:effectLst/>
              <a:highlight>
                <a:srgbClr val="FFFFFF"/>
              </a:highlight>
              <a:latin typeface="Udemy Sans"/>
            </a:endParaRP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12</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942813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Kubernetes Services (kerno.io)</a:t>
            </a:r>
            <a:endParaRPr lang="en-IN" dirty="0"/>
          </a:p>
          <a:p>
            <a:r>
              <a:rPr lang="en-US">
                <a:hlinkClick r:id="rId4"/>
              </a:rPr>
              <a:t>Implementing and Working With Kubernetes Services | by Vladimir Romanov | Medium</a:t>
            </a:r>
            <a:endParaRPr lang="en-I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17</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534567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Understanding </a:t>
            </a:r>
            <a:r>
              <a:rPr lang="en-US" dirty="0" err="1">
                <a:hlinkClick r:id="rId3"/>
              </a:rPr>
              <a:t>kubernetes</a:t>
            </a:r>
            <a:r>
              <a:rPr lang="en-US" dirty="0">
                <a:hlinkClick r:id="rId3"/>
              </a:rPr>
              <a:t> networking: pods and services - </a:t>
            </a:r>
            <a:r>
              <a:rPr lang="en-US" dirty="0" err="1">
                <a:hlinkClick r:id="rId3"/>
              </a:rPr>
              <a:t>devopstales</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22</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68853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https://www.youtube.com/watch?v=mo2UrkjA7FE</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35</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22164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39</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441076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https://stackoverflow.com/questions/55549129/how-to-limit-memory-size-for-net-core-application-in-pod-of-Kubernetes</a:t>
            </a: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50</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408294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Kubernetes — Probes (Liveness, Readiness, and Startup) Overview | by Ashish Patel | DevOps Mojo | Medium</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51</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727689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Patterns: Sidecars, Ambassadors, and Adapters Containers | by Vittorio Nardone | The Startup | Medium</a:t>
            </a:r>
            <a:endParaRPr lang="en-IN" dirty="0"/>
          </a:p>
          <a:p>
            <a:r>
              <a:rPr lang="en-IN" dirty="0">
                <a:hlinkClick r:id="rId4"/>
              </a:rPr>
              <a:t>Talk: Kubernetes multi-container patterns | Raghav Ramesh</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58</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56743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Kubernetes Persistent Storage Process - Alibaba Cloud Community</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63</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257381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Dar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865640B-18BE-F499-9E93-F03ED27A842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2" name="Title 1">
            <a:extLst>
              <a:ext uri="{FF2B5EF4-FFF2-40B4-BE49-F238E27FC236}">
                <a16:creationId xmlns:a16="http://schemas.microsoft.com/office/drawing/2014/main" id="{AE124BE9-2446-D088-B919-8590FE1B92E3}"/>
              </a:ext>
            </a:extLst>
          </p:cNvPr>
          <p:cNvSpPr>
            <a:spLocks noGrp="1"/>
          </p:cNvSpPr>
          <p:nvPr>
            <p:ph type="ctrTitle"/>
          </p:nvPr>
        </p:nvSpPr>
        <p:spPr>
          <a:xfrm>
            <a:off x="375077" y="184417"/>
            <a:ext cx="6858000" cy="1790700"/>
          </a:xfrm>
        </p:spPr>
        <p:txBody>
          <a:bodyPr anchor="b"/>
          <a:lstStyle>
            <a:lvl1pPr algn="l">
              <a:defRPr sz="4800">
                <a:solidFill>
                  <a:schemeClr val="bg1"/>
                </a:solidFill>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B2058D79-E36A-CAB8-74D1-C7AD4448A310}"/>
              </a:ext>
            </a:extLst>
          </p:cNvPr>
          <p:cNvSpPr>
            <a:spLocks noGrp="1"/>
          </p:cNvSpPr>
          <p:nvPr>
            <p:ph type="subTitle" idx="1"/>
          </p:nvPr>
        </p:nvSpPr>
        <p:spPr>
          <a:xfrm>
            <a:off x="375077" y="2224261"/>
            <a:ext cx="6858000" cy="1241425"/>
          </a:xfrm>
        </p:spPr>
        <p:txBody>
          <a:bodyP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10" name="Graphic 9">
            <a:extLst>
              <a:ext uri="{FF2B5EF4-FFF2-40B4-BE49-F238E27FC236}">
                <a16:creationId xmlns:a16="http://schemas.microsoft.com/office/drawing/2014/main" id="{53CDAB6F-9CDA-C09A-F754-FDAC6DF5F9F8}"/>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75077" y="4556021"/>
            <a:ext cx="1828800" cy="231648"/>
          </a:xfrm>
          <a:prstGeom prst="rect">
            <a:avLst/>
          </a:prstGeom>
        </p:spPr>
      </p:pic>
    </p:spTree>
    <p:extLst>
      <p:ext uri="{BB962C8B-B14F-4D97-AF65-F5344CB8AC3E}">
        <p14:creationId xmlns:p14="http://schemas.microsoft.com/office/powerpoint/2010/main" val="3022427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Imag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24BE9-2446-D088-B919-8590FE1B92E3}"/>
              </a:ext>
            </a:extLst>
          </p:cNvPr>
          <p:cNvSpPr>
            <a:spLocks noGrp="1"/>
          </p:cNvSpPr>
          <p:nvPr>
            <p:ph type="ctrTitle"/>
          </p:nvPr>
        </p:nvSpPr>
        <p:spPr>
          <a:xfrm>
            <a:off x="375077" y="184417"/>
            <a:ext cx="6858000" cy="1790700"/>
          </a:xfrm>
        </p:spPr>
        <p:txBody>
          <a:bodyPr anchor="b"/>
          <a:lstStyle>
            <a:lvl1pPr algn="l">
              <a:defRPr sz="4800">
                <a:solidFill>
                  <a:schemeClr val="bg1"/>
                </a:solidFill>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B2058D79-E36A-CAB8-74D1-C7AD4448A310}"/>
              </a:ext>
            </a:extLst>
          </p:cNvPr>
          <p:cNvSpPr>
            <a:spLocks noGrp="1"/>
          </p:cNvSpPr>
          <p:nvPr>
            <p:ph type="subTitle" idx="1"/>
          </p:nvPr>
        </p:nvSpPr>
        <p:spPr>
          <a:xfrm>
            <a:off x="375077" y="2224261"/>
            <a:ext cx="2753134" cy="1241425"/>
          </a:xfrm>
        </p:spPr>
        <p:txBody>
          <a:bodyP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10" name="Graphic 9">
            <a:extLst>
              <a:ext uri="{FF2B5EF4-FFF2-40B4-BE49-F238E27FC236}">
                <a16:creationId xmlns:a16="http://schemas.microsoft.com/office/drawing/2014/main" id="{53CDAB6F-9CDA-C09A-F754-FDAC6DF5F9F8}"/>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75077" y="4556021"/>
            <a:ext cx="1828800" cy="231648"/>
          </a:xfrm>
          <a:prstGeom prst="rect">
            <a:avLst/>
          </a:prstGeom>
        </p:spPr>
      </p:pic>
    </p:spTree>
    <p:extLst>
      <p:ext uri="{BB962C8B-B14F-4D97-AF65-F5344CB8AC3E}">
        <p14:creationId xmlns:p14="http://schemas.microsoft.com/office/powerpoint/2010/main" val="144901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24BE9-2446-D088-B919-8590FE1B92E3}"/>
              </a:ext>
            </a:extLst>
          </p:cNvPr>
          <p:cNvSpPr>
            <a:spLocks noGrp="1"/>
          </p:cNvSpPr>
          <p:nvPr>
            <p:ph type="ctrTitle"/>
          </p:nvPr>
        </p:nvSpPr>
        <p:spPr>
          <a:xfrm>
            <a:off x="375077" y="184417"/>
            <a:ext cx="6170102" cy="1790700"/>
          </a:xfrm>
        </p:spPr>
        <p:txBody>
          <a:bodyPr anchor="b"/>
          <a:lstStyle>
            <a:lvl1pPr algn="l">
              <a:defRPr sz="4800">
                <a:solidFill>
                  <a:schemeClr val="tx1"/>
                </a:solidFill>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B2058D79-E36A-CAB8-74D1-C7AD4448A310}"/>
              </a:ext>
            </a:extLst>
          </p:cNvPr>
          <p:cNvSpPr>
            <a:spLocks noGrp="1"/>
          </p:cNvSpPr>
          <p:nvPr>
            <p:ph type="subTitle" idx="1"/>
          </p:nvPr>
        </p:nvSpPr>
        <p:spPr>
          <a:xfrm>
            <a:off x="375077" y="2224262"/>
            <a:ext cx="5358830" cy="422686"/>
          </a:xfrm>
        </p:spPr>
        <p:txBody>
          <a:bodyPr>
            <a:norm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5" name="Graphic 4">
            <a:extLst>
              <a:ext uri="{FF2B5EF4-FFF2-40B4-BE49-F238E27FC236}">
                <a16:creationId xmlns:a16="http://schemas.microsoft.com/office/drawing/2014/main" id="{577308BC-16A6-FE0F-1C94-589D59CB9D13}"/>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5077" y="4556021"/>
            <a:ext cx="1828800" cy="231647"/>
          </a:xfrm>
          <a:prstGeom prst="rect">
            <a:avLst/>
          </a:prstGeom>
        </p:spPr>
      </p:pic>
      <p:sp>
        <p:nvSpPr>
          <p:cNvPr id="19" name="Picture Placeholder 18">
            <a:extLst>
              <a:ext uri="{FF2B5EF4-FFF2-40B4-BE49-F238E27FC236}">
                <a16:creationId xmlns:a16="http://schemas.microsoft.com/office/drawing/2014/main" id="{905CE355-F97C-EEBD-8CA6-D3AFCDD6693B}"/>
              </a:ext>
            </a:extLst>
          </p:cNvPr>
          <p:cNvSpPr>
            <a:spLocks noGrp="1"/>
          </p:cNvSpPr>
          <p:nvPr>
            <p:ph type="pic" sz="quarter" idx="10"/>
          </p:nvPr>
        </p:nvSpPr>
        <p:spPr>
          <a:xfrm>
            <a:off x="4173620" y="1092657"/>
            <a:ext cx="4970380" cy="3695011"/>
          </a:xfrm>
          <a:custGeom>
            <a:avLst/>
            <a:gdLst>
              <a:gd name="connsiteX0" fmla="*/ 2214828 w 4970380"/>
              <a:gd name="connsiteY0" fmla="*/ 0 h 3695011"/>
              <a:gd name="connsiteX1" fmla="*/ 3322219 w 4970380"/>
              <a:gd name="connsiteY1" fmla="*/ 0 h 3695011"/>
              <a:gd name="connsiteX2" fmla="*/ 3690426 w 4970380"/>
              <a:gd name="connsiteY2" fmla="*/ 369936 h 3695011"/>
              <a:gd name="connsiteX3" fmla="*/ 3690426 w 4970380"/>
              <a:gd name="connsiteY3" fmla="*/ 1478494 h 3695011"/>
              <a:gd name="connsiteX4" fmla="*/ 4061726 w 4970380"/>
              <a:gd name="connsiteY4" fmla="*/ 1847829 h 3695011"/>
              <a:gd name="connsiteX5" fmla="*/ 4061726 w 4970380"/>
              <a:gd name="connsiteY5" fmla="*/ 1847922 h 3695011"/>
              <a:gd name="connsiteX6" fmla="*/ 4970380 w 4970380"/>
              <a:gd name="connsiteY6" fmla="*/ 1847922 h 3695011"/>
              <a:gd name="connsiteX7" fmla="*/ 4970380 w 4970380"/>
              <a:gd name="connsiteY7" fmla="*/ 3695011 h 3695011"/>
              <a:gd name="connsiteX8" fmla="*/ 4059372 w 4970380"/>
              <a:gd name="connsiteY8" fmla="*/ 3695011 h 3695011"/>
              <a:gd name="connsiteX9" fmla="*/ 3690380 w 4970380"/>
              <a:gd name="connsiteY9" fmla="*/ 3326139 h 3695011"/>
              <a:gd name="connsiteX10" fmla="*/ 3690380 w 4970380"/>
              <a:gd name="connsiteY10" fmla="*/ 2218319 h 3695011"/>
              <a:gd name="connsiteX11" fmla="*/ 3320326 w 4970380"/>
              <a:gd name="connsiteY11" fmla="*/ 1847922 h 3695011"/>
              <a:gd name="connsiteX12" fmla="*/ 2214782 w 4970380"/>
              <a:gd name="connsiteY12" fmla="*/ 1847922 h 3695011"/>
              <a:gd name="connsiteX13" fmla="*/ 1845513 w 4970380"/>
              <a:gd name="connsiteY13" fmla="*/ 2218319 h 3695011"/>
              <a:gd name="connsiteX14" fmla="*/ 1845513 w 4970380"/>
              <a:gd name="connsiteY14" fmla="*/ 3326139 h 3695011"/>
              <a:gd name="connsiteX15" fmla="*/ 1476845 w 4970380"/>
              <a:gd name="connsiteY15" fmla="*/ 3695011 h 3695011"/>
              <a:gd name="connsiteX16" fmla="*/ 369269 w 4970380"/>
              <a:gd name="connsiteY16" fmla="*/ 3695011 h 3695011"/>
              <a:gd name="connsiteX17" fmla="*/ 0 w 4970380"/>
              <a:gd name="connsiteY17" fmla="*/ 3326139 h 3695011"/>
              <a:gd name="connsiteX18" fmla="*/ 0 w 4970380"/>
              <a:gd name="connsiteY18" fmla="*/ 2217210 h 3695011"/>
              <a:gd name="connsiteX19" fmla="*/ 369269 w 4970380"/>
              <a:gd name="connsiteY19" fmla="*/ 1847875 h 3695011"/>
              <a:gd name="connsiteX20" fmla="*/ 1476891 w 4970380"/>
              <a:gd name="connsiteY20" fmla="*/ 1847875 h 3695011"/>
              <a:gd name="connsiteX21" fmla="*/ 1845559 w 4970380"/>
              <a:gd name="connsiteY21" fmla="*/ 1476831 h 3695011"/>
              <a:gd name="connsiteX22" fmla="*/ 1845559 w 4970380"/>
              <a:gd name="connsiteY22" fmla="*/ 369936 h 3695011"/>
              <a:gd name="connsiteX23" fmla="*/ 2214828 w 4970380"/>
              <a:gd name="connsiteY23" fmla="*/ 0 h 3695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70380" h="3695011">
                <a:moveTo>
                  <a:pt x="2214828" y="0"/>
                </a:moveTo>
                <a:lnTo>
                  <a:pt x="3322219" y="0"/>
                </a:lnTo>
                <a:cubicBezTo>
                  <a:pt x="3525296" y="0"/>
                  <a:pt x="3690426" y="165607"/>
                  <a:pt x="3690426" y="369936"/>
                </a:cubicBezTo>
                <a:lnTo>
                  <a:pt x="3690426" y="1478494"/>
                </a:lnTo>
                <a:cubicBezTo>
                  <a:pt x="3691673" y="1682084"/>
                  <a:pt x="3857587" y="1847044"/>
                  <a:pt x="4061726" y="1847829"/>
                </a:cubicBezTo>
                <a:lnTo>
                  <a:pt x="4061726" y="1847922"/>
                </a:lnTo>
                <a:lnTo>
                  <a:pt x="4970380" y="1847922"/>
                </a:lnTo>
                <a:lnTo>
                  <a:pt x="4970380" y="3695011"/>
                </a:lnTo>
                <a:lnTo>
                  <a:pt x="4059372" y="3695011"/>
                </a:lnTo>
                <a:cubicBezTo>
                  <a:pt x="3855972" y="3695011"/>
                  <a:pt x="3690380" y="3529728"/>
                  <a:pt x="3690380" y="3326139"/>
                </a:cubicBezTo>
                <a:lnTo>
                  <a:pt x="3690380" y="2218319"/>
                </a:lnTo>
                <a:cubicBezTo>
                  <a:pt x="3690380" y="2014591"/>
                  <a:pt x="3525250" y="1848846"/>
                  <a:pt x="3320326" y="1847922"/>
                </a:cubicBezTo>
                <a:lnTo>
                  <a:pt x="2214782" y="1847922"/>
                </a:lnTo>
                <a:cubicBezTo>
                  <a:pt x="2011105" y="1848846"/>
                  <a:pt x="1846160" y="2013529"/>
                  <a:pt x="1845513" y="2218319"/>
                </a:cubicBezTo>
                <a:lnTo>
                  <a:pt x="1845513" y="3326139"/>
                </a:lnTo>
                <a:cubicBezTo>
                  <a:pt x="1845513" y="3529728"/>
                  <a:pt x="1679598" y="3695011"/>
                  <a:pt x="1476845" y="3695011"/>
                </a:cubicBezTo>
                <a:lnTo>
                  <a:pt x="369269" y="3695011"/>
                </a:lnTo>
                <a:cubicBezTo>
                  <a:pt x="164853" y="3695011"/>
                  <a:pt x="0" y="3529728"/>
                  <a:pt x="0" y="3326139"/>
                </a:cubicBezTo>
                <a:lnTo>
                  <a:pt x="0" y="2217210"/>
                </a:lnTo>
                <a:cubicBezTo>
                  <a:pt x="0" y="2013159"/>
                  <a:pt x="164807" y="1847875"/>
                  <a:pt x="369269" y="1847875"/>
                </a:cubicBezTo>
                <a:lnTo>
                  <a:pt x="1476891" y="1847875"/>
                </a:lnTo>
                <a:cubicBezTo>
                  <a:pt x="1680568" y="1847090"/>
                  <a:pt x="1845559" y="1681160"/>
                  <a:pt x="1845559" y="1476831"/>
                </a:cubicBezTo>
                <a:lnTo>
                  <a:pt x="1845559" y="369936"/>
                </a:lnTo>
                <a:cubicBezTo>
                  <a:pt x="1845559" y="165607"/>
                  <a:pt x="2010366" y="0"/>
                  <a:pt x="2214828" y="0"/>
                </a:cubicBezTo>
                <a:close/>
              </a:path>
            </a:pathLst>
          </a:custGeom>
          <a:solidFill>
            <a:schemeClr val="bg2"/>
          </a:solidFill>
        </p:spPr>
        <p:txBody>
          <a:bodyPr wrap="square">
            <a:noAutofit/>
          </a:bodyPr>
          <a:lstStyle/>
          <a:p>
            <a:endParaRPr lang="en-US"/>
          </a:p>
        </p:txBody>
      </p:sp>
    </p:spTree>
    <p:extLst>
      <p:ext uri="{BB962C8B-B14F-4D97-AF65-F5344CB8AC3E}">
        <p14:creationId xmlns:p14="http://schemas.microsoft.com/office/powerpoint/2010/main" val="13578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AFCA045-11A1-2078-48EE-302321EC4C21}"/>
              </a:ext>
            </a:extLst>
          </p:cNvPr>
          <p:cNvSpPr>
            <a:spLocks noGrp="1"/>
          </p:cNvSpPr>
          <p:nvPr>
            <p:ph idx="1"/>
          </p:nvPr>
        </p:nvSpPr>
        <p:spPr>
          <a:xfrm>
            <a:off x="375077" y="1370013"/>
            <a:ext cx="7886700" cy="326231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09BAF11-A0F3-E01E-9FD6-9C5FE01A0FE8}"/>
              </a:ext>
            </a:extLst>
          </p:cNvPr>
          <p:cNvSpPr>
            <a:spLocks noGrp="1"/>
          </p:cNvSpPr>
          <p:nvPr>
            <p:ph type="dt" sz="half" idx="10"/>
          </p:nvPr>
        </p:nvSpPr>
        <p:spPr/>
        <p:txBody>
          <a:bodyPr/>
          <a:lstStyle/>
          <a:p>
            <a:fld id="{43AE0025-1574-D642-8EE0-174E1486F67F}" type="datetime1">
              <a:rPr lang="en-GB" smtClean="0"/>
              <a:t>12/03/2025</a:t>
            </a:fld>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p>
            <a:fld id="{CC0CD38E-35A1-2247-B55D-C6626AF9BA09}" type="slidenum">
              <a:rPr lang="en-US" smtClean="0"/>
              <a:t>‹#›</a:t>
            </a:fld>
            <a:endParaRPr lang="en-US"/>
          </a:p>
        </p:txBody>
      </p:sp>
      <p:pic>
        <p:nvPicPr>
          <p:cNvPr id="8" name="Picture 7">
            <a:extLst>
              <a:ext uri="{FF2B5EF4-FFF2-40B4-BE49-F238E27FC236}">
                <a16:creationId xmlns:a16="http://schemas.microsoft.com/office/drawing/2014/main" id="{9387F0B3-F48E-9221-7329-DFD95F5095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6113" y="4564987"/>
            <a:ext cx="549756" cy="231648"/>
          </a:xfrm>
          <a:prstGeom prst="rect">
            <a:avLst/>
          </a:prstGeom>
        </p:spPr>
      </p:pic>
    </p:spTree>
    <p:extLst>
      <p:ext uri="{BB962C8B-B14F-4D97-AF65-F5344CB8AC3E}">
        <p14:creationId xmlns:p14="http://schemas.microsoft.com/office/powerpoint/2010/main" val="2142456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Strik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p:nvPr>
        </p:nvSpPr>
        <p:spPr/>
        <p:txBody>
          <a:bodyPr/>
          <a:lstStyle>
            <a:lvl1pPr>
              <a:defRPr>
                <a:solidFill>
                  <a:schemeClr val="tx1"/>
                </a:solidFill>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AFCA045-11A1-2078-48EE-302321EC4C21}"/>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09BAF11-A0F3-E01E-9FD6-9C5FE01A0FE8}"/>
              </a:ext>
            </a:extLst>
          </p:cNvPr>
          <p:cNvSpPr>
            <a:spLocks noGrp="1"/>
          </p:cNvSpPr>
          <p:nvPr>
            <p:ph type="dt" sz="half" idx="10"/>
          </p:nvPr>
        </p:nvSpPr>
        <p:spPr/>
        <p:txBody>
          <a:bodyPr/>
          <a:lstStyle>
            <a:lvl1pPr>
              <a:defRPr>
                <a:solidFill>
                  <a:schemeClr val="tx1"/>
                </a:solidFill>
              </a:defRPr>
            </a:lvl1pPr>
          </a:lstStyle>
          <a:p>
            <a:fld id="{7064ED63-6F5C-5942-83E2-082A9F04AE53}" type="datetime1">
              <a:rPr lang="en-GB" smtClean="0"/>
              <a:t>12/03/2025</a:t>
            </a:fld>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lvl1pPr>
              <a:defRPr>
                <a:solidFill>
                  <a:schemeClr val="tx1"/>
                </a:solidFill>
              </a:defRPr>
            </a:lvl1pPr>
          </a:lstStyle>
          <a:p>
            <a:fld id="{CC0CD38E-35A1-2247-B55D-C6626AF9BA09}" type="slidenum">
              <a:rPr lang="en-US" smtClean="0"/>
              <a:pPr/>
              <a:t>‹#›</a:t>
            </a:fld>
            <a:endParaRPr lang="en-US"/>
          </a:p>
        </p:txBody>
      </p:sp>
      <p:pic>
        <p:nvPicPr>
          <p:cNvPr id="9" name="Picture 8">
            <a:extLst>
              <a:ext uri="{FF2B5EF4-FFF2-40B4-BE49-F238E27FC236}">
                <a16:creationId xmlns:a16="http://schemas.microsoft.com/office/drawing/2014/main" id="{21AFCFC0-61CB-5669-F6FB-6544D710AC8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9794" y="4556120"/>
            <a:ext cx="546075" cy="231032"/>
          </a:xfrm>
          <a:prstGeom prst="rect">
            <a:avLst/>
          </a:prstGeom>
        </p:spPr>
      </p:pic>
    </p:spTree>
    <p:extLst>
      <p:ext uri="{BB962C8B-B14F-4D97-AF65-F5344CB8AC3E}">
        <p14:creationId xmlns:p14="http://schemas.microsoft.com/office/powerpoint/2010/main" val="1673424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Dark">
    <p:bg>
      <p:bgPr>
        <a:gradFill>
          <a:gsLst>
            <a:gs pos="53000">
              <a:schemeClr val="tx1"/>
            </a:gs>
            <a:gs pos="0">
              <a:srgbClr val="1D4582"/>
            </a:gs>
            <a:gs pos="100000">
              <a:schemeClr val="tx1"/>
            </a:gs>
          </a:gsLst>
          <a:lin ang="186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AFCA045-11A1-2078-48EE-302321EC4C21}"/>
              </a:ext>
            </a:extLst>
          </p:cNvPr>
          <p:cNvSpPr>
            <a:spLocks noGrp="1"/>
          </p:cNvSpPr>
          <p:nvPr>
            <p:ph idx="1"/>
          </p:nvPr>
        </p:nvSpPr>
        <p:spPr/>
        <p:txBody>
          <a:bodyPr/>
          <a:lstStyle>
            <a:lvl1pPr>
              <a:buClr>
                <a:schemeClr val="accent1"/>
              </a:buClr>
              <a:defRPr>
                <a:solidFill>
                  <a:schemeClr val="bg1"/>
                </a:solidFill>
              </a:defRPr>
            </a:lvl1pPr>
            <a:lvl2pPr>
              <a:buClr>
                <a:schemeClr val="accent1"/>
              </a:buClr>
              <a:defRPr>
                <a:solidFill>
                  <a:schemeClr val="bg1"/>
                </a:solidFill>
              </a:defRPr>
            </a:lvl2pPr>
            <a:lvl3pPr>
              <a:buClr>
                <a:schemeClr val="accent1"/>
              </a:buClr>
              <a:defRPr>
                <a:solidFill>
                  <a:schemeClr val="bg1"/>
                </a:solidFill>
              </a:defRPr>
            </a:lvl3pPr>
            <a:lvl4pPr>
              <a:buClr>
                <a:schemeClr val="accent1"/>
              </a:buClr>
              <a:defRPr>
                <a:solidFill>
                  <a:schemeClr val="bg1"/>
                </a:solidFill>
              </a:defRPr>
            </a:lvl4pPr>
            <a:lvl5pPr>
              <a:buClr>
                <a:schemeClr val="accent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09BAF11-A0F3-E01E-9FD6-9C5FE01A0FE8}"/>
              </a:ext>
            </a:extLst>
          </p:cNvPr>
          <p:cNvSpPr>
            <a:spLocks noGrp="1"/>
          </p:cNvSpPr>
          <p:nvPr>
            <p:ph type="dt" sz="half" idx="10"/>
          </p:nvPr>
        </p:nvSpPr>
        <p:spPr/>
        <p:txBody>
          <a:bodyPr/>
          <a:lstStyle>
            <a:lvl1pPr>
              <a:defRPr>
                <a:solidFill>
                  <a:schemeClr val="bg1"/>
                </a:solidFill>
              </a:defRPr>
            </a:lvl1pPr>
          </a:lstStyle>
          <a:p>
            <a:fld id="{779D6F75-6C30-D546-9F6A-480A3E7FC071}" type="datetime1">
              <a:rPr lang="en-GB" smtClean="0"/>
              <a:t>12/03/2025</a:t>
            </a:fld>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lvl1pPr>
              <a:defRPr>
                <a:solidFill>
                  <a:schemeClr val="bg1"/>
                </a:solidFill>
              </a:defRPr>
            </a:lvl1pPr>
          </a:lstStyle>
          <a:p>
            <a:fld id="{CC0CD38E-35A1-2247-B55D-C6626AF9BA09}" type="slidenum">
              <a:rPr lang="en-US" smtClean="0"/>
              <a:pPr/>
              <a:t>‹#›</a:t>
            </a:fld>
            <a:endParaRPr lang="en-US"/>
          </a:p>
        </p:txBody>
      </p:sp>
      <p:pic>
        <p:nvPicPr>
          <p:cNvPr id="5" name="Picture 4">
            <a:extLst>
              <a:ext uri="{FF2B5EF4-FFF2-40B4-BE49-F238E27FC236}">
                <a16:creationId xmlns:a16="http://schemas.microsoft.com/office/drawing/2014/main" id="{7F8E8B6D-C22D-8AD4-E922-BB2D78DAD54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6113" y="4564987"/>
            <a:ext cx="549756" cy="231648"/>
          </a:xfrm>
          <a:prstGeom prst="rect">
            <a:avLst/>
          </a:prstGeom>
        </p:spPr>
      </p:pic>
    </p:spTree>
    <p:extLst>
      <p:ext uri="{BB962C8B-B14F-4D97-AF65-F5344CB8AC3E}">
        <p14:creationId xmlns:p14="http://schemas.microsoft.com/office/powerpoint/2010/main" val="1250069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 Cloud Cor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AFCA045-11A1-2078-48EE-302321EC4C21}"/>
              </a:ext>
            </a:extLst>
          </p:cNvPr>
          <p:cNvSpPr>
            <a:spLocks noGrp="1"/>
          </p:cNvSpPr>
          <p:nvPr>
            <p:ph idx="1"/>
          </p:nvPr>
        </p:nvSpPr>
        <p:spPr>
          <a:xfrm>
            <a:off x="375077" y="1370013"/>
            <a:ext cx="4533099" cy="326231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p>
            <a:fld id="{CC0CD38E-35A1-2247-B55D-C6626AF9BA09}" type="slidenum">
              <a:rPr lang="en-US" smtClean="0"/>
              <a:t>‹#›</a:t>
            </a:fld>
            <a:endParaRPr lang="en-US"/>
          </a:p>
        </p:txBody>
      </p:sp>
      <p:pic>
        <p:nvPicPr>
          <p:cNvPr id="8" name="Picture 7">
            <a:extLst>
              <a:ext uri="{FF2B5EF4-FFF2-40B4-BE49-F238E27FC236}">
                <a16:creationId xmlns:a16="http://schemas.microsoft.com/office/drawing/2014/main" id="{9387F0B3-F48E-9221-7329-DFD95F5095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6113" y="4564987"/>
            <a:ext cx="549756" cy="231648"/>
          </a:xfrm>
          <a:prstGeom prst="rect">
            <a:avLst/>
          </a:prstGeom>
        </p:spPr>
      </p:pic>
      <p:sp>
        <p:nvSpPr>
          <p:cNvPr id="12" name="Picture Placeholder 11">
            <a:extLst>
              <a:ext uri="{FF2B5EF4-FFF2-40B4-BE49-F238E27FC236}">
                <a16:creationId xmlns:a16="http://schemas.microsoft.com/office/drawing/2014/main" id="{7A9A84BA-CF94-9DAF-E4F8-052633D7CD55}"/>
              </a:ext>
            </a:extLst>
          </p:cNvPr>
          <p:cNvSpPr>
            <a:spLocks noGrp="1"/>
          </p:cNvSpPr>
          <p:nvPr>
            <p:ph type="pic" sz="quarter" idx="13"/>
          </p:nvPr>
        </p:nvSpPr>
        <p:spPr>
          <a:xfrm>
            <a:off x="5245901" y="1351026"/>
            <a:ext cx="3898099" cy="3792474"/>
          </a:xfrm>
          <a:custGeom>
            <a:avLst/>
            <a:gdLst>
              <a:gd name="connsiteX0" fmla="*/ 3898050 w 3898099"/>
              <a:gd name="connsiteY0" fmla="*/ 3792424 h 3792474"/>
              <a:gd name="connsiteX1" fmla="*/ 3898099 w 3898099"/>
              <a:gd name="connsiteY1" fmla="*/ 3792424 h 3792474"/>
              <a:gd name="connsiteX2" fmla="*/ 3898050 w 3898099"/>
              <a:gd name="connsiteY2" fmla="*/ 3792474 h 3792474"/>
              <a:gd name="connsiteX3" fmla="*/ 531417 w 3898099"/>
              <a:gd name="connsiteY3" fmla="*/ 0 h 3792474"/>
              <a:gd name="connsiteX4" fmla="*/ 2125123 w 3898099"/>
              <a:gd name="connsiteY4" fmla="*/ 0 h 3792474"/>
              <a:gd name="connsiteX5" fmla="*/ 2655648 w 3898099"/>
              <a:gd name="connsiteY5" fmla="*/ 530048 h 3792474"/>
              <a:gd name="connsiteX6" fmla="*/ 2655648 w 3898099"/>
              <a:gd name="connsiteY6" fmla="*/ 2121974 h 3792474"/>
              <a:gd name="connsiteX7" fmla="*/ 3187065 w 3898099"/>
              <a:gd name="connsiteY7" fmla="*/ 2654251 h 3792474"/>
              <a:gd name="connsiteX8" fmla="*/ 3898050 w 3898099"/>
              <a:gd name="connsiteY8" fmla="*/ 2654251 h 3792474"/>
              <a:gd name="connsiteX9" fmla="*/ 3898050 w 3898099"/>
              <a:gd name="connsiteY9" fmla="*/ 3792424 h 3792474"/>
              <a:gd name="connsiteX10" fmla="*/ 2655697 w 3898099"/>
              <a:gd name="connsiteY10" fmla="*/ 3792424 h 3792474"/>
              <a:gd name="connsiteX11" fmla="*/ 2655697 w 3898099"/>
              <a:gd name="connsiteY11" fmla="*/ 3187420 h 3792474"/>
              <a:gd name="connsiteX12" fmla="*/ 2125173 w 3898099"/>
              <a:gd name="connsiteY12" fmla="*/ 2654251 h 3792474"/>
              <a:gd name="connsiteX13" fmla="*/ 531417 w 3898099"/>
              <a:gd name="connsiteY13" fmla="*/ 2654251 h 3792474"/>
              <a:gd name="connsiteX14" fmla="*/ 0 w 3898099"/>
              <a:gd name="connsiteY14" fmla="*/ 2123559 h 3792474"/>
              <a:gd name="connsiteX15" fmla="*/ 0 w 3898099"/>
              <a:gd name="connsiteY15" fmla="*/ 530048 h 3792474"/>
              <a:gd name="connsiteX16" fmla="*/ 531417 w 3898099"/>
              <a:gd name="connsiteY16" fmla="*/ 0 h 3792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98099" h="3792474">
                <a:moveTo>
                  <a:pt x="3898050" y="3792424"/>
                </a:moveTo>
                <a:lnTo>
                  <a:pt x="3898099" y="3792424"/>
                </a:lnTo>
                <a:lnTo>
                  <a:pt x="3898050" y="3792474"/>
                </a:lnTo>
                <a:close/>
                <a:moveTo>
                  <a:pt x="531417" y="0"/>
                </a:moveTo>
                <a:lnTo>
                  <a:pt x="2125123" y="0"/>
                </a:lnTo>
                <a:cubicBezTo>
                  <a:pt x="2416902" y="0"/>
                  <a:pt x="2655648" y="237503"/>
                  <a:pt x="2655648" y="530048"/>
                </a:cubicBezTo>
                <a:lnTo>
                  <a:pt x="2655648" y="2121974"/>
                </a:lnTo>
                <a:cubicBezTo>
                  <a:pt x="2656590" y="2416302"/>
                  <a:pt x="2893948" y="2652914"/>
                  <a:pt x="3187065" y="2654251"/>
                </a:cubicBezTo>
                <a:lnTo>
                  <a:pt x="3898050" y="2654251"/>
                </a:lnTo>
                <a:lnTo>
                  <a:pt x="3898050" y="3792424"/>
                </a:lnTo>
                <a:lnTo>
                  <a:pt x="2655697" y="3792424"/>
                </a:lnTo>
                <a:lnTo>
                  <a:pt x="2655697" y="3187420"/>
                </a:lnTo>
                <a:cubicBezTo>
                  <a:pt x="2655697" y="2893786"/>
                  <a:pt x="2418290" y="2655391"/>
                  <a:pt x="2125173" y="2654251"/>
                </a:cubicBezTo>
                <a:lnTo>
                  <a:pt x="531417" y="2654251"/>
                </a:lnTo>
                <a:cubicBezTo>
                  <a:pt x="237210" y="2654251"/>
                  <a:pt x="0" y="2416748"/>
                  <a:pt x="0" y="2123559"/>
                </a:cubicBezTo>
                <a:lnTo>
                  <a:pt x="0" y="530048"/>
                </a:lnTo>
                <a:cubicBezTo>
                  <a:pt x="0" y="237503"/>
                  <a:pt x="237210" y="0"/>
                  <a:pt x="531417" y="0"/>
                </a:cubicBezTo>
                <a:close/>
              </a:path>
            </a:pathLst>
          </a:custGeom>
          <a:solidFill>
            <a:schemeClr val="bg2"/>
          </a:solidFill>
        </p:spPr>
        <p:txBody>
          <a:bodyPr wrap="square">
            <a:noAutofit/>
          </a:bodyPr>
          <a:lstStyle/>
          <a:p>
            <a:endParaRPr lang="en-US"/>
          </a:p>
        </p:txBody>
      </p:sp>
    </p:spTree>
    <p:extLst>
      <p:ext uri="{BB962C8B-B14F-4D97-AF65-F5344CB8AC3E}">
        <p14:creationId xmlns:p14="http://schemas.microsoft.com/office/powerpoint/2010/main" val="508959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Cloud Corner Strik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AFCA045-11A1-2078-48EE-302321EC4C21}"/>
              </a:ext>
            </a:extLst>
          </p:cNvPr>
          <p:cNvSpPr>
            <a:spLocks noGrp="1"/>
          </p:cNvSpPr>
          <p:nvPr>
            <p:ph idx="1"/>
          </p:nvPr>
        </p:nvSpPr>
        <p:spPr>
          <a:xfrm>
            <a:off x="375077" y="1370013"/>
            <a:ext cx="4533099" cy="3262312"/>
          </a:xfrm>
        </p:spPr>
        <p:txBody>
          <a:bodyPr/>
          <a:lstStyle>
            <a:lvl1pPr>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p>
            <a:fld id="{CC0CD38E-35A1-2247-B55D-C6626AF9BA09}" type="slidenum">
              <a:rPr lang="en-US" smtClean="0"/>
              <a:t>‹#›</a:t>
            </a:fld>
            <a:endParaRPr lang="en-US"/>
          </a:p>
        </p:txBody>
      </p:sp>
      <p:sp>
        <p:nvSpPr>
          <p:cNvPr id="12" name="Picture Placeholder 11">
            <a:extLst>
              <a:ext uri="{FF2B5EF4-FFF2-40B4-BE49-F238E27FC236}">
                <a16:creationId xmlns:a16="http://schemas.microsoft.com/office/drawing/2014/main" id="{7A9A84BA-CF94-9DAF-E4F8-052633D7CD55}"/>
              </a:ext>
            </a:extLst>
          </p:cNvPr>
          <p:cNvSpPr>
            <a:spLocks noGrp="1"/>
          </p:cNvSpPr>
          <p:nvPr>
            <p:ph type="pic" sz="quarter" idx="13"/>
          </p:nvPr>
        </p:nvSpPr>
        <p:spPr>
          <a:xfrm>
            <a:off x="5245901" y="1351026"/>
            <a:ext cx="3898099" cy="3792474"/>
          </a:xfrm>
          <a:custGeom>
            <a:avLst/>
            <a:gdLst>
              <a:gd name="connsiteX0" fmla="*/ 3898050 w 3898099"/>
              <a:gd name="connsiteY0" fmla="*/ 3792424 h 3792474"/>
              <a:gd name="connsiteX1" fmla="*/ 3898099 w 3898099"/>
              <a:gd name="connsiteY1" fmla="*/ 3792424 h 3792474"/>
              <a:gd name="connsiteX2" fmla="*/ 3898050 w 3898099"/>
              <a:gd name="connsiteY2" fmla="*/ 3792474 h 3792474"/>
              <a:gd name="connsiteX3" fmla="*/ 531417 w 3898099"/>
              <a:gd name="connsiteY3" fmla="*/ 0 h 3792474"/>
              <a:gd name="connsiteX4" fmla="*/ 2125123 w 3898099"/>
              <a:gd name="connsiteY4" fmla="*/ 0 h 3792474"/>
              <a:gd name="connsiteX5" fmla="*/ 2655648 w 3898099"/>
              <a:gd name="connsiteY5" fmla="*/ 530048 h 3792474"/>
              <a:gd name="connsiteX6" fmla="*/ 2655648 w 3898099"/>
              <a:gd name="connsiteY6" fmla="*/ 2121974 h 3792474"/>
              <a:gd name="connsiteX7" fmla="*/ 3187065 w 3898099"/>
              <a:gd name="connsiteY7" fmla="*/ 2654251 h 3792474"/>
              <a:gd name="connsiteX8" fmla="*/ 3898050 w 3898099"/>
              <a:gd name="connsiteY8" fmla="*/ 2654251 h 3792474"/>
              <a:gd name="connsiteX9" fmla="*/ 3898050 w 3898099"/>
              <a:gd name="connsiteY9" fmla="*/ 3792424 h 3792474"/>
              <a:gd name="connsiteX10" fmla="*/ 2655697 w 3898099"/>
              <a:gd name="connsiteY10" fmla="*/ 3792424 h 3792474"/>
              <a:gd name="connsiteX11" fmla="*/ 2655697 w 3898099"/>
              <a:gd name="connsiteY11" fmla="*/ 3187420 h 3792474"/>
              <a:gd name="connsiteX12" fmla="*/ 2125173 w 3898099"/>
              <a:gd name="connsiteY12" fmla="*/ 2654251 h 3792474"/>
              <a:gd name="connsiteX13" fmla="*/ 531417 w 3898099"/>
              <a:gd name="connsiteY13" fmla="*/ 2654251 h 3792474"/>
              <a:gd name="connsiteX14" fmla="*/ 0 w 3898099"/>
              <a:gd name="connsiteY14" fmla="*/ 2123559 h 3792474"/>
              <a:gd name="connsiteX15" fmla="*/ 0 w 3898099"/>
              <a:gd name="connsiteY15" fmla="*/ 530048 h 3792474"/>
              <a:gd name="connsiteX16" fmla="*/ 531417 w 3898099"/>
              <a:gd name="connsiteY16" fmla="*/ 0 h 3792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98099" h="3792474">
                <a:moveTo>
                  <a:pt x="3898050" y="3792424"/>
                </a:moveTo>
                <a:lnTo>
                  <a:pt x="3898099" y="3792424"/>
                </a:lnTo>
                <a:lnTo>
                  <a:pt x="3898050" y="3792474"/>
                </a:lnTo>
                <a:close/>
                <a:moveTo>
                  <a:pt x="531417" y="0"/>
                </a:moveTo>
                <a:lnTo>
                  <a:pt x="2125123" y="0"/>
                </a:lnTo>
                <a:cubicBezTo>
                  <a:pt x="2416902" y="0"/>
                  <a:pt x="2655648" y="237503"/>
                  <a:pt x="2655648" y="530048"/>
                </a:cubicBezTo>
                <a:lnTo>
                  <a:pt x="2655648" y="2121974"/>
                </a:lnTo>
                <a:cubicBezTo>
                  <a:pt x="2656590" y="2416302"/>
                  <a:pt x="2893948" y="2652914"/>
                  <a:pt x="3187065" y="2654251"/>
                </a:cubicBezTo>
                <a:lnTo>
                  <a:pt x="3898050" y="2654251"/>
                </a:lnTo>
                <a:lnTo>
                  <a:pt x="3898050" y="3792424"/>
                </a:lnTo>
                <a:lnTo>
                  <a:pt x="2655697" y="3792424"/>
                </a:lnTo>
                <a:lnTo>
                  <a:pt x="2655697" y="3187420"/>
                </a:lnTo>
                <a:cubicBezTo>
                  <a:pt x="2655697" y="2893786"/>
                  <a:pt x="2418290" y="2655391"/>
                  <a:pt x="2125173" y="2654251"/>
                </a:cubicBezTo>
                <a:lnTo>
                  <a:pt x="531417" y="2654251"/>
                </a:lnTo>
                <a:cubicBezTo>
                  <a:pt x="237210" y="2654251"/>
                  <a:pt x="0" y="2416748"/>
                  <a:pt x="0" y="2123559"/>
                </a:cubicBezTo>
                <a:lnTo>
                  <a:pt x="0" y="530048"/>
                </a:lnTo>
                <a:cubicBezTo>
                  <a:pt x="0" y="237503"/>
                  <a:pt x="237210" y="0"/>
                  <a:pt x="531417" y="0"/>
                </a:cubicBezTo>
                <a:close/>
              </a:path>
            </a:pathLst>
          </a:custGeom>
          <a:solidFill>
            <a:schemeClr val="bg2"/>
          </a:solidFill>
        </p:spPr>
        <p:txBody>
          <a:bodyPr wrap="square">
            <a:noAutofit/>
          </a:bodyPr>
          <a:lstStyle/>
          <a:p>
            <a:endParaRPr lang="en-US"/>
          </a:p>
        </p:txBody>
      </p:sp>
      <p:pic>
        <p:nvPicPr>
          <p:cNvPr id="5" name="Picture 4">
            <a:extLst>
              <a:ext uri="{FF2B5EF4-FFF2-40B4-BE49-F238E27FC236}">
                <a16:creationId xmlns:a16="http://schemas.microsoft.com/office/drawing/2014/main" id="{C4A2B6AF-9798-AAE8-1C64-AD3BE58970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9794" y="4556120"/>
            <a:ext cx="546075" cy="231032"/>
          </a:xfrm>
          <a:prstGeom prst="rect">
            <a:avLst/>
          </a:prstGeom>
        </p:spPr>
      </p:pic>
    </p:spTree>
    <p:extLst>
      <p:ext uri="{BB962C8B-B14F-4D97-AF65-F5344CB8AC3E}">
        <p14:creationId xmlns:p14="http://schemas.microsoft.com/office/powerpoint/2010/main" val="984438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 Clou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AFCA045-11A1-2078-48EE-302321EC4C21}"/>
              </a:ext>
            </a:extLst>
          </p:cNvPr>
          <p:cNvSpPr>
            <a:spLocks noGrp="1"/>
          </p:cNvSpPr>
          <p:nvPr>
            <p:ph idx="1"/>
          </p:nvPr>
        </p:nvSpPr>
        <p:spPr>
          <a:xfrm>
            <a:off x="375077" y="1370013"/>
            <a:ext cx="3618699" cy="326231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09BAF11-A0F3-E01E-9FD6-9C5FE01A0FE8}"/>
              </a:ext>
            </a:extLst>
          </p:cNvPr>
          <p:cNvSpPr>
            <a:spLocks noGrp="1"/>
          </p:cNvSpPr>
          <p:nvPr>
            <p:ph type="dt" sz="half" idx="10"/>
          </p:nvPr>
        </p:nvSpPr>
        <p:spPr/>
        <p:txBody>
          <a:bodyPr/>
          <a:lstStyle/>
          <a:p>
            <a:fld id="{43AE0025-1574-D642-8EE0-174E1486F67F}" type="datetime1">
              <a:rPr lang="en-GB" smtClean="0"/>
              <a:t>12/03/2025</a:t>
            </a:fld>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p>
            <a:fld id="{CC0CD38E-35A1-2247-B55D-C6626AF9BA09}" type="slidenum">
              <a:rPr lang="en-US" smtClean="0"/>
              <a:t>‹#›</a:t>
            </a:fld>
            <a:endParaRPr lang="en-US"/>
          </a:p>
        </p:txBody>
      </p:sp>
      <p:pic>
        <p:nvPicPr>
          <p:cNvPr id="8" name="Picture 7">
            <a:extLst>
              <a:ext uri="{FF2B5EF4-FFF2-40B4-BE49-F238E27FC236}">
                <a16:creationId xmlns:a16="http://schemas.microsoft.com/office/drawing/2014/main" id="{9387F0B3-F48E-9221-7329-DFD95F5095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6113" y="4564987"/>
            <a:ext cx="549756" cy="231648"/>
          </a:xfrm>
          <a:prstGeom prst="rect">
            <a:avLst/>
          </a:prstGeom>
        </p:spPr>
      </p:pic>
      <p:sp>
        <p:nvSpPr>
          <p:cNvPr id="5" name="Picture Placeholder 4">
            <a:extLst>
              <a:ext uri="{FF2B5EF4-FFF2-40B4-BE49-F238E27FC236}">
                <a16:creationId xmlns:a16="http://schemas.microsoft.com/office/drawing/2014/main" id="{0ED5484D-3E81-C5C1-0DE4-59CA5DD1C5D4}"/>
              </a:ext>
            </a:extLst>
          </p:cNvPr>
          <p:cNvSpPr>
            <a:spLocks noGrp="1"/>
          </p:cNvSpPr>
          <p:nvPr>
            <p:ph type="pic" sz="quarter" idx="13"/>
          </p:nvPr>
        </p:nvSpPr>
        <p:spPr>
          <a:xfrm>
            <a:off x="4262718" y="936212"/>
            <a:ext cx="4881282" cy="3628775"/>
          </a:xfrm>
          <a:custGeom>
            <a:avLst/>
            <a:gdLst>
              <a:gd name="connsiteX0" fmla="*/ 2214828 w 4970380"/>
              <a:gd name="connsiteY0" fmla="*/ 0 h 3695011"/>
              <a:gd name="connsiteX1" fmla="*/ 3322219 w 4970380"/>
              <a:gd name="connsiteY1" fmla="*/ 0 h 3695011"/>
              <a:gd name="connsiteX2" fmla="*/ 3690426 w 4970380"/>
              <a:gd name="connsiteY2" fmla="*/ 369936 h 3695011"/>
              <a:gd name="connsiteX3" fmla="*/ 3690426 w 4970380"/>
              <a:gd name="connsiteY3" fmla="*/ 1478494 h 3695011"/>
              <a:gd name="connsiteX4" fmla="*/ 4061726 w 4970380"/>
              <a:gd name="connsiteY4" fmla="*/ 1847829 h 3695011"/>
              <a:gd name="connsiteX5" fmla="*/ 4061726 w 4970380"/>
              <a:gd name="connsiteY5" fmla="*/ 1847922 h 3695011"/>
              <a:gd name="connsiteX6" fmla="*/ 4970380 w 4970380"/>
              <a:gd name="connsiteY6" fmla="*/ 1847922 h 3695011"/>
              <a:gd name="connsiteX7" fmla="*/ 4970380 w 4970380"/>
              <a:gd name="connsiteY7" fmla="*/ 3695011 h 3695011"/>
              <a:gd name="connsiteX8" fmla="*/ 4059372 w 4970380"/>
              <a:gd name="connsiteY8" fmla="*/ 3695011 h 3695011"/>
              <a:gd name="connsiteX9" fmla="*/ 3690380 w 4970380"/>
              <a:gd name="connsiteY9" fmla="*/ 3326139 h 3695011"/>
              <a:gd name="connsiteX10" fmla="*/ 3690380 w 4970380"/>
              <a:gd name="connsiteY10" fmla="*/ 2218319 h 3695011"/>
              <a:gd name="connsiteX11" fmla="*/ 3320326 w 4970380"/>
              <a:gd name="connsiteY11" fmla="*/ 1847922 h 3695011"/>
              <a:gd name="connsiteX12" fmla="*/ 2214782 w 4970380"/>
              <a:gd name="connsiteY12" fmla="*/ 1847922 h 3695011"/>
              <a:gd name="connsiteX13" fmla="*/ 1845513 w 4970380"/>
              <a:gd name="connsiteY13" fmla="*/ 2218319 h 3695011"/>
              <a:gd name="connsiteX14" fmla="*/ 1845513 w 4970380"/>
              <a:gd name="connsiteY14" fmla="*/ 3326139 h 3695011"/>
              <a:gd name="connsiteX15" fmla="*/ 1476845 w 4970380"/>
              <a:gd name="connsiteY15" fmla="*/ 3695011 h 3695011"/>
              <a:gd name="connsiteX16" fmla="*/ 369269 w 4970380"/>
              <a:gd name="connsiteY16" fmla="*/ 3695011 h 3695011"/>
              <a:gd name="connsiteX17" fmla="*/ 0 w 4970380"/>
              <a:gd name="connsiteY17" fmla="*/ 3326139 h 3695011"/>
              <a:gd name="connsiteX18" fmla="*/ 0 w 4970380"/>
              <a:gd name="connsiteY18" fmla="*/ 2217210 h 3695011"/>
              <a:gd name="connsiteX19" fmla="*/ 369269 w 4970380"/>
              <a:gd name="connsiteY19" fmla="*/ 1847875 h 3695011"/>
              <a:gd name="connsiteX20" fmla="*/ 1476891 w 4970380"/>
              <a:gd name="connsiteY20" fmla="*/ 1847875 h 3695011"/>
              <a:gd name="connsiteX21" fmla="*/ 1845559 w 4970380"/>
              <a:gd name="connsiteY21" fmla="*/ 1476831 h 3695011"/>
              <a:gd name="connsiteX22" fmla="*/ 1845559 w 4970380"/>
              <a:gd name="connsiteY22" fmla="*/ 369936 h 3695011"/>
              <a:gd name="connsiteX23" fmla="*/ 2214828 w 4970380"/>
              <a:gd name="connsiteY23" fmla="*/ 0 h 3695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70380" h="3695011">
                <a:moveTo>
                  <a:pt x="2214828" y="0"/>
                </a:moveTo>
                <a:lnTo>
                  <a:pt x="3322219" y="0"/>
                </a:lnTo>
                <a:cubicBezTo>
                  <a:pt x="3525296" y="0"/>
                  <a:pt x="3690426" y="165607"/>
                  <a:pt x="3690426" y="369936"/>
                </a:cubicBezTo>
                <a:lnTo>
                  <a:pt x="3690426" y="1478494"/>
                </a:lnTo>
                <a:cubicBezTo>
                  <a:pt x="3691673" y="1682084"/>
                  <a:pt x="3857587" y="1847044"/>
                  <a:pt x="4061726" y="1847829"/>
                </a:cubicBezTo>
                <a:lnTo>
                  <a:pt x="4061726" y="1847922"/>
                </a:lnTo>
                <a:lnTo>
                  <a:pt x="4970380" y="1847922"/>
                </a:lnTo>
                <a:lnTo>
                  <a:pt x="4970380" y="3695011"/>
                </a:lnTo>
                <a:lnTo>
                  <a:pt x="4059372" y="3695011"/>
                </a:lnTo>
                <a:cubicBezTo>
                  <a:pt x="3855972" y="3695011"/>
                  <a:pt x="3690380" y="3529728"/>
                  <a:pt x="3690380" y="3326139"/>
                </a:cubicBezTo>
                <a:lnTo>
                  <a:pt x="3690380" y="2218319"/>
                </a:lnTo>
                <a:cubicBezTo>
                  <a:pt x="3690380" y="2014591"/>
                  <a:pt x="3525250" y="1848846"/>
                  <a:pt x="3320326" y="1847922"/>
                </a:cubicBezTo>
                <a:lnTo>
                  <a:pt x="2214782" y="1847922"/>
                </a:lnTo>
                <a:cubicBezTo>
                  <a:pt x="2011105" y="1848846"/>
                  <a:pt x="1846160" y="2013529"/>
                  <a:pt x="1845513" y="2218319"/>
                </a:cubicBezTo>
                <a:lnTo>
                  <a:pt x="1845513" y="3326139"/>
                </a:lnTo>
                <a:cubicBezTo>
                  <a:pt x="1845513" y="3529728"/>
                  <a:pt x="1679598" y="3695011"/>
                  <a:pt x="1476845" y="3695011"/>
                </a:cubicBezTo>
                <a:lnTo>
                  <a:pt x="369269" y="3695011"/>
                </a:lnTo>
                <a:cubicBezTo>
                  <a:pt x="164853" y="3695011"/>
                  <a:pt x="0" y="3529728"/>
                  <a:pt x="0" y="3326139"/>
                </a:cubicBezTo>
                <a:lnTo>
                  <a:pt x="0" y="2217210"/>
                </a:lnTo>
                <a:cubicBezTo>
                  <a:pt x="0" y="2013159"/>
                  <a:pt x="164807" y="1847875"/>
                  <a:pt x="369269" y="1847875"/>
                </a:cubicBezTo>
                <a:lnTo>
                  <a:pt x="1476891" y="1847875"/>
                </a:lnTo>
                <a:cubicBezTo>
                  <a:pt x="1680568" y="1847090"/>
                  <a:pt x="1845559" y="1681160"/>
                  <a:pt x="1845559" y="1476831"/>
                </a:cubicBezTo>
                <a:lnTo>
                  <a:pt x="1845559" y="369936"/>
                </a:lnTo>
                <a:cubicBezTo>
                  <a:pt x="1845559" y="165607"/>
                  <a:pt x="2010366" y="0"/>
                  <a:pt x="2214828" y="0"/>
                </a:cubicBezTo>
                <a:close/>
              </a:path>
            </a:pathLst>
          </a:custGeom>
          <a:solidFill>
            <a:schemeClr val="bg2"/>
          </a:solidFill>
        </p:spPr>
        <p:txBody>
          <a:bodyPr wrap="square">
            <a:noAutofit/>
          </a:bodyPr>
          <a:lstStyle/>
          <a:p>
            <a:endParaRPr lang="en-US"/>
          </a:p>
        </p:txBody>
      </p:sp>
    </p:spTree>
    <p:extLst>
      <p:ext uri="{BB962C8B-B14F-4D97-AF65-F5344CB8AC3E}">
        <p14:creationId xmlns:p14="http://schemas.microsoft.com/office/powerpoint/2010/main" val="1959355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ers">
    <p:bg>
      <p:bgPr>
        <a:gradFill>
          <a:gsLst>
            <a:gs pos="0">
              <a:schemeClr val="tx2"/>
            </a:gs>
            <a:gs pos="100000">
              <a:schemeClr val="tx1"/>
            </a:gs>
          </a:gsLst>
          <a:lin ang="186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hasCustomPrompt="1"/>
          </p:nvPr>
        </p:nvSpPr>
        <p:spPr/>
        <p:txBody>
          <a:bodyPr/>
          <a:lstStyle>
            <a:lvl1pPr>
              <a:defRPr>
                <a:solidFill>
                  <a:schemeClr val="bg1"/>
                </a:solidFill>
              </a:defRPr>
            </a:lvl1pPr>
          </a:lstStyle>
          <a:p>
            <a:r>
              <a:rPr lang="en-GB"/>
              <a:t>Our customers</a:t>
            </a:r>
            <a:endParaRPr lang="en-US"/>
          </a:p>
        </p:txBody>
      </p:sp>
      <p:sp>
        <p:nvSpPr>
          <p:cNvPr id="4" name="Date Placeholder 3">
            <a:extLst>
              <a:ext uri="{FF2B5EF4-FFF2-40B4-BE49-F238E27FC236}">
                <a16:creationId xmlns:a16="http://schemas.microsoft.com/office/drawing/2014/main" id="{509BAF11-A0F3-E01E-9FD6-9C5FE01A0FE8}"/>
              </a:ext>
            </a:extLst>
          </p:cNvPr>
          <p:cNvSpPr>
            <a:spLocks noGrp="1"/>
          </p:cNvSpPr>
          <p:nvPr>
            <p:ph type="dt" sz="half" idx="10"/>
          </p:nvPr>
        </p:nvSpPr>
        <p:spPr/>
        <p:txBody>
          <a:bodyPr/>
          <a:lstStyle>
            <a:lvl1pPr>
              <a:defRPr>
                <a:solidFill>
                  <a:schemeClr val="bg1"/>
                </a:solidFill>
              </a:defRPr>
            </a:lvl1pPr>
          </a:lstStyle>
          <a:p>
            <a:fld id="{5E5871BD-21DB-4143-921E-431F94C3EA03}" type="datetime1">
              <a:rPr lang="en-GB" smtClean="0"/>
              <a:t>12/03/2025</a:t>
            </a:fld>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lvl1pPr>
              <a:defRPr>
                <a:solidFill>
                  <a:schemeClr val="bg1"/>
                </a:solidFill>
              </a:defRPr>
            </a:lvl1pPr>
          </a:lstStyle>
          <a:p>
            <a:fld id="{CC0CD38E-35A1-2247-B55D-C6626AF9BA09}" type="slidenum">
              <a:rPr lang="en-US" smtClean="0"/>
              <a:pPr/>
              <a:t>‹#›</a:t>
            </a:fld>
            <a:endParaRPr lang="en-US"/>
          </a:p>
        </p:txBody>
      </p:sp>
      <p:pic>
        <p:nvPicPr>
          <p:cNvPr id="5" name="Picture 4">
            <a:extLst>
              <a:ext uri="{FF2B5EF4-FFF2-40B4-BE49-F238E27FC236}">
                <a16:creationId xmlns:a16="http://schemas.microsoft.com/office/drawing/2014/main" id="{7F8E8B6D-C22D-8AD4-E922-BB2D78DAD54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6113" y="4564987"/>
            <a:ext cx="549756" cy="231648"/>
          </a:xfrm>
          <a:prstGeom prst="rect">
            <a:avLst/>
          </a:prstGeom>
        </p:spPr>
      </p:pic>
      <p:grpSp>
        <p:nvGrpSpPr>
          <p:cNvPr id="13" name="Group 12">
            <a:extLst>
              <a:ext uri="{FF2B5EF4-FFF2-40B4-BE49-F238E27FC236}">
                <a16:creationId xmlns:a16="http://schemas.microsoft.com/office/drawing/2014/main" id="{F010BB31-E8E2-663E-931B-076D862D6B80}"/>
              </a:ext>
            </a:extLst>
          </p:cNvPr>
          <p:cNvGrpSpPr/>
          <p:nvPr userDrawn="1"/>
        </p:nvGrpSpPr>
        <p:grpSpPr>
          <a:xfrm>
            <a:off x="375077" y="1345546"/>
            <a:ext cx="8284829" cy="2853825"/>
            <a:chOff x="737836" y="1631312"/>
            <a:chExt cx="10716327" cy="3691389"/>
          </a:xfrm>
        </p:grpSpPr>
        <p:sp>
          <p:nvSpPr>
            <p:cNvPr id="7" name="Rounded Rectangle 6">
              <a:extLst>
                <a:ext uri="{FF2B5EF4-FFF2-40B4-BE49-F238E27FC236}">
                  <a16:creationId xmlns:a16="http://schemas.microsoft.com/office/drawing/2014/main" id="{95F75DFA-5602-E1B6-619E-F3B24B1228E1}"/>
                </a:ext>
              </a:extLst>
            </p:cNvPr>
            <p:cNvSpPr/>
            <p:nvPr userDrawn="1"/>
          </p:nvSpPr>
          <p:spPr>
            <a:xfrm>
              <a:off x="4448026" y="1631312"/>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a:latin typeface="Outfit Light" pitchFamily="2" charset="0"/>
              </a:endParaRPr>
            </a:p>
          </p:txBody>
        </p:sp>
        <p:sp>
          <p:nvSpPr>
            <p:cNvPr id="8" name="Rounded Rectangle 7">
              <a:extLst>
                <a:ext uri="{FF2B5EF4-FFF2-40B4-BE49-F238E27FC236}">
                  <a16:creationId xmlns:a16="http://schemas.microsoft.com/office/drawing/2014/main" id="{31E4EC00-562F-A299-B747-7BB6FEA97A01}"/>
                </a:ext>
              </a:extLst>
            </p:cNvPr>
            <p:cNvSpPr/>
            <p:nvPr userDrawn="1"/>
          </p:nvSpPr>
          <p:spPr>
            <a:xfrm>
              <a:off x="8158216" y="3676424"/>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a:latin typeface="Outfit Light" pitchFamily="2" charset="0"/>
              </a:endParaRPr>
            </a:p>
          </p:txBody>
        </p:sp>
        <p:sp>
          <p:nvSpPr>
            <p:cNvPr id="9" name="Rounded Rectangle 8">
              <a:extLst>
                <a:ext uri="{FF2B5EF4-FFF2-40B4-BE49-F238E27FC236}">
                  <a16:creationId xmlns:a16="http://schemas.microsoft.com/office/drawing/2014/main" id="{4562FAD8-BB1F-3CF2-8D92-3DCF63546A60}"/>
                </a:ext>
              </a:extLst>
            </p:cNvPr>
            <p:cNvSpPr/>
            <p:nvPr userDrawn="1"/>
          </p:nvSpPr>
          <p:spPr>
            <a:xfrm>
              <a:off x="8158216" y="1631312"/>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a:latin typeface="Outfit Light" pitchFamily="2" charset="0"/>
              </a:endParaRPr>
            </a:p>
          </p:txBody>
        </p:sp>
        <p:sp>
          <p:nvSpPr>
            <p:cNvPr id="10" name="Rounded Rectangle 9">
              <a:extLst>
                <a:ext uri="{FF2B5EF4-FFF2-40B4-BE49-F238E27FC236}">
                  <a16:creationId xmlns:a16="http://schemas.microsoft.com/office/drawing/2014/main" id="{12CDECEC-1AEC-AC26-FE82-CFE9B24BE3A5}"/>
                </a:ext>
              </a:extLst>
            </p:cNvPr>
            <p:cNvSpPr/>
            <p:nvPr userDrawn="1"/>
          </p:nvSpPr>
          <p:spPr>
            <a:xfrm>
              <a:off x="4438955" y="3676424"/>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a:latin typeface="Outfit Light" pitchFamily="2" charset="0"/>
              </a:endParaRPr>
            </a:p>
          </p:txBody>
        </p:sp>
        <p:sp>
          <p:nvSpPr>
            <p:cNvPr id="11" name="Rounded Rectangle 10">
              <a:extLst>
                <a:ext uri="{FF2B5EF4-FFF2-40B4-BE49-F238E27FC236}">
                  <a16:creationId xmlns:a16="http://schemas.microsoft.com/office/drawing/2014/main" id="{2D70B812-90BE-EFF0-A375-351B45F9E2A0}"/>
                </a:ext>
              </a:extLst>
            </p:cNvPr>
            <p:cNvSpPr/>
            <p:nvPr userDrawn="1"/>
          </p:nvSpPr>
          <p:spPr>
            <a:xfrm>
              <a:off x="737836" y="3676424"/>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a:latin typeface="Outfit Light" pitchFamily="2" charset="0"/>
              </a:endParaRPr>
            </a:p>
          </p:txBody>
        </p:sp>
        <p:sp>
          <p:nvSpPr>
            <p:cNvPr id="12" name="Rounded Rectangle 11">
              <a:extLst>
                <a:ext uri="{FF2B5EF4-FFF2-40B4-BE49-F238E27FC236}">
                  <a16:creationId xmlns:a16="http://schemas.microsoft.com/office/drawing/2014/main" id="{F806D2A5-D49A-2B4C-6945-B4D6AAF6AA58}"/>
                </a:ext>
              </a:extLst>
            </p:cNvPr>
            <p:cNvSpPr/>
            <p:nvPr userDrawn="1"/>
          </p:nvSpPr>
          <p:spPr>
            <a:xfrm>
              <a:off x="737836" y="1631312"/>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a:latin typeface="Outfit Light" pitchFamily="2" charset="0"/>
              </a:endParaRPr>
            </a:p>
          </p:txBody>
        </p:sp>
      </p:grpSp>
    </p:spTree>
    <p:extLst>
      <p:ext uri="{BB962C8B-B14F-4D97-AF65-F5344CB8AC3E}">
        <p14:creationId xmlns:p14="http://schemas.microsoft.com/office/powerpoint/2010/main" val="571196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White Contain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375715" y="342900"/>
            <a:ext cx="3856920" cy="1200150"/>
          </a:xfrm>
        </p:spPr>
        <p:txBody>
          <a:bodyPr anchor="b"/>
          <a:lstStyle>
            <a:lvl1pPr>
              <a:defRPr sz="3200"/>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p>
            <a:fld id="{99AC4573-FE2C-D346-94B5-229A35198143}" type="datetime1">
              <a:rPr lang="en-GB" smtClean="0"/>
              <a:t>12/03/2025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p>
            <a:fld id="{CC0CD38E-35A1-2247-B55D-C6626AF9BA09}" type="slidenum">
              <a:rPr lang="en-US" smtClean="0"/>
              <a:t>‹#›</a:t>
            </a:fld>
            <a:endParaRPr lang="en-US"/>
          </a:p>
        </p:txBody>
      </p:sp>
      <p:sp>
        <p:nvSpPr>
          <p:cNvPr id="8" name="Round Single Corner of Rectangle 7">
            <a:extLst>
              <a:ext uri="{FF2B5EF4-FFF2-40B4-BE49-F238E27FC236}">
                <a16:creationId xmlns:a16="http://schemas.microsoft.com/office/drawing/2014/main" id="{E9D9364F-7640-F911-F9B3-BD269AE140FD}"/>
              </a:ext>
            </a:extLst>
          </p:cNvPr>
          <p:cNvSpPr/>
          <p:nvPr userDrawn="1"/>
        </p:nvSpPr>
        <p:spPr>
          <a:xfrm rot="10800000">
            <a:off x="4823386" y="-1"/>
            <a:ext cx="4320614" cy="4402138"/>
          </a:xfrm>
          <a:prstGeom prst="round1Rect">
            <a:avLst>
              <a:gd name="adj" fmla="val 157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Outfit Light" pitchFamily="2" charset="0"/>
            </a:endParaRPr>
          </a:p>
        </p:txBody>
      </p:sp>
      <p:sp>
        <p:nvSpPr>
          <p:cNvPr id="12" name="Content Placeholder 2">
            <a:extLst>
              <a:ext uri="{FF2B5EF4-FFF2-40B4-BE49-F238E27FC236}">
                <a16:creationId xmlns:a16="http://schemas.microsoft.com/office/drawing/2014/main" id="{F1C6FC79-F9CB-5F2F-EF3B-3BD3B45E7F99}"/>
              </a:ext>
            </a:extLst>
          </p:cNvPr>
          <p:cNvSpPr>
            <a:spLocks noGrp="1"/>
          </p:cNvSpPr>
          <p:nvPr>
            <p:ph idx="1"/>
          </p:nvPr>
        </p:nvSpPr>
        <p:spPr>
          <a:xfrm>
            <a:off x="375077" y="1743868"/>
            <a:ext cx="3856920" cy="2658269"/>
          </a:xfrm>
        </p:spPr>
        <p:txBody>
          <a:bodyPr>
            <a:normAutofit/>
          </a:bodyPr>
          <a:lstStyle>
            <a:lvl1pPr>
              <a:buClr>
                <a:schemeClr val="tx1"/>
              </a:buClr>
              <a:defRPr sz="2400"/>
            </a:lvl1pPr>
            <a:lvl2pPr>
              <a:buClr>
                <a:schemeClr val="tx1"/>
              </a:buClr>
              <a:defRPr sz="2000"/>
            </a:lvl2pPr>
            <a:lvl3pPr>
              <a:buClr>
                <a:schemeClr val="tx1"/>
              </a:buClr>
              <a:defRPr sz="1800"/>
            </a:lvl3pPr>
            <a:lvl4pPr>
              <a:buClr>
                <a:schemeClr val="tx1"/>
              </a:buClr>
              <a:defRPr sz="1600"/>
            </a:lvl4pPr>
            <a:lvl5pPr>
              <a:buClr>
                <a:schemeClr val="tx1"/>
              </a:buCl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3" name="Picture 2">
            <a:extLst>
              <a:ext uri="{FF2B5EF4-FFF2-40B4-BE49-F238E27FC236}">
                <a16:creationId xmlns:a16="http://schemas.microsoft.com/office/drawing/2014/main" id="{366AB042-33D2-AF6C-C382-47B2851991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9794" y="4556120"/>
            <a:ext cx="546075" cy="231032"/>
          </a:xfrm>
          <a:prstGeom prst="rect">
            <a:avLst/>
          </a:prstGeom>
        </p:spPr>
      </p:pic>
    </p:spTree>
    <p:extLst>
      <p:ext uri="{BB962C8B-B14F-4D97-AF65-F5344CB8AC3E}">
        <p14:creationId xmlns:p14="http://schemas.microsoft.com/office/powerpoint/2010/main" val="2400551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62704-0E1C-9397-E348-29721F6DE99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B27EE6A-B54E-B7F7-240D-9E6057722FDC}"/>
              </a:ext>
            </a:extLst>
          </p:cNvPr>
          <p:cNvSpPr>
            <a:spLocks noGrp="1"/>
          </p:cNvSpPr>
          <p:nvPr>
            <p:ph sz="half" idx="1"/>
          </p:nvPr>
        </p:nvSpPr>
        <p:spPr>
          <a:xfrm>
            <a:off x="375077" y="1370013"/>
            <a:ext cx="3867150" cy="326231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A867281A-E911-2BEF-9A1F-C54E8A2D418C}"/>
              </a:ext>
            </a:extLst>
          </p:cNvPr>
          <p:cNvSpPr>
            <a:spLocks noGrp="1"/>
          </p:cNvSpPr>
          <p:nvPr>
            <p:ph sz="half" idx="2"/>
          </p:nvPr>
        </p:nvSpPr>
        <p:spPr>
          <a:xfrm>
            <a:off x="4394627" y="1370013"/>
            <a:ext cx="3867150" cy="326231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986D3B9-0985-24EE-1FE1-CF4099EDD72F}"/>
              </a:ext>
            </a:extLst>
          </p:cNvPr>
          <p:cNvSpPr>
            <a:spLocks noGrp="1"/>
          </p:cNvSpPr>
          <p:nvPr>
            <p:ph type="dt" sz="half" idx="10"/>
          </p:nvPr>
        </p:nvSpPr>
        <p:spPr/>
        <p:txBody>
          <a:bodyPr/>
          <a:lstStyle/>
          <a:p>
            <a:fld id="{F0501BE8-2B0B-6B4A-8735-36A00D72CA1D}" type="datetime1">
              <a:rPr lang="en-GB" smtClean="0"/>
              <a:t>12/03/2025</a:t>
            </a:fld>
            <a:endParaRPr lang="en-US"/>
          </a:p>
        </p:txBody>
      </p:sp>
      <p:sp>
        <p:nvSpPr>
          <p:cNvPr id="7" name="Slide Number Placeholder 6">
            <a:extLst>
              <a:ext uri="{FF2B5EF4-FFF2-40B4-BE49-F238E27FC236}">
                <a16:creationId xmlns:a16="http://schemas.microsoft.com/office/drawing/2014/main" id="{88CF2E6E-C0CC-FF12-9A5E-0E4C5351BC05}"/>
              </a:ext>
            </a:extLst>
          </p:cNvPr>
          <p:cNvSpPr>
            <a:spLocks noGrp="1"/>
          </p:cNvSpPr>
          <p:nvPr>
            <p:ph type="sldNum" sz="quarter" idx="12"/>
          </p:nvPr>
        </p:nvSpPr>
        <p:spPr/>
        <p:txBody>
          <a:bodyPr/>
          <a:lstStyle/>
          <a:p>
            <a:fld id="{CC0CD38E-35A1-2247-B55D-C6626AF9BA09}" type="slidenum">
              <a:rPr lang="en-US" smtClean="0"/>
              <a:t>‹#›</a:t>
            </a:fld>
            <a:endParaRPr lang="en-US"/>
          </a:p>
        </p:txBody>
      </p:sp>
      <p:pic>
        <p:nvPicPr>
          <p:cNvPr id="8" name="Picture 7">
            <a:extLst>
              <a:ext uri="{FF2B5EF4-FFF2-40B4-BE49-F238E27FC236}">
                <a16:creationId xmlns:a16="http://schemas.microsoft.com/office/drawing/2014/main" id="{5E3D8C02-941C-F029-E6E7-EA2BD40DFFA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6113" y="4564987"/>
            <a:ext cx="549756" cy="231648"/>
          </a:xfrm>
          <a:prstGeom prst="rect">
            <a:avLst/>
          </a:prstGeom>
        </p:spPr>
      </p:pic>
    </p:spTree>
    <p:extLst>
      <p:ext uri="{BB962C8B-B14F-4D97-AF65-F5344CB8AC3E}">
        <p14:creationId xmlns:p14="http://schemas.microsoft.com/office/powerpoint/2010/main" val="653875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725F0E8-F5F1-60C4-3084-306D732AFD46}"/>
              </a:ext>
            </a:extLst>
          </p:cNvPr>
          <p:cNvSpPr>
            <a:spLocks noGrp="1"/>
          </p:cNvSpPr>
          <p:nvPr>
            <p:ph type="pic" sz="quarter" idx="13"/>
          </p:nvPr>
        </p:nvSpPr>
        <p:spPr>
          <a:xfrm>
            <a:off x="0" y="0"/>
            <a:ext cx="9144000" cy="5143500"/>
          </a:xfrm>
        </p:spPr>
        <p:txBody>
          <a:bodyPr/>
          <a:lstStyle/>
          <a:p>
            <a:endParaRPr lang="en-US"/>
          </a:p>
        </p:txBody>
      </p:sp>
      <p:sp>
        <p:nvSpPr>
          <p:cNvPr id="2" name="Title 1">
            <a:extLst>
              <a:ext uri="{FF2B5EF4-FFF2-40B4-BE49-F238E27FC236}">
                <a16:creationId xmlns:a16="http://schemas.microsoft.com/office/drawing/2014/main" id="{3F73E142-DAA7-27A2-8354-3A782E076030}"/>
              </a:ext>
            </a:extLst>
          </p:cNvPr>
          <p:cNvSpPr>
            <a:spLocks noGrp="1"/>
          </p:cNvSpPr>
          <p:nvPr>
            <p:ph type="title"/>
          </p:nvPr>
        </p:nvSpPr>
        <p:spPr>
          <a:xfrm>
            <a:off x="366113" y="552717"/>
            <a:ext cx="7886700" cy="2139950"/>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B7E803F-EF23-8347-5303-1873D6E22557}"/>
              </a:ext>
            </a:extLst>
          </p:cNvPr>
          <p:cNvSpPr>
            <a:spLocks noGrp="1"/>
          </p:cNvSpPr>
          <p:nvPr>
            <p:ph type="body" idx="1"/>
          </p:nvPr>
        </p:nvSpPr>
        <p:spPr>
          <a:xfrm>
            <a:off x="366113" y="2711717"/>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F8AB8DA-5AF4-DA55-F9DC-4F3507D534D5}"/>
              </a:ext>
            </a:extLst>
          </p:cNvPr>
          <p:cNvSpPr>
            <a:spLocks noGrp="1"/>
          </p:cNvSpPr>
          <p:nvPr>
            <p:ph type="dt" sz="half" idx="10"/>
          </p:nvPr>
        </p:nvSpPr>
        <p:spPr/>
        <p:txBody>
          <a:bodyPr/>
          <a:lstStyle/>
          <a:p>
            <a:fld id="{CD4A11D9-B955-6D4E-924E-589B300E56CD}" type="datetime1">
              <a:rPr lang="en-GB" smtClean="0"/>
              <a:t>12/03/2025</a:t>
            </a:fld>
            <a:endParaRPr lang="en-US"/>
          </a:p>
        </p:txBody>
      </p:sp>
      <p:sp>
        <p:nvSpPr>
          <p:cNvPr id="6" name="Slide Number Placeholder 5">
            <a:extLst>
              <a:ext uri="{FF2B5EF4-FFF2-40B4-BE49-F238E27FC236}">
                <a16:creationId xmlns:a16="http://schemas.microsoft.com/office/drawing/2014/main" id="{62FAD0A0-72F8-A422-2355-060C5E7387C3}"/>
              </a:ext>
            </a:extLst>
          </p:cNvPr>
          <p:cNvSpPr>
            <a:spLocks noGrp="1"/>
          </p:cNvSpPr>
          <p:nvPr>
            <p:ph type="sldNum" sz="quarter" idx="12"/>
          </p:nvPr>
        </p:nvSpPr>
        <p:spPr/>
        <p:txBody>
          <a:bodyPr/>
          <a:lstStyle/>
          <a:p>
            <a:fld id="{CC0CD38E-35A1-2247-B55D-C6626AF9BA09}" type="slidenum">
              <a:rPr lang="en-US" smtClean="0"/>
              <a:t>‹#›</a:t>
            </a:fld>
            <a:endParaRPr lang="en-US"/>
          </a:p>
        </p:txBody>
      </p:sp>
      <p:pic>
        <p:nvPicPr>
          <p:cNvPr id="8" name="Picture 7">
            <a:extLst>
              <a:ext uri="{FF2B5EF4-FFF2-40B4-BE49-F238E27FC236}">
                <a16:creationId xmlns:a16="http://schemas.microsoft.com/office/drawing/2014/main" id="{576D4C21-94F7-3567-9B76-A2CDBE60465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6113" y="4564987"/>
            <a:ext cx="549756" cy="231648"/>
          </a:xfrm>
          <a:prstGeom prst="rect">
            <a:avLst/>
          </a:prstGeom>
        </p:spPr>
      </p:pic>
    </p:spTree>
    <p:extLst>
      <p:ext uri="{BB962C8B-B14F-4D97-AF65-F5344CB8AC3E}">
        <p14:creationId xmlns:p14="http://schemas.microsoft.com/office/powerpoint/2010/main" val="14067461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375715" y="342900"/>
            <a:ext cx="3856920" cy="1200150"/>
          </a:xfrm>
        </p:spPr>
        <p:txBody>
          <a:bodyPr anchor="b"/>
          <a:lstStyle>
            <a:lvl1pPr>
              <a:defRPr sz="3200"/>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p>
            <a:fld id="{99AC4573-FE2C-D346-94B5-229A35198143}" type="datetime1">
              <a:rPr lang="en-GB" smtClean="0"/>
              <a:t>12/03/2025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p>
            <a:fld id="{CC0CD38E-35A1-2247-B55D-C6626AF9BA09}" type="slidenum">
              <a:rPr lang="en-US" smtClean="0"/>
              <a:t>‹#›</a:t>
            </a:fld>
            <a:endParaRPr lang="en-US"/>
          </a:p>
        </p:txBody>
      </p:sp>
      <p:sp>
        <p:nvSpPr>
          <p:cNvPr id="12" name="Content Placeholder 2">
            <a:extLst>
              <a:ext uri="{FF2B5EF4-FFF2-40B4-BE49-F238E27FC236}">
                <a16:creationId xmlns:a16="http://schemas.microsoft.com/office/drawing/2014/main" id="{F1C6FC79-F9CB-5F2F-EF3B-3BD3B45E7F99}"/>
              </a:ext>
            </a:extLst>
          </p:cNvPr>
          <p:cNvSpPr>
            <a:spLocks noGrp="1"/>
          </p:cNvSpPr>
          <p:nvPr>
            <p:ph idx="1"/>
          </p:nvPr>
        </p:nvSpPr>
        <p:spPr>
          <a:xfrm>
            <a:off x="375077" y="1743868"/>
            <a:ext cx="3856920" cy="2658269"/>
          </a:xfrm>
        </p:spPr>
        <p:txBody>
          <a:bodyPr>
            <a:normAutofit/>
          </a:bodyPr>
          <a:lstStyle>
            <a:lvl1pPr>
              <a:buClr>
                <a:schemeClr val="accent1"/>
              </a:buClr>
              <a:defRPr sz="2400"/>
            </a:lvl1pPr>
            <a:lvl2pPr>
              <a:buClr>
                <a:schemeClr val="accent1"/>
              </a:buClr>
              <a:defRPr sz="2000"/>
            </a:lvl2pPr>
            <a:lvl3pPr>
              <a:buClr>
                <a:schemeClr val="accent1"/>
              </a:buClr>
              <a:defRPr sz="1800"/>
            </a:lvl3pPr>
            <a:lvl4pPr>
              <a:buClr>
                <a:schemeClr val="accent1"/>
              </a:buClr>
              <a:defRPr sz="1600"/>
            </a:lvl4pPr>
            <a:lvl5pPr>
              <a:buClr>
                <a:schemeClr val="accent1"/>
              </a:buCl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3" name="Picture 12">
            <a:extLst>
              <a:ext uri="{FF2B5EF4-FFF2-40B4-BE49-F238E27FC236}">
                <a16:creationId xmlns:a16="http://schemas.microsoft.com/office/drawing/2014/main" id="{7C859345-2B48-7408-B9FC-93473DEE30F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6113" y="4564987"/>
            <a:ext cx="549756" cy="231648"/>
          </a:xfrm>
          <a:prstGeom prst="rect">
            <a:avLst/>
          </a:prstGeom>
        </p:spPr>
      </p:pic>
      <p:sp>
        <p:nvSpPr>
          <p:cNvPr id="10" name="Picture Placeholder 9">
            <a:extLst>
              <a:ext uri="{FF2B5EF4-FFF2-40B4-BE49-F238E27FC236}">
                <a16:creationId xmlns:a16="http://schemas.microsoft.com/office/drawing/2014/main" id="{DA6D3706-E79A-720B-0681-29BC862ABD24}"/>
              </a:ext>
            </a:extLst>
          </p:cNvPr>
          <p:cNvSpPr>
            <a:spLocks noGrp="1"/>
          </p:cNvSpPr>
          <p:nvPr>
            <p:ph type="pic" sz="quarter" idx="13"/>
          </p:nvPr>
        </p:nvSpPr>
        <p:spPr>
          <a:xfrm>
            <a:off x="4822749" y="7751"/>
            <a:ext cx="4321252" cy="4402788"/>
          </a:xfrm>
          <a:custGeom>
            <a:avLst/>
            <a:gdLst>
              <a:gd name="connsiteX0" fmla="*/ 0 w 3935125"/>
              <a:gd name="connsiteY0" fmla="*/ 0 h 4009375"/>
              <a:gd name="connsiteX1" fmla="*/ 3935125 w 3935125"/>
              <a:gd name="connsiteY1" fmla="*/ 0 h 4009375"/>
              <a:gd name="connsiteX2" fmla="*/ 3935125 w 3935125"/>
              <a:gd name="connsiteY2" fmla="*/ 4009375 h 4009375"/>
              <a:gd name="connsiteX3" fmla="*/ 618169 w 3935125"/>
              <a:gd name="connsiteY3" fmla="*/ 4009375 h 4009375"/>
              <a:gd name="connsiteX4" fmla="*/ 0 w 3935125"/>
              <a:gd name="connsiteY4" fmla="*/ 3391206 h 40093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5125" h="4009375">
                <a:moveTo>
                  <a:pt x="0" y="0"/>
                </a:moveTo>
                <a:lnTo>
                  <a:pt x="3935125" y="0"/>
                </a:lnTo>
                <a:lnTo>
                  <a:pt x="3935125" y="4009375"/>
                </a:lnTo>
                <a:lnTo>
                  <a:pt x="618169" y="4009375"/>
                </a:lnTo>
                <a:cubicBezTo>
                  <a:pt x="276764" y="4009375"/>
                  <a:pt x="0" y="3732611"/>
                  <a:pt x="0" y="3391206"/>
                </a:cubicBezTo>
                <a:close/>
              </a:path>
            </a:pathLst>
          </a:custGeom>
        </p:spPr>
        <p:txBody>
          <a:bodyPr wrap="square">
            <a:noAutofit/>
          </a:bodyPr>
          <a:lstStyle/>
          <a:p>
            <a:endParaRPr lang="en-US"/>
          </a:p>
        </p:txBody>
      </p:sp>
    </p:spTree>
    <p:extLst>
      <p:ext uri="{BB962C8B-B14F-4D97-AF65-F5344CB8AC3E}">
        <p14:creationId xmlns:p14="http://schemas.microsoft.com/office/powerpoint/2010/main" val="27026023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icture with Caption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4944179" y="342900"/>
            <a:ext cx="3856920" cy="1200150"/>
          </a:xfrm>
        </p:spPr>
        <p:txBody>
          <a:bodyPr anchor="b"/>
          <a:lstStyle>
            <a:lvl1pPr>
              <a:defRPr sz="3200"/>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p>
            <a:fld id="{912F4358-7872-7045-8E26-B70E23714E9F}" type="datetime1">
              <a:rPr lang="en-GB" smtClean="0"/>
              <a:t>12/03/2025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p>
            <a:fld id="{CC0CD38E-35A1-2247-B55D-C6626AF9BA09}" type="slidenum">
              <a:rPr lang="en-US" smtClean="0"/>
              <a:t>‹#›</a:t>
            </a:fld>
            <a:endParaRPr lang="en-US"/>
          </a:p>
        </p:txBody>
      </p:sp>
      <p:sp>
        <p:nvSpPr>
          <p:cNvPr id="3" name="Content Placeholder 2">
            <a:extLst>
              <a:ext uri="{FF2B5EF4-FFF2-40B4-BE49-F238E27FC236}">
                <a16:creationId xmlns:a16="http://schemas.microsoft.com/office/drawing/2014/main" id="{AC4C1D83-03EE-0022-D7CC-89030E92AFBC}"/>
              </a:ext>
            </a:extLst>
          </p:cNvPr>
          <p:cNvSpPr>
            <a:spLocks noGrp="1"/>
          </p:cNvSpPr>
          <p:nvPr>
            <p:ph idx="1"/>
          </p:nvPr>
        </p:nvSpPr>
        <p:spPr>
          <a:xfrm>
            <a:off x="4944179" y="1743868"/>
            <a:ext cx="3856920" cy="2658269"/>
          </a:xfrm>
        </p:spPr>
        <p:txBody>
          <a:bodyPr>
            <a:normAutofit/>
          </a:bodyPr>
          <a:lstStyle>
            <a:lvl1pPr>
              <a:buClr>
                <a:schemeClr val="accent1"/>
              </a:buClr>
              <a:defRPr sz="2400"/>
            </a:lvl1pPr>
            <a:lvl2pPr>
              <a:buClr>
                <a:schemeClr val="accent1"/>
              </a:buClr>
              <a:defRPr sz="2000"/>
            </a:lvl2pPr>
            <a:lvl3pPr>
              <a:buClr>
                <a:schemeClr val="accent1"/>
              </a:buClr>
              <a:defRPr sz="1800"/>
            </a:lvl3pPr>
            <a:lvl4pPr>
              <a:buClr>
                <a:schemeClr val="accent1"/>
              </a:buClr>
              <a:defRPr sz="1600"/>
            </a:lvl4pPr>
            <a:lvl5pPr>
              <a:buClr>
                <a:schemeClr val="accent1"/>
              </a:buCl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6" name="Picture 5">
            <a:extLst>
              <a:ext uri="{FF2B5EF4-FFF2-40B4-BE49-F238E27FC236}">
                <a16:creationId xmlns:a16="http://schemas.microsoft.com/office/drawing/2014/main" id="{DA64D12E-29B6-4024-75B6-3367AA77A4F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6113" y="4564987"/>
            <a:ext cx="549756" cy="231648"/>
          </a:xfrm>
          <a:prstGeom prst="rect">
            <a:avLst/>
          </a:prstGeom>
        </p:spPr>
      </p:pic>
      <p:sp>
        <p:nvSpPr>
          <p:cNvPr id="11" name="Picture Placeholder 10">
            <a:extLst>
              <a:ext uri="{FF2B5EF4-FFF2-40B4-BE49-F238E27FC236}">
                <a16:creationId xmlns:a16="http://schemas.microsoft.com/office/drawing/2014/main" id="{990699E0-C88B-EE65-CF5E-576FE0E6EF73}"/>
              </a:ext>
            </a:extLst>
          </p:cNvPr>
          <p:cNvSpPr>
            <a:spLocks noGrp="1"/>
          </p:cNvSpPr>
          <p:nvPr>
            <p:ph type="pic" sz="quarter" idx="13"/>
          </p:nvPr>
        </p:nvSpPr>
        <p:spPr>
          <a:xfrm>
            <a:off x="0" y="0"/>
            <a:ext cx="4402138" cy="4320614"/>
          </a:xfrm>
          <a:custGeom>
            <a:avLst/>
            <a:gdLst>
              <a:gd name="connsiteX0" fmla="*/ 0 w 4402138"/>
              <a:gd name="connsiteY0" fmla="*/ 0 h 4320614"/>
              <a:gd name="connsiteX1" fmla="*/ 4402138 w 4402138"/>
              <a:gd name="connsiteY1" fmla="*/ 0 h 4320614"/>
              <a:gd name="connsiteX2" fmla="*/ 4402138 w 4402138"/>
              <a:gd name="connsiteY2" fmla="*/ 3641889 h 4320614"/>
              <a:gd name="connsiteX3" fmla="*/ 3723413 w 4402138"/>
              <a:gd name="connsiteY3" fmla="*/ 4320614 h 4320614"/>
              <a:gd name="connsiteX4" fmla="*/ 0 w 4402138"/>
              <a:gd name="connsiteY4" fmla="*/ 4320614 h 43206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2138" h="4320614">
                <a:moveTo>
                  <a:pt x="0" y="0"/>
                </a:moveTo>
                <a:lnTo>
                  <a:pt x="4402138" y="0"/>
                </a:lnTo>
                <a:lnTo>
                  <a:pt x="4402138" y="3641889"/>
                </a:lnTo>
                <a:cubicBezTo>
                  <a:pt x="4402138" y="4016738"/>
                  <a:pt x="4098262" y="4320614"/>
                  <a:pt x="3723413" y="4320614"/>
                </a:cubicBezTo>
                <a:lnTo>
                  <a:pt x="0" y="4320614"/>
                </a:lnTo>
                <a:close/>
              </a:path>
            </a:pathLst>
          </a:custGeom>
        </p:spPr>
        <p:txBody>
          <a:bodyPr wrap="square">
            <a:noAutofit/>
          </a:bodyPr>
          <a:lstStyle/>
          <a:p>
            <a:endParaRPr lang="en-US"/>
          </a:p>
        </p:txBody>
      </p:sp>
    </p:spTree>
    <p:extLst>
      <p:ext uri="{BB962C8B-B14F-4D97-AF65-F5344CB8AC3E}">
        <p14:creationId xmlns:p14="http://schemas.microsoft.com/office/powerpoint/2010/main" val="5550490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icture with Caption Right Strik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4944179" y="342900"/>
            <a:ext cx="3856920" cy="1200150"/>
          </a:xfrm>
        </p:spPr>
        <p:txBody>
          <a:bodyPr anchor="b"/>
          <a:lstStyle>
            <a:lvl1pPr>
              <a:defRPr sz="3200"/>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p>
            <a:fld id="{0FC86DFC-2749-0949-A903-DD3A2385A57C}" type="datetime1">
              <a:rPr lang="en-GB" smtClean="0"/>
              <a:t>12/03/2025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p>
            <a:fld id="{CC0CD38E-35A1-2247-B55D-C6626AF9BA09}" type="slidenum">
              <a:rPr lang="en-US" smtClean="0"/>
              <a:t>‹#›</a:t>
            </a:fld>
            <a:endParaRPr lang="en-US"/>
          </a:p>
        </p:txBody>
      </p:sp>
      <p:sp>
        <p:nvSpPr>
          <p:cNvPr id="3" name="Content Placeholder 2">
            <a:extLst>
              <a:ext uri="{FF2B5EF4-FFF2-40B4-BE49-F238E27FC236}">
                <a16:creationId xmlns:a16="http://schemas.microsoft.com/office/drawing/2014/main" id="{AC4C1D83-03EE-0022-D7CC-89030E92AFBC}"/>
              </a:ext>
            </a:extLst>
          </p:cNvPr>
          <p:cNvSpPr>
            <a:spLocks noGrp="1"/>
          </p:cNvSpPr>
          <p:nvPr>
            <p:ph idx="1"/>
          </p:nvPr>
        </p:nvSpPr>
        <p:spPr>
          <a:xfrm>
            <a:off x="4944179" y="1743868"/>
            <a:ext cx="3856920" cy="2658269"/>
          </a:xfrm>
        </p:spPr>
        <p:txBody>
          <a:bodyPr>
            <a:normAutofit/>
          </a:bodyPr>
          <a:lstStyle>
            <a:lvl1pPr>
              <a:buClr>
                <a:schemeClr val="tx1"/>
              </a:buClr>
              <a:defRPr sz="2400"/>
            </a:lvl1pPr>
            <a:lvl2pPr>
              <a:buClr>
                <a:schemeClr val="tx1"/>
              </a:buClr>
              <a:defRPr sz="2000"/>
            </a:lvl2pPr>
            <a:lvl3pPr>
              <a:buClr>
                <a:schemeClr val="tx1"/>
              </a:buClr>
              <a:defRPr sz="1800"/>
            </a:lvl3pPr>
            <a:lvl4pPr>
              <a:buClr>
                <a:schemeClr val="tx1"/>
              </a:buClr>
              <a:defRPr sz="1600"/>
            </a:lvl4pPr>
            <a:lvl5pPr>
              <a:buClr>
                <a:schemeClr val="tx1"/>
              </a:buCl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9" name="Picture 8">
            <a:extLst>
              <a:ext uri="{FF2B5EF4-FFF2-40B4-BE49-F238E27FC236}">
                <a16:creationId xmlns:a16="http://schemas.microsoft.com/office/drawing/2014/main" id="{F6423D9E-98AA-549D-5D65-976FB640619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9794" y="4556120"/>
            <a:ext cx="546075" cy="231032"/>
          </a:xfrm>
          <a:prstGeom prst="rect">
            <a:avLst/>
          </a:prstGeom>
        </p:spPr>
      </p:pic>
      <p:sp>
        <p:nvSpPr>
          <p:cNvPr id="6" name="Picture Placeholder 5">
            <a:extLst>
              <a:ext uri="{FF2B5EF4-FFF2-40B4-BE49-F238E27FC236}">
                <a16:creationId xmlns:a16="http://schemas.microsoft.com/office/drawing/2014/main" id="{86506CC4-37C9-6069-50BC-0B27E5FA021E}"/>
              </a:ext>
            </a:extLst>
          </p:cNvPr>
          <p:cNvSpPr>
            <a:spLocks noGrp="1"/>
          </p:cNvSpPr>
          <p:nvPr>
            <p:ph type="pic" sz="quarter" idx="13"/>
          </p:nvPr>
        </p:nvSpPr>
        <p:spPr>
          <a:xfrm>
            <a:off x="0" y="0"/>
            <a:ext cx="4402138" cy="4320614"/>
          </a:xfrm>
          <a:custGeom>
            <a:avLst/>
            <a:gdLst>
              <a:gd name="connsiteX0" fmla="*/ 0 w 4402138"/>
              <a:gd name="connsiteY0" fmla="*/ 0 h 4320614"/>
              <a:gd name="connsiteX1" fmla="*/ 4402138 w 4402138"/>
              <a:gd name="connsiteY1" fmla="*/ 0 h 4320614"/>
              <a:gd name="connsiteX2" fmla="*/ 4402138 w 4402138"/>
              <a:gd name="connsiteY2" fmla="*/ 3641889 h 4320614"/>
              <a:gd name="connsiteX3" fmla="*/ 3723413 w 4402138"/>
              <a:gd name="connsiteY3" fmla="*/ 4320614 h 4320614"/>
              <a:gd name="connsiteX4" fmla="*/ 0 w 4402138"/>
              <a:gd name="connsiteY4" fmla="*/ 4320614 h 43206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2138" h="4320614">
                <a:moveTo>
                  <a:pt x="0" y="0"/>
                </a:moveTo>
                <a:lnTo>
                  <a:pt x="4402138" y="0"/>
                </a:lnTo>
                <a:lnTo>
                  <a:pt x="4402138" y="3641889"/>
                </a:lnTo>
                <a:cubicBezTo>
                  <a:pt x="4402138" y="4016738"/>
                  <a:pt x="4098262" y="4320614"/>
                  <a:pt x="3723413" y="4320614"/>
                </a:cubicBezTo>
                <a:lnTo>
                  <a:pt x="0" y="4320614"/>
                </a:lnTo>
                <a:close/>
              </a:path>
            </a:pathLst>
          </a:custGeom>
        </p:spPr>
        <p:txBody>
          <a:bodyPr wrap="square">
            <a:noAutofit/>
          </a:bodyPr>
          <a:lstStyle/>
          <a:p>
            <a:endParaRPr lang="en-US"/>
          </a:p>
        </p:txBody>
      </p:sp>
    </p:spTree>
    <p:extLst>
      <p:ext uri="{BB962C8B-B14F-4D97-AF65-F5344CB8AC3E}">
        <p14:creationId xmlns:p14="http://schemas.microsoft.com/office/powerpoint/2010/main" val="14874992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Left Strik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375715" y="342900"/>
            <a:ext cx="3856920" cy="1200150"/>
          </a:xfrm>
        </p:spPr>
        <p:txBody>
          <a:bodyPr anchor="b"/>
          <a:lstStyle>
            <a:lvl1pPr>
              <a:defRPr sz="3200"/>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p>
            <a:fld id="{F233C6DD-C821-6C4C-8902-4089A37EB26A}" type="datetime1">
              <a:rPr lang="en-GB" smtClean="0"/>
              <a:t>12/03/2025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p>
            <a:fld id="{CC0CD38E-35A1-2247-B55D-C6626AF9BA09}" type="slidenum">
              <a:rPr lang="en-US" smtClean="0"/>
              <a:t>‹#›</a:t>
            </a:fld>
            <a:endParaRPr lang="en-US"/>
          </a:p>
        </p:txBody>
      </p:sp>
      <p:sp>
        <p:nvSpPr>
          <p:cNvPr id="12" name="Content Placeholder 2">
            <a:extLst>
              <a:ext uri="{FF2B5EF4-FFF2-40B4-BE49-F238E27FC236}">
                <a16:creationId xmlns:a16="http://schemas.microsoft.com/office/drawing/2014/main" id="{F1C6FC79-F9CB-5F2F-EF3B-3BD3B45E7F99}"/>
              </a:ext>
            </a:extLst>
          </p:cNvPr>
          <p:cNvSpPr>
            <a:spLocks noGrp="1"/>
          </p:cNvSpPr>
          <p:nvPr>
            <p:ph idx="1"/>
          </p:nvPr>
        </p:nvSpPr>
        <p:spPr>
          <a:xfrm>
            <a:off x="375077" y="1743868"/>
            <a:ext cx="3856920" cy="2658269"/>
          </a:xfrm>
        </p:spPr>
        <p:txBody>
          <a:bodyPr>
            <a:normAutofit/>
          </a:bodyPr>
          <a:lstStyle>
            <a:lvl1pPr>
              <a:buClr>
                <a:schemeClr val="tx1"/>
              </a:buClr>
              <a:defRPr sz="2400"/>
            </a:lvl1pPr>
            <a:lvl2pPr>
              <a:buClr>
                <a:schemeClr val="tx1"/>
              </a:buClr>
              <a:defRPr sz="2000"/>
            </a:lvl2pPr>
            <a:lvl3pPr>
              <a:buClr>
                <a:schemeClr val="tx1"/>
              </a:buClr>
              <a:defRPr sz="1800"/>
            </a:lvl3pPr>
            <a:lvl4pPr>
              <a:buClr>
                <a:schemeClr val="tx1"/>
              </a:buClr>
              <a:defRPr sz="1600"/>
            </a:lvl4pPr>
            <a:lvl5pPr>
              <a:buClr>
                <a:schemeClr val="tx1"/>
              </a:buCl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3" name="Picture 2">
            <a:extLst>
              <a:ext uri="{FF2B5EF4-FFF2-40B4-BE49-F238E27FC236}">
                <a16:creationId xmlns:a16="http://schemas.microsoft.com/office/drawing/2014/main" id="{5E2EB0CB-6F24-1A96-F589-420A8A25893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9794" y="4556120"/>
            <a:ext cx="546075" cy="231032"/>
          </a:xfrm>
          <a:prstGeom prst="rect">
            <a:avLst/>
          </a:prstGeom>
        </p:spPr>
      </p:pic>
      <p:sp>
        <p:nvSpPr>
          <p:cNvPr id="6" name="Picture Placeholder 5">
            <a:extLst>
              <a:ext uri="{FF2B5EF4-FFF2-40B4-BE49-F238E27FC236}">
                <a16:creationId xmlns:a16="http://schemas.microsoft.com/office/drawing/2014/main" id="{3DAF8107-1F67-F3DD-F642-04E5F35BE4BF}"/>
              </a:ext>
            </a:extLst>
          </p:cNvPr>
          <p:cNvSpPr>
            <a:spLocks noGrp="1"/>
          </p:cNvSpPr>
          <p:nvPr>
            <p:ph type="pic" sz="quarter" idx="13"/>
          </p:nvPr>
        </p:nvSpPr>
        <p:spPr>
          <a:xfrm>
            <a:off x="4822749" y="7751"/>
            <a:ext cx="4321252" cy="4402788"/>
          </a:xfrm>
          <a:custGeom>
            <a:avLst/>
            <a:gdLst>
              <a:gd name="connsiteX0" fmla="*/ 0 w 3935125"/>
              <a:gd name="connsiteY0" fmla="*/ 0 h 4009375"/>
              <a:gd name="connsiteX1" fmla="*/ 3935125 w 3935125"/>
              <a:gd name="connsiteY1" fmla="*/ 0 h 4009375"/>
              <a:gd name="connsiteX2" fmla="*/ 3935125 w 3935125"/>
              <a:gd name="connsiteY2" fmla="*/ 4009375 h 4009375"/>
              <a:gd name="connsiteX3" fmla="*/ 618169 w 3935125"/>
              <a:gd name="connsiteY3" fmla="*/ 4009375 h 4009375"/>
              <a:gd name="connsiteX4" fmla="*/ 0 w 3935125"/>
              <a:gd name="connsiteY4" fmla="*/ 3391206 h 40093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5125" h="4009375">
                <a:moveTo>
                  <a:pt x="0" y="0"/>
                </a:moveTo>
                <a:lnTo>
                  <a:pt x="3935125" y="0"/>
                </a:lnTo>
                <a:lnTo>
                  <a:pt x="3935125" y="4009375"/>
                </a:lnTo>
                <a:lnTo>
                  <a:pt x="618169" y="4009375"/>
                </a:lnTo>
                <a:cubicBezTo>
                  <a:pt x="276764" y="4009375"/>
                  <a:pt x="0" y="3732611"/>
                  <a:pt x="0" y="3391206"/>
                </a:cubicBezTo>
                <a:close/>
              </a:path>
            </a:pathLst>
          </a:custGeom>
        </p:spPr>
        <p:txBody>
          <a:bodyPr wrap="square">
            <a:noAutofit/>
          </a:bodyPr>
          <a:lstStyle/>
          <a:p>
            <a:endParaRPr lang="en-US"/>
          </a:p>
        </p:txBody>
      </p:sp>
    </p:spTree>
    <p:extLst>
      <p:ext uri="{BB962C8B-B14F-4D97-AF65-F5344CB8AC3E}">
        <p14:creationId xmlns:p14="http://schemas.microsoft.com/office/powerpoint/2010/main" val="10899103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aption Right Dark">
    <p:bg>
      <p:bgPr>
        <a:gradFill>
          <a:gsLst>
            <a:gs pos="0">
              <a:schemeClr val="tx2"/>
            </a:gs>
            <a:gs pos="100000">
              <a:schemeClr val="tx1"/>
            </a:gs>
          </a:gsLst>
          <a:lin ang="3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4944179" y="342900"/>
            <a:ext cx="3856920" cy="1200150"/>
          </a:xfrm>
        </p:spPr>
        <p:txBody>
          <a:bodyPr anchor="b"/>
          <a:lstStyle>
            <a:lvl1pPr>
              <a:defRPr sz="3200">
                <a:solidFill>
                  <a:schemeClr val="bg1"/>
                </a:solidFill>
              </a:defRPr>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lvl1pPr>
              <a:defRPr>
                <a:solidFill>
                  <a:schemeClr val="bg1"/>
                </a:solidFill>
              </a:defRPr>
            </a:lvl1pPr>
          </a:lstStyle>
          <a:p>
            <a:fld id="{B2E0E52D-B26A-6647-98C0-F359F0FA0DC9}" type="datetime1">
              <a:rPr lang="en-GB" smtClean="0"/>
              <a:t>12/03/2025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lvl1pPr>
              <a:defRPr>
                <a:solidFill>
                  <a:schemeClr val="bg1"/>
                </a:solidFill>
              </a:defRPr>
            </a:lvl1pPr>
          </a:lstStyle>
          <a:p>
            <a:fld id="{CC0CD38E-35A1-2247-B55D-C6626AF9BA09}" type="slidenum">
              <a:rPr lang="en-US" smtClean="0"/>
              <a:pPr/>
              <a:t>‹#›</a:t>
            </a:fld>
            <a:endParaRPr lang="en-US"/>
          </a:p>
        </p:txBody>
      </p:sp>
      <p:sp>
        <p:nvSpPr>
          <p:cNvPr id="3" name="Content Placeholder 2">
            <a:extLst>
              <a:ext uri="{FF2B5EF4-FFF2-40B4-BE49-F238E27FC236}">
                <a16:creationId xmlns:a16="http://schemas.microsoft.com/office/drawing/2014/main" id="{AC4C1D83-03EE-0022-D7CC-89030E92AFBC}"/>
              </a:ext>
            </a:extLst>
          </p:cNvPr>
          <p:cNvSpPr>
            <a:spLocks noGrp="1"/>
          </p:cNvSpPr>
          <p:nvPr>
            <p:ph idx="1"/>
          </p:nvPr>
        </p:nvSpPr>
        <p:spPr>
          <a:xfrm>
            <a:off x="4944179" y="1743868"/>
            <a:ext cx="3856920" cy="2658269"/>
          </a:xfrm>
        </p:spPr>
        <p:txBody>
          <a:bodyPr>
            <a:normAutofit/>
          </a:bodyPr>
          <a:lstStyle>
            <a:lvl1pPr>
              <a:buClr>
                <a:schemeClr val="accent1"/>
              </a:buClr>
              <a:defRPr sz="2400">
                <a:solidFill>
                  <a:schemeClr val="bg1"/>
                </a:solidFill>
              </a:defRPr>
            </a:lvl1pPr>
            <a:lvl2pPr>
              <a:buClr>
                <a:schemeClr val="accent1"/>
              </a:buClr>
              <a:defRPr sz="2000">
                <a:solidFill>
                  <a:schemeClr val="bg1"/>
                </a:solidFill>
              </a:defRPr>
            </a:lvl2pPr>
            <a:lvl3pPr>
              <a:buClr>
                <a:schemeClr val="accent1"/>
              </a:buClr>
              <a:defRPr sz="1800">
                <a:solidFill>
                  <a:schemeClr val="bg1"/>
                </a:solidFill>
              </a:defRPr>
            </a:lvl3pPr>
            <a:lvl4pPr>
              <a:buClr>
                <a:schemeClr val="accent1"/>
              </a:buClr>
              <a:defRPr sz="1600">
                <a:solidFill>
                  <a:schemeClr val="bg1"/>
                </a:solidFill>
              </a:defRPr>
            </a:lvl4pPr>
            <a:lvl5pPr>
              <a:buClr>
                <a:schemeClr val="accent1"/>
              </a:buClr>
              <a:defRPr sz="160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6" name="Picture 5">
            <a:extLst>
              <a:ext uri="{FF2B5EF4-FFF2-40B4-BE49-F238E27FC236}">
                <a16:creationId xmlns:a16="http://schemas.microsoft.com/office/drawing/2014/main" id="{DA64D12E-29B6-4024-75B6-3367AA77A4F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6113" y="4564987"/>
            <a:ext cx="549756" cy="231648"/>
          </a:xfrm>
          <a:prstGeom prst="rect">
            <a:avLst/>
          </a:prstGeom>
        </p:spPr>
      </p:pic>
      <p:sp>
        <p:nvSpPr>
          <p:cNvPr id="4" name="Picture Placeholder 3">
            <a:extLst>
              <a:ext uri="{FF2B5EF4-FFF2-40B4-BE49-F238E27FC236}">
                <a16:creationId xmlns:a16="http://schemas.microsoft.com/office/drawing/2014/main" id="{45346D8F-BE67-2A37-EEAD-442FFA1962D0}"/>
              </a:ext>
            </a:extLst>
          </p:cNvPr>
          <p:cNvSpPr>
            <a:spLocks noGrp="1"/>
          </p:cNvSpPr>
          <p:nvPr>
            <p:ph type="pic" sz="quarter" idx="13"/>
          </p:nvPr>
        </p:nvSpPr>
        <p:spPr>
          <a:xfrm>
            <a:off x="0" y="0"/>
            <a:ext cx="4402138" cy="4320614"/>
          </a:xfrm>
          <a:custGeom>
            <a:avLst/>
            <a:gdLst>
              <a:gd name="connsiteX0" fmla="*/ 0 w 4402138"/>
              <a:gd name="connsiteY0" fmla="*/ 0 h 4320614"/>
              <a:gd name="connsiteX1" fmla="*/ 4402138 w 4402138"/>
              <a:gd name="connsiteY1" fmla="*/ 0 h 4320614"/>
              <a:gd name="connsiteX2" fmla="*/ 4402138 w 4402138"/>
              <a:gd name="connsiteY2" fmla="*/ 3641889 h 4320614"/>
              <a:gd name="connsiteX3" fmla="*/ 3723413 w 4402138"/>
              <a:gd name="connsiteY3" fmla="*/ 4320614 h 4320614"/>
              <a:gd name="connsiteX4" fmla="*/ 0 w 4402138"/>
              <a:gd name="connsiteY4" fmla="*/ 4320614 h 43206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2138" h="4320614">
                <a:moveTo>
                  <a:pt x="0" y="0"/>
                </a:moveTo>
                <a:lnTo>
                  <a:pt x="4402138" y="0"/>
                </a:lnTo>
                <a:lnTo>
                  <a:pt x="4402138" y="3641889"/>
                </a:lnTo>
                <a:cubicBezTo>
                  <a:pt x="4402138" y="4016738"/>
                  <a:pt x="4098262" y="4320614"/>
                  <a:pt x="3723413" y="4320614"/>
                </a:cubicBezTo>
                <a:lnTo>
                  <a:pt x="0" y="4320614"/>
                </a:lnTo>
                <a:close/>
              </a:path>
            </a:pathLst>
          </a:custGeom>
        </p:spPr>
        <p:txBody>
          <a:bodyPr wrap="square">
            <a:noAutofit/>
          </a:bodyPr>
          <a:lstStyle/>
          <a:p>
            <a:endParaRPr lang="en-US"/>
          </a:p>
        </p:txBody>
      </p:sp>
    </p:spTree>
    <p:extLst>
      <p:ext uri="{BB962C8B-B14F-4D97-AF65-F5344CB8AC3E}">
        <p14:creationId xmlns:p14="http://schemas.microsoft.com/office/powerpoint/2010/main" val="34540021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with Caption Left Dark">
    <p:bg>
      <p:bgPr>
        <a:gradFill>
          <a:gsLst>
            <a:gs pos="0">
              <a:schemeClr val="tx2"/>
            </a:gs>
            <a:gs pos="100000">
              <a:schemeClr val="tx1"/>
            </a:gs>
          </a:gsLst>
          <a:lin ang="3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375715" y="342900"/>
            <a:ext cx="3856920" cy="1200150"/>
          </a:xfrm>
        </p:spPr>
        <p:txBody>
          <a:bodyPr anchor="b"/>
          <a:lstStyle>
            <a:lvl1pPr>
              <a:defRPr sz="3200">
                <a:solidFill>
                  <a:schemeClr val="bg1"/>
                </a:solidFill>
              </a:defRPr>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lvl1pPr>
              <a:defRPr>
                <a:solidFill>
                  <a:schemeClr val="bg1"/>
                </a:solidFill>
              </a:defRPr>
            </a:lvl1pPr>
          </a:lstStyle>
          <a:p>
            <a:fld id="{1122EC9D-9608-D048-B827-27F744EB6E71}" type="datetime1">
              <a:rPr lang="en-GB" smtClean="0"/>
              <a:t>12/03/2025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lvl1pPr>
              <a:defRPr>
                <a:solidFill>
                  <a:schemeClr val="bg1"/>
                </a:solidFill>
              </a:defRPr>
            </a:lvl1pPr>
          </a:lstStyle>
          <a:p>
            <a:fld id="{CC0CD38E-35A1-2247-B55D-C6626AF9BA09}" type="slidenum">
              <a:rPr lang="en-US" smtClean="0"/>
              <a:pPr/>
              <a:t>‹#›</a:t>
            </a:fld>
            <a:endParaRPr lang="en-US"/>
          </a:p>
        </p:txBody>
      </p:sp>
      <p:sp>
        <p:nvSpPr>
          <p:cNvPr id="12" name="Content Placeholder 2">
            <a:extLst>
              <a:ext uri="{FF2B5EF4-FFF2-40B4-BE49-F238E27FC236}">
                <a16:creationId xmlns:a16="http://schemas.microsoft.com/office/drawing/2014/main" id="{F1C6FC79-F9CB-5F2F-EF3B-3BD3B45E7F99}"/>
              </a:ext>
            </a:extLst>
          </p:cNvPr>
          <p:cNvSpPr>
            <a:spLocks noGrp="1"/>
          </p:cNvSpPr>
          <p:nvPr>
            <p:ph idx="1"/>
          </p:nvPr>
        </p:nvSpPr>
        <p:spPr>
          <a:xfrm>
            <a:off x="375077" y="1743868"/>
            <a:ext cx="3856920" cy="2658269"/>
          </a:xfrm>
        </p:spPr>
        <p:txBody>
          <a:bodyPr>
            <a:normAutofit/>
          </a:bodyPr>
          <a:lstStyle>
            <a:lvl1pPr>
              <a:buClr>
                <a:schemeClr val="accent1"/>
              </a:buClr>
              <a:defRPr sz="2400">
                <a:solidFill>
                  <a:schemeClr val="bg1"/>
                </a:solidFill>
              </a:defRPr>
            </a:lvl1pPr>
            <a:lvl2pPr>
              <a:buClr>
                <a:schemeClr val="accent1"/>
              </a:buClr>
              <a:defRPr sz="2000">
                <a:solidFill>
                  <a:schemeClr val="bg1"/>
                </a:solidFill>
              </a:defRPr>
            </a:lvl2pPr>
            <a:lvl3pPr>
              <a:buClr>
                <a:schemeClr val="accent1"/>
              </a:buClr>
              <a:defRPr sz="1800">
                <a:solidFill>
                  <a:schemeClr val="bg1"/>
                </a:solidFill>
              </a:defRPr>
            </a:lvl3pPr>
            <a:lvl4pPr>
              <a:buClr>
                <a:schemeClr val="accent1"/>
              </a:buClr>
              <a:defRPr sz="1600">
                <a:solidFill>
                  <a:schemeClr val="bg1"/>
                </a:solidFill>
              </a:defRPr>
            </a:lvl4pPr>
            <a:lvl5pPr>
              <a:buClr>
                <a:schemeClr val="accent1"/>
              </a:buClr>
              <a:defRPr sz="160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3" name="Picture 12">
            <a:extLst>
              <a:ext uri="{FF2B5EF4-FFF2-40B4-BE49-F238E27FC236}">
                <a16:creationId xmlns:a16="http://schemas.microsoft.com/office/drawing/2014/main" id="{7C859345-2B48-7408-B9FC-93473DEE30F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6113" y="4564987"/>
            <a:ext cx="549756" cy="231648"/>
          </a:xfrm>
          <a:prstGeom prst="rect">
            <a:avLst/>
          </a:prstGeom>
        </p:spPr>
      </p:pic>
      <p:sp>
        <p:nvSpPr>
          <p:cNvPr id="4" name="Picture Placeholder 3">
            <a:extLst>
              <a:ext uri="{FF2B5EF4-FFF2-40B4-BE49-F238E27FC236}">
                <a16:creationId xmlns:a16="http://schemas.microsoft.com/office/drawing/2014/main" id="{4B484570-6241-2AA8-DAED-5F742839FFEF}"/>
              </a:ext>
            </a:extLst>
          </p:cNvPr>
          <p:cNvSpPr>
            <a:spLocks noGrp="1"/>
          </p:cNvSpPr>
          <p:nvPr>
            <p:ph type="pic" sz="quarter" idx="13"/>
          </p:nvPr>
        </p:nvSpPr>
        <p:spPr>
          <a:xfrm>
            <a:off x="4822749" y="21501"/>
            <a:ext cx="4321252" cy="4402788"/>
          </a:xfrm>
          <a:custGeom>
            <a:avLst/>
            <a:gdLst>
              <a:gd name="connsiteX0" fmla="*/ 0 w 3935125"/>
              <a:gd name="connsiteY0" fmla="*/ 0 h 4009375"/>
              <a:gd name="connsiteX1" fmla="*/ 3935125 w 3935125"/>
              <a:gd name="connsiteY1" fmla="*/ 0 h 4009375"/>
              <a:gd name="connsiteX2" fmla="*/ 3935125 w 3935125"/>
              <a:gd name="connsiteY2" fmla="*/ 4009375 h 4009375"/>
              <a:gd name="connsiteX3" fmla="*/ 618169 w 3935125"/>
              <a:gd name="connsiteY3" fmla="*/ 4009375 h 4009375"/>
              <a:gd name="connsiteX4" fmla="*/ 0 w 3935125"/>
              <a:gd name="connsiteY4" fmla="*/ 3391206 h 40093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5125" h="4009375">
                <a:moveTo>
                  <a:pt x="0" y="0"/>
                </a:moveTo>
                <a:lnTo>
                  <a:pt x="3935125" y="0"/>
                </a:lnTo>
                <a:lnTo>
                  <a:pt x="3935125" y="4009375"/>
                </a:lnTo>
                <a:lnTo>
                  <a:pt x="618169" y="4009375"/>
                </a:lnTo>
                <a:cubicBezTo>
                  <a:pt x="276764" y="4009375"/>
                  <a:pt x="0" y="3732611"/>
                  <a:pt x="0" y="3391206"/>
                </a:cubicBezTo>
                <a:close/>
              </a:path>
            </a:pathLst>
          </a:custGeom>
        </p:spPr>
        <p:txBody>
          <a:bodyPr wrap="square">
            <a:noAutofit/>
          </a:bodyPr>
          <a:lstStyle/>
          <a:p>
            <a:endParaRPr lang="en-US"/>
          </a:p>
        </p:txBody>
      </p:sp>
    </p:spTree>
    <p:extLst>
      <p:ext uri="{BB962C8B-B14F-4D97-AF65-F5344CB8AC3E}">
        <p14:creationId xmlns:p14="http://schemas.microsoft.com/office/powerpoint/2010/main" val="25523733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Just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EAD93-1930-9CE4-92F9-CB4BBA81341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2F8836D-CD11-8E19-E371-1C055D33C9D8}"/>
              </a:ext>
            </a:extLst>
          </p:cNvPr>
          <p:cNvSpPr>
            <a:spLocks noGrp="1"/>
          </p:cNvSpPr>
          <p:nvPr>
            <p:ph type="dt" idx="10"/>
          </p:nvPr>
        </p:nvSpPr>
        <p:spPr/>
        <p:txBody>
          <a:bodyPr/>
          <a:lstStyle/>
          <a:p>
            <a:fld id="{635A415D-2F1F-B143-BA62-6BABD16E70A1}" type="datetime1">
              <a:rPr lang="en-GB" smtClean="0"/>
              <a:t>12/03/2025</a:t>
            </a:fld>
            <a:endParaRPr lang="en-GB"/>
          </a:p>
        </p:txBody>
      </p:sp>
      <p:sp>
        <p:nvSpPr>
          <p:cNvPr id="4" name="Slide Number Placeholder 3">
            <a:extLst>
              <a:ext uri="{FF2B5EF4-FFF2-40B4-BE49-F238E27FC236}">
                <a16:creationId xmlns:a16="http://schemas.microsoft.com/office/drawing/2014/main" id="{217D6451-A3A9-4898-B96A-F430C3032798}"/>
              </a:ext>
            </a:extLst>
          </p:cNvPr>
          <p:cNvSpPr>
            <a:spLocks noGrp="1"/>
          </p:cNvSpPr>
          <p:nvPr>
            <p:ph type="sldNum" idx="11"/>
          </p:nvPr>
        </p:nvSpPr>
        <p:spPr/>
        <p:txBody>
          <a:bodyPr/>
          <a:lstStyle>
            <a:lvl1pPr algn="r">
              <a:defRPr/>
            </a:lvl1pPr>
          </a:lstStyle>
          <a:p>
            <a:fld id="{00000000-1234-1234-1234-123412341234}" type="slidenum">
              <a:rPr lang="en-GB" smtClean="0"/>
              <a:pPr/>
              <a:t>‹#›</a:t>
            </a:fld>
            <a:endParaRPr lang="en-GB"/>
          </a:p>
        </p:txBody>
      </p:sp>
      <p:pic>
        <p:nvPicPr>
          <p:cNvPr id="5" name="Picture 4">
            <a:extLst>
              <a:ext uri="{FF2B5EF4-FFF2-40B4-BE49-F238E27FC236}">
                <a16:creationId xmlns:a16="http://schemas.microsoft.com/office/drawing/2014/main" id="{A47ACEE6-6DDC-172B-7E6A-1F5B9901B89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6113" y="4564987"/>
            <a:ext cx="549756" cy="231648"/>
          </a:xfrm>
          <a:prstGeom prst="rect">
            <a:avLst/>
          </a:prstGeom>
        </p:spPr>
      </p:pic>
    </p:spTree>
    <p:extLst>
      <p:ext uri="{BB962C8B-B14F-4D97-AF65-F5344CB8AC3E}">
        <p14:creationId xmlns:p14="http://schemas.microsoft.com/office/powerpoint/2010/main" val="31531042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lean 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2F8836D-CD11-8E19-E371-1C055D33C9D8}"/>
              </a:ext>
            </a:extLst>
          </p:cNvPr>
          <p:cNvSpPr>
            <a:spLocks noGrp="1"/>
          </p:cNvSpPr>
          <p:nvPr>
            <p:ph type="dt" idx="10"/>
          </p:nvPr>
        </p:nvSpPr>
        <p:spPr/>
        <p:txBody>
          <a:bodyPr/>
          <a:lstStyle/>
          <a:p>
            <a:fld id="{2E9F6446-2BF2-4D44-B716-2ABFAF5C8941}" type="datetime1">
              <a:rPr lang="en-GB" smtClean="0"/>
              <a:t>12/03/2025</a:t>
            </a:fld>
            <a:endParaRPr lang="en-GB"/>
          </a:p>
        </p:txBody>
      </p:sp>
      <p:sp>
        <p:nvSpPr>
          <p:cNvPr id="4" name="Slide Number Placeholder 3">
            <a:extLst>
              <a:ext uri="{FF2B5EF4-FFF2-40B4-BE49-F238E27FC236}">
                <a16:creationId xmlns:a16="http://schemas.microsoft.com/office/drawing/2014/main" id="{217D6451-A3A9-4898-B96A-F430C3032798}"/>
              </a:ext>
            </a:extLst>
          </p:cNvPr>
          <p:cNvSpPr>
            <a:spLocks noGrp="1"/>
          </p:cNvSpPr>
          <p:nvPr>
            <p:ph type="sldNum" idx="11"/>
          </p:nvPr>
        </p:nvSpPr>
        <p:spPr/>
        <p:txBody>
          <a:bodyPr/>
          <a:lstStyle>
            <a:lvl1pPr algn="r">
              <a:defRPr/>
            </a:lvl1pPr>
          </a:lstStyle>
          <a:p>
            <a:fld id="{00000000-1234-1234-1234-123412341234}" type="slidenum">
              <a:rPr lang="en-GB" smtClean="0"/>
              <a:pPr/>
              <a:t>‹#›</a:t>
            </a:fld>
            <a:endParaRPr lang="en-GB"/>
          </a:p>
        </p:txBody>
      </p:sp>
      <p:pic>
        <p:nvPicPr>
          <p:cNvPr id="5" name="Picture 4">
            <a:extLst>
              <a:ext uri="{FF2B5EF4-FFF2-40B4-BE49-F238E27FC236}">
                <a16:creationId xmlns:a16="http://schemas.microsoft.com/office/drawing/2014/main" id="{B6E1A223-3602-1C4D-02A2-7752E0A4E5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6113" y="4564987"/>
            <a:ext cx="549756" cy="231648"/>
          </a:xfrm>
          <a:prstGeom prst="rect">
            <a:avLst/>
          </a:prstGeom>
        </p:spPr>
      </p:pic>
    </p:spTree>
    <p:extLst>
      <p:ext uri="{BB962C8B-B14F-4D97-AF65-F5344CB8AC3E}">
        <p14:creationId xmlns:p14="http://schemas.microsoft.com/office/powerpoint/2010/main" val="10497764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7FD2358-4116-32B5-F26F-D02226622ED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211734" cy="5181600"/>
          </a:xfrm>
          <a:prstGeom prst="rect">
            <a:avLst/>
          </a:prstGeom>
        </p:spPr>
      </p:pic>
      <p:sp>
        <p:nvSpPr>
          <p:cNvPr id="2" name="Title 1">
            <a:extLst>
              <a:ext uri="{FF2B5EF4-FFF2-40B4-BE49-F238E27FC236}">
                <a16:creationId xmlns:a16="http://schemas.microsoft.com/office/drawing/2014/main" id="{F90EAD93-1930-9CE4-92F9-CB4BBA81341C}"/>
              </a:ext>
            </a:extLst>
          </p:cNvPr>
          <p:cNvSpPr>
            <a:spLocks noGrp="1"/>
          </p:cNvSpPr>
          <p:nvPr>
            <p:ph type="title" hasCustomPrompt="1"/>
          </p:nvPr>
        </p:nvSpPr>
        <p:spPr>
          <a:xfrm>
            <a:off x="375077" y="425509"/>
            <a:ext cx="7886700" cy="993775"/>
          </a:xfrm>
        </p:spPr>
        <p:txBody>
          <a:bodyPr/>
          <a:lstStyle>
            <a:lvl1pPr>
              <a:defRPr>
                <a:solidFill>
                  <a:schemeClr val="bg1"/>
                </a:solidFill>
              </a:defRPr>
            </a:lvl1pPr>
          </a:lstStyle>
          <a:p>
            <a:r>
              <a:rPr lang="en-GB"/>
              <a:t>Thank you</a:t>
            </a:r>
            <a:endParaRPr lang="en-US"/>
          </a:p>
        </p:txBody>
      </p:sp>
      <p:sp>
        <p:nvSpPr>
          <p:cNvPr id="7" name="Content Placeholder 2">
            <a:extLst>
              <a:ext uri="{FF2B5EF4-FFF2-40B4-BE49-F238E27FC236}">
                <a16:creationId xmlns:a16="http://schemas.microsoft.com/office/drawing/2014/main" id="{1714766F-CA55-B58F-B135-B22E4B21707B}"/>
              </a:ext>
            </a:extLst>
          </p:cNvPr>
          <p:cNvSpPr>
            <a:spLocks noGrp="1"/>
          </p:cNvSpPr>
          <p:nvPr>
            <p:ph sz="half" idx="1"/>
          </p:nvPr>
        </p:nvSpPr>
        <p:spPr>
          <a:xfrm>
            <a:off x="375076" y="1683778"/>
            <a:ext cx="6563605" cy="140254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8" name="Picture 7">
            <a:extLst>
              <a:ext uri="{FF2B5EF4-FFF2-40B4-BE49-F238E27FC236}">
                <a16:creationId xmlns:a16="http://schemas.microsoft.com/office/drawing/2014/main" id="{13895825-72A7-324E-9A24-5E7861E4F73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74829" y="4306810"/>
            <a:ext cx="2127260" cy="272315"/>
          </a:xfrm>
          <a:prstGeom prst="rect">
            <a:avLst/>
          </a:prstGeom>
        </p:spPr>
      </p:pic>
    </p:spTree>
    <p:extLst>
      <p:ext uri="{BB962C8B-B14F-4D97-AF65-F5344CB8AC3E}">
        <p14:creationId xmlns:p14="http://schemas.microsoft.com/office/powerpoint/2010/main" val="906829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nd with Addresses">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3B82B64C-4A21-48EF-230D-CF646101A96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211734" cy="5181600"/>
          </a:xfrm>
          <a:prstGeom prst="rect">
            <a:avLst/>
          </a:prstGeom>
        </p:spPr>
      </p:pic>
      <p:pic>
        <p:nvPicPr>
          <p:cNvPr id="7" name="Picture 6">
            <a:extLst>
              <a:ext uri="{FF2B5EF4-FFF2-40B4-BE49-F238E27FC236}">
                <a16:creationId xmlns:a16="http://schemas.microsoft.com/office/drawing/2014/main" id="{FCAD9A4C-D34B-B0BC-0E62-A6F8857C8C5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27229" y="702998"/>
            <a:ext cx="2127260" cy="272315"/>
          </a:xfrm>
          <a:prstGeom prst="rect">
            <a:avLst/>
          </a:prstGeom>
        </p:spPr>
      </p:pic>
      <p:grpSp>
        <p:nvGrpSpPr>
          <p:cNvPr id="8" name="Group 7">
            <a:extLst>
              <a:ext uri="{FF2B5EF4-FFF2-40B4-BE49-F238E27FC236}">
                <a16:creationId xmlns:a16="http://schemas.microsoft.com/office/drawing/2014/main" id="{9535EE59-ECCB-8065-694C-8E4E76D63E7D}"/>
              </a:ext>
            </a:extLst>
          </p:cNvPr>
          <p:cNvGrpSpPr/>
          <p:nvPr userDrawn="1"/>
        </p:nvGrpSpPr>
        <p:grpSpPr>
          <a:xfrm>
            <a:off x="627229" y="1916977"/>
            <a:ext cx="4644682" cy="2545938"/>
            <a:chOff x="1243806" y="6879747"/>
            <a:chExt cx="5311140" cy="3710423"/>
          </a:xfrm>
        </p:grpSpPr>
        <p:sp>
          <p:nvSpPr>
            <p:cNvPr id="9" name="object 4">
              <a:extLst>
                <a:ext uri="{FF2B5EF4-FFF2-40B4-BE49-F238E27FC236}">
                  <a16:creationId xmlns:a16="http://schemas.microsoft.com/office/drawing/2014/main" id="{5CDD6526-A240-87EB-44B1-FCEC4312E6AF}"/>
                </a:ext>
              </a:extLst>
            </p:cNvPr>
            <p:cNvSpPr txBox="1"/>
            <p:nvPr/>
          </p:nvSpPr>
          <p:spPr>
            <a:xfrm>
              <a:off x="1243806" y="8198706"/>
              <a:ext cx="2432497" cy="1101751"/>
            </a:xfrm>
            <a:prstGeom prst="rect">
              <a:avLst/>
            </a:prstGeom>
          </p:spPr>
          <p:txBody>
            <a:bodyPr vert="horz" wrap="square" lIns="0" tIns="12065" rIns="0" bIns="0" rtlCol="0">
              <a:spAutoFit/>
            </a:bodyPr>
            <a:lstStyle/>
            <a:p>
              <a:pPr marL="12700" marR="5080">
                <a:lnSpc>
                  <a:spcPct val="100000"/>
                </a:lnSpc>
                <a:spcBef>
                  <a:spcPts val="95"/>
                </a:spcBef>
              </a:pPr>
              <a:r>
                <a:rPr sz="900">
                  <a:solidFill>
                    <a:srgbClr val="FFFFFF"/>
                  </a:solidFill>
                  <a:latin typeface="DM Sans" pitchFamily="2" charset="77"/>
                  <a:cs typeface="Calibri"/>
                </a:rPr>
                <a:t>Microlise Limited </a:t>
              </a:r>
              <a:endParaRPr lang="en-GB" sz="900">
                <a:solidFill>
                  <a:srgbClr val="FFFFFF"/>
                </a:solidFill>
                <a:latin typeface="DM Sans" pitchFamily="2" charset="77"/>
                <a:cs typeface="Calibri"/>
              </a:endParaRPr>
            </a:p>
            <a:p>
              <a:pPr marL="12700" marR="5080">
                <a:lnSpc>
                  <a:spcPct val="100000"/>
                </a:lnSpc>
                <a:spcBef>
                  <a:spcPts val="95"/>
                </a:spcBef>
              </a:pPr>
              <a:r>
                <a:rPr sz="900">
                  <a:solidFill>
                    <a:srgbClr val="FFFFFF"/>
                  </a:solidFill>
                  <a:latin typeface="DM Sans" pitchFamily="2" charset="77"/>
                  <a:cs typeface="Calibri"/>
                </a:rPr>
                <a:t>Farrington Way </a:t>
              </a:r>
              <a:endParaRPr lang="en-GB" sz="900">
                <a:solidFill>
                  <a:srgbClr val="FFFFFF"/>
                </a:solidFill>
                <a:latin typeface="DM Sans" pitchFamily="2" charset="77"/>
                <a:cs typeface="Calibri"/>
              </a:endParaRPr>
            </a:p>
            <a:p>
              <a:pPr marL="12700" marR="5080">
                <a:lnSpc>
                  <a:spcPct val="100000"/>
                </a:lnSpc>
                <a:spcBef>
                  <a:spcPts val="95"/>
                </a:spcBef>
              </a:pPr>
              <a:r>
                <a:rPr sz="900">
                  <a:solidFill>
                    <a:srgbClr val="FFFFFF"/>
                  </a:solidFill>
                  <a:latin typeface="DM Sans" pitchFamily="2" charset="77"/>
                  <a:cs typeface="Calibri"/>
                </a:rPr>
                <a:t>Eastwood </a:t>
              </a:r>
              <a:endParaRPr lang="en-GB" sz="900">
                <a:solidFill>
                  <a:srgbClr val="FFFFFF"/>
                </a:solidFill>
                <a:latin typeface="DM Sans" pitchFamily="2" charset="77"/>
                <a:cs typeface="Calibri"/>
              </a:endParaRPr>
            </a:p>
            <a:p>
              <a:pPr marL="12700" marR="5080">
                <a:lnSpc>
                  <a:spcPct val="100000"/>
                </a:lnSpc>
                <a:spcBef>
                  <a:spcPts val="95"/>
                </a:spcBef>
              </a:pPr>
              <a:r>
                <a:rPr sz="900">
                  <a:solidFill>
                    <a:srgbClr val="FFFFFF"/>
                  </a:solidFill>
                  <a:latin typeface="DM Sans" pitchFamily="2" charset="77"/>
                  <a:cs typeface="Calibri"/>
                </a:rPr>
                <a:t>Nottinghamshire</a:t>
              </a:r>
              <a:endParaRPr lang="en-GB" sz="900">
                <a:solidFill>
                  <a:srgbClr val="FFFFFF"/>
                </a:solidFill>
                <a:latin typeface="DM Sans" pitchFamily="2" charset="77"/>
                <a:cs typeface="Calibri"/>
              </a:endParaRPr>
            </a:p>
            <a:p>
              <a:pPr marL="12700" marR="5080">
                <a:lnSpc>
                  <a:spcPct val="100000"/>
                </a:lnSpc>
                <a:spcBef>
                  <a:spcPts val="95"/>
                </a:spcBef>
              </a:pPr>
              <a:r>
                <a:rPr sz="900">
                  <a:solidFill>
                    <a:srgbClr val="FFFFFF"/>
                  </a:solidFill>
                  <a:latin typeface="DM Sans" pitchFamily="2" charset="77"/>
                  <a:cs typeface="Calibri"/>
                </a:rPr>
                <a:t>NG16 3AG</a:t>
              </a:r>
              <a:endParaRPr sz="900">
                <a:latin typeface="DM Sans" pitchFamily="2" charset="77"/>
                <a:cs typeface="Calibri"/>
              </a:endParaRPr>
            </a:p>
          </p:txBody>
        </p:sp>
        <p:sp>
          <p:nvSpPr>
            <p:cNvPr id="10" name="object 5">
              <a:extLst>
                <a:ext uri="{FF2B5EF4-FFF2-40B4-BE49-F238E27FC236}">
                  <a16:creationId xmlns:a16="http://schemas.microsoft.com/office/drawing/2014/main" id="{D3AEB353-018B-618A-B8F0-7C8493D19746}"/>
                </a:ext>
              </a:extLst>
            </p:cNvPr>
            <p:cNvSpPr txBox="1"/>
            <p:nvPr/>
          </p:nvSpPr>
          <p:spPr>
            <a:xfrm>
              <a:off x="1243807" y="9765024"/>
              <a:ext cx="1500244" cy="825146"/>
            </a:xfrm>
            <a:prstGeom prst="rect">
              <a:avLst/>
            </a:prstGeom>
          </p:spPr>
          <p:txBody>
            <a:bodyPr vert="horz" wrap="square" lIns="0" tIns="12065" rIns="0" bIns="0" rtlCol="0">
              <a:spAutoFit/>
            </a:bodyPr>
            <a:lstStyle/>
            <a:p>
              <a:pPr marL="12700" marR="306070">
                <a:lnSpc>
                  <a:spcPct val="100000"/>
                </a:lnSpc>
                <a:spcBef>
                  <a:spcPts val="95"/>
                </a:spcBef>
              </a:pPr>
              <a:r>
                <a:rPr sz="900">
                  <a:solidFill>
                    <a:srgbClr val="FFFFFF"/>
                  </a:solidFill>
                  <a:latin typeface="DM Sans" pitchFamily="2" charset="77"/>
                  <a:cs typeface="Calibri"/>
                </a:rPr>
                <a:t>Registered in England &amp; Wales with</a:t>
              </a:r>
              <a:r>
                <a:rPr lang="en-GB" sz="900">
                  <a:solidFill>
                    <a:srgbClr val="FFFFFF"/>
                  </a:solidFill>
                  <a:latin typeface="DM Sans" pitchFamily="2" charset="77"/>
                  <a:cs typeface="Calibri"/>
                </a:rPr>
                <a:t> </a:t>
              </a:r>
              <a:r>
                <a:rPr sz="900">
                  <a:solidFill>
                    <a:srgbClr val="FFFFFF"/>
                  </a:solidFill>
                  <a:latin typeface="DM Sans" pitchFamily="2" charset="77"/>
                  <a:cs typeface="Calibri"/>
                </a:rPr>
                <a:t>Company No. 03037936</a:t>
              </a:r>
              <a:endParaRPr sz="900">
                <a:latin typeface="DM Sans" pitchFamily="2" charset="77"/>
                <a:cs typeface="Calibri"/>
              </a:endParaRPr>
            </a:p>
          </p:txBody>
        </p:sp>
        <p:sp>
          <p:nvSpPr>
            <p:cNvPr id="11" name="object 6">
              <a:extLst>
                <a:ext uri="{FF2B5EF4-FFF2-40B4-BE49-F238E27FC236}">
                  <a16:creationId xmlns:a16="http://schemas.microsoft.com/office/drawing/2014/main" id="{7B1C569B-8C1B-4838-1EA3-33558516C075}"/>
                </a:ext>
              </a:extLst>
            </p:cNvPr>
            <p:cNvSpPr txBox="1"/>
            <p:nvPr/>
          </p:nvSpPr>
          <p:spPr>
            <a:xfrm>
              <a:off x="2744051" y="8198706"/>
              <a:ext cx="1688171" cy="1045683"/>
            </a:xfrm>
            <a:prstGeom prst="rect">
              <a:avLst/>
            </a:prstGeom>
          </p:spPr>
          <p:txBody>
            <a:bodyPr vert="horz" wrap="square" lIns="0" tIns="12065" rIns="0" bIns="0" rtlCol="0">
              <a:spAutoFit/>
            </a:bodyPr>
            <a:lstStyle/>
            <a:p>
              <a:pPr marL="12700" marR="5080">
                <a:lnSpc>
                  <a:spcPct val="100000"/>
                </a:lnSpc>
                <a:spcBef>
                  <a:spcPts val="95"/>
                </a:spcBef>
              </a:pPr>
              <a:r>
                <a:rPr sz="900">
                  <a:solidFill>
                    <a:srgbClr val="FFFFFF"/>
                  </a:solidFill>
                  <a:latin typeface="DM Sans" pitchFamily="2" charset="77"/>
                  <a:cs typeface="Calibri"/>
                </a:rPr>
                <a:t>Microlise Group plc Farrington Way </a:t>
              </a:r>
              <a:br>
                <a:rPr lang="en-GB" sz="900">
                  <a:solidFill>
                    <a:srgbClr val="FFFFFF"/>
                  </a:solidFill>
                  <a:latin typeface="DM Sans" pitchFamily="2" charset="77"/>
                  <a:cs typeface="Calibri"/>
                </a:rPr>
              </a:br>
              <a:r>
                <a:rPr sz="900">
                  <a:solidFill>
                    <a:srgbClr val="FFFFFF"/>
                  </a:solidFill>
                  <a:latin typeface="DM Sans" pitchFamily="2" charset="77"/>
                  <a:cs typeface="Calibri"/>
                </a:rPr>
                <a:t>Eastwood </a:t>
              </a:r>
              <a:br>
                <a:rPr lang="en-GB" sz="900">
                  <a:solidFill>
                    <a:srgbClr val="FFFFFF"/>
                  </a:solidFill>
                  <a:latin typeface="DM Sans" pitchFamily="2" charset="77"/>
                  <a:cs typeface="Calibri"/>
                </a:rPr>
              </a:br>
              <a:r>
                <a:rPr sz="900">
                  <a:solidFill>
                    <a:srgbClr val="FFFFFF"/>
                  </a:solidFill>
                  <a:latin typeface="DM Sans" pitchFamily="2" charset="77"/>
                  <a:cs typeface="Calibri"/>
                </a:rPr>
                <a:t>Nottinghamshire </a:t>
              </a:r>
              <a:endParaRPr lang="en-GB" sz="900">
                <a:solidFill>
                  <a:srgbClr val="FFFFFF"/>
                </a:solidFill>
                <a:latin typeface="DM Sans" pitchFamily="2" charset="77"/>
                <a:cs typeface="Calibri"/>
              </a:endParaRPr>
            </a:p>
            <a:p>
              <a:pPr marL="12700" marR="5080">
                <a:lnSpc>
                  <a:spcPct val="100000"/>
                </a:lnSpc>
                <a:spcBef>
                  <a:spcPts val="95"/>
                </a:spcBef>
              </a:pPr>
              <a:r>
                <a:rPr sz="900">
                  <a:solidFill>
                    <a:srgbClr val="FFFFFF"/>
                  </a:solidFill>
                  <a:latin typeface="DM Sans" pitchFamily="2" charset="77"/>
                  <a:cs typeface="Calibri"/>
                </a:rPr>
                <a:t>NG16 3AG</a:t>
              </a:r>
              <a:endParaRPr sz="900">
                <a:latin typeface="DM Sans" pitchFamily="2" charset="77"/>
                <a:cs typeface="Calibri"/>
              </a:endParaRPr>
            </a:p>
          </p:txBody>
        </p:sp>
        <p:sp>
          <p:nvSpPr>
            <p:cNvPr id="12" name="object 7">
              <a:extLst>
                <a:ext uri="{FF2B5EF4-FFF2-40B4-BE49-F238E27FC236}">
                  <a16:creationId xmlns:a16="http://schemas.microsoft.com/office/drawing/2014/main" id="{BFF300BA-FBA5-33AB-D570-DEF601C7592E}"/>
                </a:ext>
              </a:extLst>
            </p:cNvPr>
            <p:cNvSpPr txBox="1"/>
            <p:nvPr/>
          </p:nvSpPr>
          <p:spPr>
            <a:xfrm>
              <a:off x="2744052" y="9765024"/>
              <a:ext cx="1308883" cy="825146"/>
            </a:xfrm>
            <a:prstGeom prst="rect">
              <a:avLst/>
            </a:prstGeom>
          </p:spPr>
          <p:txBody>
            <a:bodyPr vert="horz" wrap="square" lIns="0" tIns="12065" rIns="0" bIns="0" rtlCol="0">
              <a:spAutoFit/>
            </a:bodyPr>
            <a:lstStyle/>
            <a:p>
              <a:pPr marL="12700" marR="5080">
                <a:lnSpc>
                  <a:spcPct val="100000"/>
                </a:lnSpc>
                <a:spcBef>
                  <a:spcPts val="95"/>
                </a:spcBef>
              </a:pPr>
              <a:r>
                <a:rPr sz="900">
                  <a:solidFill>
                    <a:srgbClr val="FFFFFF"/>
                  </a:solidFill>
                  <a:latin typeface="DM Sans" pitchFamily="2" charset="77"/>
                  <a:cs typeface="Calibri"/>
                </a:rPr>
                <a:t>Registered in England &amp;  Wales with Company No. 11553192</a:t>
              </a:r>
              <a:endParaRPr sz="900">
                <a:latin typeface="DM Sans" pitchFamily="2" charset="77"/>
                <a:cs typeface="Calibri"/>
              </a:endParaRPr>
            </a:p>
          </p:txBody>
        </p:sp>
        <p:sp>
          <p:nvSpPr>
            <p:cNvPr id="13" name="object 16">
              <a:extLst>
                <a:ext uri="{FF2B5EF4-FFF2-40B4-BE49-F238E27FC236}">
                  <a16:creationId xmlns:a16="http://schemas.microsoft.com/office/drawing/2014/main" id="{434445B8-5756-9429-2A0F-FEE153B50457}"/>
                </a:ext>
              </a:extLst>
            </p:cNvPr>
            <p:cNvSpPr txBox="1"/>
            <p:nvPr/>
          </p:nvSpPr>
          <p:spPr>
            <a:xfrm>
              <a:off x="1243806" y="6879747"/>
              <a:ext cx="5311140" cy="563491"/>
            </a:xfrm>
            <a:prstGeom prst="rect">
              <a:avLst/>
            </a:prstGeom>
          </p:spPr>
          <p:txBody>
            <a:bodyPr vert="horz" wrap="square" lIns="0" tIns="17145" rIns="0" bIns="0" rtlCol="0">
              <a:spAutoFit/>
            </a:bodyPr>
            <a:lstStyle/>
            <a:p>
              <a:pPr marL="12700">
                <a:lnSpc>
                  <a:spcPct val="100000"/>
                </a:lnSpc>
                <a:spcBef>
                  <a:spcPts val="135"/>
                </a:spcBef>
              </a:pPr>
              <a:r>
                <a:rPr sz="2400">
                  <a:solidFill>
                    <a:schemeClr val="accent1"/>
                  </a:solidFill>
                  <a:latin typeface="DM Sans" pitchFamily="2" charset="77"/>
                  <a:cs typeface="Calibri"/>
                </a:rPr>
                <a:t>www.microlise.com</a:t>
              </a:r>
              <a:r>
                <a:rPr lang="en-GB" sz="2400">
                  <a:solidFill>
                    <a:schemeClr val="accent1"/>
                  </a:solidFill>
                  <a:latin typeface="DM Sans" pitchFamily="2" charset="77"/>
                  <a:cs typeface="Calibri"/>
                </a:rPr>
                <a:t> </a:t>
              </a:r>
              <a:endParaRPr sz="2400">
                <a:solidFill>
                  <a:schemeClr val="accent1"/>
                </a:solidFill>
                <a:latin typeface="DM Sans" pitchFamily="2" charset="77"/>
                <a:cs typeface="Calibri"/>
              </a:endParaRPr>
            </a:p>
          </p:txBody>
        </p:sp>
      </p:grpSp>
    </p:spTree>
    <p:extLst>
      <p:ext uri="{BB962C8B-B14F-4D97-AF65-F5344CB8AC3E}">
        <p14:creationId xmlns:p14="http://schemas.microsoft.com/office/powerpoint/2010/main" val="1239541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Module Starting Slide">
    <p:spTree>
      <p:nvGrpSpPr>
        <p:cNvPr id="1" name=""/>
        <p:cNvGrpSpPr/>
        <p:nvPr/>
      </p:nvGrpSpPr>
      <p:grpSpPr>
        <a:xfrm>
          <a:off x="0" y="0"/>
          <a:ext cx="0" cy="0"/>
          <a:chOff x="0" y="0"/>
          <a:chExt cx="0" cy="0"/>
        </a:xfrm>
      </p:grpSpPr>
      <p:sp>
        <p:nvSpPr>
          <p:cNvPr id="18" name="Picture Placeholder 9">
            <a:extLst>
              <a:ext uri="{FF2B5EF4-FFF2-40B4-BE49-F238E27FC236}">
                <a16:creationId xmlns:a16="http://schemas.microsoft.com/office/drawing/2014/main" id="{4F173117-1383-4956-B947-1EA7A51D0D4A}"/>
              </a:ext>
            </a:extLst>
          </p:cNvPr>
          <p:cNvSpPr>
            <a:spLocks noGrp="1"/>
          </p:cNvSpPr>
          <p:nvPr>
            <p:ph type="pic" sz="quarter" idx="13"/>
          </p:nvPr>
        </p:nvSpPr>
        <p:spPr>
          <a:xfrm>
            <a:off x="0" y="0"/>
            <a:ext cx="3435072" cy="5143500"/>
          </a:xfrm>
        </p:spPr>
        <p:txBody>
          <a:bodyPr rtlCol="0"/>
          <a:lstStyle>
            <a:lvl1pPr>
              <a:defRPr>
                <a:solidFill>
                  <a:schemeClr val="tx1">
                    <a:lumMod val="75000"/>
                    <a:lumOff val="25000"/>
                  </a:schemeClr>
                </a:solidFill>
              </a:defRPr>
            </a:lvl1pPr>
          </a:lstStyle>
          <a:p>
            <a:pPr rtl="0"/>
            <a:r>
              <a:rPr lang="en-US" noProof="0"/>
              <a:t>Click icon to add picture</a:t>
            </a:r>
            <a:endParaRPr lang="en-GB" noProof="0"/>
          </a:p>
        </p:txBody>
      </p:sp>
      <p:sp>
        <p:nvSpPr>
          <p:cNvPr id="10" name="Parallelogram 14">
            <a:extLst>
              <a:ext uri="{FF2B5EF4-FFF2-40B4-BE49-F238E27FC236}">
                <a16:creationId xmlns:a16="http://schemas.microsoft.com/office/drawing/2014/main" id="{BA60C70F-7EE5-4927-B922-88B1C47FADB9}"/>
              </a:ext>
            </a:extLst>
          </p:cNvPr>
          <p:cNvSpPr/>
          <p:nvPr userDrawn="1"/>
        </p:nvSpPr>
        <p:spPr>
          <a:xfrm>
            <a:off x="5586413" y="0"/>
            <a:ext cx="2143125" cy="51435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rtl="0"/>
            <a:endParaRPr lang="en-GB" sz="1050" noProof="0"/>
          </a:p>
        </p:txBody>
      </p:sp>
      <p:sp>
        <p:nvSpPr>
          <p:cNvPr id="3" name="Content Placeholder 2"/>
          <p:cNvSpPr>
            <a:spLocks noGrp="1"/>
          </p:cNvSpPr>
          <p:nvPr>
            <p:ph idx="1"/>
          </p:nvPr>
        </p:nvSpPr>
        <p:spPr>
          <a:xfrm>
            <a:off x="3738542" y="1601215"/>
            <a:ext cx="4642348" cy="2816328"/>
          </a:xfrm>
        </p:spPr>
        <p:txBody>
          <a:bodyPr rtlCol="0" anchor="t">
            <a:normAutofit/>
          </a:bodyPr>
          <a:lstStyle>
            <a:lvl1pPr>
              <a:defRPr sz="1500"/>
            </a:lvl1pPr>
            <a:lvl2pPr>
              <a:defRPr sz="1350"/>
            </a:lvl2pPr>
            <a:lvl3pPr>
              <a:defRPr sz="1050"/>
            </a:lvl3pPr>
            <a:lvl4pPr>
              <a:defRPr sz="1050"/>
            </a:lvl4pPr>
            <a:lvl5pPr>
              <a:defRPr sz="105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itle 1">
            <a:extLst>
              <a:ext uri="{FF2B5EF4-FFF2-40B4-BE49-F238E27FC236}">
                <a16:creationId xmlns:a16="http://schemas.microsoft.com/office/drawing/2014/main" id="{22CFFCFE-1D31-A30F-F50C-B0F2410AF35F}"/>
              </a:ext>
            </a:extLst>
          </p:cNvPr>
          <p:cNvSpPr>
            <a:spLocks noGrp="1"/>
          </p:cNvSpPr>
          <p:nvPr>
            <p:ph type="title"/>
          </p:nvPr>
        </p:nvSpPr>
        <p:spPr>
          <a:xfrm>
            <a:off x="3738542" y="309194"/>
            <a:ext cx="4642348" cy="833526"/>
          </a:xfrm>
        </p:spPr>
        <p:txBody>
          <a:bodyPr rtlCol="0">
            <a:noAutofit/>
          </a:bodyPr>
          <a:lstStyle>
            <a:lvl1pPr>
              <a:defRPr sz="2700"/>
            </a:lvl1pPr>
          </a:lstStyle>
          <a:p>
            <a:pPr rtl="0"/>
            <a:r>
              <a:rPr lang="en-US" noProof="0"/>
              <a:t>Click to edit Master title style</a:t>
            </a:r>
            <a:endParaRPr lang="en-GB" noProof="0"/>
          </a:p>
        </p:txBody>
      </p:sp>
      <p:cxnSp>
        <p:nvCxnSpPr>
          <p:cNvPr id="7" name="Straight Connector 6">
            <a:extLst>
              <a:ext uri="{FF2B5EF4-FFF2-40B4-BE49-F238E27FC236}">
                <a16:creationId xmlns:a16="http://schemas.microsoft.com/office/drawing/2014/main" id="{7EA5A7F9-815F-CB72-FEA5-B883FA33AAEE}"/>
              </a:ext>
            </a:extLst>
          </p:cNvPr>
          <p:cNvCxnSpPr/>
          <p:nvPr userDrawn="1"/>
        </p:nvCxnSpPr>
        <p:spPr>
          <a:xfrm>
            <a:off x="3738542" y="1326311"/>
            <a:ext cx="4642348" cy="0"/>
          </a:xfrm>
          <a:prstGeom prst="line">
            <a:avLst/>
          </a:prstGeom>
          <a:ln w="285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185421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10_Content with Caption">
    <p:spTree>
      <p:nvGrpSpPr>
        <p:cNvPr id="1" name=""/>
        <p:cNvGrpSpPr/>
        <p:nvPr/>
      </p:nvGrpSpPr>
      <p:grpSpPr>
        <a:xfrm>
          <a:off x="0" y="0"/>
          <a:ext cx="0" cy="0"/>
          <a:chOff x="0" y="0"/>
          <a:chExt cx="0" cy="0"/>
        </a:xfrm>
      </p:grpSpPr>
      <p:sp>
        <p:nvSpPr>
          <p:cNvPr id="18" name="Picture Placeholder 9">
            <a:extLst>
              <a:ext uri="{FF2B5EF4-FFF2-40B4-BE49-F238E27FC236}">
                <a16:creationId xmlns:a16="http://schemas.microsoft.com/office/drawing/2014/main" id="{4F173117-1383-4956-B947-1EA7A51D0D4A}"/>
              </a:ext>
            </a:extLst>
          </p:cNvPr>
          <p:cNvSpPr>
            <a:spLocks noGrp="1"/>
          </p:cNvSpPr>
          <p:nvPr>
            <p:ph type="pic" sz="quarter" idx="13"/>
          </p:nvPr>
        </p:nvSpPr>
        <p:spPr>
          <a:xfrm>
            <a:off x="3377946" y="917150"/>
            <a:ext cx="5306588" cy="3390676"/>
          </a:xfrm>
        </p:spPr>
        <p:txBody>
          <a:bodyPr rtlCol="0"/>
          <a:lstStyle>
            <a:lvl1pPr>
              <a:defRPr>
                <a:solidFill>
                  <a:schemeClr val="tx1">
                    <a:lumMod val="75000"/>
                    <a:lumOff val="25000"/>
                  </a:schemeClr>
                </a:solidFill>
              </a:defRPr>
            </a:lvl1pPr>
          </a:lstStyle>
          <a:p>
            <a:pPr rtl="0"/>
            <a:r>
              <a:rPr lang="en-US" noProof="0"/>
              <a:t>Click icon to add picture</a:t>
            </a:r>
            <a:endParaRPr lang="en-GB" noProof="0"/>
          </a:p>
        </p:txBody>
      </p:sp>
      <p:sp>
        <p:nvSpPr>
          <p:cNvPr id="3" name="Content Placeholder 2"/>
          <p:cNvSpPr>
            <a:spLocks noGrp="1"/>
          </p:cNvSpPr>
          <p:nvPr>
            <p:ph idx="1"/>
          </p:nvPr>
        </p:nvSpPr>
        <p:spPr>
          <a:xfrm>
            <a:off x="106381" y="1022890"/>
            <a:ext cx="2575709" cy="3703020"/>
          </a:xfrm>
        </p:spPr>
        <p:txBody>
          <a:bodyPr rtlCol="0" anchor="t">
            <a:normAutofit/>
          </a:bodyPr>
          <a:lstStyle>
            <a:lvl1pPr>
              <a:defRPr sz="1200"/>
            </a:lvl1pPr>
            <a:lvl2pPr>
              <a:defRPr sz="1050"/>
            </a:lvl2pPr>
            <a:lvl3pPr>
              <a:defRPr sz="825"/>
            </a:lvl3pPr>
            <a:lvl4pPr>
              <a:defRPr sz="825"/>
            </a:lvl4pPr>
            <a:lvl5pPr>
              <a:defRPr sz="825"/>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itle 1">
            <a:extLst>
              <a:ext uri="{FF2B5EF4-FFF2-40B4-BE49-F238E27FC236}">
                <a16:creationId xmlns:a16="http://schemas.microsoft.com/office/drawing/2014/main" id="{22CFFCFE-1D31-A30F-F50C-B0F2410AF35F}"/>
              </a:ext>
            </a:extLst>
          </p:cNvPr>
          <p:cNvSpPr>
            <a:spLocks noGrp="1"/>
          </p:cNvSpPr>
          <p:nvPr>
            <p:ph type="title"/>
          </p:nvPr>
        </p:nvSpPr>
        <p:spPr>
          <a:xfrm>
            <a:off x="106380" y="274185"/>
            <a:ext cx="2589289" cy="527158"/>
          </a:xfrm>
        </p:spPr>
        <p:txBody>
          <a:bodyPr rtlCol="0">
            <a:noAutofit/>
          </a:bodyPr>
          <a:lstStyle>
            <a:lvl1pPr>
              <a:defRPr sz="1500"/>
            </a:lvl1pPr>
          </a:lstStyle>
          <a:p>
            <a:pPr rtl="0"/>
            <a:r>
              <a:rPr lang="en-US" noProof="0"/>
              <a:t>Click to edit Master title style</a:t>
            </a:r>
            <a:endParaRPr lang="en-GB" noProof="0"/>
          </a:p>
        </p:txBody>
      </p:sp>
      <p:cxnSp>
        <p:nvCxnSpPr>
          <p:cNvPr id="7" name="Straight Connector 6">
            <a:extLst>
              <a:ext uri="{FF2B5EF4-FFF2-40B4-BE49-F238E27FC236}">
                <a16:creationId xmlns:a16="http://schemas.microsoft.com/office/drawing/2014/main" id="{7EA5A7F9-815F-CB72-FEA5-B883FA33AAEE}"/>
              </a:ext>
            </a:extLst>
          </p:cNvPr>
          <p:cNvCxnSpPr>
            <a:cxnSpLocks/>
          </p:cNvCxnSpPr>
          <p:nvPr userDrawn="1"/>
        </p:nvCxnSpPr>
        <p:spPr>
          <a:xfrm>
            <a:off x="92799" y="917150"/>
            <a:ext cx="258929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4FC02E08-8FFB-2F32-CE3B-196AD2A7D13E}"/>
              </a:ext>
            </a:extLst>
          </p:cNvPr>
          <p:cNvCxnSpPr>
            <a:cxnSpLocks/>
          </p:cNvCxnSpPr>
          <p:nvPr userDrawn="1"/>
        </p:nvCxnSpPr>
        <p:spPr>
          <a:xfrm>
            <a:off x="2766967" y="274184"/>
            <a:ext cx="0" cy="4451726"/>
          </a:xfrm>
          <a:prstGeom prst="line">
            <a:avLst/>
          </a:prstGeom>
          <a:ln w="952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33297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Rectangle 1"/>
          <p:cNvSpPr/>
          <p:nvPr userDrawn="1"/>
        </p:nvSpPr>
        <p:spPr>
          <a:xfrm>
            <a:off x="-8468" y="-1"/>
            <a:ext cx="3884432" cy="5143501"/>
          </a:xfrm>
          <a:prstGeom prst="rect">
            <a:avLst/>
          </a:prstGeom>
          <a:solidFill>
            <a:srgbClr val="0075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4" name="Picture 2" descr="Y:\Branding &amp; Graphics JD\Microlise Logos\Standard logo\White\PNG\Microlise_Logo_White_800px_web.png"/>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579928" y="498401"/>
            <a:ext cx="1003603" cy="4575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4473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5239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B77C89-30AF-531D-EA53-92B212C544C4}"/>
              </a:ext>
            </a:extLst>
          </p:cNvPr>
          <p:cNvSpPr>
            <a:spLocks noGrp="1"/>
          </p:cNvSpPr>
          <p:nvPr>
            <p:ph type="title"/>
          </p:nvPr>
        </p:nvSpPr>
        <p:spPr>
          <a:xfrm>
            <a:off x="375077" y="274638"/>
            <a:ext cx="7886700" cy="993775"/>
          </a:xfrm>
          <a:prstGeom prst="rect">
            <a:avLst/>
          </a:prstGeom>
        </p:spPr>
        <p:txBody>
          <a:bodyPr vert="horz" lIns="91440" tIns="45720" rIns="91440" bIns="45720" rtlCol="0" anchor="ctr">
            <a:no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83950DF-701D-D598-68F0-FCD09E7585B5}"/>
              </a:ext>
            </a:extLst>
          </p:cNvPr>
          <p:cNvSpPr>
            <a:spLocks noGrp="1"/>
          </p:cNvSpPr>
          <p:nvPr>
            <p:ph type="body" idx="1"/>
          </p:nvPr>
        </p:nvSpPr>
        <p:spPr>
          <a:xfrm>
            <a:off x="375077" y="1370013"/>
            <a:ext cx="7886700" cy="326231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DBF03E1-14AE-35AA-9268-AE524D44C954}"/>
              </a:ext>
            </a:extLst>
          </p:cNvPr>
          <p:cNvSpPr>
            <a:spLocks noGrp="1"/>
          </p:cNvSpPr>
          <p:nvPr>
            <p:ph type="dt" sz="half" idx="2"/>
          </p:nvPr>
        </p:nvSpPr>
        <p:spPr>
          <a:xfrm>
            <a:off x="6195412" y="4632325"/>
            <a:ext cx="2057400" cy="274637"/>
          </a:xfrm>
          <a:prstGeom prst="rect">
            <a:avLst/>
          </a:prstGeom>
        </p:spPr>
        <p:txBody>
          <a:bodyPr vert="horz" lIns="91440" tIns="45720" rIns="91440" bIns="45720" rtlCol="0" anchor="ctr"/>
          <a:lstStyle>
            <a:lvl1pPr algn="r">
              <a:defRPr sz="900" b="0" i="0">
                <a:solidFill>
                  <a:schemeClr val="tx1"/>
                </a:solidFill>
                <a:latin typeface="Outfit Light" pitchFamily="2" charset="0"/>
              </a:defRPr>
            </a:lvl1pPr>
          </a:lstStyle>
          <a:p>
            <a:fld id="{B8DA1A95-0620-4B43-9EA1-72D8A64E0460}" type="datetime1">
              <a:rPr lang="en-GB" smtClean="0"/>
              <a:t>12/03/2025</a:t>
            </a:fld>
            <a:endParaRPr lang="en-US"/>
          </a:p>
        </p:txBody>
      </p:sp>
      <p:sp>
        <p:nvSpPr>
          <p:cNvPr id="6" name="Slide Number Placeholder 5">
            <a:extLst>
              <a:ext uri="{FF2B5EF4-FFF2-40B4-BE49-F238E27FC236}">
                <a16:creationId xmlns:a16="http://schemas.microsoft.com/office/drawing/2014/main" id="{26016C77-B5B6-9D68-8334-B64DFFC7CC16}"/>
              </a:ext>
            </a:extLst>
          </p:cNvPr>
          <p:cNvSpPr>
            <a:spLocks noGrp="1"/>
          </p:cNvSpPr>
          <p:nvPr>
            <p:ph type="sldNum" sz="quarter" idx="4"/>
          </p:nvPr>
        </p:nvSpPr>
        <p:spPr>
          <a:xfrm>
            <a:off x="8252812" y="4632325"/>
            <a:ext cx="609207" cy="274637"/>
          </a:xfrm>
          <a:prstGeom prst="rect">
            <a:avLst/>
          </a:prstGeom>
        </p:spPr>
        <p:txBody>
          <a:bodyPr vert="horz" lIns="91440" tIns="45720" rIns="91440" bIns="45720" rtlCol="0" anchor="ctr"/>
          <a:lstStyle>
            <a:lvl1pPr algn="r">
              <a:defRPr sz="900" b="0" i="0">
                <a:solidFill>
                  <a:schemeClr val="tx1"/>
                </a:solidFill>
                <a:latin typeface="Outfit Light" pitchFamily="2" charset="0"/>
              </a:defRPr>
            </a:lvl1pPr>
          </a:lstStyle>
          <a:p>
            <a:fld id="{CC0CD38E-35A1-2247-B55D-C6626AF9BA09}" type="slidenum">
              <a:rPr lang="en-US" smtClean="0"/>
              <a:pPr/>
              <a:t>‹#›</a:t>
            </a:fld>
            <a:endParaRPr lang="en-US"/>
          </a:p>
        </p:txBody>
      </p:sp>
    </p:spTree>
    <p:extLst>
      <p:ext uri="{BB962C8B-B14F-4D97-AF65-F5344CB8AC3E}">
        <p14:creationId xmlns:p14="http://schemas.microsoft.com/office/powerpoint/2010/main" val="2945807643"/>
      </p:ext>
    </p:extLst>
  </p:cSld>
  <p:clrMap bg1="lt1" tx1="dk1" bg2="lt2" tx2="dk2" accent1="accent1" accent2="accent2" accent3="accent3" accent4="accent4" accent5="accent5" accent6="accent6" hlink="hlink" folHlink="folHlink"/>
  <p:sldLayoutIdLst>
    <p:sldLayoutId id="2147483654" r:id="rId1"/>
    <p:sldLayoutId id="2147483680" r:id="rId2"/>
    <p:sldLayoutId id="2147483673" r:id="rId3"/>
    <p:sldLayoutId id="2147483683" r:id="rId4"/>
    <p:sldLayoutId id="2147483669" r:id="rId5"/>
    <p:sldLayoutId id="2147483668" r:id="rId6"/>
    <p:sldLayoutId id="2147483655" r:id="rId7"/>
    <p:sldLayoutId id="2147483684" r:id="rId8"/>
    <p:sldLayoutId id="2147483682" r:id="rId9"/>
    <p:sldLayoutId id="2147483674" r:id="rId10"/>
    <p:sldLayoutId id="2147483681" r:id="rId11"/>
    <p:sldLayoutId id="2147483657" r:id="rId12"/>
    <p:sldLayoutId id="2147483656" r:id="rId13"/>
    <p:sldLayoutId id="2147483662" r:id="rId14"/>
    <p:sldLayoutId id="2147483667" r:id="rId15"/>
    <p:sldLayoutId id="2147483678" r:id="rId16"/>
    <p:sldLayoutId id="2147483679" r:id="rId17"/>
    <p:sldLayoutId id="2147483676" r:id="rId18"/>
    <p:sldLayoutId id="2147483677" r:id="rId19"/>
    <p:sldLayoutId id="2147483652" r:id="rId20"/>
    <p:sldLayoutId id="2147483672" r:id="rId21"/>
    <p:sldLayoutId id="2147483670" r:id="rId22"/>
    <p:sldLayoutId id="2147483671" r:id="rId23"/>
    <p:sldLayoutId id="2147483713" r:id="rId24"/>
    <p:sldLayoutId id="2147483714" r:id="rId25"/>
    <p:sldLayoutId id="2147483715" r:id="rId26"/>
    <p:sldLayoutId id="2147483719" r:id="rId27"/>
  </p:sldLayoutIdLst>
  <p:hf hdr="0" ftr="0" dt="0"/>
  <p:txStyles>
    <p:titleStyle>
      <a:lvl1pPr algn="l" defTabSz="914400" rtl="0" eaLnBrk="1" latinLnBrk="0" hangingPunct="1">
        <a:lnSpc>
          <a:spcPct val="90000"/>
        </a:lnSpc>
        <a:spcBef>
          <a:spcPct val="0"/>
        </a:spcBef>
        <a:buNone/>
        <a:defRPr sz="4000" kern="1200">
          <a:solidFill>
            <a:schemeClr val="tx1"/>
          </a:solidFill>
          <a:latin typeface="Archia" panose="02000503000000020004"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Outfit Ligh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Outfit Ligh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Outfit Ligh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utfit Ligh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utfit Ligh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7.xml"/><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27.xml"/><Relationship Id="rId5"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27.xm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7.xml"/></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7.xml"/></Relationships>
</file>

<file path=ppt/slides/_rels/slide32.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7.xml"/></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jpeg"/><Relationship Id="rId1" Type="http://schemas.openxmlformats.org/officeDocument/2006/relationships/slideLayout" Target="../slideLayouts/slideLayout27.xml"/><Relationship Id="rId4" Type="http://schemas.openxmlformats.org/officeDocument/2006/relationships/image" Target="../media/image46.png"/></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3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7.xml"/></Relationships>
</file>

<file path=ppt/slides/_rels/slide3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7.xml"/></Relationships>
</file>

<file path=ppt/slides/_rels/slide3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7.xml"/></Relationships>
</file>

<file path=ppt/slides/_rels/slide3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4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7.xml"/></Relationships>
</file>

<file path=ppt/slides/_rels/slide4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7.xml"/></Relationships>
</file>

<file path=ppt/slides/_rels/slide4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7.xml"/></Relationships>
</file>

<file path=ppt/slides/_rels/slide4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7.xml"/></Relationships>
</file>

<file path=ppt/slides/_rels/slide4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7.xml"/></Relationships>
</file>

<file path=ppt/slides/_rels/slide4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5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5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7.xml"/></Relationships>
</file>

<file path=ppt/slides/_rels/slide5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7.xml"/></Relationships>
</file>

<file path=ppt/slides/_rels/slide5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7.xml"/></Relationships>
</file>

<file path=ppt/slides/_rels/slide5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7.xml"/></Relationships>
</file>

<file path=ppt/slides/_rels/slide5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9.xml"/><Relationship Id="rId1" Type="http://schemas.openxmlformats.org/officeDocument/2006/relationships/slideLayout" Target="../slideLayouts/slideLayout27.xml"/><Relationship Id="rId5" Type="http://schemas.openxmlformats.org/officeDocument/2006/relationships/image" Target="../media/image66.png"/><Relationship Id="rId4" Type="http://schemas.openxmlformats.org/officeDocument/2006/relationships/image" Target="../media/image65.png"/></Relationships>
</file>

<file path=ppt/slides/_rels/slide5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7.xml"/></Relationships>
</file>

<file path=ppt/slides/_rels/slide6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7.xml"/><Relationship Id="rId5" Type="http://schemas.openxmlformats.org/officeDocument/2006/relationships/image" Target="../media/image70.png"/><Relationship Id="rId4" Type="http://schemas.openxmlformats.org/officeDocument/2006/relationships/image" Target="../media/image69.png"/></Relationships>
</file>

<file path=ppt/slides/_rels/slide6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0.xml"/><Relationship Id="rId1" Type="http://schemas.openxmlformats.org/officeDocument/2006/relationships/slideLayout" Target="../slideLayouts/slideLayout27.xml"/><Relationship Id="rId4" Type="http://schemas.openxmlformats.org/officeDocument/2006/relationships/image" Target="../media/image73.png"/></Relationships>
</file>

<file path=ppt/slides/_rels/slide6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7.xml"/></Relationships>
</file>

<file path=ppt/slides/_rels/slide6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7.xml"/></Relationships>
</file>

<file path=ppt/slides/_rels/slide6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7.xml"/></Relationships>
</file>

<file path=ppt/slides/_rels/slide6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9.xml.rels><?xml version="1.0" encoding="UTF-8" standalone="yes"?>
<Relationships xmlns="http://schemas.openxmlformats.org/package/2006/relationships"><Relationship Id="rId2" Type="http://schemas.openxmlformats.org/officeDocument/2006/relationships/hyperlink" Target="https://www.slideshare.net/rishabhindoria52/introduction-to-kubernetes-139878615" TargetMode="External"/><Relationship Id="rId1" Type="http://schemas.openxmlformats.org/officeDocument/2006/relationships/slideLayout" Target="../slideLayouts/slideLayout27.xml"/></Relationships>
</file>

<file path=ppt/slides/_rels/slide70.xml.rels><?xml version="1.0" encoding="UTF-8" standalone="yes"?>
<Relationships xmlns="http://schemas.openxmlformats.org/package/2006/relationships"><Relationship Id="rId8" Type="http://schemas.openxmlformats.org/officeDocument/2006/relationships/hyperlink" Target="https://tfs.microlise.com/tfs/DefaultCollection/Microlise/Toblerone/_git/AssetTagApi.Release" TargetMode="External"/><Relationship Id="rId3" Type="http://schemas.openxmlformats.org/officeDocument/2006/relationships/hyperlink" Target="https://confluence.microlise.com/display/PO/Common+Pre-Requisite+Tasks" TargetMode="External"/><Relationship Id="rId7" Type="http://schemas.openxmlformats.org/officeDocument/2006/relationships/hyperlink" Target="https://tfs.microlise.com/tfs/DefaultCollection/Microlise/Toblerone/_git/AssetTagAPI?path=%2FContainerfile&amp;version=GBmaster" TargetMode="External"/><Relationship Id="rId2" Type="http://schemas.openxmlformats.org/officeDocument/2006/relationships/hyperlink" Target="https://console-openshift-console.apps.gen.ocp.mms.local/k8s/cluster/project.openshift.io~v1~Project" TargetMode="External"/><Relationship Id="rId1" Type="http://schemas.openxmlformats.org/officeDocument/2006/relationships/slideLayout" Target="../slideLayouts/slideLayout27.xml"/><Relationship Id="rId6" Type="http://schemas.openxmlformats.org/officeDocument/2006/relationships/hyperlink" Target="https://tfs.microlise.com/tfs/DefaultCollection/Microlise/_git/Gryphon.Quay.Config.registry?path=%2Frepositories_microlise_build.yml&amp;version=GBmain" TargetMode="External"/><Relationship Id="rId5" Type="http://schemas.openxmlformats.org/officeDocument/2006/relationships/hyperlink" Target="https://tfs.microlise.com/tfs/DefaultCollection/Microlise/Toblerone/_git/Gryphon.OpenShift.Projects?path=%2Fgen%2Fasset-tag-dev.yml&amp;version=GBmain" TargetMode="External"/><Relationship Id="rId4" Type="http://schemas.openxmlformats.org/officeDocument/2006/relationships/hyperlink" Target="https://confluence.microlise.com/display/PO/Overview" TargetMode="External"/><Relationship Id="rId9" Type="http://schemas.openxmlformats.org/officeDocument/2006/relationships/hyperlink" Target="https://tfs.microlise.com/tfs/DefaultCollection/Microlise/_release?definitionId=840&amp;_a=releases" TargetMode="External"/></Relationships>
</file>

<file path=ppt/slides/_rels/slide71.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2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5A163-7275-AC26-92BC-4D0DCD188E98}"/>
              </a:ext>
            </a:extLst>
          </p:cNvPr>
          <p:cNvSpPr>
            <a:spLocks noGrp="1"/>
          </p:cNvSpPr>
          <p:nvPr>
            <p:ph type="ctrTitle" idx="4294967295"/>
          </p:nvPr>
        </p:nvSpPr>
        <p:spPr>
          <a:xfrm>
            <a:off x="0" y="698500"/>
            <a:ext cx="4035425" cy="1028700"/>
          </a:xfrm>
        </p:spPr>
        <p:txBody>
          <a:bodyPr/>
          <a:lstStyle/>
          <a:p>
            <a:r>
              <a:rPr lang="en-US" dirty="0"/>
              <a:t>KUBERNETES</a:t>
            </a:r>
          </a:p>
        </p:txBody>
      </p:sp>
      <p:pic>
        <p:nvPicPr>
          <p:cNvPr id="2050" name="Picture 2" descr="4-day Docker and Kubernetes Training – Software Blog">
            <a:extLst>
              <a:ext uri="{FF2B5EF4-FFF2-40B4-BE49-F238E27FC236}">
                <a16:creationId xmlns:a16="http://schemas.microsoft.com/office/drawing/2014/main" id="{35B88B29-7892-D800-4EF8-46A6BC5A86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077" y="698177"/>
            <a:ext cx="1166997" cy="1166997"/>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C4786020-AC45-EEDB-148D-417C580E11EE}"/>
              </a:ext>
            </a:extLst>
          </p:cNvPr>
          <p:cNvSpPr txBox="1">
            <a:spLocks/>
          </p:cNvSpPr>
          <p:nvPr/>
        </p:nvSpPr>
        <p:spPr>
          <a:xfrm>
            <a:off x="2475872" y="1350270"/>
            <a:ext cx="2951330" cy="1029807"/>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800" kern="1200">
                <a:solidFill>
                  <a:schemeClr val="tx1"/>
                </a:solidFill>
                <a:latin typeface="Archia" panose="02000503000000020004" pitchFamily="2" charset="77"/>
                <a:ea typeface="+mj-ea"/>
                <a:cs typeface="+mj-cs"/>
              </a:defRPr>
            </a:lvl1pPr>
          </a:lstStyle>
          <a:p>
            <a:pPr>
              <a:buClrTx/>
              <a:buFontTx/>
            </a:pPr>
            <a:r>
              <a:rPr lang="en-US" sz="3200" dirty="0"/>
              <a:t>By Anish Jain</a:t>
            </a:r>
          </a:p>
        </p:txBody>
      </p:sp>
      <p:pic>
        <p:nvPicPr>
          <p:cNvPr id="5122" name="Picture 2" descr="OpenShift Monitoring with Instana | IBM">
            <a:extLst>
              <a:ext uri="{FF2B5EF4-FFF2-40B4-BE49-F238E27FC236}">
                <a16:creationId xmlns:a16="http://schemas.microsoft.com/office/drawing/2014/main" id="{9A81D826-87DD-E69A-D303-5548D3210F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477" y="614964"/>
            <a:ext cx="2950876" cy="222603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70E5012-10BC-E2C2-0587-B2BAA6ACFC4E}"/>
              </a:ext>
            </a:extLst>
          </p:cNvPr>
          <p:cNvSpPr txBox="1"/>
          <p:nvPr/>
        </p:nvSpPr>
        <p:spPr>
          <a:xfrm>
            <a:off x="172837" y="3153907"/>
            <a:ext cx="3369802" cy="523220"/>
          </a:xfrm>
          <a:prstGeom prst="rect">
            <a:avLst/>
          </a:prstGeom>
          <a:noFill/>
        </p:spPr>
        <p:txBody>
          <a:bodyPr wrap="square">
            <a:spAutoFit/>
          </a:bodyPr>
          <a:lstStyle/>
          <a:p>
            <a:r>
              <a:rPr lang="en-IN" dirty="0"/>
              <a:t>Orchestrating containers, scaling workloads, and securing applications.</a:t>
            </a:r>
          </a:p>
        </p:txBody>
      </p:sp>
    </p:spTree>
    <p:extLst>
      <p:ext uri="{BB962C8B-B14F-4D97-AF65-F5344CB8AC3E}">
        <p14:creationId xmlns:p14="http://schemas.microsoft.com/office/powerpoint/2010/main" val="3626827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64CBB-549C-7A7E-6B3D-45598B5A129E}"/>
              </a:ext>
            </a:extLst>
          </p:cNvPr>
          <p:cNvSpPr>
            <a:spLocks noGrp="1"/>
          </p:cNvSpPr>
          <p:nvPr>
            <p:ph type="title" idx="4294967295"/>
          </p:nvPr>
        </p:nvSpPr>
        <p:spPr>
          <a:xfrm>
            <a:off x="0" y="274638"/>
            <a:ext cx="7886700" cy="993775"/>
          </a:xfrm>
        </p:spPr>
        <p:txBody>
          <a:bodyPr/>
          <a:lstStyle/>
          <a:p>
            <a:r>
              <a:rPr lang="en-IN" dirty="0"/>
              <a:t>Agenda</a:t>
            </a:r>
          </a:p>
        </p:txBody>
      </p:sp>
      <p:sp>
        <p:nvSpPr>
          <p:cNvPr id="3" name="Slide Number Placeholder 2">
            <a:extLst>
              <a:ext uri="{FF2B5EF4-FFF2-40B4-BE49-F238E27FC236}">
                <a16:creationId xmlns:a16="http://schemas.microsoft.com/office/drawing/2014/main" id="{044A453F-E082-6AEE-C301-955AC952F116}"/>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2</a:t>
            </a:fld>
            <a:endParaRPr lang="en-GB"/>
          </a:p>
        </p:txBody>
      </p:sp>
      <p:sp>
        <p:nvSpPr>
          <p:cNvPr id="6" name="TextBox 5">
            <a:extLst>
              <a:ext uri="{FF2B5EF4-FFF2-40B4-BE49-F238E27FC236}">
                <a16:creationId xmlns:a16="http://schemas.microsoft.com/office/drawing/2014/main" id="{21629A80-80B3-E7BC-BB6E-32689695BB6F}"/>
              </a:ext>
            </a:extLst>
          </p:cNvPr>
          <p:cNvSpPr txBox="1"/>
          <p:nvPr/>
        </p:nvSpPr>
        <p:spPr>
          <a:xfrm>
            <a:off x="508819" y="1376760"/>
            <a:ext cx="2804008" cy="1754326"/>
          </a:xfrm>
          <a:prstGeom prst="rect">
            <a:avLst/>
          </a:prstGeom>
          <a:noFill/>
        </p:spPr>
        <p:txBody>
          <a:bodyPr wrap="square">
            <a:spAutoFit/>
          </a:bodyPr>
          <a:lstStyle/>
          <a:p>
            <a:pPr marL="285750" indent="-285750">
              <a:buFont typeface="Arial" panose="020B0604020202020204" pitchFamily="34" charset="0"/>
              <a:buChar char="•"/>
            </a:pPr>
            <a:r>
              <a:rPr lang="en-US" sz="1200" dirty="0"/>
              <a:t>Architecture of Kubernetes</a:t>
            </a:r>
          </a:p>
          <a:p>
            <a:pPr marL="285750" indent="-285750">
              <a:buFont typeface="Arial" panose="020B0604020202020204" pitchFamily="34" charset="0"/>
              <a:buChar char="•"/>
            </a:pPr>
            <a:r>
              <a:rPr lang="en-US" sz="1200" dirty="0"/>
              <a:t>Why to use K8s?</a:t>
            </a:r>
          </a:p>
          <a:p>
            <a:pPr marL="285750" indent="-285750">
              <a:buFont typeface="Arial" panose="020B0604020202020204" pitchFamily="34" charset="0"/>
              <a:buChar char="•"/>
            </a:pPr>
            <a:r>
              <a:rPr lang="en-US" sz="1200" dirty="0"/>
              <a:t>Core Objects and API</a:t>
            </a:r>
          </a:p>
          <a:p>
            <a:pPr marL="285750" indent="-285750">
              <a:buFont typeface="Arial" panose="020B0604020202020204" pitchFamily="34" charset="0"/>
              <a:buChar char="•"/>
            </a:pPr>
            <a:r>
              <a:rPr lang="en-US" sz="1200" dirty="0"/>
              <a:t>Networking</a:t>
            </a:r>
          </a:p>
          <a:p>
            <a:pPr marL="285750" indent="-285750">
              <a:buFont typeface="Arial" panose="020B0604020202020204" pitchFamily="34" charset="0"/>
              <a:buChar char="•"/>
            </a:pPr>
            <a:r>
              <a:rPr lang="en-US" sz="1200" dirty="0"/>
              <a:t>Workload</a:t>
            </a:r>
          </a:p>
          <a:p>
            <a:pPr marL="285750" indent="-285750">
              <a:buFont typeface="Arial" panose="020B0604020202020204" pitchFamily="34" charset="0"/>
              <a:buChar char="•"/>
            </a:pPr>
            <a:r>
              <a:rPr lang="en-US" sz="1200" dirty="0"/>
              <a:t>Configuration</a:t>
            </a:r>
          </a:p>
          <a:p>
            <a:pPr marL="285750" indent="-285750">
              <a:buFont typeface="Arial" panose="020B0604020202020204" pitchFamily="34" charset="0"/>
              <a:buChar char="•"/>
            </a:pPr>
            <a:r>
              <a:rPr lang="en-US" sz="1200" dirty="0"/>
              <a:t>Resource Quota</a:t>
            </a:r>
          </a:p>
          <a:p>
            <a:pPr marL="285750" indent="-285750">
              <a:buFont typeface="Arial" panose="020B0604020202020204" pitchFamily="34" charset="0"/>
              <a:buChar char="•"/>
            </a:pPr>
            <a:r>
              <a:rPr lang="en-US" sz="1200" dirty="0"/>
              <a:t>Probes</a:t>
            </a:r>
          </a:p>
          <a:p>
            <a:pPr marL="285750" indent="-285750">
              <a:buFont typeface="Arial" panose="020B0604020202020204" pitchFamily="34" charset="0"/>
              <a:buChar char="•"/>
            </a:pPr>
            <a:r>
              <a:rPr lang="en-US" sz="1200" dirty="0"/>
              <a:t>Volume</a:t>
            </a:r>
            <a:endParaRPr lang="en-IN" sz="1200" dirty="0"/>
          </a:p>
        </p:txBody>
      </p:sp>
      <p:pic>
        <p:nvPicPr>
          <p:cNvPr id="1026" name="Picture 2" descr="Kubernetes 101- Concepts, Potential, and lots of Container Orchestrations |  HackerNoon">
            <a:extLst>
              <a:ext uri="{FF2B5EF4-FFF2-40B4-BE49-F238E27FC236}">
                <a16:creationId xmlns:a16="http://schemas.microsoft.com/office/drawing/2014/main" id="{AF4D5CDC-1113-F966-E22D-791F8E78FE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8891" y="991095"/>
            <a:ext cx="6102663" cy="34327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6607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Placeholder 8" descr="A close-up of a colorful swirl&#10;&#10;Description automatically generated">
            <a:extLst>
              <a:ext uri="{FF2B5EF4-FFF2-40B4-BE49-F238E27FC236}">
                <a16:creationId xmlns:a16="http://schemas.microsoft.com/office/drawing/2014/main" id="{92BB618F-20D8-D500-F22F-6DC91B9B3D2F}"/>
              </a:ext>
            </a:extLst>
          </p:cNvPr>
          <p:cNvPicPr>
            <a:picLocks noGrp="1" noChangeAspect="1"/>
          </p:cNvPicPr>
          <p:nvPr>
            <p:ph type="pic" sz="quarter" idx="4294967295"/>
          </p:nvPr>
        </p:nvPicPr>
        <p:blipFill rotWithShape="1">
          <a:blip r:embed="rId2">
            <a:alphaModFix amt="40000"/>
          </a:blip>
          <a:srcRect b="1747"/>
          <a:stretch/>
        </p:blipFill>
        <p:spPr>
          <a:xfrm>
            <a:off x="0" y="0"/>
            <a:ext cx="9144000" cy="5143500"/>
          </a:xfrm>
          <a:prstGeom prst="rect">
            <a:avLst/>
          </a:prstGeom>
        </p:spPr>
      </p:pic>
      <p:sp>
        <p:nvSpPr>
          <p:cNvPr id="2" name="Title 1">
            <a:extLst>
              <a:ext uri="{FF2B5EF4-FFF2-40B4-BE49-F238E27FC236}">
                <a16:creationId xmlns:a16="http://schemas.microsoft.com/office/drawing/2014/main" id="{A162A728-15BF-FB7A-792A-E7371AA6CF26}"/>
              </a:ext>
            </a:extLst>
          </p:cNvPr>
          <p:cNvSpPr>
            <a:spLocks noGrp="1"/>
          </p:cNvSpPr>
          <p:nvPr>
            <p:ph type="ctrTitle" idx="4294967295"/>
          </p:nvPr>
        </p:nvSpPr>
        <p:spPr>
          <a:xfrm>
            <a:off x="0" y="723900"/>
            <a:ext cx="7696200" cy="2673350"/>
          </a:xfrm>
        </p:spPr>
        <p:txBody>
          <a:bodyPr vert="horz" lIns="91440" tIns="45720" rIns="91440" bIns="45720" rtlCol="0" anchor="b">
            <a:normAutofit/>
          </a:bodyPr>
          <a:lstStyle/>
          <a:p>
            <a:r>
              <a:rPr lang="en-US" sz="8600">
                <a:ln w="22225">
                  <a:solidFill>
                    <a:schemeClr val="tx1"/>
                  </a:solidFill>
                  <a:miter lim="800000"/>
                </a:ln>
                <a:noFill/>
                <a:latin typeface="+mj-lt"/>
              </a:rPr>
              <a:t>Architecture of Kubernetes</a:t>
            </a:r>
          </a:p>
        </p:txBody>
      </p:sp>
    </p:spTree>
    <p:extLst>
      <p:ext uri="{BB962C8B-B14F-4D97-AF65-F5344CB8AC3E}">
        <p14:creationId xmlns:p14="http://schemas.microsoft.com/office/powerpoint/2010/main" val="176600100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44A453F-E082-6AEE-C301-955AC952F116}"/>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4</a:t>
            </a:fld>
            <a:endParaRPr lang="en-GB"/>
          </a:p>
        </p:txBody>
      </p:sp>
      <p:pic>
        <p:nvPicPr>
          <p:cNvPr id="11" name="Picture 10">
            <a:extLst>
              <a:ext uri="{FF2B5EF4-FFF2-40B4-BE49-F238E27FC236}">
                <a16:creationId xmlns:a16="http://schemas.microsoft.com/office/drawing/2014/main" id="{AF676EBE-DB31-D756-E8FE-F1FE4CDB5BFD}"/>
              </a:ext>
            </a:extLst>
          </p:cNvPr>
          <p:cNvPicPr>
            <a:picLocks noChangeAspect="1"/>
          </p:cNvPicPr>
          <p:nvPr/>
        </p:nvPicPr>
        <p:blipFill>
          <a:blip r:embed="rId2"/>
          <a:stretch>
            <a:fillRect/>
          </a:stretch>
        </p:blipFill>
        <p:spPr>
          <a:xfrm>
            <a:off x="505046" y="0"/>
            <a:ext cx="8133907" cy="5143500"/>
          </a:xfrm>
          <a:prstGeom prst="rect">
            <a:avLst/>
          </a:prstGeom>
        </p:spPr>
      </p:pic>
    </p:spTree>
    <p:extLst>
      <p:ext uri="{BB962C8B-B14F-4D97-AF65-F5344CB8AC3E}">
        <p14:creationId xmlns:p14="http://schemas.microsoft.com/office/powerpoint/2010/main" val="965582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64CBB-549C-7A7E-6B3D-45598B5A129E}"/>
              </a:ext>
            </a:extLst>
          </p:cNvPr>
          <p:cNvSpPr>
            <a:spLocks noGrp="1"/>
          </p:cNvSpPr>
          <p:nvPr>
            <p:ph type="title" idx="4294967295"/>
          </p:nvPr>
        </p:nvSpPr>
        <p:spPr>
          <a:xfrm>
            <a:off x="0" y="274638"/>
            <a:ext cx="7886700" cy="993775"/>
          </a:xfrm>
        </p:spPr>
        <p:txBody>
          <a:bodyPr/>
          <a:lstStyle/>
          <a:p>
            <a:r>
              <a:rPr lang="en-IN" dirty="0"/>
              <a:t>Control Plane Components</a:t>
            </a:r>
          </a:p>
        </p:txBody>
      </p:sp>
      <p:sp>
        <p:nvSpPr>
          <p:cNvPr id="3" name="Slide Number Placeholder 2">
            <a:extLst>
              <a:ext uri="{FF2B5EF4-FFF2-40B4-BE49-F238E27FC236}">
                <a16:creationId xmlns:a16="http://schemas.microsoft.com/office/drawing/2014/main" id="{044A453F-E082-6AEE-C301-955AC952F116}"/>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5</a:t>
            </a:fld>
            <a:endParaRPr lang="en-GB"/>
          </a:p>
        </p:txBody>
      </p:sp>
      <p:sp>
        <p:nvSpPr>
          <p:cNvPr id="6" name="TextBox 5">
            <a:extLst>
              <a:ext uri="{FF2B5EF4-FFF2-40B4-BE49-F238E27FC236}">
                <a16:creationId xmlns:a16="http://schemas.microsoft.com/office/drawing/2014/main" id="{21629A80-80B3-E7BC-BB6E-32689695BB6F}"/>
              </a:ext>
            </a:extLst>
          </p:cNvPr>
          <p:cNvSpPr txBox="1"/>
          <p:nvPr/>
        </p:nvSpPr>
        <p:spPr>
          <a:xfrm>
            <a:off x="508818" y="1376760"/>
            <a:ext cx="6032091" cy="3046988"/>
          </a:xfrm>
          <a:prstGeom prst="rect">
            <a:avLst/>
          </a:prstGeom>
          <a:noFill/>
        </p:spPr>
        <p:txBody>
          <a:bodyPr wrap="square">
            <a:spAutoFit/>
          </a:bodyPr>
          <a:lstStyle/>
          <a:p>
            <a:pPr marL="285750" indent="-285750">
              <a:buFont typeface="Arial" panose="020B0604020202020204" pitchFamily="34" charset="0"/>
              <a:buChar char="•"/>
            </a:pPr>
            <a:r>
              <a:rPr lang="en-IN" sz="1200" dirty="0" err="1"/>
              <a:t>kube-apiserver</a:t>
            </a:r>
            <a:endParaRPr lang="en-IN" sz="1200" dirty="0"/>
          </a:p>
          <a:p>
            <a:r>
              <a:rPr lang="en-IN" sz="1200" dirty="0"/>
              <a:t>        - Provide REST interface.</a:t>
            </a:r>
          </a:p>
          <a:p>
            <a:r>
              <a:rPr lang="en-IN" sz="1200" dirty="0"/>
              <a:t>        - Strictly all client communicate via API server.</a:t>
            </a:r>
          </a:p>
          <a:p>
            <a:r>
              <a:rPr lang="en-IN" sz="1200" dirty="0"/>
              <a:t>        - Act as gatekeeper to handle authentication, request validation etc.</a:t>
            </a:r>
          </a:p>
          <a:p>
            <a:pPr marL="285750" indent="-285750">
              <a:buFont typeface="Arial" panose="020B0604020202020204" pitchFamily="34" charset="0"/>
              <a:buChar char="•"/>
            </a:pPr>
            <a:r>
              <a:rPr lang="en-IN" sz="1200" dirty="0" err="1"/>
              <a:t>Etcd</a:t>
            </a:r>
            <a:endParaRPr lang="en-IN" sz="1200" dirty="0"/>
          </a:p>
          <a:p>
            <a:pPr lvl="1"/>
            <a:r>
              <a:rPr lang="en-IN" sz="1200" dirty="0"/>
              <a:t>        - Act as cluster data store.</a:t>
            </a:r>
          </a:p>
          <a:p>
            <a:pPr lvl="1"/>
            <a:r>
              <a:rPr lang="en-IN" sz="1200" dirty="0"/>
              <a:t>        - key-value store for persisting cluster state.</a:t>
            </a:r>
          </a:p>
          <a:p>
            <a:pPr marL="285750" indent="-285750">
              <a:buFont typeface="Arial" panose="020B0604020202020204" pitchFamily="34" charset="0"/>
              <a:buChar char="•"/>
            </a:pPr>
            <a:r>
              <a:rPr lang="en-IN" sz="1200" dirty="0" err="1"/>
              <a:t>kube</a:t>
            </a:r>
            <a:r>
              <a:rPr lang="en-IN" sz="1200" dirty="0"/>
              <a:t>-controller-manager</a:t>
            </a:r>
          </a:p>
          <a:p>
            <a:r>
              <a:rPr lang="en-IN" sz="1200" dirty="0"/>
              <a:t>        - Steers the cluster towards the desire state</a:t>
            </a:r>
          </a:p>
          <a:p>
            <a:r>
              <a:rPr lang="en-IN" sz="1200" dirty="0"/>
              <a:t>        - Node controller, Replication controller, endpoint controller, Service account and token controller</a:t>
            </a:r>
          </a:p>
          <a:p>
            <a:pPr marL="285750" indent="-285750">
              <a:buFont typeface="Arial" panose="020B0604020202020204" pitchFamily="34" charset="0"/>
              <a:buChar char="•"/>
            </a:pPr>
            <a:r>
              <a:rPr lang="en-IN" sz="1200" dirty="0" err="1"/>
              <a:t>kube</a:t>
            </a:r>
            <a:r>
              <a:rPr lang="en-IN" sz="1200" dirty="0"/>
              <a:t>-scheduler</a:t>
            </a:r>
          </a:p>
          <a:p>
            <a:r>
              <a:rPr lang="en-IN" sz="1200" dirty="0"/>
              <a:t>       - Assigning node for newly created pod</a:t>
            </a:r>
          </a:p>
          <a:p>
            <a:r>
              <a:rPr lang="en-IN" sz="1200" dirty="0"/>
              <a:t>       - Scheduling decision: resources required, constraints etc.</a:t>
            </a:r>
          </a:p>
          <a:p>
            <a:pPr marL="285750" indent="-285750">
              <a:buFont typeface="Arial" panose="020B0604020202020204" pitchFamily="34" charset="0"/>
              <a:buChar char="•"/>
            </a:pPr>
            <a:r>
              <a:rPr lang="en-IN" sz="1200" dirty="0"/>
              <a:t>cloud-controller-manager</a:t>
            </a:r>
          </a:p>
          <a:p>
            <a:r>
              <a:rPr lang="en-IN" sz="1200" dirty="0"/>
              <a:t>       -  Node, Route, Service, Volume Controllers</a:t>
            </a:r>
          </a:p>
        </p:txBody>
      </p:sp>
      <p:pic>
        <p:nvPicPr>
          <p:cNvPr id="9" name="Picture 8">
            <a:extLst>
              <a:ext uri="{FF2B5EF4-FFF2-40B4-BE49-F238E27FC236}">
                <a16:creationId xmlns:a16="http://schemas.microsoft.com/office/drawing/2014/main" id="{2BF36A15-6540-E7CB-5671-3E30E6DD42F5}"/>
              </a:ext>
            </a:extLst>
          </p:cNvPr>
          <p:cNvPicPr>
            <a:picLocks noChangeAspect="1"/>
          </p:cNvPicPr>
          <p:nvPr/>
        </p:nvPicPr>
        <p:blipFill>
          <a:blip r:embed="rId2"/>
          <a:stretch>
            <a:fillRect/>
          </a:stretch>
        </p:blipFill>
        <p:spPr>
          <a:xfrm>
            <a:off x="6394994" y="888855"/>
            <a:ext cx="2604706" cy="3476668"/>
          </a:xfrm>
          <a:prstGeom prst="rect">
            <a:avLst/>
          </a:prstGeom>
        </p:spPr>
      </p:pic>
    </p:spTree>
    <p:extLst>
      <p:ext uri="{BB962C8B-B14F-4D97-AF65-F5344CB8AC3E}">
        <p14:creationId xmlns:p14="http://schemas.microsoft.com/office/powerpoint/2010/main" val="31828631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64CBB-549C-7A7E-6B3D-45598B5A129E}"/>
              </a:ext>
            </a:extLst>
          </p:cNvPr>
          <p:cNvSpPr>
            <a:spLocks noGrp="1"/>
          </p:cNvSpPr>
          <p:nvPr>
            <p:ph type="title" idx="4294967295"/>
          </p:nvPr>
        </p:nvSpPr>
        <p:spPr>
          <a:xfrm>
            <a:off x="0" y="274638"/>
            <a:ext cx="7886700" cy="993775"/>
          </a:xfrm>
        </p:spPr>
        <p:txBody>
          <a:bodyPr/>
          <a:lstStyle/>
          <a:p>
            <a:r>
              <a:rPr lang="en-US" dirty="0"/>
              <a:t>NODE Components</a:t>
            </a:r>
            <a:endParaRPr lang="en-IN" dirty="0"/>
          </a:p>
        </p:txBody>
      </p:sp>
      <p:sp>
        <p:nvSpPr>
          <p:cNvPr id="3" name="Slide Number Placeholder 2">
            <a:extLst>
              <a:ext uri="{FF2B5EF4-FFF2-40B4-BE49-F238E27FC236}">
                <a16:creationId xmlns:a16="http://schemas.microsoft.com/office/drawing/2014/main" id="{044A453F-E082-6AEE-C301-955AC952F116}"/>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6</a:t>
            </a:fld>
            <a:endParaRPr lang="en-GB"/>
          </a:p>
        </p:txBody>
      </p:sp>
      <p:pic>
        <p:nvPicPr>
          <p:cNvPr id="6" name="Picture 5">
            <a:extLst>
              <a:ext uri="{FF2B5EF4-FFF2-40B4-BE49-F238E27FC236}">
                <a16:creationId xmlns:a16="http://schemas.microsoft.com/office/drawing/2014/main" id="{EA675BC9-A776-F07A-D447-5F79226BD5C9}"/>
              </a:ext>
            </a:extLst>
          </p:cNvPr>
          <p:cNvPicPr>
            <a:picLocks noChangeAspect="1"/>
          </p:cNvPicPr>
          <p:nvPr/>
        </p:nvPicPr>
        <p:blipFill>
          <a:blip r:embed="rId2"/>
          <a:stretch>
            <a:fillRect/>
          </a:stretch>
        </p:blipFill>
        <p:spPr>
          <a:xfrm>
            <a:off x="6027356" y="1268413"/>
            <a:ext cx="2530059" cy="3177815"/>
          </a:xfrm>
          <a:prstGeom prst="rect">
            <a:avLst/>
          </a:prstGeom>
        </p:spPr>
      </p:pic>
      <p:sp>
        <p:nvSpPr>
          <p:cNvPr id="9" name="TextBox 8">
            <a:extLst>
              <a:ext uri="{FF2B5EF4-FFF2-40B4-BE49-F238E27FC236}">
                <a16:creationId xmlns:a16="http://schemas.microsoft.com/office/drawing/2014/main" id="{5633C7E0-9A93-68C5-4719-B74ADB069245}"/>
              </a:ext>
            </a:extLst>
          </p:cNvPr>
          <p:cNvSpPr txBox="1"/>
          <p:nvPr/>
        </p:nvSpPr>
        <p:spPr>
          <a:xfrm>
            <a:off x="79439" y="1122241"/>
            <a:ext cx="6027355" cy="3323987"/>
          </a:xfrm>
          <a:prstGeom prst="rect">
            <a:avLst/>
          </a:prstGeom>
          <a:noFill/>
        </p:spPr>
        <p:txBody>
          <a:bodyPr wrap="square">
            <a:spAutoFit/>
          </a:bodyPr>
          <a:lstStyle/>
          <a:p>
            <a:pPr marL="285750" indent="-285750">
              <a:buFont typeface="Arial" panose="020B0604020202020204" pitchFamily="34" charset="0"/>
              <a:buChar char="•"/>
            </a:pPr>
            <a:r>
              <a:rPr lang="en-IN" dirty="0" err="1"/>
              <a:t>Kubelet</a:t>
            </a:r>
            <a:endParaRPr lang="en-IN" dirty="0"/>
          </a:p>
          <a:p>
            <a:pPr lvl="4"/>
            <a:r>
              <a:rPr lang="en-IN" dirty="0"/>
              <a:t>      - </a:t>
            </a:r>
            <a:r>
              <a:rPr lang="en-US" dirty="0"/>
              <a:t>An agent that runs on each node in the cluster. It makes sure that containers are running in a pod.</a:t>
            </a:r>
          </a:p>
          <a:p>
            <a:pPr lvl="4"/>
            <a:r>
              <a:rPr lang="en-US" dirty="0"/>
              <a:t>      - The </a:t>
            </a:r>
            <a:r>
              <a:rPr lang="en-US" dirty="0" err="1"/>
              <a:t>kubelet</a:t>
            </a:r>
            <a:r>
              <a:rPr lang="en-US" dirty="0"/>
              <a:t> takes a set of </a:t>
            </a:r>
            <a:r>
              <a:rPr lang="en-US" dirty="0" err="1"/>
              <a:t>PodSpecs</a:t>
            </a:r>
            <a:r>
              <a:rPr lang="en-US" dirty="0"/>
              <a:t> that are provided through various mechanisms and ensures that the containers described in those </a:t>
            </a:r>
            <a:r>
              <a:rPr lang="en-US" dirty="0" err="1"/>
              <a:t>PodSpecs</a:t>
            </a:r>
            <a:r>
              <a:rPr lang="en-US" dirty="0"/>
              <a:t> are running and healthy.</a:t>
            </a:r>
          </a:p>
          <a:p>
            <a:pPr lvl="4"/>
            <a:endParaRPr lang="en-IN" dirty="0"/>
          </a:p>
          <a:p>
            <a:pPr marL="285750" indent="-285750">
              <a:buFont typeface="Arial" panose="020B0604020202020204" pitchFamily="34" charset="0"/>
              <a:buChar char="•"/>
            </a:pPr>
            <a:r>
              <a:rPr lang="en-IN" dirty="0" err="1"/>
              <a:t>kube</a:t>
            </a:r>
            <a:r>
              <a:rPr lang="en-IN" dirty="0"/>
              <a:t>-proxy</a:t>
            </a:r>
          </a:p>
          <a:p>
            <a:r>
              <a:rPr lang="en-IN" dirty="0"/>
              <a:t>      - </a:t>
            </a:r>
            <a:r>
              <a:rPr lang="en-US" dirty="0"/>
              <a:t>Manages the network rules on each node.</a:t>
            </a:r>
          </a:p>
          <a:p>
            <a:r>
              <a:rPr lang="en-US" dirty="0"/>
              <a:t>      - Performs connection forwarding or load balancing for Kubernetes cluster services.</a:t>
            </a:r>
            <a:endParaRPr lang="en-IN" dirty="0"/>
          </a:p>
          <a:p>
            <a:pPr marL="285750" indent="-285750">
              <a:buFont typeface="Arial" panose="020B0604020202020204" pitchFamily="34" charset="0"/>
              <a:buChar char="•"/>
            </a:pPr>
            <a:r>
              <a:rPr lang="en-IN" dirty="0"/>
              <a:t>Container Runtime Engine</a:t>
            </a:r>
          </a:p>
          <a:p>
            <a:r>
              <a:rPr lang="en-IN" dirty="0"/>
              <a:t>      - </a:t>
            </a:r>
            <a:r>
              <a:rPr lang="en-US" dirty="0"/>
              <a:t>A container runtime is a CRI (Container Runtime Interface) compatible application that executes and manages containers.</a:t>
            </a:r>
            <a:endParaRPr lang="en-IN" dirty="0"/>
          </a:p>
          <a:p>
            <a:r>
              <a:rPr lang="en-IN" dirty="0"/>
              <a:t>                </a:t>
            </a:r>
            <a:r>
              <a:rPr lang="en-IN" dirty="0" err="1"/>
              <a:t>Containerd</a:t>
            </a:r>
            <a:r>
              <a:rPr lang="en-IN" dirty="0"/>
              <a:t> (docker), Cri-o, </a:t>
            </a:r>
            <a:r>
              <a:rPr lang="en-IN" dirty="0" err="1"/>
              <a:t>Rkt</a:t>
            </a:r>
            <a:endParaRPr lang="en-IN" dirty="0"/>
          </a:p>
        </p:txBody>
      </p:sp>
    </p:spTree>
    <p:extLst>
      <p:ext uri="{BB962C8B-B14F-4D97-AF65-F5344CB8AC3E}">
        <p14:creationId xmlns:p14="http://schemas.microsoft.com/office/powerpoint/2010/main" val="2778357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Placeholder 8" descr="A close-up of a colorful swirl&#10;&#10;Description automatically generated">
            <a:extLst>
              <a:ext uri="{FF2B5EF4-FFF2-40B4-BE49-F238E27FC236}">
                <a16:creationId xmlns:a16="http://schemas.microsoft.com/office/drawing/2014/main" id="{92BB618F-20D8-D500-F22F-6DC91B9B3D2F}"/>
              </a:ext>
            </a:extLst>
          </p:cNvPr>
          <p:cNvPicPr>
            <a:picLocks noGrp="1" noChangeAspect="1"/>
          </p:cNvPicPr>
          <p:nvPr>
            <p:ph type="pic" sz="quarter" idx="4294967295"/>
          </p:nvPr>
        </p:nvPicPr>
        <p:blipFill rotWithShape="1">
          <a:blip r:embed="rId2">
            <a:alphaModFix amt="40000"/>
          </a:blip>
          <a:srcRect b="1747"/>
          <a:stretch/>
        </p:blipFill>
        <p:spPr>
          <a:xfrm>
            <a:off x="0" y="0"/>
            <a:ext cx="9144000" cy="5143500"/>
          </a:xfrm>
          <a:prstGeom prst="rect">
            <a:avLst/>
          </a:prstGeom>
        </p:spPr>
      </p:pic>
      <p:sp>
        <p:nvSpPr>
          <p:cNvPr id="2" name="Title 1">
            <a:extLst>
              <a:ext uri="{FF2B5EF4-FFF2-40B4-BE49-F238E27FC236}">
                <a16:creationId xmlns:a16="http://schemas.microsoft.com/office/drawing/2014/main" id="{A162A728-15BF-FB7A-792A-E7371AA6CF26}"/>
              </a:ext>
            </a:extLst>
          </p:cNvPr>
          <p:cNvSpPr>
            <a:spLocks noGrp="1"/>
          </p:cNvSpPr>
          <p:nvPr>
            <p:ph type="ctrTitle" idx="4294967295"/>
          </p:nvPr>
        </p:nvSpPr>
        <p:spPr>
          <a:xfrm>
            <a:off x="0" y="723900"/>
            <a:ext cx="7696200" cy="2673350"/>
          </a:xfrm>
        </p:spPr>
        <p:txBody>
          <a:bodyPr vert="horz" lIns="91440" tIns="45720" rIns="91440" bIns="45720" rtlCol="0" anchor="b">
            <a:normAutofit/>
          </a:bodyPr>
          <a:lstStyle/>
          <a:p>
            <a:r>
              <a:rPr lang="en-US" sz="8600">
                <a:ln w="22225">
                  <a:solidFill>
                    <a:schemeClr val="tx1"/>
                  </a:solidFill>
                  <a:miter lim="800000"/>
                </a:ln>
                <a:noFill/>
                <a:latin typeface="+mj-lt"/>
              </a:rPr>
              <a:t>Why to use K8s?</a:t>
            </a:r>
          </a:p>
        </p:txBody>
      </p:sp>
    </p:spTree>
    <p:extLst>
      <p:ext uri="{BB962C8B-B14F-4D97-AF65-F5344CB8AC3E}">
        <p14:creationId xmlns:p14="http://schemas.microsoft.com/office/powerpoint/2010/main" val="248758669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3F503-09E1-0A59-EC86-7E024CD9EE99}"/>
              </a:ext>
            </a:extLst>
          </p:cNvPr>
          <p:cNvSpPr>
            <a:spLocks noGrp="1"/>
          </p:cNvSpPr>
          <p:nvPr>
            <p:ph type="title" idx="4294967295"/>
          </p:nvPr>
        </p:nvSpPr>
        <p:spPr>
          <a:xfrm>
            <a:off x="0" y="274638"/>
            <a:ext cx="7886700" cy="993775"/>
          </a:xfrm>
        </p:spPr>
        <p:txBody>
          <a:bodyPr/>
          <a:lstStyle/>
          <a:p>
            <a:r>
              <a:rPr lang="en-IN" dirty="0"/>
              <a:t>Container Orchestration</a:t>
            </a:r>
          </a:p>
        </p:txBody>
      </p:sp>
      <p:sp>
        <p:nvSpPr>
          <p:cNvPr id="3" name="Slide Number Placeholder 2">
            <a:extLst>
              <a:ext uri="{FF2B5EF4-FFF2-40B4-BE49-F238E27FC236}">
                <a16:creationId xmlns:a16="http://schemas.microsoft.com/office/drawing/2014/main" id="{45EDD10B-1C38-5DC0-6014-4139894F240A}"/>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8</a:t>
            </a:fld>
            <a:endParaRPr lang="en-GB"/>
          </a:p>
        </p:txBody>
      </p:sp>
      <p:sp>
        <p:nvSpPr>
          <p:cNvPr id="5" name="TextBox 4">
            <a:extLst>
              <a:ext uri="{FF2B5EF4-FFF2-40B4-BE49-F238E27FC236}">
                <a16:creationId xmlns:a16="http://schemas.microsoft.com/office/drawing/2014/main" id="{EC2D1A01-5BE7-5D62-17F0-BAB6D9FB34D1}"/>
              </a:ext>
            </a:extLst>
          </p:cNvPr>
          <p:cNvSpPr txBox="1"/>
          <p:nvPr/>
        </p:nvSpPr>
        <p:spPr>
          <a:xfrm>
            <a:off x="434714" y="1585311"/>
            <a:ext cx="7886700" cy="1384995"/>
          </a:xfrm>
          <a:prstGeom prst="rect">
            <a:avLst/>
          </a:prstGeom>
          <a:noFill/>
        </p:spPr>
        <p:txBody>
          <a:bodyPr wrap="square">
            <a:spAutoFit/>
          </a:bodyPr>
          <a:lstStyle/>
          <a:p>
            <a:pPr marL="285750" indent="-285750">
              <a:buFont typeface="Arial" panose="020B0604020202020204" pitchFamily="34" charset="0"/>
              <a:buChar char="•"/>
            </a:pPr>
            <a:r>
              <a:rPr lang="en-US" dirty="0"/>
              <a:t>Scalability: All services within Kubernetes are natively Load Balanced. Can scale up and down dynamically.</a:t>
            </a:r>
          </a:p>
          <a:p>
            <a:pPr marL="285750" indent="-285750">
              <a:buFont typeface="Arial" panose="020B0604020202020204" pitchFamily="34" charset="0"/>
              <a:buChar char="•"/>
            </a:pPr>
            <a:r>
              <a:rPr lang="en-US" dirty="0"/>
              <a:t>Lower costs</a:t>
            </a:r>
          </a:p>
          <a:p>
            <a:pPr marL="285750" indent="-285750">
              <a:buFont typeface="Arial" panose="020B0604020202020204" pitchFamily="34" charset="0"/>
              <a:buChar char="•"/>
            </a:pPr>
            <a:r>
              <a:rPr lang="en-US" dirty="0"/>
              <a:t>High availability: Used both to enable self-healing and seamless upgrading or rollback of applications.</a:t>
            </a:r>
          </a:p>
          <a:p>
            <a:pPr marL="285750" indent="-285750">
              <a:buFont typeface="Arial" panose="020B0604020202020204" pitchFamily="34" charset="0"/>
              <a:buChar char="•"/>
            </a:pPr>
            <a:r>
              <a:rPr lang="en-US" dirty="0"/>
              <a:t>Portability: enables seamless deployment across diverse infrastructure platforms.</a:t>
            </a:r>
            <a:endParaRPr lang="en-IN" dirty="0"/>
          </a:p>
        </p:txBody>
      </p:sp>
      <p:pic>
        <p:nvPicPr>
          <p:cNvPr id="6" name="Picture 5">
            <a:extLst>
              <a:ext uri="{FF2B5EF4-FFF2-40B4-BE49-F238E27FC236}">
                <a16:creationId xmlns:a16="http://schemas.microsoft.com/office/drawing/2014/main" id="{11C1292D-F652-156B-DEFE-C52EF4653B90}"/>
              </a:ext>
            </a:extLst>
          </p:cNvPr>
          <p:cNvPicPr>
            <a:picLocks noChangeAspect="1"/>
          </p:cNvPicPr>
          <p:nvPr/>
        </p:nvPicPr>
        <p:blipFill>
          <a:blip r:embed="rId2"/>
          <a:stretch>
            <a:fillRect/>
          </a:stretch>
        </p:blipFill>
        <p:spPr>
          <a:xfrm>
            <a:off x="879964" y="3287204"/>
            <a:ext cx="4336614" cy="977618"/>
          </a:xfrm>
          <a:prstGeom prst="rect">
            <a:avLst/>
          </a:prstGeom>
        </p:spPr>
      </p:pic>
    </p:spTree>
    <p:extLst>
      <p:ext uri="{BB962C8B-B14F-4D97-AF65-F5344CB8AC3E}">
        <p14:creationId xmlns:p14="http://schemas.microsoft.com/office/powerpoint/2010/main" val="2052312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E0B52-6EC2-EC93-FDE5-24D77EDB6611}"/>
              </a:ext>
            </a:extLst>
          </p:cNvPr>
          <p:cNvSpPr>
            <a:spLocks noGrp="1"/>
          </p:cNvSpPr>
          <p:nvPr>
            <p:ph type="title" idx="4294967295"/>
          </p:nvPr>
        </p:nvSpPr>
        <p:spPr>
          <a:xfrm>
            <a:off x="0" y="274638"/>
            <a:ext cx="7886700" cy="993775"/>
          </a:xfrm>
        </p:spPr>
        <p:txBody>
          <a:bodyPr/>
          <a:lstStyle/>
          <a:p>
            <a:r>
              <a:rPr lang="en-IN" dirty="0"/>
              <a:t>Self Healing</a:t>
            </a:r>
          </a:p>
        </p:txBody>
      </p:sp>
      <p:sp>
        <p:nvSpPr>
          <p:cNvPr id="3" name="Slide Number Placeholder 2">
            <a:extLst>
              <a:ext uri="{FF2B5EF4-FFF2-40B4-BE49-F238E27FC236}">
                <a16:creationId xmlns:a16="http://schemas.microsoft.com/office/drawing/2014/main" id="{72FC9A2D-B729-6901-3CF9-476D700A36FE}"/>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9</a:t>
            </a:fld>
            <a:endParaRPr lang="en-GB"/>
          </a:p>
        </p:txBody>
      </p:sp>
      <p:sp>
        <p:nvSpPr>
          <p:cNvPr id="5" name="TextBox 4">
            <a:extLst>
              <a:ext uri="{FF2B5EF4-FFF2-40B4-BE49-F238E27FC236}">
                <a16:creationId xmlns:a16="http://schemas.microsoft.com/office/drawing/2014/main" id="{ADEB6B9C-2B51-C810-92A8-0940897EA50A}"/>
              </a:ext>
            </a:extLst>
          </p:cNvPr>
          <p:cNvSpPr txBox="1"/>
          <p:nvPr/>
        </p:nvSpPr>
        <p:spPr>
          <a:xfrm>
            <a:off x="494070" y="1556087"/>
            <a:ext cx="7440561" cy="1815882"/>
          </a:xfrm>
          <a:prstGeom prst="rect">
            <a:avLst/>
          </a:prstGeom>
          <a:noFill/>
        </p:spPr>
        <p:txBody>
          <a:bodyPr wrap="square">
            <a:spAutoFit/>
          </a:bodyPr>
          <a:lstStyle/>
          <a:p>
            <a:r>
              <a:rPr lang="en-IN" dirty="0"/>
              <a:t>Kubernetes will ALWAYS try and steer the cluster to its</a:t>
            </a:r>
          </a:p>
          <a:p>
            <a:r>
              <a:rPr lang="en-IN" dirty="0"/>
              <a:t>desired state.</a:t>
            </a:r>
          </a:p>
          <a:p>
            <a:endParaRPr lang="en-IN" dirty="0"/>
          </a:p>
          <a:p>
            <a:pPr marL="285750" indent="-285750">
              <a:buFont typeface="Arial" panose="020B0604020202020204" pitchFamily="34" charset="0"/>
              <a:buChar char="•"/>
            </a:pPr>
            <a:r>
              <a:rPr lang="en-IN" dirty="0"/>
              <a:t>Me: “I want 3 healthy instances of </a:t>
            </a:r>
            <a:r>
              <a:rPr lang="en-IN" dirty="0" err="1"/>
              <a:t>redis</a:t>
            </a:r>
            <a:r>
              <a:rPr lang="en-IN" dirty="0"/>
              <a:t> to always be running.”</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Kubernetes: “Okay, I’ll ensure there are always 3 instances up and running.”</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Kubernetes: “Oh look, one has died. I’m going to attempt to spin up a new one.”</a:t>
            </a:r>
          </a:p>
        </p:txBody>
      </p:sp>
    </p:spTree>
    <p:extLst>
      <p:ext uri="{BB962C8B-B14F-4D97-AF65-F5344CB8AC3E}">
        <p14:creationId xmlns:p14="http://schemas.microsoft.com/office/powerpoint/2010/main" val="2375124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Placeholder 8" descr="A close-up of a colorful swirl&#10;&#10;Description automatically generated">
            <a:extLst>
              <a:ext uri="{FF2B5EF4-FFF2-40B4-BE49-F238E27FC236}">
                <a16:creationId xmlns:a16="http://schemas.microsoft.com/office/drawing/2014/main" id="{92BB618F-20D8-D500-F22F-6DC91B9B3D2F}"/>
              </a:ext>
            </a:extLst>
          </p:cNvPr>
          <p:cNvPicPr>
            <a:picLocks noGrp="1" noChangeAspect="1"/>
          </p:cNvPicPr>
          <p:nvPr>
            <p:ph type="pic" sz="quarter" idx="4294967295"/>
          </p:nvPr>
        </p:nvPicPr>
        <p:blipFill rotWithShape="1">
          <a:blip r:embed="rId2">
            <a:alphaModFix amt="40000"/>
          </a:blip>
          <a:srcRect b="1747"/>
          <a:stretch/>
        </p:blipFill>
        <p:spPr>
          <a:xfrm>
            <a:off x="0" y="0"/>
            <a:ext cx="9144000" cy="5143500"/>
          </a:xfrm>
          <a:prstGeom prst="rect">
            <a:avLst/>
          </a:prstGeom>
        </p:spPr>
      </p:pic>
      <p:sp>
        <p:nvSpPr>
          <p:cNvPr id="2" name="Title 1">
            <a:extLst>
              <a:ext uri="{FF2B5EF4-FFF2-40B4-BE49-F238E27FC236}">
                <a16:creationId xmlns:a16="http://schemas.microsoft.com/office/drawing/2014/main" id="{A162A728-15BF-FB7A-792A-E7371AA6CF26}"/>
              </a:ext>
            </a:extLst>
          </p:cNvPr>
          <p:cNvSpPr>
            <a:spLocks noGrp="1"/>
          </p:cNvSpPr>
          <p:nvPr>
            <p:ph type="ctrTitle" idx="4294967295"/>
          </p:nvPr>
        </p:nvSpPr>
        <p:spPr>
          <a:xfrm>
            <a:off x="0" y="723900"/>
            <a:ext cx="7696200" cy="2673350"/>
          </a:xfrm>
        </p:spPr>
        <p:txBody>
          <a:bodyPr vert="horz" lIns="91440" tIns="45720" rIns="91440" bIns="45720" rtlCol="0" anchor="b">
            <a:normAutofit/>
          </a:bodyPr>
          <a:lstStyle/>
          <a:p>
            <a:br>
              <a:rPr lang="en-US" sz="4700">
                <a:ln w="22225">
                  <a:solidFill>
                    <a:schemeClr val="tx1"/>
                  </a:solidFill>
                  <a:miter lim="800000"/>
                </a:ln>
                <a:noFill/>
                <a:latin typeface="+mj-lt"/>
              </a:rPr>
            </a:br>
            <a:br>
              <a:rPr lang="en-US" sz="4700">
                <a:ln w="22225">
                  <a:solidFill>
                    <a:schemeClr val="tx1"/>
                  </a:solidFill>
                  <a:miter lim="800000"/>
                </a:ln>
                <a:noFill/>
                <a:latin typeface="+mj-lt"/>
              </a:rPr>
            </a:br>
            <a:r>
              <a:rPr lang="en-US" sz="4700">
                <a:ln w="22225">
                  <a:solidFill>
                    <a:schemeClr val="tx1"/>
                  </a:solidFill>
                  <a:miter lim="800000"/>
                </a:ln>
                <a:noFill/>
                <a:latin typeface="+mj-lt"/>
              </a:rPr>
              <a:t>CORE OBJECTS AND APIS</a:t>
            </a:r>
          </a:p>
        </p:txBody>
      </p:sp>
    </p:spTree>
    <p:extLst>
      <p:ext uri="{BB962C8B-B14F-4D97-AF65-F5344CB8AC3E}">
        <p14:creationId xmlns:p14="http://schemas.microsoft.com/office/powerpoint/2010/main" val="245106377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E6CD5-5DE4-5E8B-3122-25E0ACF57C51}"/>
              </a:ext>
            </a:extLst>
          </p:cNvPr>
          <p:cNvSpPr>
            <a:spLocks noGrp="1"/>
          </p:cNvSpPr>
          <p:nvPr>
            <p:ph type="title" idx="4294967295"/>
          </p:nvPr>
        </p:nvSpPr>
        <p:spPr>
          <a:xfrm>
            <a:off x="0" y="274638"/>
            <a:ext cx="7886700" cy="993775"/>
          </a:xfrm>
        </p:spPr>
        <p:txBody>
          <a:bodyPr/>
          <a:lstStyle/>
          <a:p>
            <a:r>
              <a:rPr lang="en-IN" dirty="0"/>
              <a:t>Core objects and APIs</a:t>
            </a:r>
          </a:p>
        </p:txBody>
      </p:sp>
      <p:sp>
        <p:nvSpPr>
          <p:cNvPr id="3" name="Slide Number Placeholder 2">
            <a:extLst>
              <a:ext uri="{FF2B5EF4-FFF2-40B4-BE49-F238E27FC236}">
                <a16:creationId xmlns:a16="http://schemas.microsoft.com/office/drawing/2014/main" id="{E43B7EC8-449E-34F4-AF43-52821BB7556E}"/>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11</a:t>
            </a:fld>
            <a:endParaRPr lang="en-GB"/>
          </a:p>
        </p:txBody>
      </p:sp>
      <p:sp>
        <p:nvSpPr>
          <p:cNvPr id="5" name="TextBox 4">
            <a:extLst>
              <a:ext uri="{FF2B5EF4-FFF2-40B4-BE49-F238E27FC236}">
                <a16:creationId xmlns:a16="http://schemas.microsoft.com/office/drawing/2014/main" id="{47F15AF9-FF1B-763A-A233-74B444E354CF}"/>
              </a:ext>
            </a:extLst>
          </p:cNvPr>
          <p:cNvSpPr txBox="1"/>
          <p:nvPr/>
        </p:nvSpPr>
        <p:spPr>
          <a:xfrm>
            <a:off x="375077" y="1268413"/>
            <a:ext cx="7514304" cy="1600438"/>
          </a:xfrm>
          <a:prstGeom prst="rect">
            <a:avLst/>
          </a:prstGeom>
          <a:noFill/>
        </p:spPr>
        <p:txBody>
          <a:bodyPr wrap="square">
            <a:spAutoFit/>
          </a:bodyPr>
          <a:lstStyle/>
          <a:p>
            <a:pPr marL="285750" indent="-285750">
              <a:buFont typeface="Arial" panose="020B0604020202020204" pitchFamily="34" charset="0"/>
              <a:buChar char="•"/>
            </a:pPr>
            <a:r>
              <a:rPr lang="en-IN" dirty="0"/>
              <a:t>Namespaces</a:t>
            </a:r>
          </a:p>
          <a:p>
            <a:r>
              <a:rPr lang="en-IN" dirty="0"/>
              <a:t>      - </a:t>
            </a:r>
            <a:r>
              <a:rPr lang="en-US" dirty="0"/>
              <a:t>Namespaces are a logical cluster or environment and are the primary method of partitioning a cluster or scoping access.</a:t>
            </a:r>
            <a:endParaRPr lang="en-IN" dirty="0"/>
          </a:p>
          <a:p>
            <a:pPr marL="285750" indent="-285750">
              <a:buFont typeface="Arial" panose="020B0604020202020204" pitchFamily="34" charset="0"/>
              <a:buChar char="•"/>
            </a:pPr>
            <a:r>
              <a:rPr lang="en-IN" dirty="0"/>
              <a:t>Pods</a:t>
            </a:r>
          </a:p>
          <a:p>
            <a:pPr marL="285750" indent="-285750">
              <a:buFont typeface="Arial" panose="020B0604020202020204" pitchFamily="34" charset="0"/>
              <a:buChar char="•"/>
            </a:pPr>
            <a:r>
              <a:rPr lang="en-IN" dirty="0"/>
              <a:t>Labels</a:t>
            </a:r>
          </a:p>
          <a:p>
            <a:pPr marL="285750" indent="-285750">
              <a:buFont typeface="Arial" panose="020B0604020202020204" pitchFamily="34" charset="0"/>
              <a:buChar char="•"/>
            </a:pPr>
            <a:r>
              <a:rPr lang="en-IN" dirty="0"/>
              <a:t>Selectors</a:t>
            </a:r>
          </a:p>
          <a:p>
            <a:pPr marL="285750" indent="-285750">
              <a:buFont typeface="Arial" panose="020B0604020202020204" pitchFamily="34" charset="0"/>
              <a:buChar char="•"/>
            </a:pPr>
            <a:r>
              <a:rPr lang="en-IN" dirty="0"/>
              <a:t>Services</a:t>
            </a:r>
          </a:p>
        </p:txBody>
      </p:sp>
      <p:pic>
        <p:nvPicPr>
          <p:cNvPr id="6" name="Picture 5">
            <a:extLst>
              <a:ext uri="{FF2B5EF4-FFF2-40B4-BE49-F238E27FC236}">
                <a16:creationId xmlns:a16="http://schemas.microsoft.com/office/drawing/2014/main" id="{14627CB6-DE90-0D74-AFE5-A05444E80995}"/>
              </a:ext>
            </a:extLst>
          </p:cNvPr>
          <p:cNvPicPr>
            <a:picLocks noChangeAspect="1"/>
          </p:cNvPicPr>
          <p:nvPr/>
        </p:nvPicPr>
        <p:blipFill>
          <a:blip r:embed="rId2"/>
          <a:stretch>
            <a:fillRect/>
          </a:stretch>
        </p:blipFill>
        <p:spPr>
          <a:xfrm>
            <a:off x="6114187" y="2068632"/>
            <a:ext cx="2903472" cy="1966130"/>
          </a:xfrm>
          <a:prstGeom prst="rect">
            <a:avLst/>
          </a:prstGeom>
        </p:spPr>
      </p:pic>
    </p:spTree>
    <p:extLst>
      <p:ext uri="{BB962C8B-B14F-4D97-AF65-F5344CB8AC3E}">
        <p14:creationId xmlns:p14="http://schemas.microsoft.com/office/powerpoint/2010/main" val="515832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6AFE-1D61-FFFC-B1B9-35D37F687A76}"/>
              </a:ext>
            </a:extLst>
          </p:cNvPr>
          <p:cNvSpPr>
            <a:spLocks noGrp="1"/>
          </p:cNvSpPr>
          <p:nvPr>
            <p:ph type="title" idx="4294967295"/>
          </p:nvPr>
        </p:nvSpPr>
        <p:spPr>
          <a:xfrm>
            <a:off x="0" y="274638"/>
            <a:ext cx="7886700" cy="993775"/>
          </a:xfrm>
        </p:spPr>
        <p:txBody>
          <a:bodyPr/>
          <a:lstStyle/>
          <a:p>
            <a:r>
              <a:rPr lang="en-US" dirty="0"/>
              <a:t>PODs</a:t>
            </a:r>
            <a:endParaRPr lang="en-IN" dirty="0"/>
          </a:p>
        </p:txBody>
      </p:sp>
      <p:sp>
        <p:nvSpPr>
          <p:cNvPr id="3" name="Slide Number Placeholder 2">
            <a:extLst>
              <a:ext uri="{FF2B5EF4-FFF2-40B4-BE49-F238E27FC236}">
                <a16:creationId xmlns:a16="http://schemas.microsoft.com/office/drawing/2014/main" id="{9709F438-DD96-AF50-9D85-30131FC0B878}"/>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12</a:t>
            </a:fld>
            <a:endParaRPr lang="en-GB"/>
          </a:p>
        </p:txBody>
      </p:sp>
      <p:pic>
        <p:nvPicPr>
          <p:cNvPr id="5" name="Picture 4">
            <a:extLst>
              <a:ext uri="{FF2B5EF4-FFF2-40B4-BE49-F238E27FC236}">
                <a16:creationId xmlns:a16="http://schemas.microsoft.com/office/drawing/2014/main" id="{53459268-3408-8730-CDD6-9D229A3002A5}"/>
              </a:ext>
            </a:extLst>
          </p:cNvPr>
          <p:cNvPicPr>
            <a:picLocks noChangeAspect="1"/>
          </p:cNvPicPr>
          <p:nvPr/>
        </p:nvPicPr>
        <p:blipFill>
          <a:blip r:embed="rId3"/>
          <a:stretch>
            <a:fillRect/>
          </a:stretch>
        </p:blipFill>
        <p:spPr>
          <a:xfrm>
            <a:off x="6029394" y="1454510"/>
            <a:ext cx="2674852" cy="3177815"/>
          </a:xfrm>
          <a:prstGeom prst="rect">
            <a:avLst/>
          </a:prstGeom>
        </p:spPr>
      </p:pic>
      <p:sp>
        <p:nvSpPr>
          <p:cNvPr id="7" name="TextBox 6">
            <a:extLst>
              <a:ext uri="{FF2B5EF4-FFF2-40B4-BE49-F238E27FC236}">
                <a16:creationId xmlns:a16="http://schemas.microsoft.com/office/drawing/2014/main" id="{21A99E70-57B3-0E1E-0110-22518FE42E4F}"/>
              </a:ext>
            </a:extLst>
          </p:cNvPr>
          <p:cNvSpPr txBox="1"/>
          <p:nvPr/>
        </p:nvSpPr>
        <p:spPr>
          <a:xfrm>
            <a:off x="439754" y="1512386"/>
            <a:ext cx="6329756" cy="1169551"/>
          </a:xfrm>
          <a:prstGeom prst="rect">
            <a:avLst/>
          </a:prstGeom>
          <a:noFill/>
        </p:spPr>
        <p:txBody>
          <a:bodyPr wrap="square">
            <a:spAutoFit/>
          </a:bodyPr>
          <a:lstStyle/>
          <a:p>
            <a:r>
              <a:rPr lang="en-IN" dirty="0"/>
              <a:t>Atomic unit or smallest “unit of work” of Kubernetes.</a:t>
            </a:r>
          </a:p>
          <a:p>
            <a:endParaRPr lang="en-IN" dirty="0"/>
          </a:p>
          <a:p>
            <a:r>
              <a:rPr lang="en-IN" dirty="0"/>
              <a:t>Pods are one or MORE containers that share volumes and namespace.</a:t>
            </a:r>
          </a:p>
          <a:p>
            <a:endParaRPr lang="en-IN" dirty="0"/>
          </a:p>
          <a:p>
            <a:r>
              <a:rPr lang="en-IN" dirty="0"/>
              <a:t>They are also ephemeral!</a:t>
            </a:r>
          </a:p>
        </p:txBody>
      </p:sp>
    </p:spTree>
    <p:extLst>
      <p:ext uri="{BB962C8B-B14F-4D97-AF65-F5344CB8AC3E}">
        <p14:creationId xmlns:p14="http://schemas.microsoft.com/office/powerpoint/2010/main" val="31195721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34ABB-2EDD-EC3B-119C-D18CAD52FE02}"/>
              </a:ext>
            </a:extLst>
          </p:cNvPr>
          <p:cNvSpPr>
            <a:spLocks noGrp="1"/>
          </p:cNvSpPr>
          <p:nvPr>
            <p:ph type="title" idx="4294967295"/>
          </p:nvPr>
        </p:nvSpPr>
        <p:spPr>
          <a:xfrm>
            <a:off x="0" y="274638"/>
            <a:ext cx="7886700" cy="993775"/>
          </a:xfrm>
        </p:spPr>
        <p:txBody>
          <a:bodyPr/>
          <a:lstStyle/>
          <a:p>
            <a:r>
              <a:rPr lang="en-IN" dirty="0"/>
              <a:t>PODs</a:t>
            </a:r>
          </a:p>
        </p:txBody>
      </p:sp>
      <p:sp>
        <p:nvSpPr>
          <p:cNvPr id="3" name="Slide Number Placeholder 2">
            <a:extLst>
              <a:ext uri="{FF2B5EF4-FFF2-40B4-BE49-F238E27FC236}">
                <a16:creationId xmlns:a16="http://schemas.microsoft.com/office/drawing/2014/main" id="{177DDF23-1A40-EAEA-AC22-FA4096AFF55B}"/>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13</a:t>
            </a:fld>
            <a:endParaRPr lang="en-GB"/>
          </a:p>
        </p:txBody>
      </p:sp>
      <p:pic>
        <p:nvPicPr>
          <p:cNvPr id="5" name="Picture 4">
            <a:extLst>
              <a:ext uri="{FF2B5EF4-FFF2-40B4-BE49-F238E27FC236}">
                <a16:creationId xmlns:a16="http://schemas.microsoft.com/office/drawing/2014/main" id="{213BA4CB-9B03-2AB5-28CC-F9226B855189}"/>
              </a:ext>
            </a:extLst>
          </p:cNvPr>
          <p:cNvPicPr>
            <a:picLocks noChangeAspect="1"/>
          </p:cNvPicPr>
          <p:nvPr/>
        </p:nvPicPr>
        <p:blipFill>
          <a:blip r:embed="rId2"/>
          <a:stretch>
            <a:fillRect/>
          </a:stretch>
        </p:blipFill>
        <p:spPr>
          <a:xfrm>
            <a:off x="6840361" y="542928"/>
            <a:ext cx="2141406" cy="1988993"/>
          </a:xfrm>
          <a:prstGeom prst="rect">
            <a:avLst/>
          </a:prstGeom>
        </p:spPr>
      </p:pic>
      <p:sp>
        <p:nvSpPr>
          <p:cNvPr id="9" name="TextBox 8">
            <a:extLst>
              <a:ext uri="{FF2B5EF4-FFF2-40B4-BE49-F238E27FC236}">
                <a16:creationId xmlns:a16="http://schemas.microsoft.com/office/drawing/2014/main" id="{4A8BBFAA-F656-4544-1701-3BA24C90821B}"/>
              </a:ext>
            </a:extLst>
          </p:cNvPr>
          <p:cNvSpPr txBox="1"/>
          <p:nvPr/>
        </p:nvSpPr>
        <p:spPr>
          <a:xfrm>
            <a:off x="375077" y="1210466"/>
            <a:ext cx="6740013" cy="1815882"/>
          </a:xfrm>
          <a:prstGeom prst="rect">
            <a:avLst/>
          </a:prstGeom>
          <a:noFill/>
        </p:spPr>
        <p:txBody>
          <a:bodyPr wrap="square">
            <a:spAutoFit/>
          </a:bodyPr>
          <a:lstStyle/>
          <a:p>
            <a:r>
              <a:rPr lang="en-IN" dirty="0"/>
              <a:t>Key Pod Container Attributes</a:t>
            </a:r>
          </a:p>
          <a:p>
            <a:pPr marL="285750" indent="-285750">
              <a:buFont typeface="Arial" panose="020B0604020202020204" pitchFamily="34" charset="0"/>
              <a:buChar char="•"/>
            </a:pPr>
            <a:r>
              <a:rPr lang="en-IN" dirty="0"/>
              <a:t>name - The name of the container</a:t>
            </a:r>
          </a:p>
          <a:p>
            <a:pPr marL="285750" indent="-285750">
              <a:buFont typeface="Arial" panose="020B0604020202020204" pitchFamily="34" charset="0"/>
              <a:buChar char="•"/>
            </a:pPr>
            <a:r>
              <a:rPr lang="en-IN" dirty="0"/>
              <a:t>image - The container image</a:t>
            </a:r>
          </a:p>
          <a:p>
            <a:pPr marL="285750" indent="-285750">
              <a:buFont typeface="Arial" panose="020B0604020202020204" pitchFamily="34" charset="0"/>
              <a:buChar char="•"/>
            </a:pPr>
            <a:r>
              <a:rPr lang="en-IN" dirty="0"/>
              <a:t>ports - array of ports to expose. Can be granted a friendly name and protocol may be specified</a:t>
            </a:r>
          </a:p>
          <a:p>
            <a:pPr marL="285750" indent="-285750">
              <a:buFont typeface="Arial" panose="020B0604020202020204" pitchFamily="34" charset="0"/>
              <a:buChar char="•"/>
            </a:pPr>
            <a:r>
              <a:rPr lang="en-IN" dirty="0"/>
              <a:t>env - array of environment variables</a:t>
            </a:r>
          </a:p>
          <a:p>
            <a:pPr marL="285750" indent="-285750">
              <a:buFont typeface="Arial" panose="020B0604020202020204" pitchFamily="34" charset="0"/>
              <a:buChar char="•"/>
            </a:pPr>
            <a:r>
              <a:rPr lang="en-IN" dirty="0"/>
              <a:t>command - </a:t>
            </a:r>
            <a:r>
              <a:rPr lang="en-IN" dirty="0" err="1"/>
              <a:t>Entrypoint</a:t>
            </a:r>
            <a:r>
              <a:rPr lang="en-IN" dirty="0"/>
              <a:t> array (</a:t>
            </a:r>
            <a:r>
              <a:rPr lang="en-IN" dirty="0" err="1"/>
              <a:t>equiv</a:t>
            </a:r>
            <a:r>
              <a:rPr lang="en-IN" dirty="0"/>
              <a:t> to Docker ENTRYPOINT)</a:t>
            </a:r>
          </a:p>
          <a:p>
            <a:pPr marL="285750" indent="-285750">
              <a:buFont typeface="Arial" panose="020B0604020202020204" pitchFamily="34" charset="0"/>
              <a:buChar char="•"/>
            </a:pPr>
            <a:r>
              <a:rPr lang="en-IN" dirty="0" err="1"/>
              <a:t>args</a:t>
            </a:r>
            <a:r>
              <a:rPr lang="en-IN" dirty="0"/>
              <a:t> - Arguments to pass to the command (</a:t>
            </a:r>
            <a:r>
              <a:rPr lang="en-IN" dirty="0" err="1"/>
              <a:t>equiv</a:t>
            </a:r>
            <a:r>
              <a:rPr lang="en-IN" dirty="0"/>
              <a:t> to Docker CMD)</a:t>
            </a:r>
          </a:p>
        </p:txBody>
      </p:sp>
      <p:pic>
        <p:nvPicPr>
          <p:cNvPr id="11" name="Picture 10">
            <a:extLst>
              <a:ext uri="{FF2B5EF4-FFF2-40B4-BE49-F238E27FC236}">
                <a16:creationId xmlns:a16="http://schemas.microsoft.com/office/drawing/2014/main" id="{7FCB3D03-A051-A944-9A45-E826FB50DBDB}"/>
              </a:ext>
            </a:extLst>
          </p:cNvPr>
          <p:cNvPicPr>
            <a:picLocks noChangeAspect="1"/>
          </p:cNvPicPr>
          <p:nvPr/>
        </p:nvPicPr>
        <p:blipFill>
          <a:blip r:embed="rId3"/>
          <a:stretch>
            <a:fillRect/>
          </a:stretch>
        </p:blipFill>
        <p:spPr>
          <a:xfrm>
            <a:off x="6818238" y="2567195"/>
            <a:ext cx="2141407" cy="2133295"/>
          </a:xfrm>
          <a:prstGeom prst="rect">
            <a:avLst/>
          </a:prstGeom>
        </p:spPr>
      </p:pic>
    </p:spTree>
    <p:extLst>
      <p:ext uri="{BB962C8B-B14F-4D97-AF65-F5344CB8AC3E}">
        <p14:creationId xmlns:p14="http://schemas.microsoft.com/office/powerpoint/2010/main" val="2788558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78ED1-8E2C-AD4F-8EF9-CABB42C41EE9}"/>
              </a:ext>
            </a:extLst>
          </p:cNvPr>
          <p:cNvSpPr>
            <a:spLocks noGrp="1"/>
          </p:cNvSpPr>
          <p:nvPr>
            <p:ph type="title" idx="4294967295"/>
          </p:nvPr>
        </p:nvSpPr>
        <p:spPr>
          <a:xfrm>
            <a:off x="0" y="274638"/>
            <a:ext cx="7886700" cy="993775"/>
          </a:xfrm>
        </p:spPr>
        <p:txBody>
          <a:bodyPr/>
          <a:lstStyle/>
          <a:p>
            <a:r>
              <a:rPr lang="en-IN" dirty="0"/>
              <a:t>Labels</a:t>
            </a:r>
          </a:p>
        </p:txBody>
      </p:sp>
      <p:sp>
        <p:nvSpPr>
          <p:cNvPr id="3" name="Slide Number Placeholder 2">
            <a:extLst>
              <a:ext uri="{FF2B5EF4-FFF2-40B4-BE49-F238E27FC236}">
                <a16:creationId xmlns:a16="http://schemas.microsoft.com/office/drawing/2014/main" id="{CDC0B06F-C865-2511-C571-50C3A6076C5D}"/>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14</a:t>
            </a:fld>
            <a:endParaRPr lang="en-GB"/>
          </a:p>
        </p:txBody>
      </p:sp>
      <p:pic>
        <p:nvPicPr>
          <p:cNvPr id="5" name="Picture 4">
            <a:extLst>
              <a:ext uri="{FF2B5EF4-FFF2-40B4-BE49-F238E27FC236}">
                <a16:creationId xmlns:a16="http://schemas.microsoft.com/office/drawing/2014/main" id="{9E7C3276-335B-013D-A25D-D6C67383C5BA}"/>
              </a:ext>
            </a:extLst>
          </p:cNvPr>
          <p:cNvPicPr>
            <a:picLocks noChangeAspect="1"/>
          </p:cNvPicPr>
          <p:nvPr/>
        </p:nvPicPr>
        <p:blipFill>
          <a:blip r:embed="rId2"/>
          <a:stretch>
            <a:fillRect/>
          </a:stretch>
        </p:blipFill>
        <p:spPr>
          <a:xfrm>
            <a:off x="5979761" y="771525"/>
            <a:ext cx="2789162" cy="3696020"/>
          </a:xfrm>
          <a:prstGeom prst="rect">
            <a:avLst/>
          </a:prstGeom>
        </p:spPr>
      </p:pic>
      <p:sp>
        <p:nvSpPr>
          <p:cNvPr id="7" name="TextBox 6">
            <a:extLst>
              <a:ext uri="{FF2B5EF4-FFF2-40B4-BE49-F238E27FC236}">
                <a16:creationId xmlns:a16="http://schemas.microsoft.com/office/drawing/2014/main" id="{5A8D768A-2002-EDDA-7087-A2153B9043AC}"/>
              </a:ext>
            </a:extLst>
          </p:cNvPr>
          <p:cNvSpPr txBox="1"/>
          <p:nvPr/>
        </p:nvSpPr>
        <p:spPr>
          <a:xfrm>
            <a:off x="471948" y="1625890"/>
            <a:ext cx="5007078" cy="1600438"/>
          </a:xfrm>
          <a:prstGeom prst="rect">
            <a:avLst/>
          </a:prstGeom>
          <a:noFill/>
        </p:spPr>
        <p:txBody>
          <a:bodyPr wrap="square">
            <a:spAutoFit/>
          </a:bodyPr>
          <a:lstStyle/>
          <a:p>
            <a:pPr marL="285750" indent="-285750">
              <a:buFont typeface="Arial" panose="020B0604020202020204" pitchFamily="34" charset="0"/>
              <a:buChar char="•"/>
            </a:pPr>
            <a:r>
              <a:rPr lang="en-IN" dirty="0"/>
              <a:t>key-value pairs that are used to identify, describe and group together related sets of objects or resources.</a:t>
            </a:r>
          </a:p>
          <a:p>
            <a:pPr marL="285750" indent="-285750">
              <a:buFont typeface="Arial" panose="020B0604020202020204" pitchFamily="34" charset="0"/>
              <a:buChar char="•"/>
            </a:pPr>
            <a:r>
              <a:rPr lang="en-IN" dirty="0"/>
              <a:t>NOT characteristic of uniqueness.</a:t>
            </a:r>
          </a:p>
          <a:p>
            <a:pPr marL="285750" indent="-285750">
              <a:buFont typeface="Arial" panose="020B0604020202020204" pitchFamily="34" charset="0"/>
              <a:buChar char="•"/>
            </a:pPr>
            <a:r>
              <a:rPr lang="en-IN" dirty="0"/>
              <a:t>Have a strict syntax with a slightly limited character set*.</a:t>
            </a:r>
          </a:p>
          <a:p>
            <a:endParaRPr lang="en-IN" dirty="0"/>
          </a:p>
          <a:p>
            <a:r>
              <a:rPr lang="en-IN" dirty="0"/>
              <a:t>* https://kubernetes.io/docs/concepts/overview/working-with-objects/labels/#syntax-and-character-set</a:t>
            </a:r>
          </a:p>
        </p:txBody>
      </p:sp>
    </p:spTree>
    <p:extLst>
      <p:ext uri="{BB962C8B-B14F-4D97-AF65-F5344CB8AC3E}">
        <p14:creationId xmlns:p14="http://schemas.microsoft.com/office/powerpoint/2010/main" val="24046001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A2EBC-918D-33BD-0C91-48E8EDD6525B}"/>
              </a:ext>
            </a:extLst>
          </p:cNvPr>
          <p:cNvSpPr>
            <a:spLocks noGrp="1"/>
          </p:cNvSpPr>
          <p:nvPr>
            <p:ph type="title" idx="4294967295"/>
          </p:nvPr>
        </p:nvSpPr>
        <p:spPr>
          <a:xfrm>
            <a:off x="0" y="274638"/>
            <a:ext cx="7886700" cy="993775"/>
          </a:xfrm>
        </p:spPr>
        <p:txBody>
          <a:bodyPr/>
          <a:lstStyle/>
          <a:p>
            <a:r>
              <a:rPr lang="en-IN" dirty="0"/>
              <a:t>Selector</a:t>
            </a:r>
          </a:p>
        </p:txBody>
      </p:sp>
      <p:sp>
        <p:nvSpPr>
          <p:cNvPr id="3" name="Slide Number Placeholder 2">
            <a:extLst>
              <a:ext uri="{FF2B5EF4-FFF2-40B4-BE49-F238E27FC236}">
                <a16:creationId xmlns:a16="http://schemas.microsoft.com/office/drawing/2014/main" id="{AF74780B-27A1-D2A7-023D-00F43D738339}"/>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15</a:t>
            </a:fld>
            <a:endParaRPr lang="en-GB"/>
          </a:p>
        </p:txBody>
      </p:sp>
      <p:sp>
        <p:nvSpPr>
          <p:cNvPr id="5" name="TextBox 4">
            <a:extLst>
              <a:ext uri="{FF2B5EF4-FFF2-40B4-BE49-F238E27FC236}">
                <a16:creationId xmlns:a16="http://schemas.microsoft.com/office/drawing/2014/main" id="{7F989414-8408-5C93-1198-0C8AAC94167D}"/>
              </a:ext>
            </a:extLst>
          </p:cNvPr>
          <p:cNvSpPr txBox="1"/>
          <p:nvPr/>
        </p:nvSpPr>
        <p:spPr>
          <a:xfrm>
            <a:off x="375077" y="1268413"/>
            <a:ext cx="8001000" cy="307777"/>
          </a:xfrm>
          <a:prstGeom prst="rect">
            <a:avLst/>
          </a:prstGeom>
          <a:noFill/>
        </p:spPr>
        <p:txBody>
          <a:bodyPr wrap="square">
            <a:spAutoFit/>
          </a:bodyPr>
          <a:lstStyle/>
          <a:p>
            <a:r>
              <a:rPr lang="en-IN" dirty="0"/>
              <a:t>Selectors use labels to filter or select objects, and are used throughout Kubernetes.</a:t>
            </a:r>
          </a:p>
        </p:txBody>
      </p:sp>
      <p:pic>
        <p:nvPicPr>
          <p:cNvPr id="7" name="Picture 6">
            <a:extLst>
              <a:ext uri="{FF2B5EF4-FFF2-40B4-BE49-F238E27FC236}">
                <a16:creationId xmlns:a16="http://schemas.microsoft.com/office/drawing/2014/main" id="{9E4FD2CF-D566-9548-4516-C4824AFAB624}"/>
              </a:ext>
            </a:extLst>
          </p:cNvPr>
          <p:cNvPicPr>
            <a:picLocks noChangeAspect="1"/>
          </p:cNvPicPr>
          <p:nvPr/>
        </p:nvPicPr>
        <p:blipFill>
          <a:blip r:embed="rId2"/>
          <a:stretch>
            <a:fillRect/>
          </a:stretch>
        </p:blipFill>
        <p:spPr>
          <a:xfrm>
            <a:off x="375077" y="1576190"/>
            <a:ext cx="6986809" cy="2905528"/>
          </a:xfrm>
          <a:prstGeom prst="rect">
            <a:avLst/>
          </a:prstGeom>
        </p:spPr>
      </p:pic>
    </p:spTree>
    <p:extLst>
      <p:ext uri="{BB962C8B-B14F-4D97-AF65-F5344CB8AC3E}">
        <p14:creationId xmlns:p14="http://schemas.microsoft.com/office/powerpoint/2010/main" val="2400469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EA17D-0739-05DE-C4F8-1402D6CA9C09}"/>
              </a:ext>
            </a:extLst>
          </p:cNvPr>
          <p:cNvSpPr>
            <a:spLocks noGrp="1"/>
          </p:cNvSpPr>
          <p:nvPr>
            <p:ph type="title" idx="4294967295"/>
          </p:nvPr>
        </p:nvSpPr>
        <p:spPr>
          <a:xfrm>
            <a:off x="0" y="274638"/>
            <a:ext cx="7886700" cy="993775"/>
          </a:xfrm>
        </p:spPr>
        <p:txBody>
          <a:bodyPr/>
          <a:lstStyle/>
          <a:p>
            <a:r>
              <a:rPr lang="en-IN" dirty="0"/>
              <a:t>Selector Type</a:t>
            </a:r>
          </a:p>
        </p:txBody>
      </p:sp>
      <p:sp>
        <p:nvSpPr>
          <p:cNvPr id="3" name="Slide Number Placeholder 2">
            <a:extLst>
              <a:ext uri="{FF2B5EF4-FFF2-40B4-BE49-F238E27FC236}">
                <a16:creationId xmlns:a16="http://schemas.microsoft.com/office/drawing/2014/main" id="{4D15267A-1E7E-56D4-14C6-171AF2427C36}"/>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16</a:t>
            </a:fld>
            <a:endParaRPr lang="en-GB"/>
          </a:p>
        </p:txBody>
      </p:sp>
      <p:pic>
        <p:nvPicPr>
          <p:cNvPr id="5" name="Picture 4">
            <a:extLst>
              <a:ext uri="{FF2B5EF4-FFF2-40B4-BE49-F238E27FC236}">
                <a16:creationId xmlns:a16="http://schemas.microsoft.com/office/drawing/2014/main" id="{B90F0C96-AF95-9CD8-708C-1187000347F5}"/>
              </a:ext>
            </a:extLst>
          </p:cNvPr>
          <p:cNvPicPr>
            <a:picLocks noChangeAspect="1"/>
          </p:cNvPicPr>
          <p:nvPr/>
        </p:nvPicPr>
        <p:blipFill>
          <a:blip r:embed="rId2"/>
          <a:stretch>
            <a:fillRect/>
          </a:stretch>
        </p:blipFill>
        <p:spPr>
          <a:xfrm>
            <a:off x="375077" y="1047579"/>
            <a:ext cx="7563964" cy="3465428"/>
          </a:xfrm>
          <a:prstGeom prst="rect">
            <a:avLst/>
          </a:prstGeom>
        </p:spPr>
      </p:pic>
    </p:spTree>
    <p:extLst>
      <p:ext uri="{BB962C8B-B14F-4D97-AF65-F5344CB8AC3E}">
        <p14:creationId xmlns:p14="http://schemas.microsoft.com/office/powerpoint/2010/main" val="23729526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64CBB-549C-7A7E-6B3D-45598B5A129E}"/>
              </a:ext>
            </a:extLst>
          </p:cNvPr>
          <p:cNvSpPr>
            <a:spLocks noGrp="1"/>
          </p:cNvSpPr>
          <p:nvPr>
            <p:ph type="title" idx="4294967295"/>
          </p:nvPr>
        </p:nvSpPr>
        <p:spPr>
          <a:xfrm>
            <a:off x="0" y="274638"/>
            <a:ext cx="7886700" cy="993775"/>
          </a:xfrm>
        </p:spPr>
        <p:txBody>
          <a:bodyPr/>
          <a:lstStyle/>
          <a:p>
            <a:r>
              <a:rPr lang="en-US" dirty="0"/>
              <a:t>SERVICES</a:t>
            </a:r>
            <a:endParaRPr lang="en-IN" dirty="0"/>
          </a:p>
        </p:txBody>
      </p:sp>
      <p:sp>
        <p:nvSpPr>
          <p:cNvPr id="3" name="Slide Number Placeholder 2">
            <a:extLst>
              <a:ext uri="{FF2B5EF4-FFF2-40B4-BE49-F238E27FC236}">
                <a16:creationId xmlns:a16="http://schemas.microsoft.com/office/drawing/2014/main" id="{044A453F-E082-6AEE-C301-955AC952F116}"/>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17</a:t>
            </a:fld>
            <a:endParaRPr lang="en-GB"/>
          </a:p>
        </p:txBody>
      </p:sp>
      <p:pic>
        <p:nvPicPr>
          <p:cNvPr id="5" name="Picture 4">
            <a:extLst>
              <a:ext uri="{FF2B5EF4-FFF2-40B4-BE49-F238E27FC236}">
                <a16:creationId xmlns:a16="http://schemas.microsoft.com/office/drawing/2014/main" id="{888CA287-AF58-E134-C9BE-1710A72D579C}"/>
              </a:ext>
            </a:extLst>
          </p:cNvPr>
          <p:cNvPicPr>
            <a:picLocks noChangeAspect="1"/>
          </p:cNvPicPr>
          <p:nvPr/>
        </p:nvPicPr>
        <p:blipFill>
          <a:blip r:embed="rId3"/>
          <a:stretch>
            <a:fillRect/>
          </a:stretch>
        </p:blipFill>
        <p:spPr>
          <a:xfrm>
            <a:off x="4916774" y="284347"/>
            <a:ext cx="4070434" cy="3528366"/>
          </a:xfrm>
          <a:prstGeom prst="rect">
            <a:avLst/>
          </a:prstGeom>
        </p:spPr>
      </p:pic>
      <p:sp>
        <p:nvSpPr>
          <p:cNvPr id="7" name="TextBox 6">
            <a:extLst>
              <a:ext uri="{FF2B5EF4-FFF2-40B4-BE49-F238E27FC236}">
                <a16:creationId xmlns:a16="http://schemas.microsoft.com/office/drawing/2014/main" id="{ACA254AE-CEFA-F97E-73C2-33D36CE6AD55}"/>
              </a:ext>
            </a:extLst>
          </p:cNvPr>
          <p:cNvSpPr txBox="1"/>
          <p:nvPr/>
        </p:nvSpPr>
        <p:spPr>
          <a:xfrm>
            <a:off x="435077" y="1402199"/>
            <a:ext cx="4572000" cy="646331"/>
          </a:xfrm>
          <a:prstGeom prst="rect">
            <a:avLst/>
          </a:prstGeom>
          <a:noFill/>
        </p:spPr>
        <p:txBody>
          <a:bodyPr wrap="square">
            <a:spAutoFit/>
          </a:bodyPr>
          <a:lstStyle/>
          <a:p>
            <a:pPr marL="285750" indent="-285750">
              <a:buFont typeface="Wingdings" panose="05000000000000000000" pitchFamily="2" charset="2"/>
              <a:buChar char="ü"/>
            </a:pPr>
            <a:r>
              <a:rPr lang="en-IN" sz="900" dirty="0"/>
              <a:t>Unified method of accessing: the exposed workloads of Pods.</a:t>
            </a:r>
          </a:p>
          <a:p>
            <a:pPr marL="285750" indent="-285750">
              <a:buFont typeface="Wingdings" panose="05000000000000000000" pitchFamily="2" charset="2"/>
              <a:buChar char="ü"/>
            </a:pPr>
            <a:r>
              <a:rPr lang="en-IN" sz="900" dirty="0"/>
              <a:t>Durable resource</a:t>
            </a:r>
          </a:p>
          <a:p>
            <a:r>
              <a:rPr lang="en-IN" sz="900" dirty="0"/>
              <a:t>          static cluster IP </a:t>
            </a:r>
          </a:p>
          <a:p>
            <a:r>
              <a:rPr lang="en-IN" sz="900" dirty="0"/>
              <a:t>          static </a:t>
            </a:r>
            <a:r>
              <a:rPr lang="en-IN" sz="900" dirty="0" err="1"/>
              <a:t>namespaced</a:t>
            </a:r>
            <a:r>
              <a:rPr lang="en-IN" sz="900" dirty="0"/>
              <a:t> DNS name</a:t>
            </a:r>
          </a:p>
        </p:txBody>
      </p:sp>
      <p:pic>
        <p:nvPicPr>
          <p:cNvPr id="6" name="Picture 5">
            <a:extLst>
              <a:ext uri="{FF2B5EF4-FFF2-40B4-BE49-F238E27FC236}">
                <a16:creationId xmlns:a16="http://schemas.microsoft.com/office/drawing/2014/main" id="{8BC8C8EC-A8B1-75B4-CD00-0B8E51BEDCDA}"/>
              </a:ext>
            </a:extLst>
          </p:cNvPr>
          <p:cNvPicPr>
            <a:picLocks noChangeAspect="1"/>
          </p:cNvPicPr>
          <p:nvPr/>
        </p:nvPicPr>
        <p:blipFill>
          <a:blip r:embed="rId4"/>
          <a:stretch>
            <a:fillRect/>
          </a:stretch>
        </p:blipFill>
        <p:spPr>
          <a:xfrm>
            <a:off x="924147" y="2691623"/>
            <a:ext cx="2131609" cy="2352568"/>
          </a:xfrm>
          <a:prstGeom prst="rect">
            <a:avLst/>
          </a:prstGeom>
        </p:spPr>
      </p:pic>
      <p:pic>
        <p:nvPicPr>
          <p:cNvPr id="9" name="Picture 8">
            <a:extLst>
              <a:ext uri="{FF2B5EF4-FFF2-40B4-BE49-F238E27FC236}">
                <a16:creationId xmlns:a16="http://schemas.microsoft.com/office/drawing/2014/main" id="{AB9C41BF-E2CE-A06B-551C-9744A23BEF4C}"/>
              </a:ext>
            </a:extLst>
          </p:cNvPr>
          <p:cNvPicPr>
            <a:picLocks noChangeAspect="1"/>
          </p:cNvPicPr>
          <p:nvPr/>
        </p:nvPicPr>
        <p:blipFill>
          <a:blip r:embed="rId5"/>
          <a:stretch>
            <a:fillRect/>
          </a:stretch>
        </p:blipFill>
        <p:spPr>
          <a:xfrm>
            <a:off x="3277707" y="2679788"/>
            <a:ext cx="2231178" cy="2285267"/>
          </a:xfrm>
          <a:prstGeom prst="rect">
            <a:avLst/>
          </a:prstGeom>
        </p:spPr>
      </p:pic>
    </p:spTree>
    <p:extLst>
      <p:ext uri="{BB962C8B-B14F-4D97-AF65-F5344CB8AC3E}">
        <p14:creationId xmlns:p14="http://schemas.microsoft.com/office/powerpoint/2010/main" val="15587546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Placeholder 8" descr="A close-up of a colorful swirl&#10;&#10;Description automatically generated">
            <a:extLst>
              <a:ext uri="{FF2B5EF4-FFF2-40B4-BE49-F238E27FC236}">
                <a16:creationId xmlns:a16="http://schemas.microsoft.com/office/drawing/2014/main" id="{92BB618F-20D8-D500-F22F-6DC91B9B3D2F}"/>
              </a:ext>
            </a:extLst>
          </p:cNvPr>
          <p:cNvPicPr>
            <a:picLocks noGrp="1" noChangeAspect="1"/>
          </p:cNvPicPr>
          <p:nvPr>
            <p:ph type="pic" sz="quarter" idx="4294967295"/>
          </p:nvPr>
        </p:nvPicPr>
        <p:blipFill rotWithShape="1">
          <a:blip r:embed="rId2">
            <a:alphaModFix amt="40000"/>
          </a:blip>
          <a:srcRect b="1747"/>
          <a:stretch/>
        </p:blipFill>
        <p:spPr>
          <a:xfrm>
            <a:off x="0" y="0"/>
            <a:ext cx="9144000" cy="5143500"/>
          </a:xfrm>
          <a:prstGeom prst="rect">
            <a:avLst/>
          </a:prstGeom>
        </p:spPr>
      </p:pic>
      <p:sp>
        <p:nvSpPr>
          <p:cNvPr id="2" name="Title 1">
            <a:extLst>
              <a:ext uri="{FF2B5EF4-FFF2-40B4-BE49-F238E27FC236}">
                <a16:creationId xmlns:a16="http://schemas.microsoft.com/office/drawing/2014/main" id="{A162A728-15BF-FB7A-792A-E7371AA6CF26}"/>
              </a:ext>
            </a:extLst>
          </p:cNvPr>
          <p:cNvSpPr>
            <a:spLocks noGrp="1"/>
          </p:cNvSpPr>
          <p:nvPr>
            <p:ph type="ctrTitle" idx="4294967295"/>
          </p:nvPr>
        </p:nvSpPr>
        <p:spPr>
          <a:xfrm>
            <a:off x="0" y="723900"/>
            <a:ext cx="7696200" cy="2673350"/>
          </a:xfrm>
        </p:spPr>
        <p:txBody>
          <a:bodyPr vert="horz" lIns="91440" tIns="45720" rIns="91440" bIns="45720" rtlCol="0" anchor="b">
            <a:normAutofit/>
          </a:bodyPr>
          <a:lstStyle/>
          <a:p>
            <a:r>
              <a:rPr lang="en-US" sz="8000">
                <a:ln w="22225">
                  <a:solidFill>
                    <a:schemeClr val="tx1"/>
                  </a:solidFill>
                  <a:miter lim="800000"/>
                </a:ln>
                <a:noFill/>
                <a:latin typeface="+mj-lt"/>
              </a:rPr>
              <a:t>NETWORKING</a:t>
            </a:r>
          </a:p>
        </p:txBody>
      </p:sp>
    </p:spTree>
    <p:extLst>
      <p:ext uri="{BB962C8B-B14F-4D97-AF65-F5344CB8AC3E}">
        <p14:creationId xmlns:p14="http://schemas.microsoft.com/office/powerpoint/2010/main" val="391612008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8BD2C-5CC7-693B-360B-B09E74763EA9}"/>
              </a:ext>
            </a:extLst>
          </p:cNvPr>
          <p:cNvSpPr>
            <a:spLocks noGrp="1"/>
          </p:cNvSpPr>
          <p:nvPr>
            <p:ph type="title" idx="4294967295"/>
          </p:nvPr>
        </p:nvSpPr>
        <p:spPr>
          <a:xfrm>
            <a:off x="0" y="274638"/>
            <a:ext cx="7886700" cy="993775"/>
          </a:xfrm>
        </p:spPr>
        <p:txBody>
          <a:bodyPr/>
          <a:lstStyle/>
          <a:p>
            <a:r>
              <a:rPr lang="en-IN" dirty="0"/>
              <a:t>Service</a:t>
            </a:r>
          </a:p>
        </p:txBody>
      </p:sp>
      <p:sp>
        <p:nvSpPr>
          <p:cNvPr id="3" name="Slide Number Placeholder 2">
            <a:extLst>
              <a:ext uri="{FF2B5EF4-FFF2-40B4-BE49-F238E27FC236}">
                <a16:creationId xmlns:a16="http://schemas.microsoft.com/office/drawing/2014/main" id="{822BE5AB-8417-F83E-C970-A8D4DC95ABA1}"/>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19</a:t>
            </a:fld>
            <a:endParaRPr lang="en-GB"/>
          </a:p>
        </p:txBody>
      </p:sp>
      <p:sp>
        <p:nvSpPr>
          <p:cNvPr id="5" name="TextBox 4">
            <a:extLst>
              <a:ext uri="{FF2B5EF4-FFF2-40B4-BE49-F238E27FC236}">
                <a16:creationId xmlns:a16="http://schemas.microsoft.com/office/drawing/2014/main" id="{E1629B0C-D5C8-37A5-A92B-2A6E4EE4C67E}"/>
              </a:ext>
            </a:extLst>
          </p:cNvPr>
          <p:cNvSpPr txBox="1"/>
          <p:nvPr/>
        </p:nvSpPr>
        <p:spPr>
          <a:xfrm>
            <a:off x="5561347" y="1103559"/>
            <a:ext cx="3585482" cy="3416320"/>
          </a:xfrm>
          <a:prstGeom prst="rect">
            <a:avLst/>
          </a:prstGeom>
          <a:noFill/>
        </p:spPr>
        <p:txBody>
          <a:bodyPr wrap="square">
            <a:spAutoFit/>
          </a:bodyPr>
          <a:lstStyle/>
          <a:p>
            <a:pPr marL="285750" indent="-285750">
              <a:buFont typeface="Arial" panose="020B0604020202020204" pitchFamily="34" charset="0"/>
              <a:buChar char="•"/>
            </a:pPr>
            <a:r>
              <a:rPr lang="en-IN" sz="1200" dirty="0"/>
              <a:t>Unified method of accessing the exposed workloads of Pods.</a:t>
            </a:r>
          </a:p>
          <a:p>
            <a:pPr marL="285750" indent="-285750">
              <a:buFont typeface="Arial" panose="020B0604020202020204" pitchFamily="34" charset="0"/>
              <a:buChar char="•"/>
            </a:pPr>
            <a:r>
              <a:rPr lang="en-IN" sz="1200" dirty="0"/>
              <a:t>Durable resource (unlike Pods)</a:t>
            </a:r>
          </a:p>
          <a:p>
            <a:r>
              <a:rPr lang="en-US" sz="1200" dirty="0"/>
              <a:t>      - static cluster-unique IP</a:t>
            </a:r>
          </a:p>
          <a:p>
            <a:r>
              <a:rPr lang="en-US" sz="1200" dirty="0"/>
              <a:t>      - static </a:t>
            </a:r>
            <a:r>
              <a:rPr lang="en-US" sz="1200" dirty="0" err="1"/>
              <a:t>namespaced</a:t>
            </a:r>
            <a:r>
              <a:rPr lang="en-US" sz="1200" dirty="0"/>
              <a:t> DNS name</a:t>
            </a:r>
            <a:endParaRPr lang="en-IN" sz="1200" dirty="0"/>
          </a:p>
          <a:p>
            <a:pPr marL="285750" indent="-285750">
              <a:buFont typeface="Arial" panose="020B0604020202020204" pitchFamily="34" charset="0"/>
              <a:buChar char="•"/>
            </a:pPr>
            <a:r>
              <a:rPr lang="en-US" sz="1200" dirty="0"/>
              <a:t>Target Pods using equality based selectors.</a:t>
            </a:r>
          </a:p>
          <a:p>
            <a:pPr marL="285750" indent="-285750">
              <a:buFont typeface="Arial" panose="020B0604020202020204" pitchFamily="34" charset="0"/>
              <a:buChar char="•"/>
            </a:pPr>
            <a:r>
              <a:rPr lang="en-US" sz="1200" dirty="0"/>
              <a:t>Uses </a:t>
            </a:r>
            <a:r>
              <a:rPr lang="en-US" sz="1200" dirty="0" err="1"/>
              <a:t>kube</a:t>
            </a:r>
            <a:r>
              <a:rPr lang="en-US" sz="1200" dirty="0"/>
              <a:t>-proxy to provide simple load-balancing.</a:t>
            </a:r>
          </a:p>
          <a:p>
            <a:pPr marL="285750" indent="-285750">
              <a:buFont typeface="Arial" panose="020B0604020202020204" pitchFamily="34" charset="0"/>
              <a:buChar char="•"/>
            </a:pPr>
            <a:r>
              <a:rPr lang="en-US" sz="1200" dirty="0" err="1"/>
              <a:t>kube</a:t>
            </a:r>
            <a:r>
              <a:rPr lang="en-US" sz="1200" dirty="0"/>
              <a:t>-proxy acts as a daemon that creates local entries in the host’s iptables for every service.</a:t>
            </a:r>
          </a:p>
          <a:p>
            <a:pPr marL="285750" indent="-285750">
              <a:buFont typeface="Arial" panose="020B0604020202020204" pitchFamily="34" charset="0"/>
              <a:buChar char="•"/>
            </a:pPr>
            <a:r>
              <a:rPr lang="en-US" sz="1200" dirty="0"/>
              <a:t>Service Type: There are 4 major service types:</a:t>
            </a:r>
          </a:p>
          <a:p>
            <a:r>
              <a:rPr lang="en-US" sz="1200" dirty="0"/>
              <a:t>      - </a:t>
            </a:r>
            <a:r>
              <a:rPr lang="en-US" sz="1200" dirty="0" err="1"/>
              <a:t>ClusterIP</a:t>
            </a:r>
            <a:r>
              <a:rPr lang="en-US" sz="1200" dirty="0"/>
              <a:t> (default)</a:t>
            </a:r>
          </a:p>
          <a:p>
            <a:r>
              <a:rPr lang="en-US" sz="1200" dirty="0"/>
              <a:t>      - </a:t>
            </a:r>
            <a:r>
              <a:rPr lang="en-US" sz="1200" dirty="0" err="1"/>
              <a:t>NodePort</a:t>
            </a:r>
            <a:endParaRPr lang="en-US" sz="1200" dirty="0"/>
          </a:p>
          <a:p>
            <a:r>
              <a:rPr lang="en-US" sz="1200" dirty="0"/>
              <a:t>      - </a:t>
            </a:r>
            <a:r>
              <a:rPr lang="en-US" sz="1200" dirty="0" err="1"/>
              <a:t>LoadBalancer</a:t>
            </a:r>
            <a:endParaRPr lang="en-US" sz="1200" dirty="0"/>
          </a:p>
          <a:p>
            <a:r>
              <a:rPr lang="en-US" sz="1200" dirty="0"/>
              <a:t>      - </a:t>
            </a:r>
            <a:r>
              <a:rPr lang="en-US" sz="1200" dirty="0" err="1"/>
              <a:t>ExternalName</a:t>
            </a:r>
            <a:endParaRPr lang="en-US" sz="1200" dirty="0"/>
          </a:p>
          <a:p>
            <a:pPr marL="285750" indent="-285750">
              <a:buFont typeface="Arial" panose="020B0604020202020204" pitchFamily="34" charset="0"/>
              <a:buChar char="•"/>
            </a:pPr>
            <a:endParaRPr lang="en-IN" sz="1200" dirty="0"/>
          </a:p>
        </p:txBody>
      </p:sp>
      <p:pic>
        <p:nvPicPr>
          <p:cNvPr id="9" name="Picture 8">
            <a:extLst>
              <a:ext uri="{FF2B5EF4-FFF2-40B4-BE49-F238E27FC236}">
                <a16:creationId xmlns:a16="http://schemas.microsoft.com/office/drawing/2014/main" id="{3FD8AAB7-DF3E-8625-0B16-5C64A622610F}"/>
              </a:ext>
            </a:extLst>
          </p:cNvPr>
          <p:cNvPicPr>
            <a:picLocks noChangeAspect="1"/>
          </p:cNvPicPr>
          <p:nvPr/>
        </p:nvPicPr>
        <p:blipFill>
          <a:blip r:embed="rId2"/>
          <a:stretch>
            <a:fillRect/>
          </a:stretch>
        </p:blipFill>
        <p:spPr>
          <a:xfrm>
            <a:off x="4288" y="1470910"/>
            <a:ext cx="5557059" cy="2768327"/>
          </a:xfrm>
          <a:prstGeom prst="rect">
            <a:avLst/>
          </a:prstGeom>
        </p:spPr>
      </p:pic>
    </p:spTree>
    <p:extLst>
      <p:ext uri="{BB962C8B-B14F-4D97-AF65-F5344CB8AC3E}">
        <p14:creationId xmlns:p14="http://schemas.microsoft.com/office/powerpoint/2010/main" val="7555154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D78EA-844F-D779-F9CF-A6E76546B96B}"/>
              </a:ext>
            </a:extLst>
          </p:cNvPr>
          <p:cNvSpPr>
            <a:spLocks noGrp="1"/>
          </p:cNvSpPr>
          <p:nvPr>
            <p:ph type="title" idx="4294967295"/>
          </p:nvPr>
        </p:nvSpPr>
        <p:spPr>
          <a:xfrm>
            <a:off x="0" y="274638"/>
            <a:ext cx="7886700" cy="993775"/>
          </a:xfrm>
        </p:spPr>
        <p:txBody>
          <a:bodyPr/>
          <a:lstStyle/>
          <a:p>
            <a:r>
              <a:rPr lang="en-IN" sz="2400" dirty="0" err="1"/>
              <a:t>ClusterIP</a:t>
            </a:r>
            <a:r>
              <a:rPr lang="en-IN" sz="2400" dirty="0"/>
              <a:t>, </a:t>
            </a:r>
            <a:r>
              <a:rPr lang="en-IN" sz="2400" dirty="0" err="1"/>
              <a:t>Nodeport</a:t>
            </a:r>
            <a:r>
              <a:rPr lang="en-IN" sz="2400" dirty="0"/>
              <a:t>, Load balancer Service</a:t>
            </a:r>
          </a:p>
        </p:txBody>
      </p:sp>
      <p:sp>
        <p:nvSpPr>
          <p:cNvPr id="3" name="Slide Number Placeholder 2">
            <a:extLst>
              <a:ext uri="{FF2B5EF4-FFF2-40B4-BE49-F238E27FC236}">
                <a16:creationId xmlns:a16="http://schemas.microsoft.com/office/drawing/2014/main" id="{62BA2921-6BA3-3934-9F8E-82F5C381C7A6}"/>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20</a:t>
            </a:fld>
            <a:endParaRPr lang="en-GB"/>
          </a:p>
        </p:txBody>
      </p:sp>
      <p:sp>
        <p:nvSpPr>
          <p:cNvPr id="5" name="TextBox 4">
            <a:extLst>
              <a:ext uri="{FF2B5EF4-FFF2-40B4-BE49-F238E27FC236}">
                <a16:creationId xmlns:a16="http://schemas.microsoft.com/office/drawing/2014/main" id="{80B53CEC-E663-28D0-719B-72F5159263E7}"/>
              </a:ext>
            </a:extLst>
          </p:cNvPr>
          <p:cNvSpPr txBox="1"/>
          <p:nvPr/>
        </p:nvSpPr>
        <p:spPr>
          <a:xfrm>
            <a:off x="487175" y="1386894"/>
            <a:ext cx="5246557" cy="3046988"/>
          </a:xfrm>
          <a:prstGeom prst="rect">
            <a:avLst/>
          </a:prstGeom>
          <a:noFill/>
        </p:spPr>
        <p:txBody>
          <a:bodyPr wrap="square">
            <a:spAutoFit/>
          </a:bodyPr>
          <a:lstStyle/>
          <a:p>
            <a:r>
              <a:rPr lang="en-IN" sz="1200" b="1" dirty="0" err="1"/>
              <a:t>ClusterIP</a:t>
            </a:r>
            <a:endParaRPr lang="en-IN" sz="1200" b="1" dirty="0"/>
          </a:p>
          <a:p>
            <a:pPr marL="285750" indent="-285750">
              <a:buFont typeface="Arial" panose="020B0604020202020204" pitchFamily="34" charset="0"/>
              <a:buChar char="•"/>
            </a:pPr>
            <a:r>
              <a:rPr lang="en-IN" sz="1200" dirty="0" err="1"/>
              <a:t>ClusterIP</a:t>
            </a:r>
            <a:r>
              <a:rPr lang="en-IN" sz="1200" dirty="0"/>
              <a:t> services exposes a service on a strictly cluster internal virtual IP.</a:t>
            </a:r>
          </a:p>
          <a:p>
            <a:pPr marL="285750" indent="-285750">
              <a:buFont typeface="Arial" panose="020B0604020202020204" pitchFamily="34" charset="0"/>
              <a:buChar char="•"/>
            </a:pPr>
            <a:r>
              <a:rPr lang="en-US" sz="1200" dirty="0"/>
              <a:t>Services are reachable by pods/services in the Cluster</a:t>
            </a:r>
          </a:p>
          <a:p>
            <a:pPr marL="285750" indent="-285750">
              <a:buFont typeface="Arial" panose="020B0604020202020204" pitchFamily="34" charset="0"/>
              <a:buChar char="•"/>
            </a:pPr>
            <a:endParaRPr lang="en-US" sz="1200" dirty="0"/>
          </a:p>
          <a:p>
            <a:r>
              <a:rPr lang="en-US" sz="1200" b="1" dirty="0" err="1"/>
              <a:t>NodePort</a:t>
            </a:r>
            <a:endParaRPr lang="en-US" sz="1200" b="1" dirty="0"/>
          </a:p>
          <a:p>
            <a:pPr marL="285750" indent="-285750">
              <a:buFont typeface="Arial" panose="020B0604020202020204" pitchFamily="34" charset="0"/>
              <a:buChar char="•"/>
            </a:pPr>
            <a:r>
              <a:rPr lang="en-US" sz="1200" dirty="0"/>
              <a:t>Services are reachable by clients on the same LAN/clients who can ping the K8s Host Nodes (and pods/services in the cluster) (Note for security your k8s host nodes should be on a private subnet, thus clients on the internet won't be able to reach this service)</a:t>
            </a:r>
          </a:p>
          <a:p>
            <a:endParaRPr lang="en-US" sz="1200" dirty="0"/>
          </a:p>
          <a:p>
            <a:r>
              <a:rPr lang="en-US" sz="1200" b="1" dirty="0"/>
              <a:t>Load</a:t>
            </a:r>
            <a:r>
              <a:rPr lang="en-US" sz="1200" dirty="0"/>
              <a:t> </a:t>
            </a:r>
            <a:r>
              <a:rPr lang="en-US" sz="1200" b="1" dirty="0"/>
              <a:t>balancer</a:t>
            </a:r>
          </a:p>
          <a:p>
            <a:pPr marL="285750" indent="-285750">
              <a:buFont typeface="Arial" panose="020B0604020202020204" pitchFamily="34" charset="0"/>
              <a:buChar char="•"/>
            </a:pPr>
            <a:r>
              <a:rPr lang="en-US" sz="1200" dirty="0"/>
              <a:t>Services are reachable by everyone connected to the internet* (Common architecture is L4 LB is publicly accessible on the internet by putting it in a DMZ or giving it both a private and public IP and k8s host nodes are on a private subnet)</a:t>
            </a:r>
            <a:endParaRPr lang="en-IN" sz="1200" dirty="0"/>
          </a:p>
        </p:txBody>
      </p:sp>
      <p:pic>
        <p:nvPicPr>
          <p:cNvPr id="7" name="Picture 6">
            <a:extLst>
              <a:ext uri="{FF2B5EF4-FFF2-40B4-BE49-F238E27FC236}">
                <a16:creationId xmlns:a16="http://schemas.microsoft.com/office/drawing/2014/main" id="{1C791359-EBC9-2BCE-B3CB-18989BC8AF3C}"/>
              </a:ext>
            </a:extLst>
          </p:cNvPr>
          <p:cNvPicPr>
            <a:picLocks noChangeAspect="1"/>
          </p:cNvPicPr>
          <p:nvPr/>
        </p:nvPicPr>
        <p:blipFill>
          <a:blip r:embed="rId2"/>
          <a:stretch>
            <a:fillRect/>
          </a:stretch>
        </p:blipFill>
        <p:spPr>
          <a:xfrm>
            <a:off x="5641030" y="1710994"/>
            <a:ext cx="3502970" cy="2798321"/>
          </a:xfrm>
          <a:prstGeom prst="rect">
            <a:avLst/>
          </a:prstGeom>
        </p:spPr>
      </p:pic>
    </p:spTree>
    <p:extLst>
      <p:ext uri="{BB962C8B-B14F-4D97-AF65-F5344CB8AC3E}">
        <p14:creationId xmlns:p14="http://schemas.microsoft.com/office/powerpoint/2010/main" val="15280868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F9806D0-BBEB-20E1-35AB-DC36F514410F}"/>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21</a:t>
            </a:fld>
            <a:endParaRPr lang="en-GB"/>
          </a:p>
        </p:txBody>
      </p:sp>
      <p:pic>
        <p:nvPicPr>
          <p:cNvPr id="2050" name="Picture 2" descr="ClusterIP">
            <a:extLst>
              <a:ext uri="{FF2B5EF4-FFF2-40B4-BE49-F238E27FC236}">
                <a16:creationId xmlns:a16="http://schemas.microsoft.com/office/drawing/2014/main" id="{CD085525-0F73-EA73-01BF-5B0C8584C8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225" y="-185587"/>
            <a:ext cx="5869170" cy="580119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04491010-3C91-2AEC-FC11-6ABDEE8DD545}"/>
              </a:ext>
            </a:extLst>
          </p:cNvPr>
          <p:cNvPicPr>
            <a:picLocks noChangeAspect="1"/>
          </p:cNvPicPr>
          <p:nvPr/>
        </p:nvPicPr>
        <p:blipFill>
          <a:blip r:embed="rId3"/>
          <a:stretch>
            <a:fillRect/>
          </a:stretch>
        </p:blipFill>
        <p:spPr>
          <a:xfrm>
            <a:off x="6065687" y="1901763"/>
            <a:ext cx="2629128" cy="2629128"/>
          </a:xfrm>
          <a:prstGeom prst="rect">
            <a:avLst/>
          </a:prstGeom>
        </p:spPr>
      </p:pic>
      <p:sp>
        <p:nvSpPr>
          <p:cNvPr id="9" name="TextBox 8">
            <a:extLst>
              <a:ext uri="{FF2B5EF4-FFF2-40B4-BE49-F238E27FC236}">
                <a16:creationId xmlns:a16="http://schemas.microsoft.com/office/drawing/2014/main" id="{38E59C0E-FF5D-D73F-5F08-2552364EEC4D}"/>
              </a:ext>
            </a:extLst>
          </p:cNvPr>
          <p:cNvSpPr txBox="1"/>
          <p:nvPr/>
        </p:nvSpPr>
        <p:spPr>
          <a:xfrm>
            <a:off x="5891135" y="85881"/>
            <a:ext cx="3252865" cy="1815882"/>
          </a:xfrm>
          <a:prstGeom prst="rect">
            <a:avLst/>
          </a:prstGeom>
          <a:noFill/>
        </p:spPr>
        <p:txBody>
          <a:bodyPr wrap="square">
            <a:spAutoFit/>
          </a:bodyPr>
          <a:lstStyle/>
          <a:p>
            <a:r>
              <a:rPr lang="en-US" b="0" i="0" dirty="0">
                <a:solidFill>
                  <a:srgbClr val="111111"/>
                </a:solidFill>
                <a:effectLst/>
                <a:highlight>
                  <a:srgbClr val="F5F5F5"/>
                </a:highlight>
                <a:latin typeface="-apple-system"/>
              </a:rPr>
              <a:t>In Kubernetes, a </a:t>
            </a:r>
            <a:r>
              <a:rPr lang="en-US" b="1" i="0" dirty="0">
                <a:solidFill>
                  <a:srgbClr val="111111"/>
                </a:solidFill>
                <a:effectLst/>
                <a:highlight>
                  <a:srgbClr val="F5F5F5"/>
                </a:highlight>
                <a:latin typeface="-apple-system"/>
              </a:rPr>
              <a:t>Service</a:t>
            </a:r>
            <a:r>
              <a:rPr lang="en-US" b="0" i="0" dirty="0">
                <a:solidFill>
                  <a:srgbClr val="111111"/>
                </a:solidFill>
                <a:effectLst/>
                <a:highlight>
                  <a:srgbClr val="F5F5F5"/>
                </a:highlight>
                <a:latin typeface="-apple-system"/>
              </a:rPr>
              <a:t> is an abstraction that defines a logical set of </a:t>
            </a:r>
            <a:r>
              <a:rPr lang="en-US" b="1" i="0" dirty="0">
                <a:solidFill>
                  <a:srgbClr val="111111"/>
                </a:solidFill>
                <a:effectLst/>
                <a:highlight>
                  <a:srgbClr val="F5F5F5"/>
                </a:highlight>
                <a:latin typeface="-apple-system"/>
              </a:rPr>
              <a:t>Pods</a:t>
            </a:r>
            <a:r>
              <a:rPr lang="en-US" b="0" i="0" dirty="0">
                <a:solidFill>
                  <a:srgbClr val="111111"/>
                </a:solidFill>
                <a:effectLst/>
                <a:highlight>
                  <a:srgbClr val="F5F5F5"/>
                </a:highlight>
                <a:latin typeface="-apple-system"/>
              </a:rPr>
              <a:t> and a policy by which to </a:t>
            </a:r>
            <a:r>
              <a:rPr lang="en-US" b="0" i="0" dirty="0">
                <a:solidFill>
                  <a:srgbClr val="111111"/>
                </a:solidFill>
                <a:effectLst/>
                <a:highlight>
                  <a:srgbClr val="F5F5F5"/>
                </a:highlight>
                <a:latin typeface="+mj-lt"/>
              </a:rPr>
              <a:t>access</a:t>
            </a:r>
            <a:r>
              <a:rPr lang="en-US" b="0" i="0" dirty="0">
                <a:solidFill>
                  <a:srgbClr val="111111"/>
                </a:solidFill>
                <a:effectLst/>
                <a:highlight>
                  <a:srgbClr val="F5F5F5"/>
                </a:highlight>
                <a:latin typeface="-apple-system"/>
              </a:rPr>
              <a:t> them. Think of it as a way to group related Pods together. The </a:t>
            </a:r>
            <a:r>
              <a:rPr lang="en-US" b="1" i="0" dirty="0" err="1">
                <a:solidFill>
                  <a:srgbClr val="111111"/>
                </a:solidFill>
                <a:effectLst/>
                <a:highlight>
                  <a:srgbClr val="F5F5F5"/>
                </a:highlight>
                <a:latin typeface="-apple-system"/>
              </a:rPr>
              <a:t>ClusterIP</a:t>
            </a:r>
            <a:r>
              <a:rPr lang="en-US" b="0" i="0" dirty="0">
                <a:solidFill>
                  <a:srgbClr val="111111"/>
                </a:solidFill>
                <a:effectLst/>
                <a:highlight>
                  <a:srgbClr val="F5F5F5"/>
                </a:highlight>
                <a:latin typeface="-apple-system"/>
              </a:rPr>
              <a:t> service type is one of the prominent services that enables communication among multiple Pods within the cluster. </a:t>
            </a:r>
            <a:endParaRPr lang="en-IN" dirty="0"/>
          </a:p>
        </p:txBody>
      </p:sp>
    </p:spTree>
    <p:extLst>
      <p:ext uri="{BB962C8B-B14F-4D97-AF65-F5344CB8AC3E}">
        <p14:creationId xmlns:p14="http://schemas.microsoft.com/office/powerpoint/2010/main" val="27461307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C5FBA9E-BA44-C1C9-C93F-0A99415DA8F0}"/>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22</a:t>
            </a:fld>
            <a:endParaRPr lang="en-GB"/>
          </a:p>
        </p:txBody>
      </p:sp>
      <p:pic>
        <p:nvPicPr>
          <p:cNvPr id="1030" name="Picture 6" descr="NodePort">
            <a:extLst>
              <a:ext uri="{FF2B5EF4-FFF2-40B4-BE49-F238E27FC236}">
                <a16:creationId xmlns:a16="http://schemas.microsoft.com/office/drawing/2014/main" id="{A5B16E92-8804-281E-4742-5C59B6E286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238" y="-236538"/>
            <a:ext cx="7078949" cy="587284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5443B58E-1BCD-3038-0D2E-D95A32A9E425}"/>
              </a:ext>
            </a:extLst>
          </p:cNvPr>
          <p:cNvPicPr>
            <a:picLocks noChangeAspect="1"/>
          </p:cNvPicPr>
          <p:nvPr/>
        </p:nvPicPr>
        <p:blipFill>
          <a:blip r:embed="rId4"/>
          <a:stretch>
            <a:fillRect/>
          </a:stretch>
        </p:blipFill>
        <p:spPr>
          <a:xfrm>
            <a:off x="6303711" y="2627546"/>
            <a:ext cx="2173606" cy="2207926"/>
          </a:xfrm>
          <a:prstGeom prst="rect">
            <a:avLst/>
          </a:prstGeom>
        </p:spPr>
      </p:pic>
      <p:sp>
        <p:nvSpPr>
          <p:cNvPr id="11" name="TextBox 10">
            <a:extLst>
              <a:ext uri="{FF2B5EF4-FFF2-40B4-BE49-F238E27FC236}">
                <a16:creationId xmlns:a16="http://schemas.microsoft.com/office/drawing/2014/main" id="{02C270CB-B0CB-C907-EED6-E8A035AF98EA}"/>
              </a:ext>
            </a:extLst>
          </p:cNvPr>
          <p:cNvSpPr txBox="1"/>
          <p:nvPr/>
        </p:nvSpPr>
        <p:spPr>
          <a:xfrm>
            <a:off x="6033129" y="109537"/>
            <a:ext cx="3110871" cy="2462213"/>
          </a:xfrm>
          <a:prstGeom prst="rect">
            <a:avLst/>
          </a:prstGeom>
          <a:noFill/>
        </p:spPr>
        <p:txBody>
          <a:bodyPr wrap="square">
            <a:spAutoFit/>
          </a:bodyPr>
          <a:lstStyle/>
          <a:p>
            <a:r>
              <a:rPr lang="en-IN" dirty="0"/>
              <a:t>A </a:t>
            </a:r>
            <a:r>
              <a:rPr lang="en-IN" dirty="0" err="1"/>
              <a:t>NodePort</a:t>
            </a:r>
            <a:r>
              <a:rPr lang="en-IN" dirty="0"/>
              <a:t> is an open port on every node of your cluster. Kubernetes transparently routes incoming traffic on the </a:t>
            </a:r>
            <a:r>
              <a:rPr lang="en-IN" dirty="0" err="1"/>
              <a:t>NodePort</a:t>
            </a:r>
            <a:r>
              <a:rPr lang="en-IN" dirty="0"/>
              <a:t>, to your service, even if your application is running on a different node.</a:t>
            </a:r>
          </a:p>
          <a:p>
            <a:endParaRPr lang="en-IN" dirty="0"/>
          </a:p>
          <a:p>
            <a:r>
              <a:rPr lang="en-IN" dirty="0" err="1"/>
              <a:t>NodePort</a:t>
            </a:r>
            <a:r>
              <a:rPr lang="en-IN" dirty="0"/>
              <a:t> is assigned from a pool of cluster-configured </a:t>
            </a:r>
            <a:r>
              <a:rPr lang="en-IN" dirty="0" err="1"/>
              <a:t>NodePort</a:t>
            </a:r>
            <a:r>
              <a:rPr lang="en-IN" dirty="0"/>
              <a:t> ranges which typically lies in the range of 30000–32767.</a:t>
            </a:r>
          </a:p>
        </p:txBody>
      </p:sp>
    </p:spTree>
    <p:extLst>
      <p:ext uri="{BB962C8B-B14F-4D97-AF65-F5344CB8AC3E}">
        <p14:creationId xmlns:p14="http://schemas.microsoft.com/office/powerpoint/2010/main" val="2591334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847AAD2-25A5-6C7A-4B4F-5FB2E55C9048}"/>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23</a:t>
            </a:fld>
            <a:endParaRPr lang="en-GB"/>
          </a:p>
        </p:txBody>
      </p:sp>
      <p:pic>
        <p:nvPicPr>
          <p:cNvPr id="3074" name="Picture 2" descr="LoadBalancer">
            <a:extLst>
              <a:ext uri="{FF2B5EF4-FFF2-40B4-BE49-F238E27FC236}">
                <a16:creationId xmlns:a16="http://schemas.microsoft.com/office/drawing/2014/main" id="{CADA6848-D95B-AC12-1B4A-077CD2FCDA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8170" y="0"/>
            <a:ext cx="6559786"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76929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AD155FE-D638-F0A1-B73D-7654B353262E}"/>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24</a:t>
            </a:fld>
            <a:endParaRPr lang="en-GB"/>
          </a:p>
        </p:txBody>
      </p:sp>
    </p:spTree>
    <p:extLst>
      <p:ext uri="{BB962C8B-B14F-4D97-AF65-F5344CB8AC3E}">
        <p14:creationId xmlns:p14="http://schemas.microsoft.com/office/powerpoint/2010/main" val="18731844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CCB1CD1-68B1-51F1-EFB8-2651555E08DC}"/>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25</a:t>
            </a:fld>
            <a:endParaRPr lang="en-GB"/>
          </a:p>
        </p:txBody>
      </p:sp>
      <p:pic>
        <p:nvPicPr>
          <p:cNvPr id="5" name="Picture 4">
            <a:extLst>
              <a:ext uri="{FF2B5EF4-FFF2-40B4-BE49-F238E27FC236}">
                <a16:creationId xmlns:a16="http://schemas.microsoft.com/office/drawing/2014/main" id="{042D81D8-70BB-12E3-5AF7-7B2C9D079501}"/>
              </a:ext>
            </a:extLst>
          </p:cNvPr>
          <p:cNvPicPr>
            <a:picLocks noChangeAspect="1"/>
          </p:cNvPicPr>
          <p:nvPr/>
        </p:nvPicPr>
        <p:blipFill>
          <a:blip r:embed="rId2"/>
          <a:stretch>
            <a:fillRect/>
          </a:stretch>
        </p:blipFill>
        <p:spPr>
          <a:xfrm>
            <a:off x="0" y="61656"/>
            <a:ext cx="9144000" cy="4150759"/>
          </a:xfrm>
          <a:prstGeom prst="rect">
            <a:avLst/>
          </a:prstGeom>
        </p:spPr>
      </p:pic>
    </p:spTree>
    <p:extLst>
      <p:ext uri="{BB962C8B-B14F-4D97-AF65-F5344CB8AC3E}">
        <p14:creationId xmlns:p14="http://schemas.microsoft.com/office/powerpoint/2010/main" val="42523162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E6CD5-5DE4-5E8B-3122-25E0ACF57C51}"/>
              </a:ext>
            </a:extLst>
          </p:cNvPr>
          <p:cNvSpPr>
            <a:spLocks noGrp="1"/>
          </p:cNvSpPr>
          <p:nvPr>
            <p:ph type="title" idx="4294967295"/>
          </p:nvPr>
        </p:nvSpPr>
        <p:spPr>
          <a:xfrm>
            <a:off x="0" y="274638"/>
            <a:ext cx="7886700" cy="993775"/>
          </a:xfrm>
        </p:spPr>
        <p:txBody>
          <a:bodyPr/>
          <a:lstStyle/>
          <a:p>
            <a:r>
              <a:rPr lang="en-IN" dirty="0"/>
              <a:t>Communication</a:t>
            </a:r>
          </a:p>
        </p:txBody>
      </p:sp>
      <p:sp>
        <p:nvSpPr>
          <p:cNvPr id="3" name="Slide Number Placeholder 2">
            <a:extLst>
              <a:ext uri="{FF2B5EF4-FFF2-40B4-BE49-F238E27FC236}">
                <a16:creationId xmlns:a16="http://schemas.microsoft.com/office/drawing/2014/main" id="{E43B7EC8-449E-34F4-AF43-52821BB7556E}"/>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26</a:t>
            </a:fld>
            <a:endParaRPr lang="en-GB"/>
          </a:p>
        </p:txBody>
      </p:sp>
      <p:sp>
        <p:nvSpPr>
          <p:cNvPr id="5" name="TextBox 4">
            <a:extLst>
              <a:ext uri="{FF2B5EF4-FFF2-40B4-BE49-F238E27FC236}">
                <a16:creationId xmlns:a16="http://schemas.microsoft.com/office/drawing/2014/main" id="{47F15AF9-FF1B-763A-A233-74B444E354CF}"/>
              </a:ext>
            </a:extLst>
          </p:cNvPr>
          <p:cNvSpPr txBox="1"/>
          <p:nvPr/>
        </p:nvSpPr>
        <p:spPr>
          <a:xfrm>
            <a:off x="375077" y="1268413"/>
            <a:ext cx="7514304" cy="2246769"/>
          </a:xfrm>
          <a:prstGeom prst="rect">
            <a:avLst/>
          </a:prstGeom>
          <a:noFill/>
        </p:spPr>
        <p:txBody>
          <a:bodyPr wrap="square">
            <a:spAutoFit/>
          </a:bodyPr>
          <a:lstStyle/>
          <a:p>
            <a:pPr marL="285750" indent="-285750">
              <a:buFont typeface="Arial" panose="020B0604020202020204" pitchFamily="34" charset="0"/>
              <a:buChar char="•"/>
            </a:pPr>
            <a:r>
              <a:rPr lang="en-IN" dirty="0"/>
              <a:t>Container-to-Container</a:t>
            </a:r>
          </a:p>
          <a:p>
            <a:r>
              <a:rPr lang="en-IN" dirty="0"/>
              <a:t>      - </a:t>
            </a:r>
            <a:r>
              <a:rPr lang="en-US" dirty="0"/>
              <a:t>Containers within a pod exist within the same network namespace and share an IP.</a:t>
            </a:r>
          </a:p>
          <a:p>
            <a:r>
              <a:rPr lang="en-US" dirty="0"/>
              <a:t>      - Enables intra-pod communication over localhost.</a:t>
            </a:r>
            <a:endParaRPr lang="en-IN" dirty="0"/>
          </a:p>
          <a:p>
            <a:pPr marL="285750" indent="-285750">
              <a:buFont typeface="Arial" panose="020B0604020202020204" pitchFamily="34" charset="0"/>
              <a:buChar char="•"/>
            </a:pPr>
            <a:r>
              <a:rPr lang="en-IN" dirty="0"/>
              <a:t>Pod-to-Pod</a:t>
            </a:r>
          </a:p>
          <a:p>
            <a:r>
              <a:rPr lang="en-IN" dirty="0"/>
              <a:t>      - </a:t>
            </a:r>
            <a:r>
              <a:rPr lang="en-US" dirty="0"/>
              <a:t>Allocated cluster unique IP for the duration of its life cycle.</a:t>
            </a:r>
            <a:endParaRPr lang="en-IN" dirty="0"/>
          </a:p>
          <a:p>
            <a:pPr marL="285750" indent="-285750">
              <a:buFont typeface="Arial" panose="020B0604020202020204" pitchFamily="34" charset="0"/>
              <a:buChar char="•"/>
            </a:pPr>
            <a:r>
              <a:rPr lang="en-IN" dirty="0"/>
              <a:t>Pod-to-Service</a:t>
            </a:r>
          </a:p>
          <a:p>
            <a:r>
              <a:rPr lang="en-IN" dirty="0"/>
              <a:t>      - </a:t>
            </a:r>
            <a:r>
              <a:rPr lang="en-US" dirty="0"/>
              <a:t>managed by </a:t>
            </a:r>
            <a:r>
              <a:rPr lang="en-US" dirty="0" err="1"/>
              <a:t>kube</a:t>
            </a:r>
            <a:r>
              <a:rPr lang="en-US" dirty="0"/>
              <a:t>-proxy and given a persistent cluster unique IP</a:t>
            </a:r>
            <a:endParaRPr lang="en-IN" dirty="0"/>
          </a:p>
          <a:p>
            <a:pPr marL="285750" indent="-285750">
              <a:buFont typeface="Arial" panose="020B0604020202020204" pitchFamily="34" charset="0"/>
              <a:buChar char="•"/>
            </a:pPr>
            <a:r>
              <a:rPr lang="en-IN" dirty="0"/>
              <a:t>External-to-Service</a:t>
            </a:r>
          </a:p>
          <a:p>
            <a:r>
              <a:rPr lang="en-IN" dirty="0"/>
              <a:t>      - Handled by </a:t>
            </a:r>
            <a:r>
              <a:rPr lang="en-IN" dirty="0" err="1"/>
              <a:t>kube</a:t>
            </a:r>
            <a:r>
              <a:rPr lang="en-IN" dirty="0"/>
              <a:t>-proxy.</a:t>
            </a:r>
          </a:p>
          <a:p>
            <a:r>
              <a:rPr lang="en-IN" dirty="0"/>
              <a:t>      - </a:t>
            </a:r>
            <a:r>
              <a:rPr lang="en-US" dirty="0"/>
              <a:t>Works in cooperation with a cloud provider or other external entity (load balancer).</a:t>
            </a:r>
            <a:endParaRPr lang="en-IN" dirty="0"/>
          </a:p>
        </p:txBody>
      </p:sp>
    </p:spTree>
    <p:extLst>
      <p:ext uri="{BB962C8B-B14F-4D97-AF65-F5344CB8AC3E}">
        <p14:creationId xmlns:p14="http://schemas.microsoft.com/office/powerpoint/2010/main" val="34059894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20A4C-A955-C15A-DDDC-1FCFC490B73D}"/>
              </a:ext>
            </a:extLst>
          </p:cNvPr>
          <p:cNvSpPr>
            <a:spLocks noGrp="1"/>
          </p:cNvSpPr>
          <p:nvPr>
            <p:ph type="title" idx="4294967295"/>
          </p:nvPr>
        </p:nvSpPr>
        <p:spPr>
          <a:xfrm>
            <a:off x="0" y="274638"/>
            <a:ext cx="7886700" cy="993775"/>
          </a:xfrm>
        </p:spPr>
        <p:txBody>
          <a:bodyPr/>
          <a:lstStyle/>
          <a:p>
            <a:r>
              <a:rPr lang="en-IN" dirty="0"/>
              <a:t>Ingress</a:t>
            </a:r>
          </a:p>
        </p:txBody>
      </p:sp>
      <p:sp>
        <p:nvSpPr>
          <p:cNvPr id="3" name="Slide Number Placeholder 2">
            <a:extLst>
              <a:ext uri="{FF2B5EF4-FFF2-40B4-BE49-F238E27FC236}">
                <a16:creationId xmlns:a16="http://schemas.microsoft.com/office/drawing/2014/main" id="{EF9B29E1-CCA6-E181-A2B9-1B4F0C64CA43}"/>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27</a:t>
            </a:fld>
            <a:endParaRPr lang="en-GB"/>
          </a:p>
        </p:txBody>
      </p:sp>
    </p:spTree>
    <p:extLst>
      <p:ext uri="{BB962C8B-B14F-4D97-AF65-F5344CB8AC3E}">
        <p14:creationId xmlns:p14="http://schemas.microsoft.com/office/powerpoint/2010/main" val="27780663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Placeholder 8" descr="A close-up of a colorful swirl&#10;&#10;Description automatically generated">
            <a:extLst>
              <a:ext uri="{FF2B5EF4-FFF2-40B4-BE49-F238E27FC236}">
                <a16:creationId xmlns:a16="http://schemas.microsoft.com/office/drawing/2014/main" id="{92BB618F-20D8-D500-F22F-6DC91B9B3D2F}"/>
              </a:ext>
            </a:extLst>
          </p:cNvPr>
          <p:cNvPicPr>
            <a:picLocks noGrp="1" noChangeAspect="1"/>
          </p:cNvPicPr>
          <p:nvPr>
            <p:ph type="pic" sz="quarter" idx="4294967295"/>
          </p:nvPr>
        </p:nvPicPr>
        <p:blipFill rotWithShape="1">
          <a:blip r:embed="rId2">
            <a:alphaModFix amt="40000"/>
          </a:blip>
          <a:srcRect b="1747"/>
          <a:stretch/>
        </p:blipFill>
        <p:spPr>
          <a:xfrm>
            <a:off x="0" y="0"/>
            <a:ext cx="9144000" cy="5143500"/>
          </a:xfrm>
          <a:prstGeom prst="rect">
            <a:avLst/>
          </a:prstGeom>
        </p:spPr>
      </p:pic>
      <p:sp>
        <p:nvSpPr>
          <p:cNvPr id="2" name="Title 1">
            <a:extLst>
              <a:ext uri="{FF2B5EF4-FFF2-40B4-BE49-F238E27FC236}">
                <a16:creationId xmlns:a16="http://schemas.microsoft.com/office/drawing/2014/main" id="{A162A728-15BF-FB7A-792A-E7371AA6CF26}"/>
              </a:ext>
            </a:extLst>
          </p:cNvPr>
          <p:cNvSpPr>
            <a:spLocks noGrp="1"/>
          </p:cNvSpPr>
          <p:nvPr>
            <p:ph type="ctrTitle" idx="4294967295"/>
          </p:nvPr>
        </p:nvSpPr>
        <p:spPr>
          <a:xfrm>
            <a:off x="0" y="723900"/>
            <a:ext cx="7696200" cy="2673350"/>
          </a:xfrm>
        </p:spPr>
        <p:txBody>
          <a:bodyPr vert="horz" lIns="91440" tIns="45720" rIns="91440" bIns="45720" rtlCol="0" anchor="b">
            <a:normAutofit/>
          </a:bodyPr>
          <a:lstStyle/>
          <a:p>
            <a:r>
              <a:rPr lang="en-US" sz="8600">
                <a:ln w="22225">
                  <a:solidFill>
                    <a:schemeClr val="tx1"/>
                  </a:solidFill>
                  <a:miter lim="800000"/>
                </a:ln>
                <a:noFill/>
                <a:latin typeface="+mj-lt"/>
              </a:rPr>
              <a:t>WORKLOADS</a:t>
            </a:r>
          </a:p>
        </p:txBody>
      </p:sp>
    </p:spTree>
    <p:extLst>
      <p:ext uri="{BB962C8B-B14F-4D97-AF65-F5344CB8AC3E}">
        <p14:creationId xmlns:p14="http://schemas.microsoft.com/office/powerpoint/2010/main" val="117598104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20A4C-A955-C15A-DDDC-1FCFC490B73D}"/>
              </a:ext>
            </a:extLst>
          </p:cNvPr>
          <p:cNvSpPr>
            <a:spLocks noGrp="1"/>
          </p:cNvSpPr>
          <p:nvPr>
            <p:ph type="title" idx="4294967295"/>
          </p:nvPr>
        </p:nvSpPr>
        <p:spPr>
          <a:xfrm>
            <a:off x="0" y="274638"/>
            <a:ext cx="7886700" cy="993775"/>
          </a:xfrm>
        </p:spPr>
        <p:txBody>
          <a:bodyPr/>
          <a:lstStyle/>
          <a:p>
            <a:r>
              <a:rPr lang="en-IN" dirty="0"/>
              <a:t>Workloads</a:t>
            </a:r>
          </a:p>
        </p:txBody>
      </p:sp>
      <p:sp>
        <p:nvSpPr>
          <p:cNvPr id="3" name="Slide Number Placeholder 2">
            <a:extLst>
              <a:ext uri="{FF2B5EF4-FFF2-40B4-BE49-F238E27FC236}">
                <a16:creationId xmlns:a16="http://schemas.microsoft.com/office/drawing/2014/main" id="{EF9B29E1-CCA6-E181-A2B9-1B4F0C64CA43}"/>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29</a:t>
            </a:fld>
            <a:endParaRPr lang="en-GB"/>
          </a:p>
        </p:txBody>
      </p:sp>
      <p:sp>
        <p:nvSpPr>
          <p:cNvPr id="5" name="TextBox 4">
            <a:extLst>
              <a:ext uri="{FF2B5EF4-FFF2-40B4-BE49-F238E27FC236}">
                <a16:creationId xmlns:a16="http://schemas.microsoft.com/office/drawing/2014/main" id="{D8982473-53F2-57E5-EDE7-63DDFF5C3F3B}"/>
              </a:ext>
            </a:extLst>
          </p:cNvPr>
          <p:cNvSpPr txBox="1"/>
          <p:nvPr/>
        </p:nvSpPr>
        <p:spPr>
          <a:xfrm>
            <a:off x="604684" y="1565373"/>
            <a:ext cx="5884606" cy="1600438"/>
          </a:xfrm>
          <a:prstGeom prst="rect">
            <a:avLst/>
          </a:prstGeom>
          <a:noFill/>
        </p:spPr>
        <p:txBody>
          <a:bodyPr wrap="square">
            <a:spAutoFit/>
          </a:bodyPr>
          <a:lstStyle/>
          <a:p>
            <a:pPr marL="285750" indent="-285750">
              <a:buFont typeface="Arial" panose="020B0604020202020204" pitchFamily="34" charset="0"/>
              <a:buChar char="•"/>
            </a:pPr>
            <a:r>
              <a:rPr lang="en-IN" dirty="0" err="1"/>
              <a:t>ReplicaSet</a:t>
            </a:r>
            <a:endParaRPr lang="en-IN" dirty="0"/>
          </a:p>
          <a:p>
            <a:r>
              <a:rPr lang="en-IN" dirty="0"/>
              <a:t>      - </a:t>
            </a:r>
            <a:r>
              <a:rPr lang="en-US" dirty="0"/>
              <a:t>Always ensure the desired number of pods are running.</a:t>
            </a:r>
            <a:endParaRPr lang="en-IN" dirty="0"/>
          </a:p>
          <a:p>
            <a:pPr marL="285750" indent="-285750">
              <a:buFont typeface="Arial" panose="020B0604020202020204" pitchFamily="34" charset="0"/>
              <a:buChar char="•"/>
            </a:pPr>
            <a:r>
              <a:rPr lang="en-IN" dirty="0"/>
              <a:t>Deployment</a:t>
            </a:r>
          </a:p>
          <a:p>
            <a:pPr marL="285750" indent="-285750">
              <a:buFont typeface="Arial" panose="020B0604020202020204" pitchFamily="34" charset="0"/>
              <a:buChar char="•"/>
            </a:pPr>
            <a:r>
              <a:rPr lang="en-IN" dirty="0" err="1"/>
              <a:t>DaemonSet</a:t>
            </a:r>
            <a:endParaRPr lang="en-IN" dirty="0"/>
          </a:p>
          <a:p>
            <a:pPr marL="285750" indent="-285750">
              <a:buFont typeface="Arial" panose="020B0604020202020204" pitchFamily="34" charset="0"/>
              <a:buChar char="•"/>
            </a:pPr>
            <a:r>
              <a:rPr lang="en-IN" dirty="0" err="1"/>
              <a:t>StatefulSet</a:t>
            </a:r>
            <a:endParaRPr lang="en-IN" dirty="0"/>
          </a:p>
          <a:p>
            <a:pPr marL="285750" indent="-285750">
              <a:buFont typeface="Arial" panose="020B0604020202020204" pitchFamily="34" charset="0"/>
              <a:buChar char="•"/>
            </a:pPr>
            <a:r>
              <a:rPr lang="en-IN" dirty="0"/>
              <a:t>Job</a:t>
            </a:r>
          </a:p>
          <a:p>
            <a:pPr marL="285750" indent="-285750">
              <a:buFont typeface="Arial" panose="020B0604020202020204" pitchFamily="34" charset="0"/>
              <a:buChar char="•"/>
            </a:pPr>
            <a:r>
              <a:rPr lang="en-IN" dirty="0" err="1"/>
              <a:t>CronJob</a:t>
            </a:r>
            <a:endParaRPr lang="en-IN" dirty="0"/>
          </a:p>
        </p:txBody>
      </p:sp>
    </p:spTree>
    <p:extLst>
      <p:ext uri="{BB962C8B-B14F-4D97-AF65-F5344CB8AC3E}">
        <p14:creationId xmlns:p14="http://schemas.microsoft.com/office/powerpoint/2010/main" val="13679106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20A4C-A955-C15A-DDDC-1FCFC490B73D}"/>
              </a:ext>
            </a:extLst>
          </p:cNvPr>
          <p:cNvSpPr>
            <a:spLocks noGrp="1"/>
          </p:cNvSpPr>
          <p:nvPr>
            <p:ph type="title" idx="4294967295"/>
          </p:nvPr>
        </p:nvSpPr>
        <p:spPr>
          <a:xfrm>
            <a:off x="0" y="-122238"/>
            <a:ext cx="7886700" cy="993776"/>
          </a:xfrm>
        </p:spPr>
        <p:txBody>
          <a:bodyPr/>
          <a:lstStyle/>
          <a:p>
            <a:r>
              <a:rPr lang="en-IN" dirty="0"/>
              <a:t>Deployment</a:t>
            </a:r>
          </a:p>
        </p:txBody>
      </p:sp>
      <p:sp>
        <p:nvSpPr>
          <p:cNvPr id="3" name="Slide Number Placeholder 2">
            <a:extLst>
              <a:ext uri="{FF2B5EF4-FFF2-40B4-BE49-F238E27FC236}">
                <a16:creationId xmlns:a16="http://schemas.microsoft.com/office/drawing/2014/main" id="{EF9B29E1-CCA6-E181-A2B9-1B4F0C64CA43}"/>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30</a:t>
            </a:fld>
            <a:endParaRPr lang="en-GB"/>
          </a:p>
        </p:txBody>
      </p:sp>
      <p:sp>
        <p:nvSpPr>
          <p:cNvPr id="5" name="TextBox 4">
            <a:extLst>
              <a:ext uri="{FF2B5EF4-FFF2-40B4-BE49-F238E27FC236}">
                <a16:creationId xmlns:a16="http://schemas.microsoft.com/office/drawing/2014/main" id="{D8982473-53F2-57E5-EDE7-63DDFF5C3F3B}"/>
              </a:ext>
            </a:extLst>
          </p:cNvPr>
          <p:cNvSpPr txBox="1"/>
          <p:nvPr/>
        </p:nvSpPr>
        <p:spPr>
          <a:xfrm>
            <a:off x="509447" y="549928"/>
            <a:ext cx="7107004" cy="4154984"/>
          </a:xfrm>
          <a:prstGeom prst="rect">
            <a:avLst/>
          </a:prstGeom>
          <a:noFill/>
        </p:spPr>
        <p:txBody>
          <a:bodyPr wrap="square">
            <a:spAutoFit/>
          </a:bodyPr>
          <a:lstStyle/>
          <a:p>
            <a:pPr marL="285750" indent="-285750">
              <a:buFont typeface="Arial" panose="020B0604020202020204" pitchFamily="34" charset="0"/>
              <a:buChar char="•"/>
            </a:pPr>
            <a:r>
              <a:rPr lang="en-US" sz="1200" b="1" dirty="0" err="1"/>
              <a:t>revisionHistoryLimit</a:t>
            </a:r>
            <a:r>
              <a:rPr lang="en-US" sz="1200" dirty="0"/>
              <a:t>: The number of previous iterations of the Deployment to retain.</a:t>
            </a:r>
          </a:p>
          <a:p>
            <a:pPr marL="285750" indent="-285750">
              <a:buFont typeface="Arial" panose="020B0604020202020204" pitchFamily="34" charset="0"/>
              <a:buChar char="•"/>
            </a:pPr>
            <a:r>
              <a:rPr lang="en-US" sz="1200" b="1" dirty="0"/>
              <a:t>strategy</a:t>
            </a:r>
            <a:r>
              <a:rPr lang="en-US" sz="1200" dirty="0"/>
              <a:t>: Describes the method of updating the Pods based on the type. Valid options are Recreate or </a:t>
            </a:r>
            <a:r>
              <a:rPr lang="en-US" sz="1200" dirty="0" err="1"/>
              <a:t>RollingUpdate</a:t>
            </a:r>
            <a:r>
              <a:rPr lang="en-US" sz="1200" dirty="0"/>
              <a:t>.</a:t>
            </a:r>
          </a:p>
          <a:p>
            <a:r>
              <a:rPr lang="en-US" sz="1200" dirty="0"/>
              <a:t>	</a:t>
            </a:r>
            <a:r>
              <a:rPr lang="en-US" sz="1200" b="1" dirty="0"/>
              <a:t>Recreate</a:t>
            </a:r>
            <a:r>
              <a:rPr lang="en-US" sz="1200" dirty="0"/>
              <a:t>: All existing Pods are killed before the new ones are created.</a:t>
            </a:r>
          </a:p>
          <a:p>
            <a:r>
              <a:rPr lang="en-US" sz="1200" dirty="0"/>
              <a:t>	</a:t>
            </a:r>
            <a:r>
              <a:rPr lang="en-US" sz="1200" b="1" dirty="0" err="1"/>
              <a:t>RollingUpdate</a:t>
            </a:r>
            <a:r>
              <a:rPr lang="en-US" sz="1200" dirty="0"/>
              <a:t>: Cycles through updating the</a:t>
            </a:r>
          </a:p>
          <a:p>
            <a:pPr marL="285750" indent="-285750">
              <a:buFont typeface="Arial" panose="020B0604020202020204" pitchFamily="34" charset="0"/>
              <a:buChar char="•"/>
            </a:pPr>
            <a:r>
              <a:rPr lang="en-US" sz="1200" dirty="0"/>
              <a:t>Pods according to the parameters:</a:t>
            </a:r>
          </a:p>
          <a:p>
            <a:pPr marL="285750" indent="-285750">
              <a:buFont typeface="Arial" panose="020B0604020202020204" pitchFamily="34" charset="0"/>
              <a:buChar char="•"/>
            </a:pPr>
            <a:r>
              <a:rPr lang="en-US" sz="1200" dirty="0" err="1"/>
              <a:t>maxSurge</a:t>
            </a:r>
            <a:r>
              <a:rPr lang="en-US" sz="1200" dirty="0"/>
              <a:t> and </a:t>
            </a:r>
            <a:r>
              <a:rPr lang="en-US" sz="1200" dirty="0" err="1"/>
              <a:t>maxUnavailable</a:t>
            </a:r>
            <a:r>
              <a:rPr lang="en-US" sz="1200" dirty="0"/>
              <a:t>.</a:t>
            </a:r>
          </a:p>
          <a:p>
            <a:endParaRPr lang="en-US" sz="1200" dirty="0"/>
          </a:p>
          <a:p>
            <a:r>
              <a:rPr lang="en-US" sz="1200" b="1" dirty="0"/>
              <a:t>Blue Green Deployment Strategy</a:t>
            </a:r>
          </a:p>
          <a:p>
            <a:pPr marL="285750" indent="-285750">
              <a:buFont typeface="Arial" panose="020B0604020202020204" pitchFamily="34" charset="0"/>
              <a:buChar char="•"/>
            </a:pPr>
            <a:r>
              <a:rPr lang="en-US" sz="1200" i="1" dirty="0"/>
              <a:t>STEP</a:t>
            </a:r>
            <a:r>
              <a:rPr lang="en-US" sz="1200" dirty="0"/>
              <a:t> </a:t>
            </a:r>
            <a:r>
              <a:rPr lang="en-US" sz="1200" i="1" dirty="0"/>
              <a:t>1</a:t>
            </a:r>
            <a:r>
              <a:rPr lang="en-US" sz="1200" dirty="0"/>
              <a:t>: SETTING UP A LOAD BALANCER</a:t>
            </a:r>
          </a:p>
          <a:p>
            <a:pPr marL="285750" indent="-285750">
              <a:buFont typeface="Arial" panose="020B0604020202020204" pitchFamily="34" charset="0"/>
              <a:buChar char="•"/>
            </a:pPr>
            <a:r>
              <a:rPr lang="en-US" sz="1200" dirty="0"/>
              <a:t>To route the traffic instantaneously to the green instance.</a:t>
            </a:r>
          </a:p>
          <a:p>
            <a:pPr marL="285750" indent="-285750">
              <a:buFont typeface="Arial" panose="020B0604020202020204" pitchFamily="34" charset="0"/>
              <a:buChar char="•"/>
            </a:pPr>
            <a:r>
              <a:rPr lang="en-US" sz="1200" i="1" dirty="0"/>
              <a:t>STEP</a:t>
            </a:r>
            <a:r>
              <a:rPr lang="en-US" sz="1200" dirty="0"/>
              <a:t> </a:t>
            </a:r>
            <a:r>
              <a:rPr lang="en-US" sz="1200" i="1" dirty="0"/>
              <a:t>2</a:t>
            </a:r>
            <a:r>
              <a:rPr lang="en-US" sz="1200" dirty="0"/>
              <a:t>: EXECUTING THE UPDATE</a:t>
            </a:r>
          </a:p>
          <a:p>
            <a:pPr marL="285750" indent="-285750">
              <a:buFont typeface="Arial" panose="020B0604020202020204" pitchFamily="34" charset="0"/>
              <a:buChar char="•"/>
            </a:pPr>
            <a:r>
              <a:rPr lang="en-US" sz="1200" dirty="0"/>
              <a:t>The green instance is deployed in the production environment.</a:t>
            </a:r>
          </a:p>
          <a:p>
            <a:pPr marL="285750" indent="-285750">
              <a:buFont typeface="Arial" panose="020B0604020202020204" pitchFamily="34" charset="0"/>
              <a:buChar char="•"/>
            </a:pPr>
            <a:r>
              <a:rPr lang="en-US" sz="1200" i="1" dirty="0"/>
              <a:t>STEP</a:t>
            </a:r>
            <a:r>
              <a:rPr lang="en-US" sz="1200" dirty="0"/>
              <a:t> </a:t>
            </a:r>
            <a:r>
              <a:rPr lang="en-US" sz="1200" i="1" dirty="0"/>
              <a:t>3</a:t>
            </a:r>
            <a:r>
              <a:rPr lang="en-US" sz="1200" dirty="0"/>
              <a:t>: TO MONITOR THE ENVIRONMENT</a:t>
            </a:r>
          </a:p>
          <a:p>
            <a:pPr marL="285750" indent="-285750">
              <a:buFont typeface="Arial" panose="020B0604020202020204" pitchFamily="34" charset="0"/>
              <a:buChar char="•"/>
            </a:pPr>
            <a:r>
              <a:rPr lang="en-US" sz="1200" dirty="0"/>
              <a:t>The developers conduct smoke tests on the new update.</a:t>
            </a:r>
          </a:p>
          <a:p>
            <a:pPr marL="285750" indent="-285750">
              <a:buFont typeface="Arial" panose="020B0604020202020204" pitchFamily="34" charset="0"/>
              <a:buChar char="•"/>
            </a:pPr>
            <a:r>
              <a:rPr lang="en-US" sz="1200" i="1" dirty="0"/>
              <a:t>STEP</a:t>
            </a:r>
            <a:r>
              <a:rPr lang="en-US" sz="1200" dirty="0"/>
              <a:t> </a:t>
            </a:r>
            <a:r>
              <a:rPr lang="en-US" sz="1200" i="1" dirty="0"/>
              <a:t>4</a:t>
            </a:r>
            <a:r>
              <a:rPr lang="en-US" sz="1200" dirty="0"/>
              <a:t>: DEPLOYMENT OR ROLLBACK</a:t>
            </a:r>
          </a:p>
          <a:p>
            <a:pPr marL="285750" indent="-285750">
              <a:buFont typeface="Arial" panose="020B0604020202020204" pitchFamily="34" charset="0"/>
              <a:buChar char="•"/>
            </a:pPr>
            <a:r>
              <a:rPr lang="en-US" sz="1200" dirty="0"/>
              <a:t>If any problem is noticed, it is immediately rolled back and traffic is redirected.</a:t>
            </a:r>
          </a:p>
          <a:p>
            <a:pPr marL="285750" indent="-285750">
              <a:buFont typeface="Arial" panose="020B0604020202020204" pitchFamily="34" charset="0"/>
              <a:buChar char="•"/>
            </a:pPr>
            <a:endParaRPr lang="en-US" sz="1200" dirty="0"/>
          </a:p>
          <a:p>
            <a:r>
              <a:rPr lang="en-US" sz="1200" b="1" dirty="0"/>
              <a:t>Canary Deployments</a:t>
            </a:r>
          </a:p>
          <a:p>
            <a:r>
              <a:rPr lang="en-US" sz="1200" dirty="0"/>
              <a:t>The idea here is to first deploy the change to a small subset of users, test it, </a:t>
            </a:r>
          </a:p>
          <a:p>
            <a:r>
              <a:rPr lang="en-US" sz="1200" dirty="0"/>
              <a:t>and then roll the new changes out to the rest of the users on successfully passing </a:t>
            </a:r>
          </a:p>
          <a:p>
            <a:r>
              <a:rPr lang="en-US" sz="1200" dirty="0"/>
              <a:t>the defined tests.</a:t>
            </a:r>
            <a:endParaRPr lang="en-IN" sz="1200" dirty="0"/>
          </a:p>
        </p:txBody>
      </p:sp>
      <p:pic>
        <p:nvPicPr>
          <p:cNvPr id="6" name="Picture 5">
            <a:extLst>
              <a:ext uri="{FF2B5EF4-FFF2-40B4-BE49-F238E27FC236}">
                <a16:creationId xmlns:a16="http://schemas.microsoft.com/office/drawing/2014/main" id="{B4A8A1B0-A173-3DB7-24DF-236777A854BF}"/>
              </a:ext>
            </a:extLst>
          </p:cNvPr>
          <p:cNvPicPr>
            <a:picLocks noChangeAspect="1"/>
          </p:cNvPicPr>
          <p:nvPr/>
        </p:nvPicPr>
        <p:blipFill>
          <a:blip r:embed="rId2"/>
          <a:stretch>
            <a:fillRect/>
          </a:stretch>
        </p:blipFill>
        <p:spPr>
          <a:xfrm>
            <a:off x="6657506" y="1261813"/>
            <a:ext cx="2486494" cy="3361739"/>
          </a:xfrm>
          <a:prstGeom prst="rect">
            <a:avLst/>
          </a:prstGeom>
        </p:spPr>
      </p:pic>
    </p:spTree>
    <p:extLst>
      <p:ext uri="{BB962C8B-B14F-4D97-AF65-F5344CB8AC3E}">
        <p14:creationId xmlns:p14="http://schemas.microsoft.com/office/powerpoint/2010/main" val="41754135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20A4C-A955-C15A-DDDC-1FCFC490B73D}"/>
              </a:ext>
            </a:extLst>
          </p:cNvPr>
          <p:cNvSpPr>
            <a:spLocks noGrp="1"/>
          </p:cNvSpPr>
          <p:nvPr>
            <p:ph type="title" idx="4294967295"/>
          </p:nvPr>
        </p:nvSpPr>
        <p:spPr>
          <a:xfrm>
            <a:off x="0" y="274638"/>
            <a:ext cx="7886700" cy="993775"/>
          </a:xfrm>
        </p:spPr>
        <p:txBody>
          <a:bodyPr/>
          <a:lstStyle/>
          <a:p>
            <a:r>
              <a:rPr lang="en-US" dirty="0"/>
              <a:t>Rolling Update Deployment</a:t>
            </a:r>
            <a:endParaRPr lang="en-IN" dirty="0"/>
          </a:p>
        </p:txBody>
      </p:sp>
      <p:sp>
        <p:nvSpPr>
          <p:cNvPr id="3" name="Slide Number Placeholder 2">
            <a:extLst>
              <a:ext uri="{FF2B5EF4-FFF2-40B4-BE49-F238E27FC236}">
                <a16:creationId xmlns:a16="http://schemas.microsoft.com/office/drawing/2014/main" id="{EF9B29E1-CCA6-E181-A2B9-1B4F0C64CA43}"/>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31</a:t>
            </a:fld>
            <a:endParaRPr lang="en-GB"/>
          </a:p>
        </p:txBody>
      </p:sp>
      <p:pic>
        <p:nvPicPr>
          <p:cNvPr id="6" name="Picture 5">
            <a:extLst>
              <a:ext uri="{FF2B5EF4-FFF2-40B4-BE49-F238E27FC236}">
                <a16:creationId xmlns:a16="http://schemas.microsoft.com/office/drawing/2014/main" id="{487F9C6D-CFB8-7C88-6984-A1060F1A683E}"/>
              </a:ext>
            </a:extLst>
          </p:cNvPr>
          <p:cNvPicPr>
            <a:picLocks noChangeAspect="1"/>
          </p:cNvPicPr>
          <p:nvPr/>
        </p:nvPicPr>
        <p:blipFill>
          <a:blip r:embed="rId2"/>
          <a:stretch>
            <a:fillRect/>
          </a:stretch>
        </p:blipFill>
        <p:spPr>
          <a:xfrm>
            <a:off x="566969" y="1268413"/>
            <a:ext cx="3805928" cy="2913314"/>
          </a:xfrm>
          <a:prstGeom prst="rect">
            <a:avLst/>
          </a:prstGeom>
        </p:spPr>
      </p:pic>
      <p:pic>
        <p:nvPicPr>
          <p:cNvPr id="8" name="Picture 7">
            <a:extLst>
              <a:ext uri="{FF2B5EF4-FFF2-40B4-BE49-F238E27FC236}">
                <a16:creationId xmlns:a16="http://schemas.microsoft.com/office/drawing/2014/main" id="{226410D2-C8CE-4F29-39CC-723DBA87B88B}"/>
              </a:ext>
            </a:extLst>
          </p:cNvPr>
          <p:cNvPicPr>
            <a:picLocks noChangeAspect="1"/>
          </p:cNvPicPr>
          <p:nvPr/>
        </p:nvPicPr>
        <p:blipFill>
          <a:blip r:embed="rId3"/>
          <a:stretch>
            <a:fillRect/>
          </a:stretch>
        </p:blipFill>
        <p:spPr>
          <a:xfrm>
            <a:off x="4653864" y="1762808"/>
            <a:ext cx="4377828" cy="1924523"/>
          </a:xfrm>
          <a:prstGeom prst="rect">
            <a:avLst/>
          </a:prstGeom>
        </p:spPr>
      </p:pic>
    </p:spTree>
    <p:extLst>
      <p:ext uri="{BB962C8B-B14F-4D97-AF65-F5344CB8AC3E}">
        <p14:creationId xmlns:p14="http://schemas.microsoft.com/office/powerpoint/2010/main" val="27180073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EEDA7C4-6142-EBF9-AC1A-BA1DAC78C52B}"/>
              </a:ext>
            </a:extLst>
          </p:cNvPr>
          <p:cNvSpPr>
            <a:spLocks noGrp="1"/>
          </p:cNvSpPr>
          <p:nvPr>
            <p:ph type="sldNum" idx="4294967295"/>
          </p:nvPr>
        </p:nvSpPr>
        <p:spPr>
          <a:xfrm>
            <a:off x="7086600" y="4767263"/>
            <a:ext cx="2057400" cy="273050"/>
          </a:xfrm>
        </p:spPr>
        <p:txBody>
          <a:bodyPr vert="horz" lIns="91440" tIns="45720" rIns="91440" bIns="45720" rtlCol="0" anchor="ctr">
            <a:normAutofit/>
          </a:bodyPr>
          <a:lstStyle/>
          <a:p>
            <a:pPr>
              <a:lnSpc>
                <a:spcPct val="90000"/>
              </a:lnSpc>
              <a:spcAft>
                <a:spcPts val="600"/>
              </a:spcAft>
            </a:pPr>
            <a:fld id="{00000000-1234-1234-1234-123412341234}" type="slidenum">
              <a:rPr lang="en-US" sz="1200" kern="1200">
                <a:solidFill>
                  <a:schemeClr val="tx1">
                    <a:tint val="75000"/>
                  </a:schemeClr>
                </a:solidFill>
                <a:latin typeface="+mn-lt"/>
                <a:ea typeface="+mn-ea"/>
                <a:cs typeface="+mn-cs"/>
              </a:rPr>
              <a:pPr>
                <a:lnSpc>
                  <a:spcPct val="90000"/>
                </a:lnSpc>
                <a:spcAft>
                  <a:spcPts val="600"/>
                </a:spcAft>
              </a:pPr>
              <a:t>32</a:t>
            </a:fld>
            <a:endParaRPr lang="en-US" sz="1200" kern="1200">
              <a:solidFill>
                <a:schemeClr val="tx1">
                  <a:tint val="75000"/>
                </a:schemeClr>
              </a:solidFill>
              <a:latin typeface="+mn-lt"/>
              <a:ea typeface="+mn-ea"/>
              <a:cs typeface="+mn-cs"/>
            </a:endParaRPr>
          </a:p>
        </p:txBody>
      </p:sp>
      <p:pic>
        <p:nvPicPr>
          <p:cNvPr id="1026" name="Picture 2" descr="Most Common Kubernetes Deployment Strategies (Examples &amp; Code ...">
            <a:extLst>
              <a:ext uri="{FF2B5EF4-FFF2-40B4-BE49-F238E27FC236}">
                <a16:creationId xmlns:a16="http://schemas.microsoft.com/office/drawing/2014/main" id="{466C0D8B-FDA3-99EB-D81B-18869D439B1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27" r="1" b="1"/>
          <a:stretch/>
        </p:blipFill>
        <p:spPr bwMode="auto">
          <a:xfrm>
            <a:off x="873814" y="482600"/>
            <a:ext cx="7396370" cy="4178299"/>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55563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A67FE-ADAB-F15A-3385-A1C3AD150E44}"/>
              </a:ext>
            </a:extLst>
          </p:cNvPr>
          <p:cNvSpPr>
            <a:spLocks noGrp="1"/>
          </p:cNvSpPr>
          <p:nvPr>
            <p:ph type="title" idx="4294967295"/>
          </p:nvPr>
        </p:nvSpPr>
        <p:spPr>
          <a:xfrm>
            <a:off x="0" y="274638"/>
            <a:ext cx="7886700" cy="993775"/>
          </a:xfrm>
        </p:spPr>
        <p:txBody>
          <a:bodyPr/>
          <a:lstStyle/>
          <a:p>
            <a:r>
              <a:rPr lang="en-IN" dirty="0"/>
              <a:t>     JOB</a:t>
            </a:r>
          </a:p>
        </p:txBody>
      </p:sp>
      <p:sp>
        <p:nvSpPr>
          <p:cNvPr id="3" name="Slide Number Placeholder 2">
            <a:extLst>
              <a:ext uri="{FF2B5EF4-FFF2-40B4-BE49-F238E27FC236}">
                <a16:creationId xmlns:a16="http://schemas.microsoft.com/office/drawing/2014/main" id="{464D4217-1669-2F7C-5366-DF703C63B546}"/>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33</a:t>
            </a:fld>
            <a:endParaRPr lang="en-GB"/>
          </a:p>
        </p:txBody>
      </p:sp>
      <p:pic>
        <p:nvPicPr>
          <p:cNvPr id="5" name="Picture 4">
            <a:extLst>
              <a:ext uri="{FF2B5EF4-FFF2-40B4-BE49-F238E27FC236}">
                <a16:creationId xmlns:a16="http://schemas.microsoft.com/office/drawing/2014/main" id="{9D26193B-EA56-BBC1-7D1C-36A64EEA5DEB}"/>
              </a:ext>
            </a:extLst>
          </p:cNvPr>
          <p:cNvPicPr>
            <a:picLocks noChangeAspect="1"/>
          </p:cNvPicPr>
          <p:nvPr/>
        </p:nvPicPr>
        <p:blipFill>
          <a:blip r:embed="rId2"/>
          <a:stretch>
            <a:fillRect/>
          </a:stretch>
        </p:blipFill>
        <p:spPr>
          <a:xfrm>
            <a:off x="5724407" y="1228244"/>
            <a:ext cx="3406435" cy="2857748"/>
          </a:xfrm>
          <a:prstGeom prst="rect">
            <a:avLst/>
          </a:prstGeom>
        </p:spPr>
      </p:pic>
      <p:sp>
        <p:nvSpPr>
          <p:cNvPr id="7" name="TextBox 6">
            <a:extLst>
              <a:ext uri="{FF2B5EF4-FFF2-40B4-BE49-F238E27FC236}">
                <a16:creationId xmlns:a16="http://schemas.microsoft.com/office/drawing/2014/main" id="{B2E8837C-752C-F559-5401-D874E25C2561}"/>
              </a:ext>
            </a:extLst>
          </p:cNvPr>
          <p:cNvSpPr txBox="1"/>
          <p:nvPr/>
        </p:nvSpPr>
        <p:spPr>
          <a:xfrm>
            <a:off x="472189" y="1228244"/>
            <a:ext cx="5252217" cy="3323987"/>
          </a:xfrm>
          <a:prstGeom prst="rect">
            <a:avLst/>
          </a:prstGeom>
          <a:noFill/>
        </p:spPr>
        <p:txBody>
          <a:bodyPr wrap="square">
            <a:spAutoFit/>
          </a:bodyPr>
          <a:lstStyle/>
          <a:p>
            <a:pPr marL="285750" indent="-285750">
              <a:buFont typeface="Arial" panose="020B0604020202020204" pitchFamily="34" charset="0"/>
              <a:buChar char="•"/>
            </a:pPr>
            <a:r>
              <a:rPr lang="en-US" b="1" dirty="0"/>
              <a:t>Definition</a:t>
            </a:r>
            <a:r>
              <a:rPr lang="en-US" dirty="0"/>
              <a:t>: A Kubernetes Job creates one or more pods to perform a specific task that runs to completion.</a:t>
            </a:r>
          </a:p>
          <a:p>
            <a:pPr marL="285750" indent="-285750">
              <a:buFont typeface="Arial" panose="020B0604020202020204" pitchFamily="34" charset="0"/>
              <a:buChar char="•"/>
            </a:pPr>
            <a:r>
              <a:rPr lang="en-US" b="1" dirty="0"/>
              <a:t>Purpose</a:t>
            </a:r>
            <a:r>
              <a:rPr lang="en-US" dirty="0"/>
              <a:t>: To handle batch processing and short-lived tasks that need to run only once or a finite number of times.</a:t>
            </a:r>
          </a:p>
          <a:p>
            <a:pPr marL="285750" indent="-285750">
              <a:buFont typeface="Arial" panose="020B0604020202020204" pitchFamily="34" charset="0"/>
              <a:buChar char="•"/>
            </a:pPr>
            <a:r>
              <a:rPr lang="en-IN" b="1" dirty="0"/>
              <a:t>Job vs. </a:t>
            </a:r>
            <a:r>
              <a:rPr lang="en-IN" b="1" dirty="0" err="1"/>
              <a:t>CronJob</a:t>
            </a:r>
            <a:r>
              <a:rPr lang="en-IN" b="1" dirty="0"/>
              <a:t>: </a:t>
            </a:r>
          </a:p>
          <a:p>
            <a:r>
              <a:rPr lang="en-IN" b="1" dirty="0"/>
              <a:t>      </a:t>
            </a:r>
            <a:r>
              <a:rPr lang="en-IN" dirty="0"/>
              <a:t>job: </a:t>
            </a:r>
            <a:r>
              <a:rPr lang="en-US" dirty="0"/>
              <a:t>run once or a specified number of times</a:t>
            </a:r>
            <a:endParaRPr lang="en-IN" dirty="0"/>
          </a:p>
          <a:p>
            <a:r>
              <a:rPr lang="en-IN" b="1" dirty="0"/>
              <a:t>      </a:t>
            </a:r>
            <a:r>
              <a:rPr lang="en-IN" dirty="0" err="1"/>
              <a:t>CronJob</a:t>
            </a:r>
            <a:r>
              <a:rPr lang="en-IN" dirty="0"/>
              <a:t>: </a:t>
            </a:r>
            <a:r>
              <a:rPr lang="en-US" dirty="0"/>
              <a:t>scheduled to run at specific times</a:t>
            </a:r>
          </a:p>
          <a:p>
            <a:pPr marL="285750" indent="-285750">
              <a:buFont typeface="Arial" panose="020B0604020202020204" pitchFamily="34" charset="0"/>
              <a:buChar char="•"/>
            </a:pPr>
            <a:r>
              <a:rPr lang="en-US" b="1" dirty="0"/>
              <a:t>completions subfield: </a:t>
            </a:r>
            <a:r>
              <a:rPr lang="en-US" dirty="0"/>
              <a:t>Determines the desired number of successfully finished pods a Job should have. For example, if you set completions to 5, Kubernetes will ensure that five Pods have completed successfully.</a:t>
            </a:r>
          </a:p>
          <a:p>
            <a:pPr marL="285750" indent="-285750">
              <a:buFont typeface="Arial" panose="020B0604020202020204" pitchFamily="34" charset="0"/>
              <a:buChar char="•"/>
            </a:pPr>
            <a:r>
              <a:rPr lang="en-US" b="1" dirty="0"/>
              <a:t>parallelism subfield: </a:t>
            </a:r>
            <a:r>
              <a:rPr lang="en-US" dirty="0"/>
              <a:t>Determines the maximum number of Pods that can run in parallel. For example, if you set parallelism to 2, Kubernetes will ensure that no more than two pods are running at the same time.</a:t>
            </a:r>
            <a:endParaRPr lang="en-IN" dirty="0"/>
          </a:p>
        </p:txBody>
      </p:sp>
      <p:pic>
        <p:nvPicPr>
          <p:cNvPr id="9" name="Picture 8">
            <a:extLst>
              <a:ext uri="{FF2B5EF4-FFF2-40B4-BE49-F238E27FC236}">
                <a16:creationId xmlns:a16="http://schemas.microsoft.com/office/drawing/2014/main" id="{4C2D92B8-3E36-C54C-1166-E8CD82ACB24A}"/>
              </a:ext>
            </a:extLst>
          </p:cNvPr>
          <p:cNvPicPr>
            <a:picLocks noChangeAspect="1"/>
          </p:cNvPicPr>
          <p:nvPr/>
        </p:nvPicPr>
        <p:blipFill>
          <a:blip r:embed="rId3"/>
          <a:stretch>
            <a:fillRect/>
          </a:stretch>
        </p:blipFill>
        <p:spPr>
          <a:xfrm>
            <a:off x="472190" y="390832"/>
            <a:ext cx="632515" cy="708721"/>
          </a:xfrm>
          <a:prstGeom prst="rect">
            <a:avLst/>
          </a:prstGeom>
        </p:spPr>
      </p:pic>
    </p:spTree>
    <p:extLst>
      <p:ext uri="{BB962C8B-B14F-4D97-AF65-F5344CB8AC3E}">
        <p14:creationId xmlns:p14="http://schemas.microsoft.com/office/powerpoint/2010/main" val="36379258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BDC9F-4645-F7A0-AC61-8F7A0EACA814}"/>
              </a:ext>
            </a:extLst>
          </p:cNvPr>
          <p:cNvSpPr>
            <a:spLocks noGrp="1"/>
          </p:cNvSpPr>
          <p:nvPr>
            <p:ph type="title" idx="4294967295"/>
          </p:nvPr>
        </p:nvSpPr>
        <p:spPr>
          <a:xfrm>
            <a:off x="0" y="439738"/>
            <a:ext cx="2743200" cy="1235075"/>
          </a:xfrm>
        </p:spPr>
        <p:txBody>
          <a:bodyPr vert="horz" lIns="91440" tIns="45720" rIns="91440" bIns="45720" rtlCol="0" anchor="ctr">
            <a:normAutofit/>
          </a:bodyPr>
          <a:lstStyle/>
          <a:p>
            <a:r>
              <a:rPr lang="en-US" sz="2400" dirty="0">
                <a:latin typeface="+mj-lt"/>
              </a:rPr>
              <a:t>          Cron Job</a:t>
            </a:r>
          </a:p>
        </p:txBody>
      </p:sp>
      <p:sp>
        <p:nvSpPr>
          <p:cNvPr id="3" name="Slide Number Placeholder 2">
            <a:extLst>
              <a:ext uri="{FF2B5EF4-FFF2-40B4-BE49-F238E27FC236}">
                <a16:creationId xmlns:a16="http://schemas.microsoft.com/office/drawing/2014/main" id="{4C5FB661-0399-4F5A-66BD-66558A4317BA}"/>
              </a:ext>
            </a:extLst>
          </p:cNvPr>
          <p:cNvSpPr>
            <a:spLocks noGrp="1"/>
          </p:cNvSpPr>
          <p:nvPr>
            <p:ph type="sldNum" idx="4294967295"/>
          </p:nvPr>
        </p:nvSpPr>
        <p:spPr>
          <a:xfrm>
            <a:off x="7085013" y="4767263"/>
            <a:ext cx="2058987" cy="273050"/>
          </a:xfrm>
        </p:spPr>
        <p:txBody>
          <a:bodyPr vert="horz" lIns="91440" tIns="45720" rIns="91440" bIns="45720" rtlCol="0" anchor="ctr">
            <a:normAutofit/>
          </a:bodyPr>
          <a:lstStyle/>
          <a:p>
            <a:pPr>
              <a:lnSpc>
                <a:spcPct val="90000"/>
              </a:lnSpc>
              <a:spcAft>
                <a:spcPts val="600"/>
              </a:spcAft>
            </a:pPr>
            <a:fld id="{00000000-1234-1234-1234-123412341234}" type="slidenum">
              <a:rPr lang="en-US" sz="1200" kern="1200">
                <a:solidFill>
                  <a:schemeClr val="tx1">
                    <a:lumMod val="50000"/>
                    <a:lumOff val="50000"/>
                  </a:schemeClr>
                </a:solidFill>
                <a:latin typeface="+mn-lt"/>
                <a:ea typeface="+mn-ea"/>
                <a:cs typeface="+mn-cs"/>
              </a:rPr>
              <a:pPr>
                <a:lnSpc>
                  <a:spcPct val="90000"/>
                </a:lnSpc>
                <a:spcAft>
                  <a:spcPts val="600"/>
                </a:spcAft>
              </a:pPr>
              <a:t>34</a:t>
            </a:fld>
            <a:endParaRPr lang="en-US" sz="1200" kern="1200">
              <a:solidFill>
                <a:schemeClr val="tx1">
                  <a:lumMod val="50000"/>
                  <a:lumOff val="50000"/>
                </a:schemeClr>
              </a:solidFill>
              <a:latin typeface="+mn-lt"/>
              <a:ea typeface="+mn-ea"/>
              <a:cs typeface="+mn-cs"/>
            </a:endParaRPr>
          </a:p>
        </p:txBody>
      </p:sp>
      <p:sp>
        <p:nvSpPr>
          <p:cNvPr id="9" name="TextBox 8">
            <a:extLst>
              <a:ext uri="{FF2B5EF4-FFF2-40B4-BE49-F238E27FC236}">
                <a16:creationId xmlns:a16="http://schemas.microsoft.com/office/drawing/2014/main" id="{CD2A952C-C00E-4B88-120E-5C20A462E3CD}"/>
              </a:ext>
            </a:extLst>
          </p:cNvPr>
          <p:cNvSpPr txBox="1"/>
          <p:nvPr/>
        </p:nvSpPr>
        <p:spPr>
          <a:xfrm>
            <a:off x="3937579" y="440116"/>
            <a:ext cx="4580057" cy="1234440"/>
          </a:xfrm>
          <a:prstGeom prst="rect">
            <a:avLst/>
          </a:prstGeom>
        </p:spPr>
        <p:txBody>
          <a:bodyPr vert="horz" lIns="91440" tIns="45720" rIns="91440" bIns="45720" rtlCol="0" anchor="ctr">
            <a:normAutofit/>
          </a:bodyPr>
          <a:lstStyle/>
          <a:p>
            <a:pPr>
              <a:lnSpc>
                <a:spcPct val="90000"/>
              </a:lnSpc>
              <a:spcAft>
                <a:spcPts val="600"/>
              </a:spcAft>
            </a:pPr>
            <a:r>
              <a:rPr lang="en-US" sz="1300" kern="1200" dirty="0">
                <a:solidFill>
                  <a:schemeClr val="tx1"/>
                </a:solidFill>
                <a:latin typeface="+mn-lt"/>
                <a:ea typeface="+mn-ea"/>
                <a:cs typeface="+mn-cs"/>
              </a:rPr>
              <a:t>Cron jobs are a powerful tool for automating repetitive tasks and streamlining system maintenance. With the help of Kubernetes, we can easily create and manage Cron jobs to perform various tasks such as database updates, report generation, and data fetching from external APIs.</a:t>
            </a:r>
          </a:p>
        </p:txBody>
      </p:sp>
      <p:pic>
        <p:nvPicPr>
          <p:cNvPr id="3074" name="Picture 2" descr="Properly Running Kubernetes Jobs with Sidecars | by Steven Aldinger |  TeamSnap Engineering | Medium">
            <a:extLst>
              <a:ext uri="{FF2B5EF4-FFF2-40B4-BE49-F238E27FC236}">
                <a16:creationId xmlns:a16="http://schemas.microsoft.com/office/drawing/2014/main" id="{86632B88-2194-A045-4463-6F8EAFD9273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641042" y="2047047"/>
            <a:ext cx="1665722" cy="261289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8B3244B-515E-EF38-DF43-2E8FB732A4FC}"/>
              </a:ext>
            </a:extLst>
          </p:cNvPr>
          <p:cNvPicPr>
            <a:picLocks noChangeAspect="1"/>
          </p:cNvPicPr>
          <p:nvPr/>
        </p:nvPicPr>
        <p:blipFill>
          <a:blip r:embed="rId3"/>
          <a:stretch>
            <a:fillRect/>
          </a:stretch>
        </p:blipFill>
        <p:spPr>
          <a:xfrm>
            <a:off x="5288516" y="2047047"/>
            <a:ext cx="2863449" cy="2612898"/>
          </a:xfrm>
          <a:prstGeom prst="rect">
            <a:avLst/>
          </a:prstGeom>
        </p:spPr>
      </p:pic>
      <p:pic>
        <p:nvPicPr>
          <p:cNvPr id="11" name="Picture 10">
            <a:extLst>
              <a:ext uri="{FF2B5EF4-FFF2-40B4-BE49-F238E27FC236}">
                <a16:creationId xmlns:a16="http://schemas.microsoft.com/office/drawing/2014/main" id="{603288AB-9F26-9BDB-3D01-7856E7C556F6}"/>
              </a:ext>
            </a:extLst>
          </p:cNvPr>
          <p:cNvPicPr>
            <a:picLocks noChangeAspect="1"/>
          </p:cNvPicPr>
          <p:nvPr/>
        </p:nvPicPr>
        <p:blipFill>
          <a:blip r:embed="rId4"/>
          <a:stretch>
            <a:fillRect/>
          </a:stretch>
        </p:blipFill>
        <p:spPr>
          <a:xfrm>
            <a:off x="950212" y="773582"/>
            <a:ext cx="511400" cy="520533"/>
          </a:xfrm>
          <a:prstGeom prst="rect">
            <a:avLst/>
          </a:prstGeom>
        </p:spPr>
      </p:pic>
    </p:spTree>
    <p:extLst>
      <p:ext uri="{BB962C8B-B14F-4D97-AF65-F5344CB8AC3E}">
        <p14:creationId xmlns:p14="http://schemas.microsoft.com/office/powerpoint/2010/main" val="1184726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B4A93-0FC5-D492-14D3-755611B3EE49}"/>
              </a:ext>
            </a:extLst>
          </p:cNvPr>
          <p:cNvSpPr>
            <a:spLocks noGrp="1"/>
          </p:cNvSpPr>
          <p:nvPr>
            <p:ph type="title" idx="4294967295"/>
          </p:nvPr>
        </p:nvSpPr>
        <p:spPr>
          <a:xfrm>
            <a:off x="0" y="274638"/>
            <a:ext cx="7886700" cy="993775"/>
          </a:xfrm>
        </p:spPr>
        <p:txBody>
          <a:bodyPr/>
          <a:lstStyle/>
          <a:p>
            <a:r>
              <a:rPr lang="en-US" dirty="0"/>
              <a:t>Taints &amp; Tolerations</a:t>
            </a:r>
            <a:endParaRPr lang="en-IN" dirty="0"/>
          </a:p>
        </p:txBody>
      </p:sp>
      <p:sp>
        <p:nvSpPr>
          <p:cNvPr id="3" name="Slide Number Placeholder 2">
            <a:extLst>
              <a:ext uri="{FF2B5EF4-FFF2-40B4-BE49-F238E27FC236}">
                <a16:creationId xmlns:a16="http://schemas.microsoft.com/office/drawing/2014/main" id="{4B1562C1-9CB2-9205-BFF5-51CF4AC8C0C6}"/>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35</a:t>
            </a:fld>
            <a:endParaRPr lang="en-GB"/>
          </a:p>
        </p:txBody>
      </p:sp>
      <p:pic>
        <p:nvPicPr>
          <p:cNvPr id="5" name="Picture 4">
            <a:extLst>
              <a:ext uri="{FF2B5EF4-FFF2-40B4-BE49-F238E27FC236}">
                <a16:creationId xmlns:a16="http://schemas.microsoft.com/office/drawing/2014/main" id="{9B1B1CF8-B2D5-618C-446A-DFEA36F968F4}"/>
              </a:ext>
            </a:extLst>
          </p:cNvPr>
          <p:cNvPicPr>
            <a:picLocks noChangeAspect="1"/>
          </p:cNvPicPr>
          <p:nvPr/>
        </p:nvPicPr>
        <p:blipFill>
          <a:blip r:embed="rId3"/>
          <a:stretch>
            <a:fillRect/>
          </a:stretch>
        </p:blipFill>
        <p:spPr>
          <a:xfrm>
            <a:off x="375077" y="1028001"/>
            <a:ext cx="7886700" cy="3451637"/>
          </a:xfrm>
          <a:prstGeom prst="rect">
            <a:avLst/>
          </a:prstGeom>
        </p:spPr>
      </p:pic>
    </p:spTree>
    <p:extLst>
      <p:ext uri="{BB962C8B-B14F-4D97-AF65-F5344CB8AC3E}">
        <p14:creationId xmlns:p14="http://schemas.microsoft.com/office/powerpoint/2010/main" val="2338461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EFE56-AD1F-05C3-0196-6CCE870E04C8}"/>
              </a:ext>
            </a:extLst>
          </p:cNvPr>
          <p:cNvSpPr>
            <a:spLocks noGrp="1"/>
          </p:cNvSpPr>
          <p:nvPr>
            <p:ph type="title" idx="4294967295"/>
          </p:nvPr>
        </p:nvSpPr>
        <p:spPr>
          <a:xfrm>
            <a:off x="0" y="274638"/>
            <a:ext cx="7886700" cy="993775"/>
          </a:xfrm>
        </p:spPr>
        <p:txBody>
          <a:bodyPr/>
          <a:lstStyle/>
          <a:p>
            <a:r>
              <a:rPr lang="en-US" dirty="0"/>
              <a:t>Taints &amp; Tolerations continue..</a:t>
            </a:r>
            <a:endParaRPr lang="en-IN" dirty="0"/>
          </a:p>
        </p:txBody>
      </p:sp>
      <p:sp>
        <p:nvSpPr>
          <p:cNvPr id="3" name="Slide Number Placeholder 2">
            <a:extLst>
              <a:ext uri="{FF2B5EF4-FFF2-40B4-BE49-F238E27FC236}">
                <a16:creationId xmlns:a16="http://schemas.microsoft.com/office/drawing/2014/main" id="{AAA432BA-687F-40D4-99EF-CE35570783BA}"/>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36</a:t>
            </a:fld>
            <a:endParaRPr lang="en-GB"/>
          </a:p>
        </p:txBody>
      </p:sp>
      <p:pic>
        <p:nvPicPr>
          <p:cNvPr id="5" name="Picture 4">
            <a:extLst>
              <a:ext uri="{FF2B5EF4-FFF2-40B4-BE49-F238E27FC236}">
                <a16:creationId xmlns:a16="http://schemas.microsoft.com/office/drawing/2014/main" id="{B85EA860-1F84-26F6-4D74-26B02C36936B}"/>
              </a:ext>
            </a:extLst>
          </p:cNvPr>
          <p:cNvPicPr>
            <a:picLocks noChangeAspect="1"/>
          </p:cNvPicPr>
          <p:nvPr/>
        </p:nvPicPr>
        <p:blipFill>
          <a:blip r:embed="rId2"/>
          <a:stretch>
            <a:fillRect/>
          </a:stretch>
        </p:blipFill>
        <p:spPr>
          <a:xfrm>
            <a:off x="1875544" y="1668462"/>
            <a:ext cx="5163414" cy="3200400"/>
          </a:xfrm>
          <a:prstGeom prst="rect">
            <a:avLst/>
          </a:prstGeom>
        </p:spPr>
      </p:pic>
    </p:spTree>
    <p:extLst>
      <p:ext uri="{BB962C8B-B14F-4D97-AF65-F5344CB8AC3E}">
        <p14:creationId xmlns:p14="http://schemas.microsoft.com/office/powerpoint/2010/main" val="37427128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18F48-5B16-F58B-6F79-F18C8EEA8AD4}"/>
              </a:ext>
            </a:extLst>
          </p:cNvPr>
          <p:cNvSpPr>
            <a:spLocks noGrp="1"/>
          </p:cNvSpPr>
          <p:nvPr>
            <p:ph type="title" idx="4294967295"/>
          </p:nvPr>
        </p:nvSpPr>
        <p:spPr>
          <a:xfrm>
            <a:off x="463550" y="274638"/>
            <a:ext cx="8680450" cy="993775"/>
          </a:xfrm>
        </p:spPr>
        <p:txBody>
          <a:bodyPr/>
          <a:lstStyle/>
          <a:p>
            <a:r>
              <a:rPr lang="en-US" dirty="0"/>
              <a:t>Taints Tolerations &amp; Node Affinity</a:t>
            </a:r>
            <a:endParaRPr lang="en-IN" dirty="0"/>
          </a:p>
        </p:txBody>
      </p:sp>
      <p:sp>
        <p:nvSpPr>
          <p:cNvPr id="3" name="Slide Number Placeholder 2">
            <a:extLst>
              <a:ext uri="{FF2B5EF4-FFF2-40B4-BE49-F238E27FC236}">
                <a16:creationId xmlns:a16="http://schemas.microsoft.com/office/drawing/2014/main" id="{59316C79-BE47-47A5-472B-07AB4977BA7C}"/>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37</a:t>
            </a:fld>
            <a:endParaRPr lang="en-GB"/>
          </a:p>
        </p:txBody>
      </p:sp>
      <p:pic>
        <p:nvPicPr>
          <p:cNvPr id="5" name="Picture 4">
            <a:extLst>
              <a:ext uri="{FF2B5EF4-FFF2-40B4-BE49-F238E27FC236}">
                <a16:creationId xmlns:a16="http://schemas.microsoft.com/office/drawing/2014/main" id="{A1DD0DDF-D40B-2C8C-733F-7F0A7C2C28F5}"/>
              </a:ext>
            </a:extLst>
          </p:cNvPr>
          <p:cNvPicPr>
            <a:picLocks noChangeAspect="1"/>
          </p:cNvPicPr>
          <p:nvPr/>
        </p:nvPicPr>
        <p:blipFill>
          <a:blip r:embed="rId2"/>
          <a:stretch>
            <a:fillRect/>
          </a:stretch>
        </p:blipFill>
        <p:spPr>
          <a:xfrm>
            <a:off x="4655414" y="2986262"/>
            <a:ext cx="4206605" cy="1646063"/>
          </a:xfrm>
          <a:prstGeom prst="rect">
            <a:avLst/>
          </a:prstGeom>
        </p:spPr>
      </p:pic>
      <p:sp>
        <p:nvSpPr>
          <p:cNvPr id="7" name="TextBox 6">
            <a:extLst>
              <a:ext uri="{FF2B5EF4-FFF2-40B4-BE49-F238E27FC236}">
                <a16:creationId xmlns:a16="http://schemas.microsoft.com/office/drawing/2014/main" id="{D4DB8FF7-DF66-6A83-2DAD-44B78BBABE23}"/>
              </a:ext>
            </a:extLst>
          </p:cNvPr>
          <p:cNvSpPr txBox="1"/>
          <p:nvPr/>
        </p:nvSpPr>
        <p:spPr>
          <a:xfrm>
            <a:off x="501445" y="1572462"/>
            <a:ext cx="7661787" cy="1169551"/>
          </a:xfrm>
          <a:prstGeom prst="rect">
            <a:avLst/>
          </a:prstGeom>
          <a:noFill/>
        </p:spPr>
        <p:txBody>
          <a:bodyPr wrap="square">
            <a:spAutoFit/>
          </a:bodyPr>
          <a:lstStyle/>
          <a:p>
            <a:r>
              <a:rPr lang="en-IN" dirty="0"/>
              <a:t>Combination of Taints/Tolerations and Node affinity rules can be used together to completely dedicate nodes for specific pods.</a:t>
            </a:r>
          </a:p>
          <a:p>
            <a:endParaRPr lang="en-IN" dirty="0"/>
          </a:p>
          <a:p>
            <a:r>
              <a:rPr lang="en-IN" dirty="0"/>
              <a:t>We first use Taints and Tolerations to prevent other pods from being placed on our nodes and then we use Node Affinity to prevent our pods from being placed on other nodes.</a:t>
            </a:r>
          </a:p>
        </p:txBody>
      </p:sp>
    </p:spTree>
    <p:extLst>
      <p:ext uri="{BB962C8B-B14F-4D97-AF65-F5344CB8AC3E}">
        <p14:creationId xmlns:p14="http://schemas.microsoft.com/office/powerpoint/2010/main" val="6195768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Placeholder 8" descr="A close-up of a colorful swirl&#10;&#10;Description automatically generated">
            <a:extLst>
              <a:ext uri="{FF2B5EF4-FFF2-40B4-BE49-F238E27FC236}">
                <a16:creationId xmlns:a16="http://schemas.microsoft.com/office/drawing/2014/main" id="{92BB618F-20D8-D500-F22F-6DC91B9B3D2F}"/>
              </a:ext>
            </a:extLst>
          </p:cNvPr>
          <p:cNvPicPr>
            <a:picLocks noGrp="1" noChangeAspect="1"/>
          </p:cNvPicPr>
          <p:nvPr>
            <p:ph type="pic" sz="quarter" idx="4294967295"/>
          </p:nvPr>
        </p:nvPicPr>
        <p:blipFill rotWithShape="1">
          <a:blip r:embed="rId2">
            <a:alphaModFix amt="40000"/>
          </a:blip>
          <a:srcRect b="1747"/>
          <a:stretch/>
        </p:blipFill>
        <p:spPr>
          <a:xfrm>
            <a:off x="0" y="0"/>
            <a:ext cx="9144000" cy="5143500"/>
          </a:xfrm>
          <a:prstGeom prst="rect">
            <a:avLst/>
          </a:prstGeom>
        </p:spPr>
      </p:pic>
      <p:sp>
        <p:nvSpPr>
          <p:cNvPr id="2" name="Title 1">
            <a:extLst>
              <a:ext uri="{FF2B5EF4-FFF2-40B4-BE49-F238E27FC236}">
                <a16:creationId xmlns:a16="http://schemas.microsoft.com/office/drawing/2014/main" id="{A162A728-15BF-FB7A-792A-E7371AA6CF26}"/>
              </a:ext>
            </a:extLst>
          </p:cNvPr>
          <p:cNvSpPr>
            <a:spLocks noGrp="1"/>
          </p:cNvSpPr>
          <p:nvPr>
            <p:ph type="ctrTitle" idx="4294967295"/>
          </p:nvPr>
        </p:nvSpPr>
        <p:spPr>
          <a:xfrm>
            <a:off x="0" y="723900"/>
            <a:ext cx="7696200" cy="2673350"/>
          </a:xfrm>
        </p:spPr>
        <p:txBody>
          <a:bodyPr vert="horz" lIns="91440" tIns="45720" rIns="91440" bIns="45720" rtlCol="0" anchor="b">
            <a:normAutofit/>
          </a:bodyPr>
          <a:lstStyle/>
          <a:p>
            <a:r>
              <a:rPr lang="en-US" sz="8600">
                <a:ln w="22225">
                  <a:solidFill>
                    <a:schemeClr val="tx1"/>
                  </a:solidFill>
                  <a:miter lim="800000"/>
                </a:ln>
                <a:noFill/>
                <a:latin typeface="+mj-lt"/>
              </a:rPr>
              <a:t>Configuration</a:t>
            </a:r>
          </a:p>
        </p:txBody>
      </p:sp>
    </p:spTree>
    <p:extLst>
      <p:ext uri="{BB962C8B-B14F-4D97-AF65-F5344CB8AC3E}">
        <p14:creationId xmlns:p14="http://schemas.microsoft.com/office/powerpoint/2010/main" val="124554195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18F48-5B16-F58B-6F79-F18C8EEA8AD4}"/>
              </a:ext>
            </a:extLst>
          </p:cNvPr>
          <p:cNvSpPr>
            <a:spLocks noGrp="1"/>
          </p:cNvSpPr>
          <p:nvPr>
            <p:ph type="title" idx="4294967295"/>
          </p:nvPr>
        </p:nvSpPr>
        <p:spPr>
          <a:xfrm>
            <a:off x="463550" y="274638"/>
            <a:ext cx="8680450" cy="993775"/>
          </a:xfrm>
        </p:spPr>
        <p:txBody>
          <a:bodyPr/>
          <a:lstStyle/>
          <a:p>
            <a:r>
              <a:rPr lang="en-IN" dirty="0"/>
              <a:t>Configuration: </a:t>
            </a:r>
            <a:r>
              <a:rPr lang="en-US" dirty="0"/>
              <a:t>Config Maps</a:t>
            </a:r>
            <a:endParaRPr lang="en-IN" dirty="0"/>
          </a:p>
        </p:txBody>
      </p:sp>
      <p:sp>
        <p:nvSpPr>
          <p:cNvPr id="3" name="Slide Number Placeholder 2">
            <a:extLst>
              <a:ext uri="{FF2B5EF4-FFF2-40B4-BE49-F238E27FC236}">
                <a16:creationId xmlns:a16="http://schemas.microsoft.com/office/drawing/2014/main" id="{59316C79-BE47-47A5-472B-07AB4977BA7C}"/>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39</a:t>
            </a:fld>
            <a:endParaRPr lang="en-GB"/>
          </a:p>
        </p:txBody>
      </p:sp>
      <p:sp>
        <p:nvSpPr>
          <p:cNvPr id="7" name="TextBox 6">
            <a:extLst>
              <a:ext uri="{FF2B5EF4-FFF2-40B4-BE49-F238E27FC236}">
                <a16:creationId xmlns:a16="http://schemas.microsoft.com/office/drawing/2014/main" id="{D4DB8FF7-DF66-6A83-2DAD-44B78BBABE23}"/>
              </a:ext>
            </a:extLst>
          </p:cNvPr>
          <p:cNvSpPr txBox="1"/>
          <p:nvPr/>
        </p:nvSpPr>
        <p:spPr>
          <a:xfrm>
            <a:off x="501445" y="1572462"/>
            <a:ext cx="8074742" cy="738664"/>
          </a:xfrm>
          <a:prstGeom prst="rect">
            <a:avLst/>
          </a:prstGeom>
          <a:noFill/>
        </p:spPr>
        <p:txBody>
          <a:bodyPr wrap="square">
            <a:spAutoFit/>
          </a:bodyPr>
          <a:lstStyle/>
          <a:p>
            <a:r>
              <a:rPr lang="en-US" dirty="0"/>
              <a:t>Kubernetes has an integrated pattern for decoupling configuration from application or container.</a:t>
            </a:r>
          </a:p>
          <a:p>
            <a:endParaRPr lang="en-US" dirty="0"/>
          </a:p>
          <a:p>
            <a:r>
              <a:rPr lang="en-US" dirty="0"/>
              <a:t>This pattern makes use of two Kubernetes components: </a:t>
            </a:r>
            <a:r>
              <a:rPr lang="en-US" b="1" dirty="0" err="1"/>
              <a:t>ConfigMaps</a:t>
            </a:r>
            <a:r>
              <a:rPr lang="en-US" dirty="0"/>
              <a:t> and </a:t>
            </a:r>
            <a:r>
              <a:rPr lang="en-US" b="1" dirty="0"/>
              <a:t>Secrets</a:t>
            </a:r>
            <a:r>
              <a:rPr lang="en-US" dirty="0"/>
              <a:t>.</a:t>
            </a:r>
            <a:endParaRPr lang="en-IN" dirty="0"/>
          </a:p>
        </p:txBody>
      </p:sp>
      <p:sp>
        <p:nvSpPr>
          <p:cNvPr id="6" name="TextBox 5">
            <a:extLst>
              <a:ext uri="{FF2B5EF4-FFF2-40B4-BE49-F238E27FC236}">
                <a16:creationId xmlns:a16="http://schemas.microsoft.com/office/drawing/2014/main" id="{52B24AFD-752C-F76D-F060-35AD34C42122}"/>
              </a:ext>
            </a:extLst>
          </p:cNvPr>
          <p:cNvSpPr txBox="1"/>
          <p:nvPr/>
        </p:nvSpPr>
        <p:spPr>
          <a:xfrm>
            <a:off x="707923" y="2571750"/>
            <a:ext cx="4269658" cy="2031325"/>
          </a:xfrm>
          <a:prstGeom prst="rect">
            <a:avLst/>
          </a:prstGeom>
          <a:noFill/>
        </p:spPr>
        <p:txBody>
          <a:bodyPr wrap="square">
            <a:spAutoFit/>
          </a:bodyPr>
          <a:lstStyle/>
          <a:p>
            <a:r>
              <a:rPr lang="en-US" b="1" dirty="0" err="1"/>
              <a:t>ConfigMaps</a:t>
            </a:r>
            <a:endParaRPr lang="en-IN" dirty="0"/>
          </a:p>
          <a:p>
            <a:pPr marL="285750" indent="-285750">
              <a:buFont typeface="Arial" panose="020B0604020202020204" pitchFamily="34" charset="0"/>
              <a:buChar char="•"/>
            </a:pPr>
            <a:r>
              <a:rPr lang="en-IN" dirty="0"/>
              <a:t>Externalized data stored within Kubernetes.</a:t>
            </a:r>
          </a:p>
          <a:p>
            <a:pPr marL="285750" indent="-285750">
              <a:buFont typeface="Arial" panose="020B0604020202020204" pitchFamily="34" charset="0"/>
              <a:buChar char="•"/>
            </a:pPr>
            <a:r>
              <a:rPr lang="en-IN" dirty="0"/>
              <a:t>Can be referenced through several different means:</a:t>
            </a:r>
          </a:p>
          <a:p>
            <a:r>
              <a:rPr lang="en-IN" dirty="0"/>
              <a:t>	environment variable</a:t>
            </a:r>
          </a:p>
          <a:p>
            <a:r>
              <a:rPr lang="en-IN" dirty="0"/>
              <a:t>	a command line argument (via env var)</a:t>
            </a:r>
          </a:p>
          <a:p>
            <a:r>
              <a:rPr lang="en-IN" dirty="0"/>
              <a:t>	injected as a file into a volume mount</a:t>
            </a:r>
          </a:p>
          <a:p>
            <a:pPr marL="285750" indent="-285750">
              <a:buFont typeface="Arial" panose="020B0604020202020204" pitchFamily="34" charset="0"/>
              <a:buChar char="•"/>
            </a:pPr>
            <a:r>
              <a:rPr lang="en-IN" dirty="0"/>
              <a:t>Can be created from a manifest, literals, directories, or files directly.</a:t>
            </a:r>
          </a:p>
        </p:txBody>
      </p:sp>
      <p:pic>
        <p:nvPicPr>
          <p:cNvPr id="9" name="Picture 8">
            <a:extLst>
              <a:ext uri="{FF2B5EF4-FFF2-40B4-BE49-F238E27FC236}">
                <a16:creationId xmlns:a16="http://schemas.microsoft.com/office/drawing/2014/main" id="{8E492406-3E33-FC10-77C3-A578310DD397}"/>
              </a:ext>
            </a:extLst>
          </p:cNvPr>
          <p:cNvPicPr>
            <a:picLocks noChangeAspect="1"/>
          </p:cNvPicPr>
          <p:nvPr/>
        </p:nvPicPr>
        <p:blipFill>
          <a:blip r:embed="rId3"/>
          <a:stretch>
            <a:fillRect/>
          </a:stretch>
        </p:blipFill>
        <p:spPr>
          <a:xfrm>
            <a:off x="5322017" y="2419986"/>
            <a:ext cx="2692787" cy="2532963"/>
          </a:xfrm>
          <a:prstGeom prst="rect">
            <a:avLst/>
          </a:prstGeom>
        </p:spPr>
      </p:pic>
    </p:spTree>
    <p:extLst>
      <p:ext uri="{BB962C8B-B14F-4D97-AF65-F5344CB8AC3E}">
        <p14:creationId xmlns:p14="http://schemas.microsoft.com/office/powerpoint/2010/main" val="21020721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18F48-5B16-F58B-6F79-F18C8EEA8AD4}"/>
              </a:ext>
            </a:extLst>
          </p:cNvPr>
          <p:cNvSpPr>
            <a:spLocks noGrp="1"/>
          </p:cNvSpPr>
          <p:nvPr>
            <p:ph type="title" idx="4294967295"/>
          </p:nvPr>
        </p:nvSpPr>
        <p:spPr>
          <a:xfrm>
            <a:off x="463550" y="274638"/>
            <a:ext cx="8680450" cy="993775"/>
          </a:xfrm>
        </p:spPr>
        <p:txBody>
          <a:bodyPr/>
          <a:lstStyle/>
          <a:p>
            <a:r>
              <a:rPr lang="en-IN" dirty="0"/>
              <a:t>Configuration: </a:t>
            </a:r>
            <a:r>
              <a:rPr lang="en-US" dirty="0"/>
              <a:t>Secret</a:t>
            </a:r>
            <a:endParaRPr lang="en-IN" dirty="0"/>
          </a:p>
        </p:txBody>
      </p:sp>
      <p:sp>
        <p:nvSpPr>
          <p:cNvPr id="3" name="Slide Number Placeholder 2">
            <a:extLst>
              <a:ext uri="{FF2B5EF4-FFF2-40B4-BE49-F238E27FC236}">
                <a16:creationId xmlns:a16="http://schemas.microsoft.com/office/drawing/2014/main" id="{59316C79-BE47-47A5-472B-07AB4977BA7C}"/>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40</a:t>
            </a:fld>
            <a:endParaRPr lang="en-GB"/>
          </a:p>
        </p:txBody>
      </p:sp>
      <p:sp>
        <p:nvSpPr>
          <p:cNvPr id="7" name="TextBox 6">
            <a:extLst>
              <a:ext uri="{FF2B5EF4-FFF2-40B4-BE49-F238E27FC236}">
                <a16:creationId xmlns:a16="http://schemas.microsoft.com/office/drawing/2014/main" id="{D4DB8FF7-DF66-6A83-2DAD-44B78BBABE23}"/>
              </a:ext>
            </a:extLst>
          </p:cNvPr>
          <p:cNvSpPr txBox="1"/>
          <p:nvPr/>
        </p:nvSpPr>
        <p:spPr>
          <a:xfrm>
            <a:off x="88491" y="1321739"/>
            <a:ext cx="6791632" cy="3108543"/>
          </a:xfrm>
          <a:prstGeom prst="rect">
            <a:avLst/>
          </a:prstGeom>
          <a:noFill/>
        </p:spPr>
        <p:txBody>
          <a:bodyPr wrap="square">
            <a:spAutoFit/>
          </a:bodyPr>
          <a:lstStyle/>
          <a:p>
            <a:pPr marL="285750" indent="-285750">
              <a:buFont typeface="Arial" panose="020B0604020202020204" pitchFamily="34" charset="0"/>
              <a:buChar char="•"/>
            </a:pPr>
            <a:r>
              <a:rPr lang="en-US" dirty="0"/>
              <a:t>Functionally identical to a </a:t>
            </a:r>
            <a:r>
              <a:rPr lang="en-US" dirty="0" err="1"/>
              <a:t>ConfigMap</a:t>
            </a:r>
            <a:r>
              <a:rPr lang="en-US" dirty="0"/>
              <a:t>.</a:t>
            </a:r>
          </a:p>
          <a:p>
            <a:pPr marL="285750" indent="-285750">
              <a:buFont typeface="Arial" panose="020B0604020202020204" pitchFamily="34" charset="0"/>
              <a:buChar char="•"/>
            </a:pPr>
            <a:r>
              <a:rPr lang="en-US" dirty="0"/>
              <a:t>Stored as base64 encoded content.</a:t>
            </a:r>
          </a:p>
          <a:p>
            <a:pPr marL="285750" indent="-285750">
              <a:buFont typeface="Arial" panose="020B0604020202020204" pitchFamily="34" charset="0"/>
              <a:buChar char="•"/>
            </a:pPr>
            <a:r>
              <a:rPr lang="en-US" dirty="0"/>
              <a:t>Encrypted at rest within </a:t>
            </a:r>
            <a:r>
              <a:rPr lang="en-US" dirty="0" err="1"/>
              <a:t>etcd</a:t>
            </a:r>
            <a:r>
              <a:rPr lang="en-US" dirty="0"/>
              <a:t> (if configured!).</a:t>
            </a:r>
          </a:p>
          <a:p>
            <a:pPr marL="285750" indent="-285750">
              <a:buFont typeface="Arial" panose="020B0604020202020204" pitchFamily="34" charset="0"/>
              <a:buChar char="•"/>
            </a:pPr>
            <a:r>
              <a:rPr lang="en-US" dirty="0"/>
              <a:t>Stored on each worker node in </a:t>
            </a:r>
            <a:r>
              <a:rPr lang="en-US" dirty="0" err="1"/>
              <a:t>tmpfs</a:t>
            </a:r>
            <a:r>
              <a:rPr lang="en-US" dirty="0"/>
              <a:t> directory.</a:t>
            </a:r>
          </a:p>
          <a:p>
            <a:pPr marL="285750" indent="-285750">
              <a:buFont typeface="Arial" panose="020B0604020202020204" pitchFamily="34" charset="0"/>
              <a:buChar char="•"/>
            </a:pPr>
            <a:r>
              <a:rPr lang="en-US" dirty="0"/>
              <a:t>Ideal for username/passwords, certificates or other sensitive information that should not be stored in a container.</a:t>
            </a:r>
          </a:p>
          <a:p>
            <a:pPr marL="285750" indent="-285750">
              <a:buFont typeface="Arial" panose="020B0604020202020204" pitchFamily="34" charset="0"/>
              <a:buChar char="•"/>
            </a:pPr>
            <a:endParaRPr lang="en-US" dirty="0"/>
          </a:p>
          <a:p>
            <a:r>
              <a:rPr lang="en-US" b="1" dirty="0"/>
              <a:t>Example:</a:t>
            </a:r>
          </a:p>
          <a:p>
            <a:pPr marL="285750" indent="-285750">
              <a:buFont typeface="Arial" panose="020B0604020202020204" pitchFamily="34" charset="0"/>
              <a:buChar char="•"/>
            </a:pPr>
            <a:r>
              <a:rPr lang="en-US" dirty="0"/>
              <a:t>type: There are three different types of secrets within Kubernetes:</a:t>
            </a:r>
          </a:p>
          <a:p>
            <a:r>
              <a:rPr lang="en-US" dirty="0"/>
              <a:t>	docker-registry - credentials used to authenticate to a container registry</a:t>
            </a:r>
          </a:p>
          <a:p>
            <a:r>
              <a:rPr lang="en-US" dirty="0"/>
              <a:t>	generic/Opaque - literal values from different sources</a:t>
            </a:r>
          </a:p>
          <a:p>
            <a:r>
              <a:rPr lang="en-US" dirty="0"/>
              <a:t>	</a:t>
            </a:r>
            <a:r>
              <a:rPr lang="en-US" dirty="0" err="1"/>
              <a:t>tls</a:t>
            </a:r>
            <a:r>
              <a:rPr lang="en-US" dirty="0"/>
              <a:t> - a certificate based secret</a:t>
            </a:r>
          </a:p>
          <a:p>
            <a:pPr marL="285750" indent="-285750">
              <a:buFont typeface="Arial" panose="020B0604020202020204" pitchFamily="34" charset="0"/>
              <a:buChar char="•"/>
            </a:pPr>
            <a:r>
              <a:rPr lang="en-US" dirty="0"/>
              <a:t>data: Contains key-value pairs of base64</a:t>
            </a:r>
          </a:p>
          <a:p>
            <a:pPr marL="285750" indent="-285750">
              <a:buFont typeface="Arial" panose="020B0604020202020204" pitchFamily="34" charset="0"/>
              <a:buChar char="•"/>
            </a:pPr>
            <a:endParaRPr lang="en-IN" dirty="0"/>
          </a:p>
        </p:txBody>
      </p:sp>
      <p:pic>
        <p:nvPicPr>
          <p:cNvPr id="5" name="Picture 4">
            <a:extLst>
              <a:ext uri="{FF2B5EF4-FFF2-40B4-BE49-F238E27FC236}">
                <a16:creationId xmlns:a16="http://schemas.microsoft.com/office/drawing/2014/main" id="{40DD5E10-743C-5316-7676-6E687BA9F811}"/>
              </a:ext>
            </a:extLst>
          </p:cNvPr>
          <p:cNvPicPr>
            <a:picLocks noChangeAspect="1"/>
          </p:cNvPicPr>
          <p:nvPr/>
        </p:nvPicPr>
        <p:blipFill>
          <a:blip r:embed="rId2"/>
          <a:stretch>
            <a:fillRect/>
          </a:stretch>
        </p:blipFill>
        <p:spPr>
          <a:xfrm>
            <a:off x="6735508" y="1321739"/>
            <a:ext cx="2320001" cy="2650703"/>
          </a:xfrm>
          <a:prstGeom prst="rect">
            <a:avLst/>
          </a:prstGeom>
        </p:spPr>
      </p:pic>
    </p:spTree>
    <p:extLst>
      <p:ext uri="{BB962C8B-B14F-4D97-AF65-F5344CB8AC3E}">
        <p14:creationId xmlns:p14="http://schemas.microsoft.com/office/powerpoint/2010/main" val="20513058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Placeholder 8" descr="A close-up of a colorful swirl&#10;&#10;Description automatically generated">
            <a:extLst>
              <a:ext uri="{FF2B5EF4-FFF2-40B4-BE49-F238E27FC236}">
                <a16:creationId xmlns:a16="http://schemas.microsoft.com/office/drawing/2014/main" id="{92BB618F-20D8-D500-F22F-6DC91B9B3D2F}"/>
              </a:ext>
            </a:extLst>
          </p:cNvPr>
          <p:cNvPicPr>
            <a:picLocks noGrp="1" noChangeAspect="1"/>
          </p:cNvPicPr>
          <p:nvPr>
            <p:ph type="pic" sz="quarter" idx="4294967295"/>
          </p:nvPr>
        </p:nvPicPr>
        <p:blipFill rotWithShape="1">
          <a:blip r:embed="rId2">
            <a:alphaModFix amt="40000"/>
          </a:blip>
          <a:srcRect b="1747"/>
          <a:stretch/>
        </p:blipFill>
        <p:spPr>
          <a:xfrm>
            <a:off x="0" y="0"/>
            <a:ext cx="9144000" cy="5143500"/>
          </a:xfrm>
          <a:prstGeom prst="rect">
            <a:avLst/>
          </a:prstGeom>
        </p:spPr>
      </p:pic>
      <p:sp>
        <p:nvSpPr>
          <p:cNvPr id="2" name="Title 1">
            <a:extLst>
              <a:ext uri="{FF2B5EF4-FFF2-40B4-BE49-F238E27FC236}">
                <a16:creationId xmlns:a16="http://schemas.microsoft.com/office/drawing/2014/main" id="{A162A728-15BF-FB7A-792A-E7371AA6CF26}"/>
              </a:ext>
            </a:extLst>
          </p:cNvPr>
          <p:cNvSpPr>
            <a:spLocks noGrp="1"/>
          </p:cNvSpPr>
          <p:nvPr>
            <p:ph type="ctrTitle" idx="4294967295"/>
          </p:nvPr>
        </p:nvSpPr>
        <p:spPr>
          <a:xfrm>
            <a:off x="0" y="723900"/>
            <a:ext cx="7696200" cy="2673350"/>
          </a:xfrm>
        </p:spPr>
        <p:txBody>
          <a:bodyPr vert="horz" lIns="91440" tIns="45720" rIns="91440" bIns="45720" rtlCol="0" anchor="b">
            <a:normAutofit/>
          </a:bodyPr>
          <a:lstStyle/>
          <a:p>
            <a:r>
              <a:rPr lang="en-US" sz="8600">
                <a:ln w="22225">
                  <a:solidFill>
                    <a:schemeClr val="tx1"/>
                  </a:solidFill>
                  <a:miter lim="800000"/>
                </a:ln>
                <a:noFill/>
                <a:latin typeface="+mj-lt"/>
              </a:rPr>
              <a:t>Resource Quota</a:t>
            </a:r>
          </a:p>
        </p:txBody>
      </p:sp>
    </p:spTree>
    <p:extLst>
      <p:ext uri="{BB962C8B-B14F-4D97-AF65-F5344CB8AC3E}">
        <p14:creationId xmlns:p14="http://schemas.microsoft.com/office/powerpoint/2010/main" val="330100698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CC659-0309-ECD7-FAAB-82A7E6AB43DD}"/>
              </a:ext>
            </a:extLst>
          </p:cNvPr>
          <p:cNvSpPr>
            <a:spLocks noGrp="1"/>
          </p:cNvSpPr>
          <p:nvPr>
            <p:ph type="title" idx="4294967295"/>
          </p:nvPr>
        </p:nvSpPr>
        <p:spPr>
          <a:xfrm>
            <a:off x="0" y="274638"/>
            <a:ext cx="7886700" cy="993775"/>
          </a:xfrm>
        </p:spPr>
        <p:txBody>
          <a:bodyPr/>
          <a:lstStyle/>
          <a:p>
            <a:r>
              <a:rPr lang="en-IN" dirty="0"/>
              <a:t>Resource Quota</a:t>
            </a:r>
          </a:p>
        </p:txBody>
      </p:sp>
      <p:sp>
        <p:nvSpPr>
          <p:cNvPr id="3" name="Slide Number Placeholder 2">
            <a:extLst>
              <a:ext uri="{FF2B5EF4-FFF2-40B4-BE49-F238E27FC236}">
                <a16:creationId xmlns:a16="http://schemas.microsoft.com/office/drawing/2014/main" id="{93C91B59-0915-5E4D-A435-0F61275F2597}"/>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42</a:t>
            </a:fld>
            <a:endParaRPr lang="en-GB"/>
          </a:p>
        </p:txBody>
      </p:sp>
      <p:sp>
        <p:nvSpPr>
          <p:cNvPr id="4" name="Rectangle 3">
            <a:extLst>
              <a:ext uri="{FF2B5EF4-FFF2-40B4-BE49-F238E27FC236}">
                <a16:creationId xmlns:a16="http://schemas.microsoft.com/office/drawing/2014/main" id="{1E0FB95F-649C-0898-DEE1-FFEC01668A69}"/>
              </a:ext>
            </a:extLst>
          </p:cNvPr>
          <p:cNvSpPr/>
          <p:nvPr/>
        </p:nvSpPr>
        <p:spPr>
          <a:xfrm>
            <a:off x="479323" y="1614949"/>
            <a:ext cx="1902542" cy="678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Namespace</a:t>
            </a:r>
          </a:p>
        </p:txBody>
      </p:sp>
      <p:sp>
        <p:nvSpPr>
          <p:cNvPr id="5" name="Rectangle 4">
            <a:extLst>
              <a:ext uri="{FF2B5EF4-FFF2-40B4-BE49-F238E27FC236}">
                <a16:creationId xmlns:a16="http://schemas.microsoft.com/office/drawing/2014/main" id="{39630503-41B2-C777-1501-6BA4715D2B89}"/>
              </a:ext>
            </a:extLst>
          </p:cNvPr>
          <p:cNvSpPr/>
          <p:nvPr/>
        </p:nvSpPr>
        <p:spPr>
          <a:xfrm>
            <a:off x="2632588" y="1614949"/>
            <a:ext cx="6445044" cy="678425"/>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A namespace is a virtual cluster within a Kubernetes cluster that provides a way to divide and isolate resources. Resource quotas are applied at the namespace level.</a:t>
            </a:r>
            <a:endParaRPr lang="en-IN" dirty="0"/>
          </a:p>
        </p:txBody>
      </p:sp>
      <p:sp>
        <p:nvSpPr>
          <p:cNvPr id="6" name="Rectangle 5">
            <a:extLst>
              <a:ext uri="{FF2B5EF4-FFF2-40B4-BE49-F238E27FC236}">
                <a16:creationId xmlns:a16="http://schemas.microsoft.com/office/drawing/2014/main" id="{1130BCFC-C761-CCC3-7332-6C0B3324CAED}"/>
              </a:ext>
            </a:extLst>
          </p:cNvPr>
          <p:cNvSpPr/>
          <p:nvPr/>
        </p:nvSpPr>
        <p:spPr>
          <a:xfrm>
            <a:off x="479323" y="2445212"/>
            <a:ext cx="1902542" cy="9174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Resource Types</a:t>
            </a:r>
          </a:p>
        </p:txBody>
      </p:sp>
      <p:sp>
        <p:nvSpPr>
          <p:cNvPr id="7" name="Rectangle 6">
            <a:extLst>
              <a:ext uri="{FF2B5EF4-FFF2-40B4-BE49-F238E27FC236}">
                <a16:creationId xmlns:a16="http://schemas.microsoft.com/office/drawing/2014/main" id="{B0E9DCC1-0E67-28DD-BE1B-03E5F1C1169B}"/>
              </a:ext>
            </a:extLst>
          </p:cNvPr>
          <p:cNvSpPr/>
          <p:nvPr/>
        </p:nvSpPr>
        <p:spPr>
          <a:xfrm>
            <a:off x="2632588" y="2445212"/>
            <a:ext cx="6445044" cy="917420"/>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Kubernetes allows you to define quotas for various resource types, including CPU (measured in CPU units or cores) and memory (measured in bytes or other units). Quotas can also be set for persistent volume claims and the number of objects like pods, services, and secrets.</a:t>
            </a:r>
            <a:endParaRPr lang="en-IN" dirty="0"/>
          </a:p>
        </p:txBody>
      </p:sp>
      <p:sp>
        <p:nvSpPr>
          <p:cNvPr id="8" name="Rectangle 7">
            <a:extLst>
              <a:ext uri="{FF2B5EF4-FFF2-40B4-BE49-F238E27FC236}">
                <a16:creationId xmlns:a16="http://schemas.microsoft.com/office/drawing/2014/main" id="{5CF85EED-C221-5A58-F68A-8BF11FBB0557}"/>
              </a:ext>
            </a:extLst>
          </p:cNvPr>
          <p:cNvSpPr/>
          <p:nvPr/>
        </p:nvSpPr>
        <p:spPr>
          <a:xfrm>
            <a:off x="498984" y="3581405"/>
            <a:ext cx="1902542" cy="678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Quota Specifications</a:t>
            </a:r>
          </a:p>
        </p:txBody>
      </p:sp>
      <p:sp>
        <p:nvSpPr>
          <p:cNvPr id="9" name="Rectangle 8">
            <a:extLst>
              <a:ext uri="{FF2B5EF4-FFF2-40B4-BE49-F238E27FC236}">
                <a16:creationId xmlns:a16="http://schemas.microsoft.com/office/drawing/2014/main" id="{B531925F-1200-90CD-7B9C-21F19C2DB548}"/>
              </a:ext>
            </a:extLst>
          </p:cNvPr>
          <p:cNvSpPr/>
          <p:nvPr/>
        </p:nvSpPr>
        <p:spPr>
          <a:xfrm>
            <a:off x="2652249" y="3581405"/>
            <a:ext cx="6445044" cy="678425"/>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A resource quota is defined by specifying the maximum amount of each resource that can be consumed within a namespace. For example, you can set a CPU limit of 4 cores and a memory limit of 8 GB for a particular namespace.</a:t>
            </a:r>
            <a:endParaRPr lang="en-IN" dirty="0"/>
          </a:p>
        </p:txBody>
      </p:sp>
    </p:spTree>
    <p:extLst>
      <p:ext uri="{BB962C8B-B14F-4D97-AF65-F5344CB8AC3E}">
        <p14:creationId xmlns:p14="http://schemas.microsoft.com/office/powerpoint/2010/main" val="28893405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951FC-2541-4F29-27CF-3130A80B6FC3}"/>
              </a:ext>
            </a:extLst>
          </p:cNvPr>
          <p:cNvSpPr>
            <a:spLocks noGrp="1"/>
          </p:cNvSpPr>
          <p:nvPr>
            <p:ph type="title" idx="4294967295"/>
          </p:nvPr>
        </p:nvSpPr>
        <p:spPr>
          <a:xfrm>
            <a:off x="0" y="274638"/>
            <a:ext cx="7886700" cy="993775"/>
          </a:xfrm>
        </p:spPr>
        <p:txBody>
          <a:bodyPr/>
          <a:lstStyle/>
          <a:p>
            <a:r>
              <a:rPr lang="en-IN" dirty="0"/>
              <a:t>Continue…</a:t>
            </a:r>
          </a:p>
        </p:txBody>
      </p:sp>
      <p:sp>
        <p:nvSpPr>
          <p:cNvPr id="3" name="Slide Number Placeholder 2">
            <a:extLst>
              <a:ext uri="{FF2B5EF4-FFF2-40B4-BE49-F238E27FC236}">
                <a16:creationId xmlns:a16="http://schemas.microsoft.com/office/drawing/2014/main" id="{02B7AE92-5F5B-06BD-E9D2-139B60FE2B98}"/>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43</a:t>
            </a:fld>
            <a:endParaRPr lang="en-GB"/>
          </a:p>
        </p:txBody>
      </p:sp>
      <p:sp>
        <p:nvSpPr>
          <p:cNvPr id="4" name="Rectangle 3">
            <a:extLst>
              <a:ext uri="{FF2B5EF4-FFF2-40B4-BE49-F238E27FC236}">
                <a16:creationId xmlns:a16="http://schemas.microsoft.com/office/drawing/2014/main" id="{BB4CF87A-F72D-1FEA-7E04-C9E2F13A00A0}"/>
              </a:ext>
            </a:extLst>
          </p:cNvPr>
          <p:cNvSpPr/>
          <p:nvPr/>
        </p:nvSpPr>
        <p:spPr>
          <a:xfrm>
            <a:off x="432616" y="1133175"/>
            <a:ext cx="1902542" cy="11159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Hard and Soft Limits</a:t>
            </a:r>
          </a:p>
        </p:txBody>
      </p:sp>
      <p:sp>
        <p:nvSpPr>
          <p:cNvPr id="5" name="Rectangle 4">
            <a:extLst>
              <a:ext uri="{FF2B5EF4-FFF2-40B4-BE49-F238E27FC236}">
                <a16:creationId xmlns:a16="http://schemas.microsoft.com/office/drawing/2014/main" id="{72777B20-6FE4-39B7-38FA-AFEB3B487F73}"/>
              </a:ext>
            </a:extLst>
          </p:cNvPr>
          <p:cNvSpPr/>
          <p:nvPr/>
        </p:nvSpPr>
        <p:spPr>
          <a:xfrm>
            <a:off x="2585881" y="1133175"/>
            <a:ext cx="6445044" cy="1115956"/>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Quota specifications can have both hard and soft limits. The hard limit defines the maximum allowed resource usage and once reached, it prevents any further resource allocation. The soft limit, also known as the “quota limit,” serves as a warning threshold. It triggers notifications but doesn’t enforce any action.</a:t>
            </a:r>
            <a:endParaRPr lang="en-IN" dirty="0"/>
          </a:p>
        </p:txBody>
      </p:sp>
      <p:sp>
        <p:nvSpPr>
          <p:cNvPr id="6" name="Rectangle 5">
            <a:extLst>
              <a:ext uri="{FF2B5EF4-FFF2-40B4-BE49-F238E27FC236}">
                <a16:creationId xmlns:a16="http://schemas.microsoft.com/office/drawing/2014/main" id="{21E4636E-F2E3-ED81-F3A1-ED506A7950EF}"/>
              </a:ext>
            </a:extLst>
          </p:cNvPr>
          <p:cNvSpPr/>
          <p:nvPr/>
        </p:nvSpPr>
        <p:spPr>
          <a:xfrm>
            <a:off x="442453" y="2344993"/>
            <a:ext cx="1902542" cy="993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Request and Limit</a:t>
            </a:r>
          </a:p>
        </p:txBody>
      </p:sp>
      <p:sp>
        <p:nvSpPr>
          <p:cNvPr id="7" name="Rectangle 6">
            <a:extLst>
              <a:ext uri="{FF2B5EF4-FFF2-40B4-BE49-F238E27FC236}">
                <a16:creationId xmlns:a16="http://schemas.microsoft.com/office/drawing/2014/main" id="{98DF7CD3-5FD6-DD8A-3E2F-0E86BEAC286E}"/>
              </a:ext>
            </a:extLst>
          </p:cNvPr>
          <p:cNvSpPr/>
          <p:nvPr/>
        </p:nvSpPr>
        <p:spPr>
          <a:xfrm>
            <a:off x="2595718" y="2344993"/>
            <a:ext cx="6445044" cy="995519"/>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In Kubernetes, each pod specifies the amount of CPU and memory it requests (known as “request”) and the maximum it can consume (known as “limit”). The sum of requests and limits of all pods within a namespace is used to calculate resource utilization against the quota.</a:t>
            </a:r>
            <a:endParaRPr lang="en-IN" dirty="0"/>
          </a:p>
        </p:txBody>
      </p:sp>
      <p:sp>
        <p:nvSpPr>
          <p:cNvPr id="8" name="Rectangle 7">
            <a:extLst>
              <a:ext uri="{FF2B5EF4-FFF2-40B4-BE49-F238E27FC236}">
                <a16:creationId xmlns:a16="http://schemas.microsoft.com/office/drawing/2014/main" id="{982E1F1C-EE9E-6EA2-8F56-1B36B5F8606D}"/>
              </a:ext>
            </a:extLst>
          </p:cNvPr>
          <p:cNvSpPr/>
          <p:nvPr/>
        </p:nvSpPr>
        <p:spPr>
          <a:xfrm>
            <a:off x="425247" y="3441288"/>
            <a:ext cx="1902542" cy="8062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Resource Quota Enforcement</a:t>
            </a:r>
          </a:p>
        </p:txBody>
      </p:sp>
      <p:sp>
        <p:nvSpPr>
          <p:cNvPr id="9" name="Rectangle 8">
            <a:extLst>
              <a:ext uri="{FF2B5EF4-FFF2-40B4-BE49-F238E27FC236}">
                <a16:creationId xmlns:a16="http://schemas.microsoft.com/office/drawing/2014/main" id="{C5A0AD61-C927-D735-C9A5-A9549A134A3E}"/>
              </a:ext>
            </a:extLst>
          </p:cNvPr>
          <p:cNvSpPr/>
          <p:nvPr/>
        </p:nvSpPr>
        <p:spPr>
          <a:xfrm>
            <a:off x="2578512" y="3441288"/>
            <a:ext cx="6445044" cy="806247"/>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Kubernetes enforces resource quotas by rejecting new pod creations or updates that exceed the defined limits. Pods already running before the quota is enforced continue to run but are not allowed to exceed the limits.</a:t>
            </a:r>
            <a:endParaRPr lang="en-IN" dirty="0"/>
          </a:p>
        </p:txBody>
      </p:sp>
    </p:spTree>
    <p:extLst>
      <p:ext uri="{BB962C8B-B14F-4D97-AF65-F5344CB8AC3E}">
        <p14:creationId xmlns:p14="http://schemas.microsoft.com/office/powerpoint/2010/main" val="27531643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5D2DC-4229-041D-ACEE-F31ECD16B5A9}"/>
              </a:ext>
            </a:extLst>
          </p:cNvPr>
          <p:cNvSpPr>
            <a:spLocks noGrp="1"/>
          </p:cNvSpPr>
          <p:nvPr>
            <p:ph type="title" idx="4294967295"/>
          </p:nvPr>
        </p:nvSpPr>
        <p:spPr>
          <a:xfrm>
            <a:off x="0" y="274638"/>
            <a:ext cx="7886700" cy="993775"/>
          </a:xfrm>
        </p:spPr>
        <p:txBody>
          <a:bodyPr/>
          <a:lstStyle/>
          <a:p>
            <a:r>
              <a:rPr lang="en-IN" dirty="0"/>
              <a:t>Again continue…</a:t>
            </a:r>
          </a:p>
        </p:txBody>
      </p:sp>
      <p:sp>
        <p:nvSpPr>
          <p:cNvPr id="3" name="Slide Number Placeholder 2">
            <a:extLst>
              <a:ext uri="{FF2B5EF4-FFF2-40B4-BE49-F238E27FC236}">
                <a16:creationId xmlns:a16="http://schemas.microsoft.com/office/drawing/2014/main" id="{692C60C5-0BA9-3DA2-87CE-531F615F4254}"/>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44</a:t>
            </a:fld>
            <a:endParaRPr lang="en-GB"/>
          </a:p>
        </p:txBody>
      </p:sp>
      <p:sp>
        <p:nvSpPr>
          <p:cNvPr id="4" name="Rectangle 3">
            <a:extLst>
              <a:ext uri="{FF2B5EF4-FFF2-40B4-BE49-F238E27FC236}">
                <a16:creationId xmlns:a16="http://schemas.microsoft.com/office/drawing/2014/main" id="{8873D75F-775F-7BA2-742E-3B988C645082}"/>
              </a:ext>
            </a:extLst>
          </p:cNvPr>
          <p:cNvSpPr/>
          <p:nvPr/>
        </p:nvSpPr>
        <p:spPr>
          <a:xfrm>
            <a:off x="479323" y="1334730"/>
            <a:ext cx="1312606" cy="8849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Resource Quota Scopes</a:t>
            </a:r>
          </a:p>
        </p:txBody>
      </p:sp>
      <p:sp>
        <p:nvSpPr>
          <p:cNvPr id="5" name="Rectangle 4">
            <a:extLst>
              <a:ext uri="{FF2B5EF4-FFF2-40B4-BE49-F238E27FC236}">
                <a16:creationId xmlns:a16="http://schemas.microsoft.com/office/drawing/2014/main" id="{9B598ECE-278D-337B-0261-6B2BD2661A4F}"/>
              </a:ext>
            </a:extLst>
          </p:cNvPr>
          <p:cNvSpPr/>
          <p:nvPr/>
        </p:nvSpPr>
        <p:spPr>
          <a:xfrm>
            <a:off x="1909917" y="1334730"/>
            <a:ext cx="4446638" cy="884903"/>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Kubernetes supports two types of quota scopes. Cluster-scoped quotas apply to all namespaces in the cluster, while namespace-scoped quotas are specific to a particular namespace.</a:t>
            </a:r>
            <a:endParaRPr lang="en-IN" dirty="0"/>
          </a:p>
        </p:txBody>
      </p:sp>
      <p:pic>
        <p:nvPicPr>
          <p:cNvPr id="6" name="Picture 5">
            <a:extLst>
              <a:ext uri="{FF2B5EF4-FFF2-40B4-BE49-F238E27FC236}">
                <a16:creationId xmlns:a16="http://schemas.microsoft.com/office/drawing/2014/main" id="{7A273A8C-51FC-1046-3855-A3BCABB80EB0}"/>
              </a:ext>
            </a:extLst>
          </p:cNvPr>
          <p:cNvPicPr>
            <a:picLocks noChangeAspect="1"/>
          </p:cNvPicPr>
          <p:nvPr/>
        </p:nvPicPr>
        <p:blipFill>
          <a:blip r:embed="rId2"/>
          <a:stretch>
            <a:fillRect/>
          </a:stretch>
        </p:blipFill>
        <p:spPr>
          <a:xfrm>
            <a:off x="1975389" y="2571750"/>
            <a:ext cx="3208781" cy="2476487"/>
          </a:xfrm>
          <a:prstGeom prst="rect">
            <a:avLst/>
          </a:prstGeom>
        </p:spPr>
      </p:pic>
      <p:pic>
        <p:nvPicPr>
          <p:cNvPr id="8" name="Picture 7">
            <a:extLst>
              <a:ext uri="{FF2B5EF4-FFF2-40B4-BE49-F238E27FC236}">
                <a16:creationId xmlns:a16="http://schemas.microsoft.com/office/drawing/2014/main" id="{988F5A90-2F2E-2006-0CC8-B0005172F193}"/>
              </a:ext>
            </a:extLst>
          </p:cNvPr>
          <p:cNvPicPr>
            <a:picLocks noChangeAspect="1"/>
          </p:cNvPicPr>
          <p:nvPr/>
        </p:nvPicPr>
        <p:blipFill>
          <a:blip r:embed="rId3"/>
          <a:stretch>
            <a:fillRect/>
          </a:stretch>
        </p:blipFill>
        <p:spPr>
          <a:xfrm>
            <a:off x="6843030" y="444960"/>
            <a:ext cx="1643293" cy="4584240"/>
          </a:xfrm>
          <a:prstGeom prst="rect">
            <a:avLst/>
          </a:prstGeom>
        </p:spPr>
      </p:pic>
    </p:spTree>
    <p:extLst>
      <p:ext uri="{BB962C8B-B14F-4D97-AF65-F5344CB8AC3E}">
        <p14:creationId xmlns:p14="http://schemas.microsoft.com/office/powerpoint/2010/main" val="17744558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E6982-A7AA-C089-14A8-7D843B80FAB9}"/>
              </a:ext>
            </a:extLst>
          </p:cNvPr>
          <p:cNvSpPr>
            <a:spLocks noGrp="1"/>
          </p:cNvSpPr>
          <p:nvPr>
            <p:ph type="title" idx="4294967295"/>
          </p:nvPr>
        </p:nvSpPr>
        <p:spPr>
          <a:xfrm>
            <a:off x="0" y="274638"/>
            <a:ext cx="7886700" cy="993775"/>
          </a:xfrm>
        </p:spPr>
        <p:txBody>
          <a:bodyPr/>
          <a:lstStyle/>
          <a:p>
            <a:r>
              <a:rPr lang="en-IN" dirty="0"/>
              <a:t>Request &amp; Limits</a:t>
            </a:r>
          </a:p>
        </p:txBody>
      </p:sp>
      <p:sp>
        <p:nvSpPr>
          <p:cNvPr id="3" name="Slide Number Placeholder 2">
            <a:extLst>
              <a:ext uri="{FF2B5EF4-FFF2-40B4-BE49-F238E27FC236}">
                <a16:creationId xmlns:a16="http://schemas.microsoft.com/office/drawing/2014/main" id="{4191A6A6-F312-C93B-D8C4-E6C439C5113F}"/>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45</a:t>
            </a:fld>
            <a:endParaRPr lang="en-GB"/>
          </a:p>
        </p:txBody>
      </p:sp>
      <p:pic>
        <p:nvPicPr>
          <p:cNvPr id="5" name="Picture 4">
            <a:extLst>
              <a:ext uri="{FF2B5EF4-FFF2-40B4-BE49-F238E27FC236}">
                <a16:creationId xmlns:a16="http://schemas.microsoft.com/office/drawing/2014/main" id="{0944299C-DF90-5DDF-9195-A90A773158A4}"/>
              </a:ext>
            </a:extLst>
          </p:cNvPr>
          <p:cNvPicPr>
            <a:picLocks noChangeAspect="1"/>
          </p:cNvPicPr>
          <p:nvPr/>
        </p:nvPicPr>
        <p:blipFill>
          <a:blip r:embed="rId2"/>
          <a:stretch>
            <a:fillRect/>
          </a:stretch>
        </p:blipFill>
        <p:spPr>
          <a:xfrm>
            <a:off x="256836" y="1806839"/>
            <a:ext cx="2720576" cy="1928027"/>
          </a:xfrm>
          <a:prstGeom prst="rect">
            <a:avLst/>
          </a:prstGeom>
        </p:spPr>
      </p:pic>
      <p:pic>
        <p:nvPicPr>
          <p:cNvPr id="7" name="Picture 6">
            <a:extLst>
              <a:ext uri="{FF2B5EF4-FFF2-40B4-BE49-F238E27FC236}">
                <a16:creationId xmlns:a16="http://schemas.microsoft.com/office/drawing/2014/main" id="{0F1CE2D6-CE2B-C728-50B0-D8671840137D}"/>
              </a:ext>
            </a:extLst>
          </p:cNvPr>
          <p:cNvPicPr>
            <a:picLocks noChangeAspect="1"/>
          </p:cNvPicPr>
          <p:nvPr/>
        </p:nvPicPr>
        <p:blipFill>
          <a:blip r:embed="rId3"/>
          <a:stretch>
            <a:fillRect/>
          </a:stretch>
        </p:blipFill>
        <p:spPr>
          <a:xfrm>
            <a:off x="3037868" y="1806839"/>
            <a:ext cx="5671054" cy="1928026"/>
          </a:xfrm>
          <a:prstGeom prst="rect">
            <a:avLst/>
          </a:prstGeom>
        </p:spPr>
      </p:pic>
    </p:spTree>
    <p:extLst>
      <p:ext uri="{BB962C8B-B14F-4D97-AF65-F5344CB8AC3E}">
        <p14:creationId xmlns:p14="http://schemas.microsoft.com/office/powerpoint/2010/main" val="33629851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B62B7ED-4E9E-F404-D98D-5AA480A20770}"/>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46</a:t>
            </a:fld>
            <a:endParaRPr lang="en-GB"/>
          </a:p>
        </p:txBody>
      </p:sp>
      <p:pic>
        <p:nvPicPr>
          <p:cNvPr id="11" name="Picture 10">
            <a:extLst>
              <a:ext uri="{FF2B5EF4-FFF2-40B4-BE49-F238E27FC236}">
                <a16:creationId xmlns:a16="http://schemas.microsoft.com/office/drawing/2014/main" id="{38443FF0-DD47-E782-766B-0DCD3FB38C37}"/>
              </a:ext>
            </a:extLst>
          </p:cNvPr>
          <p:cNvPicPr>
            <a:picLocks noChangeAspect="1"/>
          </p:cNvPicPr>
          <p:nvPr/>
        </p:nvPicPr>
        <p:blipFill>
          <a:blip r:embed="rId2"/>
          <a:stretch>
            <a:fillRect/>
          </a:stretch>
        </p:blipFill>
        <p:spPr>
          <a:xfrm>
            <a:off x="330315" y="236538"/>
            <a:ext cx="8226249" cy="4067507"/>
          </a:xfrm>
          <a:prstGeom prst="rect">
            <a:avLst/>
          </a:prstGeom>
        </p:spPr>
      </p:pic>
    </p:spTree>
    <p:extLst>
      <p:ext uri="{BB962C8B-B14F-4D97-AF65-F5344CB8AC3E}">
        <p14:creationId xmlns:p14="http://schemas.microsoft.com/office/powerpoint/2010/main" val="25833660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421DD64-A64A-9D63-263B-315162B2AEFA}"/>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47</a:t>
            </a:fld>
            <a:endParaRPr lang="en-GB"/>
          </a:p>
        </p:txBody>
      </p:sp>
      <p:pic>
        <p:nvPicPr>
          <p:cNvPr id="5" name="Picture 4">
            <a:extLst>
              <a:ext uri="{FF2B5EF4-FFF2-40B4-BE49-F238E27FC236}">
                <a16:creationId xmlns:a16="http://schemas.microsoft.com/office/drawing/2014/main" id="{4463A67F-EE6F-6C1E-776E-E5DDB49C3CEB}"/>
              </a:ext>
            </a:extLst>
          </p:cNvPr>
          <p:cNvPicPr>
            <a:picLocks noChangeAspect="1"/>
          </p:cNvPicPr>
          <p:nvPr/>
        </p:nvPicPr>
        <p:blipFill>
          <a:blip r:embed="rId2"/>
          <a:stretch>
            <a:fillRect/>
          </a:stretch>
        </p:blipFill>
        <p:spPr>
          <a:xfrm>
            <a:off x="311638" y="236538"/>
            <a:ext cx="8550381" cy="4313224"/>
          </a:xfrm>
          <a:prstGeom prst="rect">
            <a:avLst/>
          </a:prstGeom>
        </p:spPr>
      </p:pic>
    </p:spTree>
    <p:extLst>
      <p:ext uri="{BB962C8B-B14F-4D97-AF65-F5344CB8AC3E}">
        <p14:creationId xmlns:p14="http://schemas.microsoft.com/office/powerpoint/2010/main" val="20353411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E04B3-55C4-72C3-F2A4-CC903A065324}"/>
              </a:ext>
            </a:extLst>
          </p:cNvPr>
          <p:cNvSpPr>
            <a:spLocks noGrp="1"/>
          </p:cNvSpPr>
          <p:nvPr>
            <p:ph type="title" idx="4294967295"/>
          </p:nvPr>
        </p:nvSpPr>
        <p:spPr>
          <a:xfrm>
            <a:off x="0" y="274638"/>
            <a:ext cx="7886700" cy="993775"/>
          </a:xfrm>
        </p:spPr>
        <p:txBody>
          <a:bodyPr/>
          <a:lstStyle/>
          <a:p>
            <a:r>
              <a:rPr lang="en-IN" dirty="0"/>
              <a:t>Limit Range at Namespace level for POD</a:t>
            </a:r>
          </a:p>
        </p:txBody>
      </p:sp>
      <p:sp>
        <p:nvSpPr>
          <p:cNvPr id="3" name="Slide Number Placeholder 2">
            <a:extLst>
              <a:ext uri="{FF2B5EF4-FFF2-40B4-BE49-F238E27FC236}">
                <a16:creationId xmlns:a16="http://schemas.microsoft.com/office/drawing/2014/main" id="{48D8DED1-C0AB-5453-A771-05343AC7D4D9}"/>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48</a:t>
            </a:fld>
            <a:endParaRPr lang="en-GB"/>
          </a:p>
        </p:txBody>
      </p:sp>
      <p:pic>
        <p:nvPicPr>
          <p:cNvPr id="5" name="Picture 4">
            <a:extLst>
              <a:ext uri="{FF2B5EF4-FFF2-40B4-BE49-F238E27FC236}">
                <a16:creationId xmlns:a16="http://schemas.microsoft.com/office/drawing/2014/main" id="{19CD56B5-6B0C-4628-06CC-DD44D14B901E}"/>
              </a:ext>
            </a:extLst>
          </p:cNvPr>
          <p:cNvPicPr>
            <a:picLocks noChangeAspect="1"/>
          </p:cNvPicPr>
          <p:nvPr/>
        </p:nvPicPr>
        <p:blipFill>
          <a:blip r:embed="rId2"/>
          <a:stretch>
            <a:fillRect/>
          </a:stretch>
        </p:blipFill>
        <p:spPr>
          <a:xfrm>
            <a:off x="1487725" y="1402549"/>
            <a:ext cx="6063450" cy="3095639"/>
          </a:xfrm>
          <a:prstGeom prst="rect">
            <a:avLst/>
          </a:prstGeom>
        </p:spPr>
      </p:pic>
    </p:spTree>
    <p:extLst>
      <p:ext uri="{BB962C8B-B14F-4D97-AF65-F5344CB8AC3E}">
        <p14:creationId xmlns:p14="http://schemas.microsoft.com/office/powerpoint/2010/main" val="8177743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193EA-6DB1-0C1A-C992-2F5628151FC1}"/>
              </a:ext>
            </a:extLst>
          </p:cNvPr>
          <p:cNvSpPr>
            <a:spLocks noGrp="1"/>
          </p:cNvSpPr>
          <p:nvPr>
            <p:ph type="title" idx="4294967295"/>
          </p:nvPr>
        </p:nvSpPr>
        <p:spPr>
          <a:xfrm>
            <a:off x="0" y="274638"/>
            <a:ext cx="7886700" cy="993775"/>
          </a:xfrm>
        </p:spPr>
        <p:txBody>
          <a:bodyPr/>
          <a:lstStyle/>
          <a:p>
            <a:r>
              <a:rPr lang="en-IN" dirty="0"/>
              <a:t>How to evaluate resource quota in </a:t>
            </a:r>
            <a:r>
              <a:rPr lang="en-IN" dirty="0" err="1"/>
              <a:t>.Net</a:t>
            </a:r>
            <a:r>
              <a:rPr lang="en-IN" dirty="0"/>
              <a:t> Application</a:t>
            </a:r>
          </a:p>
        </p:txBody>
      </p:sp>
      <p:sp>
        <p:nvSpPr>
          <p:cNvPr id="3" name="Slide Number Placeholder 2">
            <a:extLst>
              <a:ext uri="{FF2B5EF4-FFF2-40B4-BE49-F238E27FC236}">
                <a16:creationId xmlns:a16="http://schemas.microsoft.com/office/drawing/2014/main" id="{3F7503F6-20BB-316B-D11F-04BF1FA46238}"/>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49</a:t>
            </a:fld>
            <a:endParaRPr lang="en-GB"/>
          </a:p>
        </p:txBody>
      </p:sp>
      <p:sp>
        <p:nvSpPr>
          <p:cNvPr id="4" name="Rectangle 3">
            <a:extLst>
              <a:ext uri="{FF2B5EF4-FFF2-40B4-BE49-F238E27FC236}">
                <a16:creationId xmlns:a16="http://schemas.microsoft.com/office/drawing/2014/main" id="{0C3CC38A-4A63-3C05-B831-443FA1F84C40}"/>
              </a:ext>
            </a:extLst>
          </p:cNvPr>
          <p:cNvSpPr/>
          <p:nvPr/>
        </p:nvSpPr>
        <p:spPr>
          <a:xfrm>
            <a:off x="479323" y="1614949"/>
            <a:ext cx="1902542" cy="678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Benchmark Your Application:</a:t>
            </a:r>
          </a:p>
        </p:txBody>
      </p:sp>
      <p:sp>
        <p:nvSpPr>
          <p:cNvPr id="5" name="Rectangle 4">
            <a:extLst>
              <a:ext uri="{FF2B5EF4-FFF2-40B4-BE49-F238E27FC236}">
                <a16:creationId xmlns:a16="http://schemas.microsoft.com/office/drawing/2014/main" id="{760F5638-E03E-1167-0246-17D60EB6831A}"/>
              </a:ext>
            </a:extLst>
          </p:cNvPr>
          <p:cNvSpPr/>
          <p:nvPr/>
        </p:nvSpPr>
        <p:spPr>
          <a:xfrm>
            <a:off x="2632588" y="1614949"/>
            <a:ext cx="6445044" cy="678425"/>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Start by benchmarking your application to understand its typical and peak resource usage. You can do this by running performance tests or load tests against your application in a controlled environment.</a:t>
            </a:r>
            <a:endParaRPr lang="en-IN" dirty="0"/>
          </a:p>
        </p:txBody>
      </p:sp>
      <p:sp>
        <p:nvSpPr>
          <p:cNvPr id="6" name="Rectangle 5">
            <a:extLst>
              <a:ext uri="{FF2B5EF4-FFF2-40B4-BE49-F238E27FC236}">
                <a16:creationId xmlns:a16="http://schemas.microsoft.com/office/drawing/2014/main" id="{69BED1D2-432A-ED85-6CA9-C84499CFB238}"/>
              </a:ext>
            </a:extLst>
          </p:cNvPr>
          <p:cNvSpPr/>
          <p:nvPr/>
        </p:nvSpPr>
        <p:spPr>
          <a:xfrm>
            <a:off x="469494" y="2453146"/>
            <a:ext cx="1902542" cy="678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Monitor Resource Usage</a:t>
            </a:r>
          </a:p>
        </p:txBody>
      </p:sp>
      <p:sp>
        <p:nvSpPr>
          <p:cNvPr id="7" name="Rectangle 6">
            <a:extLst>
              <a:ext uri="{FF2B5EF4-FFF2-40B4-BE49-F238E27FC236}">
                <a16:creationId xmlns:a16="http://schemas.microsoft.com/office/drawing/2014/main" id="{AC9FF6A0-C856-10CA-2B6F-D6363B8315CF}"/>
              </a:ext>
            </a:extLst>
          </p:cNvPr>
          <p:cNvSpPr/>
          <p:nvPr/>
        </p:nvSpPr>
        <p:spPr>
          <a:xfrm>
            <a:off x="2622759" y="2453146"/>
            <a:ext cx="6445044" cy="678425"/>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Deploy your application to a single pod in Kubernetes and monitor its resource usage under various loads. Use monitoring tools like Prometheus and Grafana to track the CPU and memory usage over time1.</a:t>
            </a:r>
            <a:endParaRPr lang="en-IN" dirty="0"/>
          </a:p>
        </p:txBody>
      </p:sp>
      <p:sp>
        <p:nvSpPr>
          <p:cNvPr id="8" name="Rectangle 7">
            <a:extLst>
              <a:ext uri="{FF2B5EF4-FFF2-40B4-BE49-F238E27FC236}">
                <a16:creationId xmlns:a16="http://schemas.microsoft.com/office/drawing/2014/main" id="{4E4336A8-0947-AA35-5557-4F863BDF8C12}"/>
              </a:ext>
            </a:extLst>
          </p:cNvPr>
          <p:cNvSpPr/>
          <p:nvPr/>
        </p:nvSpPr>
        <p:spPr>
          <a:xfrm>
            <a:off x="469494" y="3276599"/>
            <a:ext cx="1902542" cy="10962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Set Resource Requests and Limits</a:t>
            </a:r>
            <a:endParaRPr lang="en-IN" dirty="0"/>
          </a:p>
        </p:txBody>
      </p:sp>
      <p:sp>
        <p:nvSpPr>
          <p:cNvPr id="9" name="Rectangle 8">
            <a:extLst>
              <a:ext uri="{FF2B5EF4-FFF2-40B4-BE49-F238E27FC236}">
                <a16:creationId xmlns:a16="http://schemas.microsoft.com/office/drawing/2014/main" id="{2F994FCB-6080-959E-DEAB-8388CACFA360}"/>
              </a:ext>
            </a:extLst>
          </p:cNvPr>
          <p:cNvSpPr/>
          <p:nvPr/>
        </p:nvSpPr>
        <p:spPr>
          <a:xfrm>
            <a:off x="2622759" y="3276599"/>
            <a:ext cx="6445044" cy="1096298"/>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Based on the monitored data, set the resource requests to the average resource usage of your application and the limits to the maximum usage observed during peak loads. This will ensure that your application has enough resources while preventing it from consuming excessive resources that could affect other applications1.</a:t>
            </a:r>
            <a:endParaRPr lang="en-IN" dirty="0"/>
          </a:p>
        </p:txBody>
      </p:sp>
    </p:spTree>
    <p:extLst>
      <p:ext uri="{BB962C8B-B14F-4D97-AF65-F5344CB8AC3E}">
        <p14:creationId xmlns:p14="http://schemas.microsoft.com/office/powerpoint/2010/main" val="12829907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37241-A147-E290-6FE1-CADB24DBE670}"/>
              </a:ext>
            </a:extLst>
          </p:cNvPr>
          <p:cNvSpPr>
            <a:spLocks noGrp="1"/>
          </p:cNvSpPr>
          <p:nvPr>
            <p:ph type="title" idx="4294967295"/>
          </p:nvPr>
        </p:nvSpPr>
        <p:spPr>
          <a:xfrm>
            <a:off x="0" y="274638"/>
            <a:ext cx="7886700" cy="993775"/>
          </a:xfrm>
        </p:spPr>
        <p:txBody>
          <a:bodyPr/>
          <a:lstStyle/>
          <a:p>
            <a:r>
              <a:rPr lang="en-IN" dirty="0"/>
              <a:t>Continue…</a:t>
            </a:r>
          </a:p>
        </p:txBody>
      </p:sp>
      <p:sp>
        <p:nvSpPr>
          <p:cNvPr id="3" name="Slide Number Placeholder 2">
            <a:extLst>
              <a:ext uri="{FF2B5EF4-FFF2-40B4-BE49-F238E27FC236}">
                <a16:creationId xmlns:a16="http://schemas.microsoft.com/office/drawing/2014/main" id="{8F5048D4-DBB6-538D-8E1D-8CCF6633E978}"/>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50</a:t>
            </a:fld>
            <a:endParaRPr lang="en-GB"/>
          </a:p>
        </p:txBody>
      </p:sp>
      <p:sp>
        <p:nvSpPr>
          <p:cNvPr id="4" name="Rectangle 3">
            <a:extLst>
              <a:ext uri="{FF2B5EF4-FFF2-40B4-BE49-F238E27FC236}">
                <a16:creationId xmlns:a16="http://schemas.microsoft.com/office/drawing/2014/main" id="{A4BAD74E-CF4F-F74F-8EFD-FD7CAF70EBF8}"/>
              </a:ext>
            </a:extLst>
          </p:cNvPr>
          <p:cNvSpPr/>
          <p:nvPr/>
        </p:nvSpPr>
        <p:spPr>
          <a:xfrm>
            <a:off x="479323" y="1614949"/>
            <a:ext cx="1902542" cy="678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Use </a:t>
            </a:r>
            <a:r>
              <a:rPr lang="en-IN" dirty="0" err="1"/>
              <a:t>LimitRange</a:t>
            </a:r>
            <a:r>
              <a:rPr lang="en-IN" dirty="0"/>
              <a:t> and </a:t>
            </a:r>
            <a:r>
              <a:rPr lang="en-IN" dirty="0" err="1"/>
              <a:t>ResourceQuota</a:t>
            </a:r>
            <a:endParaRPr lang="en-IN" dirty="0"/>
          </a:p>
        </p:txBody>
      </p:sp>
      <p:sp>
        <p:nvSpPr>
          <p:cNvPr id="5" name="Rectangle 4">
            <a:extLst>
              <a:ext uri="{FF2B5EF4-FFF2-40B4-BE49-F238E27FC236}">
                <a16:creationId xmlns:a16="http://schemas.microsoft.com/office/drawing/2014/main" id="{D8AF467B-5AF7-6969-5585-A42E69AF9C51}"/>
              </a:ext>
            </a:extLst>
          </p:cNvPr>
          <p:cNvSpPr/>
          <p:nvPr/>
        </p:nvSpPr>
        <p:spPr>
          <a:xfrm>
            <a:off x="2632588" y="1614949"/>
            <a:ext cx="6445044" cy="678425"/>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Implement a </a:t>
            </a:r>
            <a:r>
              <a:rPr lang="en-US" dirty="0" err="1"/>
              <a:t>LimitRange</a:t>
            </a:r>
            <a:r>
              <a:rPr lang="en-US" dirty="0"/>
              <a:t> to set default CPU and memory requests and limits for all pods in a namespace if not specified. Then, define a </a:t>
            </a:r>
            <a:r>
              <a:rPr lang="en-US" dirty="0" err="1"/>
              <a:t>ResourceQuota</a:t>
            </a:r>
            <a:r>
              <a:rPr lang="en-US" dirty="0"/>
              <a:t> to enforce the total resource consumption for that namespace2.</a:t>
            </a:r>
            <a:endParaRPr lang="en-IN" dirty="0"/>
          </a:p>
        </p:txBody>
      </p:sp>
      <p:sp>
        <p:nvSpPr>
          <p:cNvPr id="6" name="Rectangle 5">
            <a:extLst>
              <a:ext uri="{FF2B5EF4-FFF2-40B4-BE49-F238E27FC236}">
                <a16:creationId xmlns:a16="http://schemas.microsoft.com/office/drawing/2014/main" id="{56C6CB8D-E204-7C35-2FD7-6635EDB09F70}"/>
              </a:ext>
            </a:extLst>
          </p:cNvPr>
          <p:cNvSpPr/>
          <p:nvPr/>
        </p:nvSpPr>
        <p:spPr>
          <a:xfrm>
            <a:off x="479323" y="2416944"/>
            <a:ext cx="1902542" cy="678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Iterate and Adjust</a:t>
            </a:r>
          </a:p>
        </p:txBody>
      </p:sp>
      <p:sp>
        <p:nvSpPr>
          <p:cNvPr id="7" name="Rectangle 6">
            <a:extLst>
              <a:ext uri="{FF2B5EF4-FFF2-40B4-BE49-F238E27FC236}">
                <a16:creationId xmlns:a16="http://schemas.microsoft.com/office/drawing/2014/main" id="{483B6F66-2C54-0131-DB42-C47AF3ED8B45}"/>
              </a:ext>
            </a:extLst>
          </p:cNvPr>
          <p:cNvSpPr/>
          <p:nvPr/>
        </p:nvSpPr>
        <p:spPr>
          <a:xfrm>
            <a:off x="2615380" y="2416945"/>
            <a:ext cx="6445044" cy="678425"/>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After applying the initial quotas, continue to monitor your application’s performance and resource usage. Adjust the quotas as necessary based on the observed data and any changes in </a:t>
            </a:r>
            <a:r>
              <a:rPr lang="en-US"/>
              <a:t>the application’s</a:t>
            </a:r>
            <a:r>
              <a:rPr lang="en-US" dirty="0"/>
              <a:t> behavior or workload.</a:t>
            </a:r>
            <a:endParaRPr lang="en-IN" dirty="0"/>
          </a:p>
        </p:txBody>
      </p:sp>
      <p:sp>
        <p:nvSpPr>
          <p:cNvPr id="8" name="Rectangle 7">
            <a:extLst>
              <a:ext uri="{FF2B5EF4-FFF2-40B4-BE49-F238E27FC236}">
                <a16:creationId xmlns:a16="http://schemas.microsoft.com/office/drawing/2014/main" id="{8085F5C2-4B87-0FFE-4CCF-679A7F90C010}"/>
              </a:ext>
            </a:extLst>
          </p:cNvPr>
          <p:cNvSpPr/>
          <p:nvPr/>
        </p:nvSpPr>
        <p:spPr>
          <a:xfrm>
            <a:off x="479323" y="3218940"/>
            <a:ext cx="1902542" cy="678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Consider Garbage Collection (GC) Configuration</a:t>
            </a:r>
          </a:p>
        </p:txBody>
      </p:sp>
      <p:sp>
        <p:nvSpPr>
          <p:cNvPr id="9" name="Rectangle 8">
            <a:extLst>
              <a:ext uri="{FF2B5EF4-FFF2-40B4-BE49-F238E27FC236}">
                <a16:creationId xmlns:a16="http://schemas.microsoft.com/office/drawing/2014/main" id="{A671DEAC-0F87-2689-B73D-89A22FC5DBB9}"/>
              </a:ext>
            </a:extLst>
          </p:cNvPr>
          <p:cNvSpPr/>
          <p:nvPr/>
        </p:nvSpPr>
        <p:spPr>
          <a:xfrm>
            <a:off x="2615380" y="3218941"/>
            <a:ext cx="6445044" cy="678425"/>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For .NET Core applications, you may need to configure the GC to work with the memory limits set by Kubernetes. You can do this by setting the </a:t>
            </a:r>
            <a:r>
              <a:rPr lang="en-US" dirty="0" err="1"/>
              <a:t>COMPlus_GCHeapHardLimit</a:t>
            </a:r>
            <a:r>
              <a:rPr lang="en-US" dirty="0"/>
              <a:t> environment variable to limit the heap size1.</a:t>
            </a:r>
            <a:endParaRPr lang="en-IN" dirty="0"/>
          </a:p>
        </p:txBody>
      </p:sp>
    </p:spTree>
    <p:extLst>
      <p:ext uri="{BB962C8B-B14F-4D97-AF65-F5344CB8AC3E}">
        <p14:creationId xmlns:p14="http://schemas.microsoft.com/office/powerpoint/2010/main" val="36752416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Placeholder 8" descr="A close-up of a colorful swirl&#10;&#10;Description automatically generated">
            <a:extLst>
              <a:ext uri="{FF2B5EF4-FFF2-40B4-BE49-F238E27FC236}">
                <a16:creationId xmlns:a16="http://schemas.microsoft.com/office/drawing/2014/main" id="{92BB618F-20D8-D500-F22F-6DC91B9B3D2F}"/>
              </a:ext>
            </a:extLst>
          </p:cNvPr>
          <p:cNvPicPr>
            <a:picLocks noGrp="1" noChangeAspect="1"/>
          </p:cNvPicPr>
          <p:nvPr>
            <p:ph type="pic" sz="quarter" idx="4294967295"/>
          </p:nvPr>
        </p:nvPicPr>
        <p:blipFill rotWithShape="1">
          <a:blip r:embed="rId3">
            <a:alphaModFix amt="40000"/>
          </a:blip>
          <a:srcRect b="1747"/>
          <a:stretch/>
        </p:blipFill>
        <p:spPr>
          <a:xfrm>
            <a:off x="0" y="0"/>
            <a:ext cx="9144000" cy="5143500"/>
          </a:xfrm>
          <a:prstGeom prst="rect">
            <a:avLst/>
          </a:prstGeom>
        </p:spPr>
      </p:pic>
      <p:sp>
        <p:nvSpPr>
          <p:cNvPr id="2" name="Title 1">
            <a:extLst>
              <a:ext uri="{FF2B5EF4-FFF2-40B4-BE49-F238E27FC236}">
                <a16:creationId xmlns:a16="http://schemas.microsoft.com/office/drawing/2014/main" id="{A162A728-15BF-FB7A-792A-E7371AA6CF26}"/>
              </a:ext>
            </a:extLst>
          </p:cNvPr>
          <p:cNvSpPr>
            <a:spLocks noGrp="1"/>
          </p:cNvSpPr>
          <p:nvPr>
            <p:ph type="ctrTitle" idx="4294967295"/>
          </p:nvPr>
        </p:nvSpPr>
        <p:spPr>
          <a:xfrm>
            <a:off x="0" y="723900"/>
            <a:ext cx="7696200" cy="2673350"/>
          </a:xfrm>
        </p:spPr>
        <p:txBody>
          <a:bodyPr vert="horz" lIns="91440" tIns="45720" rIns="91440" bIns="45720" rtlCol="0" anchor="b">
            <a:normAutofit/>
          </a:bodyPr>
          <a:lstStyle/>
          <a:p>
            <a:r>
              <a:rPr lang="en-US" sz="8600">
                <a:ln w="22225">
                  <a:solidFill>
                    <a:schemeClr val="tx1"/>
                  </a:solidFill>
                  <a:miter lim="800000"/>
                </a:ln>
                <a:noFill/>
                <a:latin typeface="+mj-lt"/>
              </a:rPr>
              <a:t>K8s Probes</a:t>
            </a:r>
          </a:p>
        </p:txBody>
      </p:sp>
    </p:spTree>
    <p:extLst>
      <p:ext uri="{BB962C8B-B14F-4D97-AF65-F5344CB8AC3E}">
        <p14:creationId xmlns:p14="http://schemas.microsoft.com/office/powerpoint/2010/main" val="326761122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AA043-840C-183E-C19B-649E3E99FA1E}"/>
              </a:ext>
            </a:extLst>
          </p:cNvPr>
          <p:cNvSpPr>
            <a:spLocks noGrp="1"/>
          </p:cNvSpPr>
          <p:nvPr>
            <p:ph type="title" idx="4294967295"/>
          </p:nvPr>
        </p:nvSpPr>
        <p:spPr>
          <a:xfrm>
            <a:off x="0" y="274638"/>
            <a:ext cx="7886700" cy="993775"/>
          </a:xfrm>
        </p:spPr>
        <p:txBody>
          <a:bodyPr/>
          <a:lstStyle/>
          <a:p>
            <a:r>
              <a:rPr lang="en-IN" dirty="0"/>
              <a:t>Start-Up Probe</a:t>
            </a:r>
          </a:p>
        </p:txBody>
      </p:sp>
      <p:sp>
        <p:nvSpPr>
          <p:cNvPr id="3" name="Slide Number Placeholder 2">
            <a:extLst>
              <a:ext uri="{FF2B5EF4-FFF2-40B4-BE49-F238E27FC236}">
                <a16:creationId xmlns:a16="http://schemas.microsoft.com/office/drawing/2014/main" id="{21D1068D-184B-3556-254D-8BE94F1FE8B7}"/>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52</a:t>
            </a:fld>
            <a:endParaRPr lang="en-GB"/>
          </a:p>
        </p:txBody>
      </p:sp>
      <p:pic>
        <p:nvPicPr>
          <p:cNvPr id="5" name="Picture 4">
            <a:extLst>
              <a:ext uri="{FF2B5EF4-FFF2-40B4-BE49-F238E27FC236}">
                <a16:creationId xmlns:a16="http://schemas.microsoft.com/office/drawing/2014/main" id="{5EE920F7-AD69-B722-6285-8445AD4A5F8B}"/>
              </a:ext>
            </a:extLst>
          </p:cNvPr>
          <p:cNvPicPr>
            <a:picLocks noChangeAspect="1"/>
          </p:cNvPicPr>
          <p:nvPr/>
        </p:nvPicPr>
        <p:blipFill>
          <a:blip r:embed="rId2"/>
          <a:stretch>
            <a:fillRect/>
          </a:stretch>
        </p:blipFill>
        <p:spPr>
          <a:xfrm>
            <a:off x="1288062" y="1398127"/>
            <a:ext cx="6380029" cy="3104483"/>
          </a:xfrm>
          <a:prstGeom prst="rect">
            <a:avLst/>
          </a:prstGeom>
        </p:spPr>
      </p:pic>
    </p:spTree>
    <p:extLst>
      <p:ext uri="{BB962C8B-B14F-4D97-AF65-F5344CB8AC3E}">
        <p14:creationId xmlns:p14="http://schemas.microsoft.com/office/powerpoint/2010/main" val="41609775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900A8-1242-E07E-6574-2070496B5A6C}"/>
              </a:ext>
            </a:extLst>
          </p:cNvPr>
          <p:cNvSpPr>
            <a:spLocks noGrp="1"/>
          </p:cNvSpPr>
          <p:nvPr>
            <p:ph type="title" idx="4294967295"/>
          </p:nvPr>
        </p:nvSpPr>
        <p:spPr>
          <a:xfrm>
            <a:off x="0" y="274638"/>
            <a:ext cx="7886700" cy="993775"/>
          </a:xfrm>
        </p:spPr>
        <p:txBody>
          <a:bodyPr/>
          <a:lstStyle/>
          <a:p>
            <a:r>
              <a:rPr lang="en-IN" dirty="0"/>
              <a:t>Start-up probe</a:t>
            </a:r>
          </a:p>
        </p:txBody>
      </p:sp>
      <p:sp>
        <p:nvSpPr>
          <p:cNvPr id="3" name="Slide Number Placeholder 2">
            <a:extLst>
              <a:ext uri="{FF2B5EF4-FFF2-40B4-BE49-F238E27FC236}">
                <a16:creationId xmlns:a16="http://schemas.microsoft.com/office/drawing/2014/main" id="{2BC37DCE-01C1-E22F-E5D9-964798DE3F70}"/>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53</a:t>
            </a:fld>
            <a:endParaRPr lang="en-GB"/>
          </a:p>
        </p:txBody>
      </p:sp>
      <p:sp>
        <p:nvSpPr>
          <p:cNvPr id="5" name="TextBox 4">
            <a:extLst>
              <a:ext uri="{FF2B5EF4-FFF2-40B4-BE49-F238E27FC236}">
                <a16:creationId xmlns:a16="http://schemas.microsoft.com/office/drawing/2014/main" id="{941DA99F-8DCB-CACB-C5BD-17E7DEF0F067}"/>
              </a:ext>
            </a:extLst>
          </p:cNvPr>
          <p:cNvSpPr txBox="1"/>
          <p:nvPr/>
        </p:nvSpPr>
        <p:spPr>
          <a:xfrm>
            <a:off x="589935" y="1487373"/>
            <a:ext cx="6445045" cy="738664"/>
          </a:xfrm>
          <a:prstGeom prst="rect">
            <a:avLst/>
          </a:prstGeom>
          <a:noFill/>
        </p:spPr>
        <p:txBody>
          <a:bodyPr wrap="square">
            <a:spAutoFit/>
          </a:bodyPr>
          <a:lstStyle/>
          <a:p>
            <a:r>
              <a:rPr lang="en-IN" dirty="0"/>
              <a:t>To know when a container application has started</a:t>
            </a:r>
          </a:p>
          <a:p>
            <a:r>
              <a:rPr lang="en-IN" dirty="0"/>
              <a:t>It disables liveness and readiness checks until it succeeds</a:t>
            </a:r>
          </a:p>
          <a:p>
            <a:r>
              <a:rPr lang="en-IN" dirty="0"/>
              <a:t>Can be used to adopt liveness checks on slow starting containers</a:t>
            </a:r>
          </a:p>
        </p:txBody>
      </p:sp>
    </p:spTree>
    <p:extLst>
      <p:ext uri="{BB962C8B-B14F-4D97-AF65-F5344CB8AC3E}">
        <p14:creationId xmlns:p14="http://schemas.microsoft.com/office/powerpoint/2010/main" val="71585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B0910-7B5B-5291-1997-E8725094B67A}"/>
              </a:ext>
            </a:extLst>
          </p:cNvPr>
          <p:cNvSpPr>
            <a:spLocks noGrp="1"/>
          </p:cNvSpPr>
          <p:nvPr>
            <p:ph type="title" idx="4294967295"/>
          </p:nvPr>
        </p:nvSpPr>
        <p:spPr>
          <a:xfrm>
            <a:off x="0" y="274638"/>
            <a:ext cx="7886700" cy="993775"/>
          </a:xfrm>
        </p:spPr>
        <p:txBody>
          <a:bodyPr/>
          <a:lstStyle/>
          <a:p>
            <a:r>
              <a:rPr lang="en-IN" dirty="0"/>
              <a:t>Liveness Probe</a:t>
            </a:r>
          </a:p>
        </p:txBody>
      </p:sp>
      <p:sp>
        <p:nvSpPr>
          <p:cNvPr id="3" name="Slide Number Placeholder 2">
            <a:extLst>
              <a:ext uri="{FF2B5EF4-FFF2-40B4-BE49-F238E27FC236}">
                <a16:creationId xmlns:a16="http://schemas.microsoft.com/office/drawing/2014/main" id="{1ED6650D-6AA4-090A-34D8-FC97DCA0F002}"/>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54</a:t>
            </a:fld>
            <a:endParaRPr lang="en-GB"/>
          </a:p>
        </p:txBody>
      </p:sp>
      <p:pic>
        <p:nvPicPr>
          <p:cNvPr id="5" name="Picture 4">
            <a:extLst>
              <a:ext uri="{FF2B5EF4-FFF2-40B4-BE49-F238E27FC236}">
                <a16:creationId xmlns:a16="http://schemas.microsoft.com/office/drawing/2014/main" id="{FD552616-A09A-2258-1E56-14C021084999}"/>
              </a:ext>
            </a:extLst>
          </p:cNvPr>
          <p:cNvPicPr>
            <a:picLocks noChangeAspect="1"/>
          </p:cNvPicPr>
          <p:nvPr/>
        </p:nvPicPr>
        <p:blipFill>
          <a:blip r:embed="rId2"/>
          <a:stretch>
            <a:fillRect/>
          </a:stretch>
        </p:blipFill>
        <p:spPr>
          <a:xfrm>
            <a:off x="1481309" y="1583548"/>
            <a:ext cx="5444244" cy="3048777"/>
          </a:xfrm>
          <a:prstGeom prst="rect">
            <a:avLst/>
          </a:prstGeom>
        </p:spPr>
      </p:pic>
    </p:spTree>
    <p:extLst>
      <p:ext uri="{BB962C8B-B14F-4D97-AF65-F5344CB8AC3E}">
        <p14:creationId xmlns:p14="http://schemas.microsoft.com/office/powerpoint/2010/main" val="39396321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E5263-30A3-0CFE-47FD-A60793190D6E}"/>
              </a:ext>
            </a:extLst>
          </p:cNvPr>
          <p:cNvSpPr>
            <a:spLocks noGrp="1"/>
          </p:cNvSpPr>
          <p:nvPr>
            <p:ph type="title" idx="4294967295"/>
          </p:nvPr>
        </p:nvSpPr>
        <p:spPr>
          <a:xfrm>
            <a:off x="0" y="274638"/>
            <a:ext cx="7886700" cy="993775"/>
          </a:xfrm>
        </p:spPr>
        <p:txBody>
          <a:bodyPr/>
          <a:lstStyle/>
          <a:p>
            <a:r>
              <a:rPr lang="en-IN" dirty="0"/>
              <a:t>Liveness Probe</a:t>
            </a:r>
          </a:p>
        </p:txBody>
      </p:sp>
      <p:sp>
        <p:nvSpPr>
          <p:cNvPr id="3" name="Slide Number Placeholder 2">
            <a:extLst>
              <a:ext uri="{FF2B5EF4-FFF2-40B4-BE49-F238E27FC236}">
                <a16:creationId xmlns:a16="http://schemas.microsoft.com/office/drawing/2014/main" id="{FDE35027-4D3C-5DDA-A679-704EAD0C894D}"/>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55</a:t>
            </a:fld>
            <a:endParaRPr lang="en-GB"/>
          </a:p>
        </p:txBody>
      </p:sp>
      <p:sp>
        <p:nvSpPr>
          <p:cNvPr id="5" name="TextBox 4">
            <a:extLst>
              <a:ext uri="{FF2B5EF4-FFF2-40B4-BE49-F238E27FC236}">
                <a16:creationId xmlns:a16="http://schemas.microsoft.com/office/drawing/2014/main" id="{CD320A64-777B-4714-995D-482F857D2BB8}"/>
              </a:ext>
            </a:extLst>
          </p:cNvPr>
          <p:cNvSpPr txBox="1"/>
          <p:nvPr/>
        </p:nvSpPr>
        <p:spPr>
          <a:xfrm>
            <a:off x="375077" y="1617643"/>
            <a:ext cx="3192905" cy="954107"/>
          </a:xfrm>
          <a:prstGeom prst="rect">
            <a:avLst/>
          </a:prstGeom>
          <a:noFill/>
        </p:spPr>
        <p:txBody>
          <a:bodyPr wrap="square">
            <a:spAutoFit/>
          </a:bodyPr>
          <a:lstStyle/>
          <a:p>
            <a:r>
              <a:rPr lang="en-IN" dirty="0"/>
              <a:t>Used by </a:t>
            </a:r>
            <a:r>
              <a:rPr lang="en-IN" dirty="0" err="1"/>
              <a:t>Kubelet</a:t>
            </a:r>
            <a:endParaRPr lang="en-IN" dirty="0"/>
          </a:p>
          <a:p>
            <a:r>
              <a:rPr lang="en-IN" dirty="0"/>
              <a:t>To know when to restart the container</a:t>
            </a:r>
          </a:p>
          <a:p>
            <a:r>
              <a:rPr lang="en-IN" dirty="0"/>
              <a:t>Catching a Deadlock</a:t>
            </a:r>
          </a:p>
          <a:p>
            <a:r>
              <a:rPr lang="en-IN" dirty="0"/>
              <a:t>Despite App’s Bugs</a:t>
            </a:r>
          </a:p>
        </p:txBody>
      </p:sp>
      <p:pic>
        <p:nvPicPr>
          <p:cNvPr id="6" name="Picture 5">
            <a:extLst>
              <a:ext uri="{FF2B5EF4-FFF2-40B4-BE49-F238E27FC236}">
                <a16:creationId xmlns:a16="http://schemas.microsoft.com/office/drawing/2014/main" id="{6044403D-7E60-2220-7E77-7C132E4A7B2E}"/>
              </a:ext>
            </a:extLst>
          </p:cNvPr>
          <p:cNvPicPr>
            <a:picLocks noChangeAspect="1"/>
          </p:cNvPicPr>
          <p:nvPr/>
        </p:nvPicPr>
        <p:blipFill>
          <a:blip r:embed="rId2"/>
          <a:stretch>
            <a:fillRect/>
          </a:stretch>
        </p:blipFill>
        <p:spPr>
          <a:xfrm>
            <a:off x="3508021" y="1617643"/>
            <a:ext cx="5635979" cy="1341432"/>
          </a:xfrm>
          <a:prstGeom prst="rect">
            <a:avLst/>
          </a:prstGeom>
        </p:spPr>
      </p:pic>
    </p:spTree>
    <p:extLst>
      <p:ext uri="{BB962C8B-B14F-4D97-AF65-F5344CB8AC3E}">
        <p14:creationId xmlns:p14="http://schemas.microsoft.com/office/powerpoint/2010/main" val="31782095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BFA23-6E5F-8481-C1EA-F97639BBDAB5}"/>
              </a:ext>
            </a:extLst>
          </p:cNvPr>
          <p:cNvSpPr>
            <a:spLocks noGrp="1"/>
          </p:cNvSpPr>
          <p:nvPr>
            <p:ph type="title" idx="4294967295"/>
          </p:nvPr>
        </p:nvSpPr>
        <p:spPr>
          <a:xfrm>
            <a:off x="0" y="274638"/>
            <a:ext cx="7886700" cy="993775"/>
          </a:xfrm>
        </p:spPr>
        <p:txBody>
          <a:bodyPr/>
          <a:lstStyle/>
          <a:p>
            <a:r>
              <a:rPr lang="en-IN" dirty="0"/>
              <a:t>Readiness Probe</a:t>
            </a:r>
          </a:p>
        </p:txBody>
      </p:sp>
      <p:sp>
        <p:nvSpPr>
          <p:cNvPr id="3" name="Slide Number Placeholder 2">
            <a:extLst>
              <a:ext uri="{FF2B5EF4-FFF2-40B4-BE49-F238E27FC236}">
                <a16:creationId xmlns:a16="http://schemas.microsoft.com/office/drawing/2014/main" id="{7A3D4631-8363-9BFA-7A24-C5053EC107D8}"/>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56</a:t>
            </a:fld>
            <a:endParaRPr lang="en-GB"/>
          </a:p>
        </p:txBody>
      </p:sp>
      <p:pic>
        <p:nvPicPr>
          <p:cNvPr id="5" name="Picture 4">
            <a:extLst>
              <a:ext uri="{FF2B5EF4-FFF2-40B4-BE49-F238E27FC236}">
                <a16:creationId xmlns:a16="http://schemas.microsoft.com/office/drawing/2014/main" id="{D66C0EFC-CDCC-8B75-06D9-3FF6CE914520}"/>
              </a:ext>
            </a:extLst>
          </p:cNvPr>
          <p:cNvPicPr>
            <a:picLocks noChangeAspect="1"/>
          </p:cNvPicPr>
          <p:nvPr/>
        </p:nvPicPr>
        <p:blipFill>
          <a:blip r:embed="rId2"/>
          <a:stretch>
            <a:fillRect/>
          </a:stretch>
        </p:blipFill>
        <p:spPr>
          <a:xfrm>
            <a:off x="1289155" y="1499053"/>
            <a:ext cx="6306264" cy="3369809"/>
          </a:xfrm>
          <a:prstGeom prst="rect">
            <a:avLst/>
          </a:prstGeom>
        </p:spPr>
      </p:pic>
    </p:spTree>
    <p:extLst>
      <p:ext uri="{BB962C8B-B14F-4D97-AF65-F5344CB8AC3E}">
        <p14:creationId xmlns:p14="http://schemas.microsoft.com/office/powerpoint/2010/main" val="12908648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88015-1359-3B54-CEF8-FFD4AFF3CB3D}"/>
              </a:ext>
            </a:extLst>
          </p:cNvPr>
          <p:cNvSpPr>
            <a:spLocks noGrp="1"/>
          </p:cNvSpPr>
          <p:nvPr>
            <p:ph type="title" idx="4294967295"/>
          </p:nvPr>
        </p:nvSpPr>
        <p:spPr>
          <a:xfrm>
            <a:off x="0" y="401638"/>
            <a:ext cx="2974975" cy="993775"/>
          </a:xfrm>
        </p:spPr>
        <p:txBody>
          <a:bodyPr/>
          <a:lstStyle/>
          <a:p>
            <a:r>
              <a:rPr lang="en-IN" dirty="0"/>
              <a:t>Readiness Probe</a:t>
            </a:r>
          </a:p>
        </p:txBody>
      </p:sp>
      <p:sp>
        <p:nvSpPr>
          <p:cNvPr id="3" name="Slide Number Placeholder 2">
            <a:extLst>
              <a:ext uri="{FF2B5EF4-FFF2-40B4-BE49-F238E27FC236}">
                <a16:creationId xmlns:a16="http://schemas.microsoft.com/office/drawing/2014/main" id="{5E222B86-815F-E51C-3950-A755D3F35EA1}"/>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57</a:t>
            </a:fld>
            <a:endParaRPr lang="en-GB"/>
          </a:p>
        </p:txBody>
      </p:sp>
      <p:sp>
        <p:nvSpPr>
          <p:cNvPr id="5" name="TextBox 4">
            <a:extLst>
              <a:ext uri="{FF2B5EF4-FFF2-40B4-BE49-F238E27FC236}">
                <a16:creationId xmlns:a16="http://schemas.microsoft.com/office/drawing/2014/main" id="{A0071E86-305B-F20C-6407-0CF8C3A12EE0}"/>
              </a:ext>
            </a:extLst>
          </p:cNvPr>
          <p:cNvSpPr txBox="1"/>
          <p:nvPr/>
        </p:nvSpPr>
        <p:spPr>
          <a:xfrm>
            <a:off x="375077" y="1701224"/>
            <a:ext cx="7515310" cy="2246769"/>
          </a:xfrm>
          <a:prstGeom prst="rect">
            <a:avLst/>
          </a:prstGeom>
          <a:noFill/>
        </p:spPr>
        <p:txBody>
          <a:bodyPr wrap="square">
            <a:spAutoFit/>
          </a:bodyPr>
          <a:lstStyle/>
          <a:p>
            <a:pPr marL="285750" indent="-285750">
              <a:buFont typeface="Arial" panose="020B0604020202020204" pitchFamily="34" charset="0"/>
              <a:buChar char="•"/>
            </a:pPr>
            <a:r>
              <a:rPr lang="en-IN" dirty="0"/>
              <a:t>Used by </a:t>
            </a:r>
            <a:r>
              <a:rPr lang="en-IN" dirty="0" err="1"/>
              <a:t>Kubelet</a:t>
            </a:r>
            <a:endParaRPr lang="en-IN" dirty="0"/>
          </a:p>
          <a:p>
            <a:pPr marL="285750" indent="-285750">
              <a:buFont typeface="Arial" panose="020B0604020202020204" pitchFamily="34" charset="0"/>
              <a:buChar char="•"/>
            </a:pPr>
            <a:r>
              <a:rPr lang="en-IN" dirty="0"/>
              <a:t>To know when a container is ready to start accepting traffic</a:t>
            </a:r>
          </a:p>
          <a:p>
            <a:pPr marL="285750" indent="-285750">
              <a:buFont typeface="Arial" panose="020B0604020202020204" pitchFamily="34" charset="0"/>
              <a:buChar char="•"/>
            </a:pPr>
            <a:r>
              <a:rPr lang="en-IN" dirty="0"/>
              <a:t>When all of its containers are ready</a:t>
            </a:r>
          </a:p>
          <a:p>
            <a:pPr marL="285750" indent="-285750">
              <a:buFont typeface="Arial" panose="020B0604020202020204" pitchFamily="34" charset="0"/>
              <a:buChar char="•"/>
            </a:pPr>
            <a:r>
              <a:rPr lang="en-US" dirty="0"/>
              <a:t>Unlike a liveness probe, a readiness probe doesn’t kill the container. If the readiness probe fails, Kubernetes simply hides the container’s Pod from corresponding Services, so that no traffic is redirected to it.</a:t>
            </a:r>
          </a:p>
          <a:p>
            <a:pPr marL="285750" indent="-285750">
              <a:buFont typeface="Arial" panose="020B0604020202020204" pitchFamily="34" charset="0"/>
              <a:buChar char="•"/>
            </a:pPr>
            <a:r>
              <a:rPr lang="en-US" dirty="0"/>
              <a:t>Liveness probes do not wait for readiness probes to succeed. If you want to wait before executing a liveness probe you should use </a:t>
            </a:r>
            <a:r>
              <a:rPr lang="en-US" dirty="0" err="1"/>
              <a:t>initialDelaySeconds</a:t>
            </a:r>
            <a:r>
              <a:rPr lang="en-US" dirty="0"/>
              <a:t> or </a:t>
            </a:r>
            <a:r>
              <a:rPr lang="en-US" dirty="0" err="1"/>
              <a:t>startupProbe</a:t>
            </a:r>
            <a:r>
              <a:rPr lang="en-US" dirty="0"/>
              <a:t>.</a:t>
            </a:r>
          </a:p>
          <a:p>
            <a:pPr marL="285750" indent="-285750">
              <a:buFont typeface="Arial" panose="020B0604020202020204" pitchFamily="34" charset="0"/>
              <a:buChar char="•"/>
            </a:pPr>
            <a:r>
              <a:rPr lang="en-US" dirty="0"/>
              <a:t>A side-effect of using Readiness Probes is that they can increase the time it takes to update Deployments.</a:t>
            </a:r>
            <a:endParaRPr lang="en-IN" dirty="0"/>
          </a:p>
        </p:txBody>
      </p:sp>
      <p:pic>
        <p:nvPicPr>
          <p:cNvPr id="6" name="Picture 5">
            <a:extLst>
              <a:ext uri="{FF2B5EF4-FFF2-40B4-BE49-F238E27FC236}">
                <a16:creationId xmlns:a16="http://schemas.microsoft.com/office/drawing/2014/main" id="{36DE7B0A-F07B-202C-3695-4FB35E9529B8}"/>
              </a:ext>
            </a:extLst>
          </p:cNvPr>
          <p:cNvPicPr>
            <a:picLocks noChangeAspect="1"/>
          </p:cNvPicPr>
          <p:nvPr/>
        </p:nvPicPr>
        <p:blipFill>
          <a:blip r:embed="rId2"/>
          <a:stretch>
            <a:fillRect/>
          </a:stretch>
        </p:blipFill>
        <p:spPr>
          <a:xfrm>
            <a:off x="3613447" y="334599"/>
            <a:ext cx="5530553" cy="1258065"/>
          </a:xfrm>
          <a:prstGeom prst="rect">
            <a:avLst/>
          </a:prstGeom>
        </p:spPr>
      </p:pic>
    </p:spTree>
    <p:extLst>
      <p:ext uri="{BB962C8B-B14F-4D97-AF65-F5344CB8AC3E}">
        <p14:creationId xmlns:p14="http://schemas.microsoft.com/office/powerpoint/2010/main" val="3496549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237A5-260D-B9E3-F954-884D2281297F}"/>
              </a:ext>
            </a:extLst>
          </p:cNvPr>
          <p:cNvSpPr>
            <a:spLocks noGrp="1"/>
          </p:cNvSpPr>
          <p:nvPr>
            <p:ph type="title" idx="4294967295"/>
          </p:nvPr>
        </p:nvSpPr>
        <p:spPr>
          <a:xfrm>
            <a:off x="0" y="-30163"/>
            <a:ext cx="7886700" cy="993776"/>
          </a:xfrm>
        </p:spPr>
        <p:txBody>
          <a:bodyPr/>
          <a:lstStyle/>
          <a:p>
            <a:r>
              <a:rPr lang="en-IN" dirty="0"/>
              <a:t>Container patterns</a:t>
            </a:r>
          </a:p>
        </p:txBody>
      </p:sp>
      <p:sp>
        <p:nvSpPr>
          <p:cNvPr id="3" name="Slide Number Placeholder 2">
            <a:extLst>
              <a:ext uri="{FF2B5EF4-FFF2-40B4-BE49-F238E27FC236}">
                <a16:creationId xmlns:a16="http://schemas.microsoft.com/office/drawing/2014/main" id="{92E28CF7-EAA4-16D4-0A11-E935EF53028E}"/>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58</a:t>
            </a:fld>
            <a:endParaRPr lang="en-GB"/>
          </a:p>
        </p:txBody>
      </p:sp>
      <p:graphicFrame>
        <p:nvGraphicFramePr>
          <p:cNvPr id="8" name="Table 7">
            <a:extLst>
              <a:ext uri="{FF2B5EF4-FFF2-40B4-BE49-F238E27FC236}">
                <a16:creationId xmlns:a16="http://schemas.microsoft.com/office/drawing/2014/main" id="{20DC3E67-3B67-DA38-B6BE-16525F518FE5}"/>
              </a:ext>
            </a:extLst>
          </p:cNvPr>
          <p:cNvGraphicFramePr>
            <a:graphicFrameLocks noGrp="1"/>
          </p:cNvGraphicFramePr>
          <p:nvPr>
            <p:extLst>
              <p:ext uri="{D42A27DB-BD31-4B8C-83A1-F6EECF244321}">
                <p14:modId xmlns:p14="http://schemas.microsoft.com/office/powerpoint/2010/main" val="475696951"/>
              </p:ext>
            </p:extLst>
          </p:nvPr>
        </p:nvGraphicFramePr>
        <p:xfrm>
          <a:off x="465018" y="1190130"/>
          <a:ext cx="4017041" cy="1965800"/>
        </p:xfrm>
        <a:graphic>
          <a:graphicData uri="http://schemas.openxmlformats.org/drawingml/2006/table">
            <a:tbl>
              <a:tblPr/>
              <a:tblGrid>
                <a:gridCol w="762106">
                  <a:extLst>
                    <a:ext uri="{9D8B030D-6E8A-4147-A177-3AD203B41FA5}">
                      <a16:colId xmlns:a16="http://schemas.microsoft.com/office/drawing/2014/main" val="2183131044"/>
                    </a:ext>
                  </a:extLst>
                </a:gridCol>
                <a:gridCol w="3254935">
                  <a:extLst>
                    <a:ext uri="{9D8B030D-6E8A-4147-A177-3AD203B41FA5}">
                      <a16:colId xmlns:a16="http://schemas.microsoft.com/office/drawing/2014/main" val="2577039354"/>
                    </a:ext>
                  </a:extLst>
                </a:gridCol>
              </a:tblGrid>
              <a:tr h="113228">
                <a:tc>
                  <a:txBody>
                    <a:bodyPr/>
                    <a:lstStyle/>
                    <a:p>
                      <a:pPr algn="l"/>
                      <a:r>
                        <a:rPr lang="en-IN" sz="1000">
                          <a:effectLst/>
                        </a:rPr>
                        <a:t>Pattern</a:t>
                      </a:r>
                    </a:p>
                  </a:txBody>
                  <a:tcPr marL="35079" marR="35079" marT="39463" marB="39463"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algn="l"/>
                      <a:r>
                        <a:rPr lang="en-IN" sz="1000">
                          <a:effectLst/>
                        </a:rPr>
                        <a:t>Description</a:t>
                      </a:r>
                    </a:p>
                  </a:txBody>
                  <a:tcPr marL="35079" marR="35079" marT="39463" marB="39463"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533073224"/>
                  </a:ext>
                </a:extLst>
              </a:tr>
              <a:tr h="390009">
                <a:tc>
                  <a:txBody>
                    <a:bodyPr/>
                    <a:lstStyle/>
                    <a:p>
                      <a:r>
                        <a:rPr lang="en-IN" sz="1000" b="1">
                          <a:effectLst/>
                        </a:rPr>
                        <a:t>Sidecar</a:t>
                      </a:r>
                      <a:endParaRPr lang="en-IN" sz="1000">
                        <a:effectLst/>
                      </a:endParaRPr>
                    </a:p>
                  </a:txBody>
                  <a:tcPr marL="35079" marR="35079" marT="35079" marB="35079"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r>
                        <a:rPr lang="en-US" sz="1000" dirty="0">
                          <a:effectLst/>
                        </a:rPr>
                        <a:t>An additional container in the same pod that enhances or extends the functionality of the main container. For example, a logging agent alongside the main application container.</a:t>
                      </a:r>
                    </a:p>
                  </a:txBody>
                  <a:tcPr marL="35079" marR="35079" marT="35079" marB="35079"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669214412"/>
                  </a:ext>
                </a:extLst>
              </a:tr>
              <a:tr h="446623">
                <a:tc>
                  <a:txBody>
                    <a:bodyPr/>
                    <a:lstStyle/>
                    <a:p>
                      <a:r>
                        <a:rPr lang="en-IN" sz="1000" b="1" dirty="0">
                          <a:effectLst/>
                        </a:rPr>
                        <a:t>Ambassador</a:t>
                      </a:r>
                      <a:endParaRPr lang="en-IN" sz="1000" dirty="0">
                        <a:effectLst/>
                      </a:endParaRPr>
                    </a:p>
                  </a:txBody>
                  <a:tcPr marL="35079" marR="35079" marT="35079" marB="35079"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r>
                        <a:rPr lang="en-US" sz="1000" dirty="0">
                          <a:effectLst/>
                        </a:rPr>
                        <a:t>A container that acts as a proxy to other parts of the system. It handles network connections for the main container. Common use cases include authentication to external services or proxying to a Redis caching cluster.</a:t>
                      </a:r>
                    </a:p>
                  </a:txBody>
                  <a:tcPr marL="35079" marR="35079" marT="35079" marB="35079"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42907660"/>
                  </a:ext>
                </a:extLst>
              </a:tr>
              <a:tr h="276781">
                <a:tc>
                  <a:txBody>
                    <a:bodyPr/>
                    <a:lstStyle/>
                    <a:p>
                      <a:r>
                        <a:rPr lang="en-IN" sz="1000" b="1" dirty="0">
                          <a:effectLst/>
                        </a:rPr>
                        <a:t>Adapter</a:t>
                      </a:r>
                      <a:endParaRPr lang="en-IN" sz="1000" dirty="0">
                        <a:effectLst/>
                      </a:endParaRPr>
                    </a:p>
                  </a:txBody>
                  <a:tcPr marL="35079" marR="35079" marT="35079" marB="35079"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r>
                        <a:rPr lang="en-US" sz="1000" dirty="0">
                          <a:effectLst/>
                        </a:rPr>
                        <a:t>A container that transforms the output of the main container. It modifies or adapts data before it’s sent out.</a:t>
                      </a:r>
                    </a:p>
                  </a:txBody>
                  <a:tcPr marL="35079" marR="35079" marT="35079" marB="35079"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920396034"/>
                  </a:ext>
                </a:extLst>
              </a:tr>
            </a:tbl>
          </a:graphicData>
        </a:graphic>
      </p:graphicFrame>
      <p:pic>
        <p:nvPicPr>
          <p:cNvPr id="1029" name="Picture 5" descr="Talk: Kubernetes multi-container patterns | Raghav Ramesh">
            <a:extLst>
              <a:ext uri="{FF2B5EF4-FFF2-40B4-BE49-F238E27FC236}">
                <a16:creationId xmlns:a16="http://schemas.microsoft.com/office/drawing/2014/main" id="{3AD0E507-8567-BCF0-1E35-C832FF670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267" y="3217515"/>
            <a:ext cx="4219733" cy="1925985"/>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Talk: Kubernetes multi-container patterns | Raghav Ramesh">
            <a:extLst>
              <a:ext uri="{FF2B5EF4-FFF2-40B4-BE49-F238E27FC236}">
                <a16:creationId xmlns:a16="http://schemas.microsoft.com/office/drawing/2014/main" id="{003972F2-A06D-B9ED-D8CB-1C4227D1E3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1705" y="2944052"/>
            <a:ext cx="4122295" cy="2128603"/>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Adapter Pattern">
            <a:extLst>
              <a:ext uri="{FF2B5EF4-FFF2-40B4-BE49-F238E27FC236}">
                <a16:creationId xmlns:a16="http://schemas.microsoft.com/office/drawing/2014/main" id="{AEB4022C-AC20-EF36-13C3-619E97D071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4150" y="70845"/>
            <a:ext cx="3919928" cy="2627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23094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Placeholder 8" descr="A close-up of a colorful swirl&#10;&#10;Description automatically generated">
            <a:extLst>
              <a:ext uri="{FF2B5EF4-FFF2-40B4-BE49-F238E27FC236}">
                <a16:creationId xmlns:a16="http://schemas.microsoft.com/office/drawing/2014/main" id="{92BB618F-20D8-D500-F22F-6DC91B9B3D2F}"/>
              </a:ext>
            </a:extLst>
          </p:cNvPr>
          <p:cNvPicPr>
            <a:picLocks noGrp="1" noChangeAspect="1"/>
          </p:cNvPicPr>
          <p:nvPr>
            <p:ph type="pic" sz="quarter" idx="4294967295"/>
          </p:nvPr>
        </p:nvPicPr>
        <p:blipFill rotWithShape="1">
          <a:blip r:embed="rId2">
            <a:alphaModFix amt="40000"/>
          </a:blip>
          <a:srcRect b="1747"/>
          <a:stretch/>
        </p:blipFill>
        <p:spPr>
          <a:xfrm>
            <a:off x="0" y="0"/>
            <a:ext cx="9144000" cy="5143500"/>
          </a:xfrm>
          <a:prstGeom prst="rect">
            <a:avLst/>
          </a:prstGeom>
        </p:spPr>
      </p:pic>
      <p:sp>
        <p:nvSpPr>
          <p:cNvPr id="2" name="Title 1">
            <a:extLst>
              <a:ext uri="{FF2B5EF4-FFF2-40B4-BE49-F238E27FC236}">
                <a16:creationId xmlns:a16="http://schemas.microsoft.com/office/drawing/2014/main" id="{A162A728-15BF-FB7A-792A-E7371AA6CF26}"/>
              </a:ext>
            </a:extLst>
          </p:cNvPr>
          <p:cNvSpPr>
            <a:spLocks noGrp="1"/>
          </p:cNvSpPr>
          <p:nvPr>
            <p:ph type="ctrTitle" idx="4294967295"/>
          </p:nvPr>
        </p:nvSpPr>
        <p:spPr>
          <a:xfrm>
            <a:off x="0" y="723900"/>
            <a:ext cx="7696200" cy="2673350"/>
          </a:xfrm>
        </p:spPr>
        <p:txBody>
          <a:bodyPr vert="horz" lIns="91440" tIns="45720" rIns="91440" bIns="45720" rtlCol="0" anchor="b">
            <a:normAutofit/>
          </a:bodyPr>
          <a:lstStyle/>
          <a:p>
            <a:r>
              <a:rPr lang="en-US" sz="8600">
                <a:ln w="22225">
                  <a:solidFill>
                    <a:schemeClr val="tx1"/>
                  </a:solidFill>
                  <a:miter lim="800000"/>
                </a:ln>
                <a:noFill/>
                <a:latin typeface="+mj-lt"/>
              </a:rPr>
              <a:t>Volume</a:t>
            </a:r>
          </a:p>
        </p:txBody>
      </p:sp>
    </p:spTree>
    <p:extLst>
      <p:ext uri="{BB962C8B-B14F-4D97-AF65-F5344CB8AC3E}">
        <p14:creationId xmlns:p14="http://schemas.microsoft.com/office/powerpoint/2010/main" val="37391925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82184-2FC8-6544-5679-316DF83023C6}"/>
              </a:ext>
            </a:extLst>
          </p:cNvPr>
          <p:cNvSpPr>
            <a:spLocks noGrp="1"/>
          </p:cNvSpPr>
          <p:nvPr>
            <p:ph type="title" idx="4294967295"/>
          </p:nvPr>
        </p:nvSpPr>
        <p:spPr>
          <a:xfrm>
            <a:off x="0" y="73025"/>
            <a:ext cx="7886700" cy="993775"/>
          </a:xfrm>
        </p:spPr>
        <p:txBody>
          <a:bodyPr/>
          <a:lstStyle/>
          <a:p>
            <a:r>
              <a:rPr lang="en-IN" dirty="0"/>
              <a:t>Kubernetes Volumes</a:t>
            </a:r>
          </a:p>
        </p:txBody>
      </p:sp>
      <p:sp>
        <p:nvSpPr>
          <p:cNvPr id="3" name="Slide Number Placeholder 2">
            <a:extLst>
              <a:ext uri="{FF2B5EF4-FFF2-40B4-BE49-F238E27FC236}">
                <a16:creationId xmlns:a16="http://schemas.microsoft.com/office/drawing/2014/main" id="{0A5D2020-239A-53B4-4434-100011B412C6}"/>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60</a:t>
            </a:fld>
            <a:endParaRPr lang="en-GB"/>
          </a:p>
        </p:txBody>
      </p:sp>
      <p:sp>
        <p:nvSpPr>
          <p:cNvPr id="7" name="TextBox 6">
            <a:extLst>
              <a:ext uri="{FF2B5EF4-FFF2-40B4-BE49-F238E27FC236}">
                <a16:creationId xmlns:a16="http://schemas.microsoft.com/office/drawing/2014/main" id="{4A98B2C4-FC1B-4579-71C6-2CF1C2887E9F}"/>
              </a:ext>
            </a:extLst>
          </p:cNvPr>
          <p:cNvSpPr txBox="1"/>
          <p:nvPr/>
        </p:nvSpPr>
        <p:spPr>
          <a:xfrm>
            <a:off x="150227" y="1268413"/>
            <a:ext cx="1476531" cy="738664"/>
          </a:xfrm>
          <a:prstGeom prst="rect">
            <a:avLst/>
          </a:prstGeom>
          <a:noFill/>
        </p:spPr>
        <p:txBody>
          <a:bodyPr wrap="square">
            <a:spAutoFit/>
          </a:bodyPr>
          <a:lstStyle/>
          <a:p>
            <a:r>
              <a:rPr lang="en-IN" b="1" i="0" dirty="0">
                <a:solidFill>
                  <a:srgbClr val="070B12"/>
                </a:solidFill>
                <a:effectLst/>
                <a:highlight>
                  <a:srgbClr val="FFFFFF"/>
                </a:highlight>
                <a:latin typeface="Space Grotesk"/>
              </a:rPr>
              <a:t>Kubernetes Volumes Functionality</a:t>
            </a:r>
            <a:endParaRPr lang="en-IN" dirty="0"/>
          </a:p>
        </p:txBody>
      </p:sp>
      <p:pic>
        <p:nvPicPr>
          <p:cNvPr id="13" name="Picture 12">
            <a:extLst>
              <a:ext uri="{FF2B5EF4-FFF2-40B4-BE49-F238E27FC236}">
                <a16:creationId xmlns:a16="http://schemas.microsoft.com/office/drawing/2014/main" id="{72960B8B-10A8-15CA-6719-083DA42815F3}"/>
              </a:ext>
            </a:extLst>
          </p:cNvPr>
          <p:cNvPicPr>
            <a:picLocks noChangeAspect="1"/>
          </p:cNvPicPr>
          <p:nvPr/>
        </p:nvPicPr>
        <p:blipFill>
          <a:blip r:embed="rId2"/>
          <a:stretch>
            <a:fillRect/>
          </a:stretch>
        </p:blipFill>
        <p:spPr>
          <a:xfrm>
            <a:off x="150227" y="2029885"/>
            <a:ext cx="990686" cy="998307"/>
          </a:xfrm>
          <a:prstGeom prst="rect">
            <a:avLst/>
          </a:prstGeom>
        </p:spPr>
      </p:pic>
      <p:sp>
        <p:nvSpPr>
          <p:cNvPr id="15" name="TextBox 14">
            <a:extLst>
              <a:ext uri="{FF2B5EF4-FFF2-40B4-BE49-F238E27FC236}">
                <a16:creationId xmlns:a16="http://schemas.microsoft.com/office/drawing/2014/main" id="{9B19975E-CA9B-2E91-FB69-EFB17A863784}"/>
              </a:ext>
            </a:extLst>
          </p:cNvPr>
          <p:cNvSpPr txBox="1"/>
          <p:nvPr/>
        </p:nvSpPr>
        <p:spPr>
          <a:xfrm>
            <a:off x="79616" y="3133122"/>
            <a:ext cx="1409075" cy="1384995"/>
          </a:xfrm>
          <a:prstGeom prst="rect">
            <a:avLst/>
          </a:prstGeom>
          <a:noFill/>
        </p:spPr>
        <p:txBody>
          <a:bodyPr wrap="square">
            <a:spAutoFit/>
          </a:bodyPr>
          <a:lstStyle/>
          <a:p>
            <a:pPr algn="l">
              <a:buFont typeface="Arial" panose="020B0604020202020204" pitchFamily="34" charset="0"/>
              <a:buChar char="•"/>
            </a:pPr>
            <a:r>
              <a:rPr lang="en-US" sz="1050" b="0" i="0" dirty="0">
                <a:effectLst/>
                <a:highlight>
                  <a:srgbClr val="FFFFFF"/>
                </a:highlight>
                <a:latin typeface="Work Sans" panose="020F0502020204030204" pitchFamily="2" charset="0"/>
              </a:rPr>
              <a:t>Facilitates storage access for containers within Kubernetes. Unlike Docker volumes, they are linked to the pod's lifecycle.</a:t>
            </a:r>
          </a:p>
        </p:txBody>
      </p:sp>
      <p:sp>
        <p:nvSpPr>
          <p:cNvPr id="17" name="TextBox 16">
            <a:extLst>
              <a:ext uri="{FF2B5EF4-FFF2-40B4-BE49-F238E27FC236}">
                <a16:creationId xmlns:a16="http://schemas.microsoft.com/office/drawing/2014/main" id="{A8001CD1-AD82-7504-7084-1F9D098044ED}"/>
              </a:ext>
            </a:extLst>
          </p:cNvPr>
          <p:cNvSpPr txBox="1"/>
          <p:nvPr/>
        </p:nvSpPr>
        <p:spPr>
          <a:xfrm>
            <a:off x="1626758" y="1291221"/>
            <a:ext cx="1349115" cy="738664"/>
          </a:xfrm>
          <a:prstGeom prst="rect">
            <a:avLst/>
          </a:prstGeom>
          <a:noFill/>
        </p:spPr>
        <p:txBody>
          <a:bodyPr wrap="square">
            <a:spAutoFit/>
          </a:bodyPr>
          <a:lstStyle/>
          <a:p>
            <a:r>
              <a:rPr lang="en-IN" b="1" i="0" dirty="0">
                <a:solidFill>
                  <a:srgbClr val="070B12"/>
                </a:solidFill>
                <a:effectLst/>
                <a:highlight>
                  <a:srgbClr val="FFFFFF"/>
                </a:highlight>
                <a:latin typeface="Space Grotesk"/>
              </a:rPr>
              <a:t>Types of Kubernetes Volumes</a:t>
            </a:r>
            <a:endParaRPr lang="en-IN" dirty="0"/>
          </a:p>
        </p:txBody>
      </p:sp>
      <p:pic>
        <p:nvPicPr>
          <p:cNvPr id="19" name="Picture 18">
            <a:extLst>
              <a:ext uri="{FF2B5EF4-FFF2-40B4-BE49-F238E27FC236}">
                <a16:creationId xmlns:a16="http://schemas.microsoft.com/office/drawing/2014/main" id="{B504CC48-9AE3-22BC-0B91-60F13FF0DDB3}"/>
              </a:ext>
            </a:extLst>
          </p:cNvPr>
          <p:cNvPicPr>
            <a:picLocks noChangeAspect="1"/>
          </p:cNvPicPr>
          <p:nvPr/>
        </p:nvPicPr>
        <p:blipFill>
          <a:blip r:embed="rId3"/>
          <a:stretch>
            <a:fillRect/>
          </a:stretch>
        </p:blipFill>
        <p:spPr>
          <a:xfrm>
            <a:off x="1504953" y="1991782"/>
            <a:ext cx="1104996" cy="1036410"/>
          </a:xfrm>
          <a:prstGeom prst="rect">
            <a:avLst/>
          </a:prstGeom>
        </p:spPr>
      </p:pic>
      <p:sp>
        <p:nvSpPr>
          <p:cNvPr id="21" name="TextBox 20">
            <a:extLst>
              <a:ext uri="{FF2B5EF4-FFF2-40B4-BE49-F238E27FC236}">
                <a16:creationId xmlns:a16="http://schemas.microsoft.com/office/drawing/2014/main" id="{264D3125-364E-704B-10DD-6078502108B6}"/>
              </a:ext>
            </a:extLst>
          </p:cNvPr>
          <p:cNvSpPr txBox="1"/>
          <p:nvPr/>
        </p:nvSpPr>
        <p:spPr>
          <a:xfrm>
            <a:off x="1527761" y="3132037"/>
            <a:ext cx="1349115" cy="1223412"/>
          </a:xfrm>
          <a:prstGeom prst="rect">
            <a:avLst/>
          </a:prstGeom>
          <a:noFill/>
        </p:spPr>
        <p:txBody>
          <a:bodyPr wrap="square">
            <a:spAutoFit/>
          </a:bodyPr>
          <a:lstStyle/>
          <a:p>
            <a:pPr algn="l">
              <a:buFont typeface="Arial" panose="020B0604020202020204" pitchFamily="34" charset="0"/>
              <a:buChar char="•"/>
            </a:pPr>
            <a:r>
              <a:rPr lang="en-US" sz="1050" b="0" i="0" dirty="0">
                <a:effectLst/>
                <a:highlight>
                  <a:srgbClr val="FFFFFF"/>
                </a:highlight>
                <a:latin typeface="Work Sans" pitchFamily="2" charset="0"/>
              </a:rPr>
              <a:t>Varieties include </a:t>
            </a:r>
            <a:r>
              <a:rPr lang="en-US" sz="1050" b="0" i="0" dirty="0" err="1">
                <a:effectLst/>
                <a:highlight>
                  <a:srgbClr val="FFFFFF"/>
                </a:highlight>
                <a:latin typeface="Work Sans" pitchFamily="2" charset="0"/>
              </a:rPr>
              <a:t>emptyDir</a:t>
            </a:r>
            <a:r>
              <a:rPr lang="en-US" sz="1050" b="0" i="0" dirty="0">
                <a:effectLst/>
                <a:highlight>
                  <a:srgbClr val="FFFFFF"/>
                </a:highlight>
                <a:latin typeface="Work Sans" pitchFamily="2" charset="0"/>
              </a:rPr>
              <a:t>, </a:t>
            </a:r>
            <a:r>
              <a:rPr lang="en-US" sz="1050" b="0" i="0" dirty="0" err="1">
                <a:effectLst/>
                <a:highlight>
                  <a:srgbClr val="FFFFFF"/>
                </a:highlight>
                <a:latin typeface="Work Sans" pitchFamily="2" charset="0"/>
              </a:rPr>
              <a:t>hostPath</a:t>
            </a:r>
            <a:r>
              <a:rPr lang="en-US" sz="1050" b="0" i="0" dirty="0">
                <a:effectLst/>
                <a:highlight>
                  <a:srgbClr val="FFFFFF"/>
                </a:highlight>
                <a:latin typeface="Work Sans" pitchFamily="2" charset="0"/>
              </a:rPr>
              <a:t>, </a:t>
            </a:r>
            <a:r>
              <a:rPr lang="en-US" sz="1050" b="0" i="0" dirty="0" err="1">
                <a:effectLst/>
                <a:highlight>
                  <a:srgbClr val="FFFFFF"/>
                </a:highlight>
                <a:latin typeface="Work Sans" pitchFamily="2" charset="0"/>
              </a:rPr>
              <a:t>nfs</a:t>
            </a:r>
            <a:r>
              <a:rPr lang="en-US" sz="1050" b="0" i="0" dirty="0">
                <a:effectLst/>
                <a:highlight>
                  <a:srgbClr val="FFFFFF"/>
                </a:highlight>
                <a:latin typeface="Work Sans" pitchFamily="2" charset="0"/>
              </a:rPr>
              <a:t>, etc., offering diverse storage options for different needs.</a:t>
            </a:r>
          </a:p>
        </p:txBody>
      </p:sp>
      <p:sp>
        <p:nvSpPr>
          <p:cNvPr id="23" name="TextBox 22">
            <a:extLst>
              <a:ext uri="{FF2B5EF4-FFF2-40B4-BE49-F238E27FC236}">
                <a16:creationId xmlns:a16="http://schemas.microsoft.com/office/drawing/2014/main" id="{07ABBCA8-C337-0DAE-5DC4-F598DB421E7A}"/>
              </a:ext>
            </a:extLst>
          </p:cNvPr>
          <p:cNvSpPr txBox="1"/>
          <p:nvPr/>
        </p:nvSpPr>
        <p:spPr>
          <a:xfrm>
            <a:off x="2875315" y="1268413"/>
            <a:ext cx="1424066" cy="738664"/>
          </a:xfrm>
          <a:prstGeom prst="rect">
            <a:avLst/>
          </a:prstGeom>
          <a:noFill/>
        </p:spPr>
        <p:txBody>
          <a:bodyPr wrap="square">
            <a:spAutoFit/>
          </a:bodyPr>
          <a:lstStyle/>
          <a:p>
            <a:r>
              <a:rPr lang="en-IN" b="1" i="0" dirty="0">
                <a:solidFill>
                  <a:srgbClr val="070B12"/>
                </a:solidFill>
                <a:effectLst/>
                <a:highlight>
                  <a:srgbClr val="FFFFFF"/>
                </a:highlight>
                <a:latin typeface="Space Grotesk"/>
              </a:rPr>
              <a:t>Persistent Volume Claim (PVC)</a:t>
            </a:r>
            <a:endParaRPr lang="en-IN" dirty="0"/>
          </a:p>
        </p:txBody>
      </p:sp>
      <p:pic>
        <p:nvPicPr>
          <p:cNvPr id="25" name="Picture 24">
            <a:extLst>
              <a:ext uri="{FF2B5EF4-FFF2-40B4-BE49-F238E27FC236}">
                <a16:creationId xmlns:a16="http://schemas.microsoft.com/office/drawing/2014/main" id="{EEE3CEBF-2AD8-7BB9-9379-49B2A26EDEE1}"/>
              </a:ext>
            </a:extLst>
          </p:cNvPr>
          <p:cNvPicPr>
            <a:picLocks noChangeAspect="1"/>
          </p:cNvPicPr>
          <p:nvPr/>
        </p:nvPicPr>
        <p:blipFill>
          <a:blip r:embed="rId4"/>
          <a:stretch>
            <a:fillRect/>
          </a:stretch>
        </p:blipFill>
        <p:spPr>
          <a:xfrm>
            <a:off x="2828037" y="2077997"/>
            <a:ext cx="1074513" cy="1005927"/>
          </a:xfrm>
          <a:prstGeom prst="rect">
            <a:avLst/>
          </a:prstGeom>
        </p:spPr>
      </p:pic>
      <p:sp>
        <p:nvSpPr>
          <p:cNvPr id="27" name="TextBox 26">
            <a:extLst>
              <a:ext uri="{FF2B5EF4-FFF2-40B4-BE49-F238E27FC236}">
                <a16:creationId xmlns:a16="http://schemas.microsoft.com/office/drawing/2014/main" id="{C040B76F-7E53-E23E-7C3C-01F6B116C3FC}"/>
              </a:ext>
            </a:extLst>
          </p:cNvPr>
          <p:cNvSpPr txBox="1"/>
          <p:nvPr/>
        </p:nvSpPr>
        <p:spPr>
          <a:xfrm>
            <a:off x="2875315" y="3109229"/>
            <a:ext cx="1202012" cy="1546577"/>
          </a:xfrm>
          <a:prstGeom prst="rect">
            <a:avLst/>
          </a:prstGeom>
          <a:noFill/>
        </p:spPr>
        <p:txBody>
          <a:bodyPr wrap="square">
            <a:spAutoFit/>
          </a:bodyPr>
          <a:lstStyle/>
          <a:p>
            <a:pPr algn="l">
              <a:buFont typeface="Arial" panose="020B0604020202020204" pitchFamily="34" charset="0"/>
              <a:buChar char="•"/>
            </a:pPr>
            <a:r>
              <a:rPr lang="en-US" sz="1050" b="0" i="0" dirty="0">
                <a:effectLst/>
                <a:highlight>
                  <a:srgbClr val="FFFFFF"/>
                </a:highlight>
                <a:latin typeface="Work Sans" pitchFamily="2" charset="0"/>
              </a:rPr>
              <a:t>A request for storage by users, abstracting underlying storage details, and allowing dynamic provisioning.</a:t>
            </a:r>
          </a:p>
        </p:txBody>
      </p:sp>
      <p:sp>
        <p:nvSpPr>
          <p:cNvPr id="29" name="TextBox 28">
            <a:extLst>
              <a:ext uri="{FF2B5EF4-FFF2-40B4-BE49-F238E27FC236}">
                <a16:creationId xmlns:a16="http://schemas.microsoft.com/office/drawing/2014/main" id="{841A68C7-0175-1C79-CFB6-EA2C3DB2D9BA}"/>
              </a:ext>
            </a:extLst>
          </p:cNvPr>
          <p:cNvSpPr txBox="1"/>
          <p:nvPr/>
        </p:nvSpPr>
        <p:spPr>
          <a:xfrm>
            <a:off x="4224430" y="1277329"/>
            <a:ext cx="1424066" cy="523220"/>
          </a:xfrm>
          <a:prstGeom prst="rect">
            <a:avLst/>
          </a:prstGeom>
          <a:noFill/>
        </p:spPr>
        <p:txBody>
          <a:bodyPr wrap="square">
            <a:spAutoFit/>
          </a:bodyPr>
          <a:lstStyle/>
          <a:p>
            <a:r>
              <a:rPr lang="en-IN" b="1" i="0" dirty="0">
                <a:solidFill>
                  <a:srgbClr val="070B12"/>
                </a:solidFill>
                <a:effectLst/>
                <a:highlight>
                  <a:srgbClr val="FFFFFF"/>
                </a:highlight>
                <a:latin typeface="Space Grotesk"/>
              </a:rPr>
              <a:t>Persistent Volume (PV)</a:t>
            </a:r>
            <a:endParaRPr lang="en-IN" dirty="0"/>
          </a:p>
        </p:txBody>
      </p:sp>
      <p:pic>
        <p:nvPicPr>
          <p:cNvPr id="31" name="Picture 30">
            <a:extLst>
              <a:ext uri="{FF2B5EF4-FFF2-40B4-BE49-F238E27FC236}">
                <a16:creationId xmlns:a16="http://schemas.microsoft.com/office/drawing/2014/main" id="{4846F420-3BE5-FAFE-2BB2-C4960CE808DA}"/>
              </a:ext>
            </a:extLst>
          </p:cNvPr>
          <p:cNvPicPr>
            <a:picLocks noChangeAspect="1"/>
          </p:cNvPicPr>
          <p:nvPr/>
        </p:nvPicPr>
        <p:blipFill>
          <a:blip r:embed="rId5"/>
          <a:stretch>
            <a:fillRect/>
          </a:stretch>
        </p:blipFill>
        <p:spPr>
          <a:xfrm>
            <a:off x="4129792" y="2059196"/>
            <a:ext cx="1089754" cy="1013548"/>
          </a:xfrm>
          <a:prstGeom prst="rect">
            <a:avLst/>
          </a:prstGeom>
        </p:spPr>
      </p:pic>
      <p:sp>
        <p:nvSpPr>
          <p:cNvPr id="33" name="TextBox 32">
            <a:extLst>
              <a:ext uri="{FF2B5EF4-FFF2-40B4-BE49-F238E27FC236}">
                <a16:creationId xmlns:a16="http://schemas.microsoft.com/office/drawing/2014/main" id="{0EEF54EA-FF94-1417-7721-C6A6BD1F1DDB}"/>
              </a:ext>
            </a:extLst>
          </p:cNvPr>
          <p:cNvSpPr txBox="1"/>
          <p:nvPr/>
        </p:nvSpPr>
        <p:spPr>
          <a:xfrm>
            <a:off x="4113466" y="3213913"/>
            <a:ext cx="1350485" cy="1546577"/>
          </a:xfrm>
          <a:prstGeom prst="rect">
            <a:avLst/>
          </a:prstGeom>
          <a:noFill/>
        </p:spPr>
        <p:txBody>
          <a:bodyPr wrap="square">
            <a:spAutoFit/>
          </a:bodyPr>
          <a:lstStyle/>
          <a:p>
            <a:pPr algn="l">
              <a:buFont typeface="Arial" panose="020B0604020202020204" pitchFamily="34" charset="0"/>
              <a:buChar char="•"/>
            </a:pPr>
            <a:r>
              <a:rPr lang="en-US" sz="1050" b="0" i="0" dirty="0">
                <a:effectLst/>
                <a:highlight>
                  <a:srgbClr val="FFFFFF"/>
                </a:highlight>
                <a:latin typeface="Work Sans" pitchFamily="2" charset="0"/>
              </a:rPr>
              <a:t>Storage provision independent of pod lifecycle, can be dynamically provisioned or pre-provisioned by administrators.</a:t>
            </a:r>
          </a:p>
        </p:txBody>
      </p:sp>
      <p:sp>
        <p:nvSpPr>
          <p:cNvPr id="35" name="TextBox 34">
            <a:extLst>
              <a:ext uri="{FF2B5EF4-FFF2-40B4-BE49-F238E27FC236}">
                <a16:creationId xmlns:a16="http://schemas.microsoft.com/office/drawing/2014/main" id="{C6350FA9-244D-0A5C-1C22-8F8DDC8BB786}"/>
              </a:ext>
            </a:extLst>
          </p:cNvPr>
          <p:cNvSpPr txBox="1"/>
          <p:nvPr/>
        </p:nvSpPr>
        <p:spPr>
          <a:xfrm>
            <a:off x="5732075" y="1004402"/>
            <a:ext cx="3316943" cy="1708160"/>
          </a:xfrm>
          <a:prstGeom prst="rect">
            <a:avLst/>
          </a:prstGeom>
          <a:noFill/>
        </p:spPr>
        <p:txBody>
          <a:bodyPr wrap="square">
            <a:spAutoFit/>
          </a:bodyPr>
          <a:lstStyle/>
          <a:p>
            <a:r>
              <a:rPr lang="en-IN" sz="1050" b="1" dirty="0"/>
              <a:t>Persistent Volumes (PV)</a:t>
            </a:r>
          </a:p>
          <a:p>
            <a:r>
              <a:rPr lang="en-IN" sz="1050" i="1" dirty="0"/>
              <a:t>Definition:</a:t>
            </a:r>
            <a:r>
              <a:rPr lang="en-IN" sz="1050" dirty="0"/>
              <a:t> A PV is a storage unit in the cluster provisioned by an administrator.</a:t>
            </a:r>
          </a:p>
          <a:p>
            <a:endParaRPr lang="en-IN" sz="1050" dirty="0"/>
          </a:p>
          <a:p>
            <a:r>
              <a:rPr lang="en-IN" sz="1050" i="1" dirty="0"/>
              <a:t>Lifecycle:</a:t>
            </a:r>
            <a:r>
              <a:rPr lang="en-IN" sz="1050" dirty="0"/>
              <a:t> The PV lifecycle is independent of any individual pod.</a:t>
            </a:r>
          </a:p>
          <a:p>
            <a:endParaRPr lang="en-IN" sz="1050" dirty="0"/>
          </a:p>
          <a:p>
            <a:r>
              <a:rPr lang="en-IN" sz="1050" i="1" dirty="0"/>
              <a:t>Support for Multiple Backends:</a:t>
            </a:r>
            <a:r>
              <a:rPr lang="en-IN" sz="1050" dirty="0"/>
              <a:t> PV supports various storage backends like </a:t>
            </a:r>
            <a:r>
              <a:rPr lang="en-IN" sz="1050" dirty="0" err="1"/>
              <a:t>GCEPersistentDisk</a:t>
            </a:r>
            <a:r>
              <a:rPr lang="en-IN" sz="1050" dirty="0"/>
              <a:t>, </a:t>
            </a:r>
            <a:r>
              <a:rPr lang="en-IN" sz="1050" dirty="0" err="1"/>
              <a:t>AWSElasticBlockStore</a:t>
            </a:r>
            <a:r>
              <a:rPr lang="en-IN" sz="1050" dirty="0"/>
              <a:t>, </a:t>
            </a:r>
            <a:r>
              <a:rPr lang="en-IN" sz="1050" dirty="0" err="1"/>
              <a:t>AzureDisk</a:t>
            </a:r>
            <a:r>
              <a:rPr lang="en-IN" sz="1050" dirty="0"/>
              <a:t>, etc.</a:t>
            </a:r>
          </a:p>
        </p:txBody>
      </p:sp>
      <p:cxnSp>
        <p:nvCxnSpPr>
          <p:cNvPr id="37" name="Straight Connector 36">
            <a:extLst>
              <a:ext uri="{FF2B5EF4-FFF2-40B4-BE49-F238E27FC236}">
                <a16:creationId xmlns:a16="http://schemas.microsoft.com/office/drawing/2014/main" id="{EC5497DE-5A0B-D5EC-C794-897A26B1A345}"/>
              </a:ext>
            </a:extLst>
          </p:cNvPr>
          <p:cNvCxnSpPr>
            <a:cxnSpLocks/>
          </p:cNvCxnSpPr>
          <p:nvPr/>
        </p:nvCxnSpPr>
        <p:spPr>
          <a:xfrm>
            <a:off x="5525011" y="1071797"/>
            <a:ext cx="22927" cy="3688693"/>
          </a:xfrm>
          <a:prstGeom prst="line">
            <a:avLst/>
          </a:prstGeom>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4FA31CE-093C-217A-2414-7AECBE8D0C03}"/>
              </a:ext>
            </a:extLst>
          </p:cNvPr>
          <p:cNvSpPr txBox="1"/>
          <p:nvPr/>
        </p:nvSpPr>
        <p:spPr>
          <a:xfrm>
            <a:off x="5754426" y="2866854"/>
            <a:ext cx="3059529" cy="1546577"/>
          </a:xfrm>
          <a:prstGeom prst="rect">
            <a:avLst/>
          </a:prstGeom>
          <a:noFill/>
        </p:spPr>
        <p:txBody>
          <a:bodyPr wrap="square">
            <a:spAutoFit/>
          </a:bodyPr>
          <a:lstStyle/>
          <a:p>
            <a:r>
              <a:rPr lang="en-IN" sz="1050" b="1" dirty="0"/>
              <a:t>Persistent Volume Claims (PVC)</a:t>
            </a:r>
          </a:p>
          <a:p>
            <a:r>
              <a:rPr lang="en-IN" sz="1050" i="1" dirty="0"/>
              <a:t>Definition:</a:t>
            </a:r>
            <a:r>
              <a:rPr lang="en-IN" sz="1050" dirty="0"/>
              <a:t> PVC is a user's storage request to Kubernetes.</a:t>
            </a:r>
          </a:p>
          <a:p>
            <a:endParaRPr lang="en-IN" sz="1050" dirty="0"/>
          </a:p>
          <a:p>
            <a:r>
              <a:rPr lang="en-IN" sz="1050" i="1" dirty="0"/>
              <a:t>Configuration:</a:t>
            </a:r>
            <a:r>
              <a:rPr lang="en-IN" sz="1050" dirty="0"/>
              <a:t> PVCs allow requesting specific sizes and access modes.</a:t>
            </a:r>
          </a:p>
          <a:p>
            <a:endParaRPr lang="en-IN" sz="1050" dirty="0"/>
          </a:p>
          <a:p>
            <a:r>
              <a:rPr lang="en-IN" sz="1050" i="1" dirty="0"/>
              <a:t>Usage:</a:t>
            </a:r>
            <a:r>
              <a:rPr lang="en-IN" sz="1050" dirty="0"/>
              <a:t> PVCs are utilized to consume PV storage resources.</a:t>
            </a:r>
          </a:p>
        </p:txBody>
      </p:sp>
    </p:spTree>
    <p:extLst>
      <p:ext uri="{BB962C8B-B14F-4D97-AF65-F5344CB8AC3E}">
        <p14:creationId xmlns:p14="http://schemas.microsoft.com/office/powerpoint/2010/main" val="12533928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D24EA-420F-259B-20DF-2D1BB12C0DE5}"/>
              </a:ext>
            </a:extLst>
          </p:cNvPr>
          <p:cNvSpPr>
            <a:spLocks noGrp="1"/>
          </p:cNvSpPr>
          <p:nvPr>
            <p:ph type="title" idx="4294967295"/>
          </p:nvPr>
        </p:nvSpPr>
        <p:spPr>
          <a:xfrm>
            <a:off x="727075" y="274638"/>
            <a:ext cx="8416925" cy="993775"/>
          </a:xfrm>
        </p:spPr>
        <p:txBody>
          <a:bodyPr/>
          <a:lstStyle/>
          <a:p>
            <a:r>
              <a:rPr lang="en-US" dirty="0"/>
              <a:t>How PV and PVC Work Together</a:t>
            </a:r>
            <a:endParaRPr lang="en-IN" dirty="0"/>
          </a:p>
        </p:txBody>
      </p:sp>
      <p:sp>
        <p:nvSpPr>
          <p:cNvPr id="3" name="Slide Number Placeholder 2">
            <a:extLst>
              <a:ext uri="{FF2B5EF4-FFF2-40B4-BE49-F238E27FC236}">
                <a16:creationId xmlns:a16="http://schemas.microsoft.com/office/drawing/2014/main" id="{8562518D-2F5A-8BF6-D28A-8AEFD0DFDD1D}"/>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61</a:t>
            </a:fld>
            <a:endParaRPr lang="en-GB"/>
          </a:p>
        </p:txBody>
      </p:sp>
      <p:pic>
        <p:nvPicPr>
          <p:cNvPr id="7" name="Picture 6">
            <a:extLst>
              <a:ext uri="{FF2B5EF4-FFF2-40B4-BE49-F238E27FC236}">
                <a16:creationId xmlns:a16="http://schemas.microsoft.com/office/drawing/2014/main" id="{6BEC1E6D-EC22-765D-73A2-34E883510B16}"/>
              </a:ext>
            </a:extLst>
          </p:cNvPr>
          <p:cNvPicPr>
            <a:picLocks noChangeAspect="1"/>
          </p:cNvPicPr>
          <p:nvPr/>
        </p:nvPicPr>
        <p:blipFill>
          <a:blip r:embed="rId2"/>
          <a:stretch>
            <a:fillRect/>
          </a:stretch>
        </p:blipFill>
        <p:spPr>
          <a:xfrm>
            <a:off x="3570805" y="1144216"/>
            <a:ext cx="1713227" cy="3654514"/>
          </a:xfrm>
          <a:prstGeom prst="rect">
            <a:avLst/>
          </a:prstGeom>
        </p:spPr>
      </p:pic>
      <p:sp>
        <p:nvSpPr>
          <p:cNvPr id="9" name="TextBox 8">
            <a:extLst>
              <a:ext uri="{FF2B5EF4-FFF2-40B4-BE49-F238E27FC236}">
                <a16:creationId xmlns:a16="http://schemas.microsoft.com/office/drawing/2014/main" id="{3358303B-2480-7861-761D-75626C55482C}"/>
              </a:ext>
            </a:extLst>
          </p:cNvPr>
          <p:cNvSpPr txBox="1"/>
          <p:nvPr/>
        </p:nvSpPr>
        <p:spPr>
          <a:xfrm>
            <a:off x="699461" y="1601878"/>
            <a:ext cx="2975547" cy="507831"/>
          </a:xfrm>
          <a:prstGeom prst="rect">
            <a:avLst/>
          </a:prstGeom>
          <a:noFill/>
          <a:ln>
            <a:solidFill>
              <a:schemeClr val="accent5">
                <a:lumMod val="50000"/>
              </a:schemeClr>
            </a:solidFill>
          </a:ln>
        </p:spPr>
        <p:txBody>
          <a:bodyPr wrap="square">
            <a:spAutoFit/>
          </a:bodyPr>
          <a:lstStyle/>
          <a:p>
            <a:r>
              <a:rPr lang="en-IN" sz="900" dirty="0"/>
              <a:t>PVC Requesting PV</a:t>
            </a:r>
          </a:p>
          <a:p>
            <a:r>
              <a:rPr lang="en-IN" sz="900" dirty="0"/>
              <a:t>PVC specifies storage requirements, such as access mode and capacity, requesting a suitable PV.</a:t>
            </a:r>
          </a:p>
        </p:txBody>
      </p:sp>
      <p:sp>
        <p:nvSpPr>
          <p:cNvPr id="10" name="TextBox 9">
            <a:extLst>
              <a:ext uri="{FF2B5EF4-FFF2-40B4-BE49-F238E27FC236}">
                <a16:creationId xmlns:a16="http://schemas.microsoft.com/office/drawing/2014/main" id="{0361D1B8-5086-85B9-EF40-DBF542011355}"/>
              </a:ext>
            </a:extLst>
          </p:cNvPr>
          <p:cNvSpPr txBox="1"/>
          <p:nvPr/>
        </p:nvSpPr>
        <p:spPr>
          <a:xfrm>
            <a:off x="5217305" y="1601877"/>
            <a:ext cx="2975547" cy="507831"/>
          </a:xfrm>
          <a:prstGeom prst="rect">
            <a:avLst/>
          </a:prstGeom>
          <a:noFill/>
          <a:ln>
            <a:solidFill>
              <a:schemeClr val="accent5">
                <a:lumMod val="50000"/>
              </a:schemeClr>
            </a:solidFill>
          </a:ln>
        </p:spPr>
        <p:txBody>
          <a:bodyPr wrap="square">
            <a:spAutoFit/>
          </a:bodyPr>
          <a:lstStyle/>
          <a:p>
            <a:r>
              <a:rPr lang="en-US" sz="900" dirty="0"/>
              <a:t>Binding PV to PVC</a:t>
            </a:r>
          </a:p>
          <a:p>
            <a:r>
              <a:rPr lang="en-US" sz="900" dirty="0"/>
              <a:t>Once a PV is claimed, it is bound to the requesting PVC based on compatibility with defined storage.</a:t>
            </a:r>
            <a:endParaRPr lang="en-IN" sz="900" dirty="0"/>
          </a:p>
        </p:txBody>
      </p:sp>
      <p:sp>
        <p:nvSpPr>
          <p:cNvPr id="11" name="TextBox 10">
            <a:extLst>
              <a:ext uri="{FF2B5EF4-FFF2-40B4-BE49-F238E27FC236}">
                <a16:creationId xmlns:a16="http://schemas.microsoft.com/office/drawing/2014/main" id="{7C403BBB-1842-2310-5A6E-7BF46CE41A57}"/>
              </a:ext>
            </a:extLst>
          </p:cNvPr>
          <p:cNvSpPr txBox="1"/>
          <p:nvPr/>
        </p:nvSpPr>
        <p:spPr>
          <a:xfrm>
            <a:off x="694466" y="2668674"/>
            <a:ext cx="2975547" cy="646331"/>
          </a:xfrm>
          <a:prstGeom prst="rect">
            <a:avLst/>
          </a:prstGeom>
          <a:noFill/>
          <a:ln>
            <a:solidFill>
              <a:schemeClr val="accent5">
                <a:lumMod val="50000"/>
              </a:schemeClr>
            </a:solidFill>
          </a:ln>
        </p:spPr>
        <p:txBody>
          <a:bodyPr wrap="square">
            <a:spAutoFit/>
          </a:bodyPr>
          <a:lstStyle/>
          <a:p>
            <a:r>
              <a:rPr lang="en-US" sz="900" dirty="0"/>
              <a:t>Dynamic Provisioning</a:t>
            </a:r>
          </a:p>
          <a:p>
            <a:r>
              <a:rPr lang="en-US" sz="900" dirty="0"/>
              <a:t>Automatic creation of PVs based on PVC requirements, streamlining storage management in Kubernetes clusters.</a:t>
            </a:r>
            <a:endParaRPr lang="en-IN" sz="900" dirty="0"/>
          </a:p>
        </p:txBody>
      </p:sp>
      <p:sp>
        <p:nvSpPr>
          <p:cNvPr id="12" name="TextBox 11">
            <a:extLst>
              <a:ext uri="{FF2B5EF4-FFF2-40B4-BE49-F238E27FC236}">
                <a16:creationId xmlns:a16="http://schemas.microsoft.com/office/drawing/2014/main" id="{05D03698-92AF-CFC7-C986-C36E198654CE}"/>
              </a:ext>
            </a:extLst>
          </p:cNvPr>
          <p:cNvSpPr txBox="1"/>
          <p:nvPr/>
        </p:nvSpPr>
        <p:spPr>
          <a:xfrm>
            <a:off x="5219805" y="2668676"/>
            <a:ext cx="2975547" cy="646331"/>
          </a:xfrm>
          <a:prstGeom prst="rect">
            <a:avLst/>
          </a:prstGeom>
          <a:noFill/>
          <a:ln>
            <a:solidFill>
              <a:schemeClr val="accent5">
                <a:lumMod val="50000"/>
              </a:schemeClr>
            </a:solidFill>
          </a:ln>
        </p:spPr>
        <p:txBody>
          <a:bodyPr wrap="square">
            <a:spAutoFit/>
          </a:bodyPr>
          <a:lstStyle/>
          <a:p>
            <a:r>
              <a:rPr lang="en-US" sz="900" dirty="0"/>
              <a:t>PV Mounting to Pods</a:t>
            </a:r>
          </a:p>
          <a:p>
            <a:r>
              <a:rPr lang="en-US" sz="900" dirty="0"/>
              <a:t>Mounted PVs provide containers in pods with access to persistent storage across cluster restarts and rescheduling.</a:t>
            </a:r>
            <a:endParaRPr lang="en-IN" sz="900" dirty="0"/>
          </a:p>
        </p:txBody>
      </p:sp>
      <p:sp>
        <p:nvSpPr>
          <p:cNvPr id="13" name="TextBox 12">
            <a:extLst>
              <a:ext uri="{FF2B5EF4-FFF2-40B4-BE49-F238E27FC236}">
                <a16:creationId xmlns:a16="http://schemas.microsoft.com/office/drawing/2014/main" id="{38E1D9AF-BCDC-758B-8B42-B49C658A06E7}"/>
              </a:ext>
            </a:extLst>
          </p:cNvPr>
          <p:cNvSpPr txBox="1"/>
          <p:nvPr/>
        </p:nvSpPr>
        <p:spPr>
          <a:xfrm>
            <a:off x="701961" y="3797409"/>
            <a:ext cx="2975547" cy="646331"/>
          </a:xfrm>
          <a:prstGeom prst="rect">
            <a:avLst/>
          </a:prstGeom>
          <a:noFill/>
          <a:ln>
            <a:solidFill>
              <a:schemeClr val="accent5">
                <a:lumMod val="50000"/>
              </a:schemeClr>
            </a:solidFill>
          </a:ln>
        </p:spPr>
        <p:txBody>
          <a:bodyPr wrap="square">
            <a:spAutoFit/>
          </a:bodyPr>
          <a:lstStyle/>
          <a:p>
            <a:r>
              <a:rPr lang="en-US" sz="900" dirty="0"/>
              <a:t>Efficient Resource Utilization</a:t>
            </a:r>
          </a:p>
          <a:p>
            <a:r>
              <a:rPr lang="en-US" sz="900" dirty="0"/>
              <a:t>Optimizing storage resources by dynamically allocating PVs to PVCs and recycling unused resources efficiently.</a:t>
            </a:r>
            <a:endParaRPr lang="en-IN" sz="900" dirty="0"/>
          </a:p>
        </p:txBody>
      </p:sp>
      <p:sp>
        <p:nvSpPr>
          <p:cNvPr id="14" name="TextBox 13">
            <a:extLst>
              <a:ext uri="{FF2B5EF4-FFF2-40B4-BE49-F238E27FC236}">
                <a16:creationId xmlns:a16="http://schemas.microsoft.com/office/drawing/2014/main" id="{32DF64B2-2135-84D5-CA18-3797D50EB181}"/>
              </a:ext>
            </a:extLst>
          </p:cNvPr>
          <p:cNvSpPr txBox="1"/>
          <p:nvPr/>
        </p:nvSpPr>
        <p:spPr>
          <a:xfrm>
            <a:off x="5217304" y="3827389"/>
            <a:ext cx="2975547" cy="646331"/>
          </a:xfrm>
          <a:prstGeom prst="rect">
            <a:avLst/>
          </a:prstGeom>
          <a:noFill/>
          <a:ln>
            <a:solidFill>
              <a:schemeClr val="accent5">
                <a:lumMod val="50000"/>
              </a:schemeClr>
            </a:solidFill>
          </a:ln>
        </p:spPr>
        <p:txBody>
          <a:bodyPr wrap="square">
            <a:spAutoFit/>
          </a:bodyPr>
          <a:lstStyle/>
          <a:p>
            <a:r>
              <a:rPr lang="en-US" sz="900" dirty="0"/>
              <a:t>Storage Classes</a:t>
            </a:r>
          </a:p>
          <a:p>
            <a:r>
              <a:rPr lang="en-US" sz="900" dirty="0"/>
              <a:t>Grouping of PVs with similar characteristics to simplify storage provisioning and management based on workload needs.</a:t>
            </a:r>
            <a:endParaRPr lang="en-IN" sz="900" dirty="0"/>
          </a:p>
        </p:txBody>
      </p:sp>
    </p:spTree>
    <p:extLst>
      <p:ext uri="{BB962C8B-B14F-4D97-AF65-F5344CB8AC3E}">
        <p14:creationId xmlns:p14="http://schemas.microsoft.com/office/powerpoint/2010/main" val="33045297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AA7B9-8254-D3DE-283E-E6E7D8D7DD1C}"/>
              </a:ext>
            </a:extLst>
          </p:cNvPr>
          <p:cNvSpPr>
            <a:spLocks noGrp="1"/>
          </p:cNvSpPr>
          <p:nvPr>
            <p:ph type="title" idx="4294967295"/>
          </p:nvPr>
        </p:nvSpPr>
        <p:spPr>
          <a:xfrm>
            <a:off x="0" y="274638"/>
            <a:ext cx="7886700" cy="993775"/>
          </a:xfrm>
        </p:spPr>
        <p:txBody>
          <a:bodyPr/>
          <a:lstStyle/>
          <a:p>
            <a:r>
              <a:rPr lang="en-IN" dirty="0"/>
              <a:t>Volume Access modes</a:t>
            </a:r>
          </a:p>
        </p:txBody>
      </p:sp>
      <p:sp>
        <p:nvSpPr>
          <p:cNvPr id="3" name="Slide Number Placeholder 2">
            <a:extLst>
              <a:ext uri="{FF2B5EF4-FFF2-40B4-BE49-F238E27FC236}">
                <a16:creationId xmlns:a16="http://schemas.microsoft.com/office/drawing/2014/main" id="{EA86FD06-5B35-F134-D6E7-D1C536D39B83}"/>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62</a:t>
            </a:fld>
            <a:endParaRPr lang="en-GB"/>
          </a:p>
        </p:txBody>
      </p:sp>
      <p:graphicFrame>
        <p:nvGraphicFramePr>
          <p:cNvPr id="4" name="Table 3">
            <a:extLst>
              <a:ext uri="{FF2B5EF4-FFF2-40B4-BE49-F238E27FC236}">
                <a16:creationId xmlns:a16="http://schemas.microsoft.com/office/drawing/2014/main" id="{8185D412-C042-015C-23AF-5B114A79BB37}"/>
              </a:ext>
            </a:extLst>
          </p:cNvPr>
          <p:cNvGraphicFramePr>
            <a:graphicFrameLocks noGrp="1"/>
          </p:cNvGraphicFramePr>
          <p:nvPr>
            <p:extLst>
              <p:ext uri="{D42A27DB-BD31-4B8C-83A1-F6EECF244321}">
                <p14:modId xmlns:p14="http://schemas.microsoft.com/office/powerpoint/2010/main" val="3371529250"/>
              </p:ext>
            </p:extLst>
          </p:nvPr>
        </p:nvGraphicFramePr>
        <p:xfrm>
          <a:off x="562134" y="1425172"/>
          <a:ext cx="4542018" cy="2697480"/>
        </p:xfrm>
        <a:graphic>
          <a:graphicData uri="http://schemas.openxmlformats.org/drawingml/2006/table">
            <a:tbl>
              <a:tblPr firstRow="1" bandRow="1"/>
              <a:tblGrid>
                <a:gridCol w="1514006">
                  <a:extLst>
                    <a:ext uri="{9D8B030D-6E8A-4147-A177-3AD203B41FA5}">
                      <a16:colId xmlns:a16="http://schemas.microsoft.com/office/drawing/2014/main" val="788317702"/>
                    </a:ext>
                  </a:extLst>
                </a:gridCol>
                <a:gridCol w="1514006">
                  <a:extLst>
                    <a:ext uri="{9D8B030D-6E8A-4147-A177-3AD203B41FA5}">
                      <a16:colId xmlns:a16="http://schemas.microsoft.com/office/drawing/2014/main" val="3014117961"/>
                    </a:ext>
                  </a:extLst>
                </a:gridCol>
                <a:gridCol w="1514006">
                  <a:extLst>
                    <a:ext uri="{9D8B030D-6E8A-4147-A177-3AD203B41FA5}">
                      <a16:colId xmlns:a16="http://schemas.microsoft.com/office/drawing/2014/main" val="3537650649"/>
                    </a:ext>
                  </a:extLst>
                </a:gridCol>
              </a:tblGrid>
              <a:tr h="2472272">
                <a:tc>
                  <a:txBody>
                    <a:bodyPr/>
                    <a:lstStyle/>
                    <a:p>
                      <a:r>
                        <a:rPr lang="en-US" sz="900" b="1" dirty="0" err="1"/>
                        <a:t>ReadWriteOnce</a:t>
                      </a:r>
                      <a:r>
                        <a:rPr lang="en-US" sz="900" b="1" dirty="0"/>
                        <a:t> (RWO) Access Mode:</a:t>
                      </a:r>
                    </a:p>
                    <a:p>
                      <a:endParaRPr lang="en-US" sz="900" b="1" dirty="0"/>
                    </a:p>
                    <a:p>
                      <a:r>
                        <a:rPr lang="en-US" sz="900" i="1" dirty="0"/>
                        <a:t>Definition</a:t>
                      </a:r>
                      <a:r>
                        <a:rPr lang="en-US" sz="900" dirty="0"/>
                        <a:t>: Volume can be mounted as read-write by a single node</a:t>
                      </a:r>
                    </a:p>
                    <a:p>
                      <a:endParaRPr lang="en-US" sz="900" dirty="0"/>
                    </a:p>
                    <a:p>
                      <a:r>
                        <a:rPr lang="en-US" sz="900" i="1" dirty="0"/>
                        <a:t>Use Cases</a:t>
                      </a:r>
                      <a:r>
                        <a:rPr lang="en-US" sz="900" dirty="0"/>
                        <a:t>: Suitable for applications with single-node access</a:t>
                      </a:r>
                    </a:p>
                    <a:p>
                      <a:endParaRPr lang="en-US" sz="900" dirty="0"/>
                    </a:p>
                    <a:p>
                      <a:r>
                        <a:rPr lang="en-US" sz="900" i="1" dirty="0"/>
                        <a:t>Limitations</a:t>
                      </a:r>
                      <a:r>
                        <a:rPr lang="en-US" sz="900" dirty="0"/>
                        <a:t>: Cannot be accessed by multiple nodes simultaneously</a:t>
                      </a:r>
                      <a:endParaRPr lang="en-IN" sz="900" dirty="0"/>
                    </a:p>
                  </a:txBody>
                  <a:tcPr/>
                </a:tc>
                <a:tc>
                  <a:txBody>
                    <a:bodyPr/>
                    <a:lstStyle/>
                    <a:p>
                      <a:r>
                        <a:rPr lang="en-US" sz="900" b="1" dirty="0" err="1"/>
                        <a:t>ReadWriteMany</a:t>
                      </a:r>
                      <a:r>
                        <a:rPr lang="en-US" sz="900" b="1" dirty="0"/>
                        <a:t> (RWX) Access Mode:</a:t>
                      </a:r>
                    </a:p>
                    <a:p>
                      <a:endParaRPr lang="en-US" sz="900" dirty="0"/>
                    </a:p>
                    <a:p>
                      <a:r>
                        <a:rPr lang="en-US" sz="900" i="1" dirty="0"/>
                        <a:t>Definition</a:t>
                      </a:r>
                      <a:r>
                        <a:rPr lang="en-US" sz="900" dirty="0"/>
                        <a:t>: Volume can be mounted as read-write by multiple nodes simultaneously.</a:t>
                      </a:r>
                    </a:p>
                    <a:p>
                      <a:endParaRPr lang="en-US" sz="900" dirty="0"/>
                    </a:p>
                    <a:p>
                      <a:r>
                        <a:rPr lang="en-US" sz="900" i="1" dirty="0"/>
                        <a:t>Use Cases</a:t>
                      </a:r>
                      <a:r>
                        <a:rPr lang="en-US" sz="900" dirty="0"/>
                        <a:t>: Ideal for distributed applications needing concurrent write access across nodes.</a:t>
                      </a:r>
                    </a:p>
                    <a:p>
                      <a:endParaRPr lang="en-US" sz="900" dirty="0"/>
                    </a:p>
                    <a:p>
                      <a:r>
                        <a:rPr lang="en-US" sz="900" i="1" dirty="0"/>
                        <a:t>Limitations</a:t>
                      </a:r>
                      <a:r>
                        <a:rPr lang="en-US" sz="900" dirty="0"/>
                        <a:t>: Dependent on underlying storage that supports multiple read-write clients.</a:t>
                      </a:r>
                      <a:endParaRPr lang="en-IN" sz="900" dirty="0"/>
                    </a:p>
                  </a:txBody>
                  <a:tcPr/>
                </a:tc>
                <a:tc>
                  <a:txBody>
                    <a:bodyPr/>
                    <a:lstStyle/>
                    <a:p>
                      <a:r>
                        <a:rPr lang="en-US" sz="900" b="1" dirty="0" err="1"/>
                        <a:t>ReadOnlyMany</a:t>
                      </a:r>
                      <a:r>
                        <a:rPr lang="en-US" sz="900" b="1" dirty="0"/>
                        <a:t> (ROX) Access Mode:</a:t>
                      </a:r>
                    </a:p>
                    <a:p>
                      <a:endParaRPr lang="en-US" sz="900" dirty="0"/>
                    </a:p>
                    <a:p>
                      <a:r>
                        <a:rPr lang="en-US" sz="900" i="1" dirty="0"/>
                        <a:t>Definition</a:t>
                      </a:r>
                      <a:r>
                        <a:rPr lang="en-US" sz="900" dirty="0"/>
                        <a:t>: Volume is mounted in read-only mode across multiple nodes, ensuring data integrity.</a:t>
                      </a:r>
                    </a:p>
                    <a:p>
                      <a:endParaRPr lang="en-US" sz="900" dirty="0"/>
                    </a:p>
                    <a:p>
                      <a:r>
                        <a:rPr lang="en-US" sz="900" i="1" dirty="0"/>
                        <a:t>Use Cases</a:t>
                      </a:r>
                      <a:r>
                        <a:rPr lang="en-US" sz="900" dirty="0"/>
                        <a:t>: Ideal for scenarios requiring shared data that must remain unaltered and consistent.</a:t>
                      </a:r>
                    </a:p>
                    <a:p>
                      <a:endParaRPr lang="en-US" sz="900" dirty="0"/>
                    </a:p>
                    <a:p>
                      <a:r>
                        <a:rPr lang="en-US" sz="900" i="1" dirty="0"/>
                        <a:t>Limitations</a:t>
                      </a:r>
                      <a:r>
                        <a:rPr lang="en-US" sz="900" dirty="0"/>
                        <a:t>: Write operations are restricted, preventing modifications to the shared data.</a:t>
                      </a:r>
                      <a:endParaRPr lang="en-IN" sz="900" dirty="0"/>
                    </a:p>
                  </a:txBody>
                  <a:tcPr/>
                </a:tc>
                <a:extLst>
                  <a:ext uri="{0D108BD9-81ED-4DB2-BD59-A6C34878D82A}">
                    <a16:rowId xmlns:a16="http://schemas.microsoft.com/office/drawing/2014/main" val="279177433"/>
                  </a:ext>
                </a:extLst>
              </a:tr>
            </a:tbl>
          </a:graphicData>
        </a:graphic>
      </p:graphicFrame>
      <p:sp>
        <p:nvSpPr>
          <p:cNvPr id="10" name="TextBox 9">
            <a:extLst>
              <a:ext uri="{FF2B5EF4-FFF2-40B4-BE49-F238E27FC236}">
                <a16:creationId xmlns:a16="http://schemas.microsoft.com/office/drawing/2014/main" id="{8F19C968-5987-9DCC-A442-8BBAD6D84037}"/>
              </a:ext>
            </a:extLst>
          </p:cNvPr>
          <p:cNvSpPr txBox="1"/>
          <p:nvPr/>
        </p:nvSpPr>
        <p:spPr>
          <a:xfrm>
            <a:off x="5459252" y="1504282"/>
            <a:ext cx="3402767" cy="2400657"/>
          </a:xfrm>
          <a:prstGeom prst="rect">
            <a:avLst/>
          </a:prstGeom>
          <a:noFill/>
        </p:spPr>
        <p:txBody>
          <a:bodyPr wrap="square">
            <a:spAutoFit/>
          </a:bodyPr>
          <a:lstStyle/>
          <a:p>
            <a:r>
              <a:rPr lang="en-IN" sz="1000" b="1" dirty="0"/>
              <a:t>#1 </a:t>
            </a:r>
            <a:r>
              <a:rPr lang="en-IN" sz="1000" b="1" dirty="0" err="1"/>
              <a:t>ReadWriteOnce</a:t>
            </a:r>
            <a:endParaRPr lang="en-IN" sz="1000" b="1" dirty="0"/>
          </a:p>
          <a:p>
            <a:r>
              <a:rPr lang="en-IN" sz="1000" dirty="0"/>
              <a:t>Volume can be mounted as read-write by a single node</a:t>
            </a:r>
          </a:p>
          <a:p>
            <a:endParaRPr lang="en-IN" sz="1000" dirty="0"/>
          </a:p>
          <a:p>
            <a:r>
              <a:rPr lang="en-IN" sz="1000" b="1" dirty="0"/>
              <a:t>#2 </a:t>
            </a:r>
            <a:r>
              <a:rPr lang="en-IN" sz="1000" b="1" dirty="0" err="1"/>
              <a:t>ReadOnlyMany</a:t>
            </a:r>
            <a:endParaRPr lang="en-IN" sz="1000" b="1" dirty="0"/>
          </a:p>
          <a:p>
            <a:r>
              <a:rPr lang="en-IN" sz="1000" dirty="0"/>
              <a:t>Volume can be mounted as read-only by many nodes</a:t>
            </a:r>
          </a:p>
          <a:p>
            <a:endParaRPr lang="en-IN" sz="1000" dirty="0"/>
          </a:p>
          <a:p>
            <a:r>
              <a:rPr lang="en-IN" sz="1000" b="1" dirty="0"/>
              <a:t>#3 </a:t>
            </a:r>
            <a:r>
              <a:rPr lang="en-IN" sz="1000" b="1" dirty="0" err="1"/>
              <a:t>ReadWriteMany</a:t>
            </a:r>
            <a:endParaRPr lang="en-IN" sz="1000" b="1" dirty="0"/>
          </a:p>
          <a:p>
            <a:r>
              <a:rPr lang="en-IN" sz="1000" dirty="0"/>
              <a:t>Volume can be mounted as read-write by many nodes</a:t>
            </a:r>
          </a:p>
          <a:p>
            <a:endParaRPr lang="en-IN" sz="1000" dirty="0"/>
          </a:p>
          <a:p>
            <a:r>
              <a:rPr lang="en-IN" sz="1000" b="1" dirty="0"/>
              <a:t>#4 </a:t>
            </a:r>
            <a:r>
              <a:rPr lang="en-IN" sz="1000" b="1" dirty="0" err="1"/>
              <a:t>NodeAffinity</a:t>
            </a:r>
            <a:endParaRPr lang="en-IN" sz="1000" b="1" dirty="0"/>
          </a:p>
          <a:p>
            <a:r>
              <a:rPr lang="en-IN" sz="1000" dirty="0"/>
              <a:t>Control over which node the volume can be mounted on</a:t>
            </a:r>
          </a:p>
          <a:p>
            <a:endParaRPr lang="en-IN" sz="1000" dirty="0"/>
          </a:p>
          <a:p>
            <a:r>
              <a:rPr lang="en-IN" sz="1000" b="1" dirty="0"/>
              <a:t>#5 </a:t>
            </a:r>
            <a:r>
              <a:rPr lang="en-IN" sz="1000" b="1" dirty="0" err="1"/>
              <a:t>NodeAntiAffinity</a:t>
            </a:r>
            <a:endParaRPr lang="en-IN" sz="1000" b="1" dirty="0"/>
          </a:p>
          <a:p>
            <a:r>
              <a:rPr lang="en-IN" sz="1000" dirty="0"/>
              <a:t>Prevents the volume from being mounted on specific nodes</a:t>
            </a:r>
          </a:p>
        </p:txBody>
      </p:sp>
    </p:spTree>
    <p:extLst>
      <p:ext uri="{BB962C8B-B14F-4D97-AF65-F5344CB8AC3E}">
        <p14:creationId xmlns:p14="http://schemas.microsoft.com/office/powerpoint/2010/main" val="30408174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65FD0-DF3D-5DD7-3EF2-DE518559002C}"/>
              </a:ext>
            </a:extLst>
          </p:cNvPr>
          <p:cNvSpPr>
            <a:spLocks noGrp="1"/>
          </p:cNvSpPr>
          <p:nvPr>
            <p:ph type="title" idx="4294967295"/>
          </p:nvPr>
        </p:nvSpPr>
        <p:spPr>
          <a:xfrm>
            <a:off x="0" y="274638"/>
            <a:ext cx="8229600" cy="993775"/>
          </a:xfrm>
        </p:spPr>
        <p:txBody>
          <a:bodyPr/>
          <a:lstStyle/>
          <a:p>
            <a:r>
              <a:rPr lang="en-IN" dirty="0"/>
              <a:t>Use PVs: Statically Create a PV</a:t>
            </a:r>
          </a:p>
        </p:txBody>
      </p:sp>
      <p:sp>
        <p:nvSpPr>
          <p:cNvPr id="3" name="Slide Number Placeholder 2">
            <a:extLst>
              <a:ext uri="{FF2B5EF4-FFF2-40B4-BE49-F238E27FC236}">
                <a16:creationId xmlns:a16="http://schemas.microsoft.com/office/drawing/2014/main" id="{1A90EFD7-E2D6-00DB-43A5-AC231E137124}"/>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63</a:t>
            </a:fld>
            <a:endParaRPr lang="en-GB"/>
          </a:p>
        </p:txBody>
      </p:sp>
      <p:pic>
        <p:nvPicPr>
          <p:cNvPr id="2050" name="Picture 2" descr="1">
            <a:extLst>
              <a:ext uri="{FF2B5EF4-FFF2-40B4-BE49-F238E27FC236}">
                <a16:creationId xmlns:a16="http://schemas.microsoft.com/office/drawing/2014/main" id="{163030A7-6952-2FC0-F74D-573079EC6D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076" y="1034321"/>
            <a:ext cx="4125262" cy="349251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E8CD5F0-898A-0889-C792-A874C81A4DC7}"/>
              </a:ext>
            </a:extLst>
          </p:cNvPr>
          <p:cNvSpPr txBox="1"/>
          <p:nvPr/>
        </p:nvSpPr>
        <p:spPr>
          <a:xfrm>
            <a:off x="4804347" y="1268413"/>
            <a:ext cx="3215390" cy="954107"/>
          </a:xfrm>
          <a:prstGeom prst="rect">
            <a:avLst/>
          </a:prstGeom>
          <a:noFill/>
        </p:spPr>
        <p:txBody>
          <a:bodyPr wrap="square">
            <a:spAutoFit/>
          </a:bodyPr>
          <a:lstStyle/>
          <a:p>
            <a:r>
              <a:rPr lang="en-US" b="1" i="0" dirty="0">
                <a:solidFill>
                  <a:srgbClr val="404040"/>
                </a:solidFill>
                <a:effectLst/>
                <a:highlight>
                  <a:srgbClr val="FFFFFF"/>
                </a:highlight>
                <a:latin typeface="-apple-system"/>
              </a:rPr>
              <a:t>Step 1)</a:t>
            </a:r>
            <a:r>
              <a:rPr lang="en-US" b="0" i="0" dirty="0">
                <a:solidFill>
                  <a:srgbClr val="404040"/>
                </a:solidFill>
                <a:effectLst/>
                <a:highlight>
                  <a:srgbClr val="FFFFFF"/>
                </a:highlight>
                <a:latin typeface="-apple-system"/>
              </a:rPr>
              <a:t> A cluster administrator creates an NFS PV. NFS is a type of in-tree storage natively supported by Kubernetes. The YAML file is as follows:</a:t>
            </a:r>
            <a:endParaRPr lang="en-IN" dirty="0"/>
          </a:p>
        </p:txBody>
      </p:sp>
      <p:pic>
        <p:nvPicPr>
          <p:cNvPr id="7" name="Picture 6">
            <a:extLst>
              <a:ext uri="{FF2B5EF4-FFF2-40B4-BE49-F238E27FC236}">
                <a16:creationId xmlns:a16="http://schemas.microsoft.com/office/drawing/2014/main" id="{57ABF249-206C-79E6-F0E1-0E6A34583A01}"/>
              </a:ext>
            </a:extLst>
          </p:cNvPr>
          <p:cNvPicPr>
            <a:picLocks noChangeAspect="1"/>
          </p:cNvPicPr>
          <p:nvPr/>
        </p:nvPicPr>
        <p:blipFill>
          <a:blip r:embed="rId4"/>
          <a:stretch>
            <a:fillRect/>
          </a:stretch>
        </p:blipFill>
        <p:spPr>
          <a:xfrm>
            <a:off x="4901782" y="2293079"/>
            <a:ext cx="2865368" cy="2575783"/>
          </a:xfrm>
          <a:prstGeom prst="rect">
            <a:avLst/>
          </a:prstGeom>
        </p:spPr>
      </p:pic>
    </p:spTree>
    <p:extLst>
      <p:ext uri="{BB962C8B-B14F-4D97-AF65-F5344CB8AC3E}">
        <p14:creationId xmlns:p14="http://schemas.microsoft.com/office/powerpoint/2010/main" val="10202407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35D4F-4916-2F07-114D-FAA92666C992}"/>
              </a:ext>
            </a:extLst>
          </p:cNvPr>
          <p:cNvSpPr>
            <a:spLocks noGrp="1"/>
          </p:cNvSpPr>
          <p:nvPr>
            <p:ph type="title" idx="4294967295"/>
          </p:nvPr>
        </p:nvSpPr>
        <p:spPr>
          <a:xfrm>
            <a:off x="434975" y="274638"/>
            <a:ext cx="8709025" cy="993775"/>
          </a:xfrm>
        </p:spPr>
        <p:txBody>
          <a:bodyPr/>
          <a:lstStyle/>
          <a:p>
            <a:r>
              <a:rPr lang="en-IN" dirty="0"/>
              <a:t>Continue: Statically Create a PV</a:t>
            </a:r>
          </a:p>
        </p:txBody>
      </p:sp>
      <p:sp>
        <p:nvSpPr>
          <p:cNvPr id="3" name="Slide Number Placeholder 2">
            <a:extLst>
              <a:ext uri="{FF2B5EF4-FFF2-40B4-BE49-F238E27FC236}">
                <a16:creationId xmlns:a16="http://schemas.microsoft.com/office/drawing/2014/main" id="{D4305AA4-84BB-70FF-FFCA-C5BC7F6681FB}"/>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64</a:t>
            </a:fld>
            <a:endParaRPr lang="en-GB"/>
          </a:p>
        </p:txBody>
      </p:sp>
      <p:sp>
        <p:nvSpPr>
          <p:cNvPr id="5" name="TextBox 4">
            <a:extLst>
              <a:ext uri="{FF2B5EF4-FFF2-40B4-BE49-F238E27FC236}">
                <a16:creationId xmlns:a16="http://schemas.microsoft.com/office/drawing/2014/main" id="{E18383C6-2F04-E4AD-F37D-1ED729DE782D}"/>
              </a:ext>
            </a:extLst>
          </p:cNvPr>
          <p:cNvSpPr txBox="1"/>
          <p:nvPr/>
        </p:nvSpPr>
        <p:spPr>
          <a:xfrm>
            <a:off x="536930" y="1394803"/>
            <a:ext cx="2750695" cy="523220"/>
          </a:xfrm>
          <a:prstGeom prst="rect">
            <a:avLst/>
          </a:prstGeom>
          <a:noFill/>
        </p:spPr>
        <p:txBody>
          <a:bodyPr wrap="square">
            <a:spAutoFit/>
          </a:bodyPr>
          <a:lstStyle/>
          <a:p>
            <a:r>
              <a:rPr lang="en-US" b="1" i="0" dirty="0">
                <a:solidFill>
                  <a:srgbClr val="404040"/>
                </a:solidFill>
                <a:effectLst/>
                <a:highlight>
                  <a:srgbClr val="FFFFFF"/>
                </a:highlight>
                <a:latin typeface="-apple-system"/>
              </a:rPr>
              <a:t>Step 2)</a:t>
            </a:r>
            <a:r>
              <a:rPr lang="en-US" b="0" i="0" dirty="0">
                <a:solidFill>
                  <a:srgbClr val="404040"/>
                </a:solidFill>
                <a:effectLst/>
                <a:highlight>
                  <a:srgbClr val="FFFFFF"/>
                </a:highlight>
                <a:latin typeface="-apple-system"/>
              </a:rPr>
              <a:t> A user creates a PVC. The YAML file is as follows:</a:t>
            </a:r>
            <a:endParaRPr lang="en-IN" dirty="0"/>
          </a:p>
        </p:txBody>
      </p:sp>
      <p:pic>
        <p:nvPicPr>
          <p:cNvPr id="7" name="Picture 6">
            <a:extLst>
              <a:ext uri="{FF2B5EF4-FFF2-40B4-BE49-F238E27FC236}">
                <a16:creationId xmlns:a16="http://schemas.microsoft.com/office/drawing/2014/main" id="{1BBAD6E8-4CE4-F8AA-C2DC-C22654FD1536}"/>
              </a:ext>
            </a:extLst>
          </p:cNvPr>
          <p:cNvPicPr>
            <a:picLocks noChangeAspect="1"/>
          </p:cNvPicPr>
          <p:nvPr/>
        </p:nvPicPr>
        <p:blipFill>
          <a:blip r:embed="rId2"/>
          <a:stretch>
            <a:fillRect/>
          </a:stretch>
        </p:blipFill>
        <p:spPr>
          <a:xfrm>
            <a:off x="761782" y="2136203"/>
            <a:ext cx="2149026" cy="1920406"/>
          </a:xfrm>
          <a:prstGeom prst="rect">
            <a:avLst/>
          </a:prstGeom>
        </p:spPr>
      </p:pic>
      <p:sp>
        <p:nvSpPr>
          <p:cNvPr id="9" name="TextBox 8">
            <a:extLst>
              <a:ext uri="{FF2B5EF4-FFF2-40B4-BE49-F238E27FC236}">
                <a16:creationId xmlns:a16="http://schemas.microsoft.com/office/drawing/2014/main" id="{D9E258A4-D403-E9FD-71A4-03953E6D130F}"/>
              </a:ext>
            </a:extLst>
          </p:cNvPr>
          <p:cNvSpPr txBox="1"/>
          <p:nvPr/>
        </p:nvSpPr>
        <p:spPr>
          <a:xfrm>
            <a:off x="4482059" y="1364823"/>
            <a:ext cx="3417757" cy="523220"/>
          </a:xfrm>
          <a:prstGeom prst="rect">
            <a:avLst/>
          </a:prstGeom>
          <a:noFill/>
        </p:spPr>
        <p:txBody>
          <a:bodyPr wrap="square">
            <a:spAutoFit/>
          </a:bodyPr>
          <a:lstStyle/>
          <a:p>
            <a:r>
              <a:rPr lang="en-US" b="1" i="0" dirty="0">
                <a:solidFill>
                  <a:srgbClr val="404040"/>
                </a:solidFill>
                <a:effectLst/>
                <a:highlight>
                  <a:srgbClr val="FFFFFF"/>
                </a:highlight>
                <a:latin typeface="-apple-system"/>
              </a:rPr>
              <a:t>Step 3)</a:t>
            </a:r>
            <a:r>
              <a:rPr lang="en-US" b="0" i="0" dirty="0">
                <a:solidFill>
                  <a:srgbClr val="404040"/>
                </a:solidFill>
                <a:effectLst/>
                <a:highlight>
                  <a:srgbClr val="FFFFFF"/>
                </a:highlight>
                <a:latin typeface="-apple-system"/>
              </a:rPr>
              <a:t> The user creates an application and uses the PVC created in Step 2.</a:t>
            </a:r>
            <a:endParaRPr lang="en-IN" dirty="0"/>
          </a:p>
        </p:txBody>
      </p:sp>
      <p:pic>
        <p:nvPicPr>
          <p:cNvPr id="11" name="Picture 10">
            <a:extLst>
              <a:ext uri="{FF2B5EF4-FFF2-40B4-BE49-F238E27FC236}">
                <a16:creationId xmlns:a16="http://schemas.microsoft.com/office/drawing/2014/main" id="{635DE9EC-2EF9-09AA-5A4B-F5702D8593AB}"/>
              </a:ext>
            </a:extLst>
          </p:cNvPr>
          <p:cNvPicPr>
            <a:picLocks noChangeAspect="1"/>
          </p:cNvPicPr>
          <p:nvPr/>
        </p:nvPicPr>
        <p:blipFill>
          <a:blip r:embed="rId3"/>
          <a:stretch>
            <a:fillRect/>
          </a:stretch>
        </p:blipFill>
        <p:spPr>
          <a:xfrm>
            <a:off x="4964010" y="1994540"/>
            <a:ext cx="2453853" cy="3025402"/>
          </a:xfrm>
          <a:prstGeom prst="rect">
            <a:avLst/>
          </a:prstGeom>
        </p:spPr>
      </p:pic>
    </p:spTree>
    <p:extLst>
      <p:ext uri="{BB962C8B-B14F-4D97-AF65-F5344CB8AC3E}">
        <p14:creationId xmlns:p14="http://schemas.microsoft.com/office/powerpoint/2010/main" val="221207933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6FE92-30B1-7368-EAC8-1F7466C43AF4}"/>
              </a:ext>
            </a:extLst>
          </p:cNvPr>
          <p:cNvSpPr>
            <a:spLocks noGrp="1"/>
          </p:cNvSpPr>
          <p:nvPr>
            <p:ph type="title" idx="4294967295"/>
          </p:nvPr>
        </p:nvSpPr>
        <p:spPr>
          <a:xfrm>
            <a:off x="0" y="87313"/>
            <a:ext cx="8890000" cy="993775"/>
          </a:xfrm>
        </p:spPr>
        <p:txBody>
          <a:bodyPr/>
          <a:lstStyle/>
          <a:p>
            <a:r>
              <a:rPr lang="en-IN" dirty="0"/>
              <a:t>Use PVs: Dynamically Create a PV</a:t>
            </a:r>
          </a:p>
        </p:txBody>
      </p:sp>
      <p:sp>
        <p:nvSpPr>
          <p:cNvPr id="3" name="Slide Number Placeholder 2">
            <a:extLst>
              <a:ext uri="{FF2B5EF4-FFF2-40B4-BE49-F238E27FC236}">
                <a16:creationId xmlns:a16="http://schemas.microsoft.com/office/drawing/2014/main" id="{183DDCDC-C8BC-F4BC-6BDB-0922AC6C779D}"/>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65</a:t>
            </a:fld>
            <a:endParaRPr lang="en-GB"/>
          </a:p>
        </p:txBody>
      </p:sp>
      <p:pic>
        <p:nvPicPr>
          <p:cNvPr id="3074" name="Picture 2" descr="2">
            <a:extLst>
              <a:ext uri="{FF2B5EF4-FFF2-40B4-BE49-F238E27FC236}">
                <a16:creationId xmlns:a16="http://schemas.microsoft.com/office/drawing/2014/main" id="{78107461-0B49-71DB-C262-8DA32ED900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1263" y="944764"/>
            <a:ext cx="3868035" cy="396219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1731A6C-A5EB-110F-63FC-14F9C2CFFF36}"/>
              </a:ext>
            </a:extLst>
          </p:cNvPr>
          <p:cNvSpPr txBox="1"/>
          <p:nvPr/>
        </p:nvSpPr>
        <p:spPr>
          <a:xfrm>
            <a:off x="5013842" y="1081036"/>
            <a:ext cx="3868035" cy="738664"/>
          </a:xfrm>
          <a:prstGeom prst="rect">
            <a:avLst/>
          </a:prstGeom>
          <a:noFill/>
        </p:spPr>
        <p:txBody>
          <a:bodyPr wrap="square">
            <a:spAutoFit/>
          </a:bodyPr>
          <a:lstStyle/>
          <a:p>
            <a:r>
              <a:rPr lang="en-US" b="0" i="0" dirty="0">
                <a:solidFill>
                  <a:srgbClr val="404040"/>
                </a:solidFill>
                <a:effectLst/>
                <a:highlight>
                  <a:srgbClr val="FFFFFF"/>
                </a:highlight>
                <a:latin typeface="-apple-system"/>
              </a:rPr>
              <a:t>The cluster administrator only needs to ensure that the environment contains an NFS-related </a:t>
            </a:r>
            <a:r>
              <a:rPr lang="en-US" b="0" i="0" dirty="0" err="1">
                <a:solidFill>
                  <a:srgbClr val="404040"/>
                </a:solidFill>
                <a:effectLst/>
                <a:highlight>
                  <a:srgbClr val="FFFFFF"/>
                </a:highlight>
                <a:latin typeface="-apple-system"/>
              </a:rPr>
              <a:t>StorageClass</a:t>
            </a:r>
            <a:r>
              <a:rPr lang="en-US" b="0" i="0" dirty="0">
                <a:solidFill>
                  <a:srgbClr val="404040"/>
                </a:solidFill>
                <a:effectLst/>
                <a:highlight>
                  <a:srgbClr val="FFFFFF"/>
                </a:highlight>
                <a:latin typeface="-apple-system"/>
              </a:rPr>
              <a:t>.</a:t>
            </a:r>
            <a:endParaRPr lang="en-IN" dirty="0"/>
          </a:p>
        </p:txBody>
      </p:sp>
      <p:pic>
        <p:nvPicPr>
          <p:cNvPr id="7" name="Picture 6">
            <a:extLst>
              <a:ext uri="{FF2B5EF4-FFF2-40B4-BE49-F238E27FC236}">
                <a16:creationId xmlns:a16="http://schemas.microsoft.com/office/drawing/2014/main" id="{5FF6F2EF-F8ED-05D3-D8AD-732804207132}"/>
              </a:ext>
            </a:extLst>
          </p:cNvPr>
          <p:cNvPicPr>
            <a:picLocks noChangeAspect="1"/>
          </p:cNvPicPr>
          <p:nvPr/>
        </p:nvPicPr>
        <p:blipFill>
          <a:blip r:embed="rId3"/>
          <a:stretch>
            <a:fillRect/>
          </a:stretch>
        </p:blipFill>
        <p:spPr>
          <a:xfrm>
            <a:off x="5762983" y="2158098"/>
            <a:ext cx="2156647" cy="1310754"/>
          </a:xfrm>
          <a:prstGeom prst="rect">
            <a:avLst/>
          </a:prstGeom>
        </p:spPr>
      </p:pic>
    </p:spTree>
    <p:extLst>
      <p:ext uri="{BB962C8B-B14F-4D97-AF65-F5344CB8AC3E}">
        <p14:creationId xmlns:p14="http://schemas.microsoft.com/office/powerpoint/2010/main" val="4083192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594B4-1CF5-3E08-DDE2-FD60FA1A7B8B}"/>
              </a:ext>
            </a:extLst>
          </p:cNvPr>
          <p:cNvSpPr>
            <a:spLocks noGrp="1"/>
          </p:cNvSpPr>
          <p:nvPr>
            <p:ph type="title" idx="4294967295"/>
          </p:nvPr>
        </p:nvSpPr>
        <p:spPr>
          <a:xfrm>
            <a:off x="0" y="0"/>
            <a:ext cx="9428163" cy="993775"/>
          </a:xfrm>
        </p:spPr>
        <p:txBody>
          <a:bodyPr/>
          <a:lstStyle/>
          <a:p>
            <a:r>
              <a:rPr lang="en-IN" dirty="0"/>
              <a:t>Continue: Dynamically Create a PV</a:t>
            </a:r>
          </a:p>
        </p:txBody>
      </p:sp>
      <p:sp>
        <p:nvSpPr>
          <p:cNvPr id="3" name="Slide Number Placeholder 2">
            <a:extLst>
              <a:ext uri="{FF2B5EF4-FFF2-40B4-BE49-F238E27FC236}">
                <a16:creationId xmlns:a16="http://schemas.microsoft.com/office/drawing/2014/main" id="{F7392142-C870-337E-09B5-E058B9D5B784}"/>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66</a:t>
            </a:fld>
            <a:endParaRPr lang="en-GB"/>
          </a:p>
        </p:txBody>
      </p:sp>
      <p:sp>
        <p:nvSpPr>
          <p:cNvPr id="5" name="TextBox 4">
            <a:extLst>
              <a:ext uri="{FF2B5EF4-FFF2-40B4-BE49-F238E27FC236}">
                <a16:creationId xmlns:a16="http://schemas.microsoft.com/office/drawing/2014/main" id="{952B89F2-16E9-8E9C-2C1F-F4FF5DC67262}"/>
              </a:ext>
            </a:extLst>
          </p:cNvPr>
          <p:cNvSpPr txBox="1"/>
          <p:nvPr/>
        </p:nvSpPr>
        <p:spPr>
          <a:xfrm>
            <a:off x="0" y="1349833"/>
            <a:ext cx="4174762" cy="738664"/>
          </a:xfrm>
          <a:prstGeom prst="rect">
            <a:avLst/>
          </a:prstGeom>
          <a:noFill/>
        </p:spPr>
        <p:txBody>
          <a:bodyPr wrap="square">
            <a:spAutoFit/>
          </a:bodyPr>
          <a:lstStyle/>
          <a:p>
            <a:r>
              <a:rPr lang="en-US" b="1" i="0" dirty="0">
                <a:solidFill>
                  <a:srgbClr val="404040"/>
                </a:solidFill>
                <a:effectLst/>
                <a:highlight>
                  <a:srgbClr val="FFFFFF"/>
                </a:highlight>
                <a:latin typeface="-apple-system"/>
              </a:rPr>
              <a:t>Step 1)</a:t>
            </a:r>
            <a:r>
              <a:rPr lang="en-US" b="0" i="0" dirty="0">
                <a:solidFill>
                  <a:srgbClr val="404040"/>
                </a:solidFill>
                <a:effectLst/>
                <a:highlight>
                  <a:srgbClr val="FFFFFF"/>
                </a:highlight>
                <a:latin typeface="-apple-system"/>
              </a:rPr>
              <a:t> The user creates a PVC and sets </a:t>
            </a:r>
            <a:r>
              <a:rPr lang="en-US" b="0" i="0" dirty="0" err="1">
                <a:solidFill>
                  <a:srgbClr val="404040"/>
                </a:solidFill>
                <a:effectLst/>
                <a:highlight>
                  <a:srgbClr val="FFFFFF"/>
                </a:highlight>
                <a:latin typeface="-apple-system"/>
              </a:rPr>
              <a:t>storageClassName</a:t>
            </a:r>
            <a:r>
              <a:rPr lang="en-US" b="0" i="0" dirty="0">
                <a:solidFill>
                  <a:srgbClr val="404040"/>
                </a:solidFill>
                <a:effectLst/>
                <a:highlight>
                  <a:srgbClr val="FFFFFF"/>
                </a:highlight>
                <a:latin typeface="-apple-system"/>
              </a:rPr>
              <a:t> to the name of the NFS-related </a:t>
            </a:r>
            <a:r>
              <a:rPr lang="en-US" b="0" i="0" dirty="0" err="1">
                <a:solidFill>
                  <a:srgbClr val="404040"/>
                </a:solidFill>
                <a:effectLst/>
                <a:highlight>
                  <a:srgbClr val="FFFFFF"/>
                </a:highlight>
                <a:latin typeface="-apple-system"/>
              </a:rPr>
              <a:t>StorageClass</a:t>
            </a:r>
            <a:r>
              <a:rPr lang="en-US" b="0" i="0" dirty="0">
                <a:solidFill>
                  <a:srgbClr val="404040"/>
                </a:solidFill>
                <a:effectLst/>
                <a:highlight>
                  <a:srgbClr val="FFFFFF"/>
                </a:highlight>
                <a:latin typeface="-apple-system"/>
              </a:rPr>
              <a:t>.</a:t>
            </a:r>
            <a:endParaRPr lang="en-IN" dirty="0"/>
          </a:p>
        </p:txBody>
      </p:sp>
      <p:pic>
        <p:nvPicPr>
          <p:cNvPr id="7" name="Picture 6">
            <a:extLst>
              <a:ext uri="{FF2B5EF4-FFF2-40B4-BE49-F238E27FC236}">
                <a16:creationId xmlns:a16="http://schemas.microsoft.com/office/drawing/2014/main" id="{BC9666DA-D44E-A358-7E82-E219D283A05F}"/>
              </a:ext>
            </a:extLst>
          </p:cNvPr>
          <p:cNvPicPr>
            <a:picLocks noChangeAspect="1"/>
          </p:cNvPicPr>
          <p:nvPr/>
        </p:nvPicPr>
        <p:blipFill>
          <a:blip r:embed="rId2"/>
          <a:stretch>
            <a:fillRect/>
          </a:stretch>
        </p:blipFill>
        <p:spPr>
          <a:xfrm>
            <a:off x="96442" y="2392144"/>
            <a:ext cx="4214225" cy="2514818"/>
          </a:xfrm>
          <a:prstGeom prst="rect">
            <a:avLst/>
          </a:prstGeom>
        </p:spPr>
      </p:pic>
      <p:sp>
        <p:nvSpPr>
          <p:cNvPr id="9" name="TextBox 8">
            <a:extLst>
              <a:ext uri="{FF2B5EF4-FFF2-40B4-BE49-F238E27FC236}">
                <a16:creationId xmlns:a16="http://schemas.microsoft.com/office/drawing/2014/main" id="{6A07026E-4CA5-FD35-AC0E-6E3C094AC86B}"/>
              </a:ext>
            </a:extLst>
          </p:cNvPr>
          <p:cNvSpPr txBox="1"/>
          <p:nvPr/>
        </p:nvSpPr>
        <p:spPr>
          <a:xfrm>
            <a:off x="4174762" y="1240046"/>
            <a:ext cx="4841822" cy="738664"/>
          </a:xfrm>
          <a:prstGeom prst="rect">
            <a:avLst/>
          </a:prstGeom>
          <a:noFill/>
        </p:spPr>
        <p:txBody>
          <a:bodyPr wrap="square">
            <a:spAutoFit/>
          </a:bodyPr>
          <a:lstStyle/>
          <a:p>
            <a:r>
              <a:rPr lang="en-US" b="1" i="0" dirty="0">
                <a:solidFill>
                  <a:srgbClr val="404040"/>
                </a:solidFill>
                <a:effectLst/>
                <a:highlight>
                  <a:srgbClr val="FFFFFF"/>
                </a:highlight>
                <a:latin typeface="-apple-system"/>
              </a:rPr>
              <a:t>Step 2)</a:t>
            </a:r>
            <a:r>
              <a:rPr lang="en-US" b="0" i="0" dirty="0">
                <a:solidFill>
                  <a:srgbClr val="404040"/>
                </a:solidFill>
                <a:effectLst/>
                <a:highlight>
                  <a:srgbClr val="FFFFFF"/>
                </a:highlight>
                <a:latin typeface="-apple-system"/>
              </a:rPr>
              <a:t> The NFS client provisioner in the cluster dynamically creates the corresponding PV. A PV is created in the environment and bound to the PVC.</a:t>
            </a:r>
            <a:endParaRPr lang="en-IN" dirty="0"/>
          </a:p>
        </p:txBody>
      </p:sp>
      <p:sp>
        <p:nvSpPr>
          <p:cNvPr id="11" name="TextBox 10">
            <a:extLst>
              <a:ext uri="{FF2B5EF4-FFF2-40B4-BE49-F238E27FC236}">
                <a16:creationId xmlns:a16="http://schemas.microsoft.com/office/drawing/2014/main" id="{F8F5C64B-B9DA-FFA8-3B3C-90E5BEA5410C}"/>
              </a:ext>
            </a:extLst>
          </p:cNvPr>
          <p:cNvSpPr txBox="1"/>
          <p:nvPr/>
        </p:nvSpPr>
        <p:spPr>
          <a:xfrm>
            <a:off x="4174762" y="2223923"/>
            <a:ext cx="4841822" cy="738664"/>
          </a:xfrm>
          <a:prstGeom prst="rect">
            <a:avLst/>
          </a:prstGeom>
          <a:noFill/>
        </p:spPr>
        <p:txBody>
          <a:bodyPr wrap="square">
            <a:spAutoFit/>
          </a:bodyPr>
          <a:lstStyle/>
          <a:p>
            <a:r>
              <a:rPr lang="en-US" b="1" i="0" dirty="0">
                <a:solidFill>
                  <a:srgbClr val="404040"/>
                </a:solidFill>
                <a:effectLst/>
                <a:highlight>
                  <a:srgbClr val="FFFFFF"/>
                </a:highlight>
                <a:latin typeface="-apple-system"/>
              </a:rPr>
              <a:t>Step 3)</a:t>
            </a:r>
            <a:r>
              <a:rPr lang="en-US" b="0" i="0" dirty="0">
                <a:solidFill>
                  <a:srgbClr val="404040"/>
                </a:solidFill>
                <a:effectLst/>
                <a:highlight>
                  <a:srgbClr val="FFFFFF"/>
                </a:highlight>
                <a:latin typeface="-apple-system"/>
              </a:rPr>
              <a:t> The user creates an application and uses the PVC created in Step 2. This step is the same as Step 3 of statically creating a PV.</a:t>
            </a:r>
            <a:endParaRPr lang="en-IN" dirty="0"/>
          </a:p>
        </p:txBody>
      </p:sp>
    </p:spTree>
    <p:extLst>
      <p:ext uri="{BB962C8B-B14F-4D97-AF65-F5344CB8AC3E}">
        <p14:creationId xmlns:p14="http://schemas.microsoft.com/office/powerpoint/2010/main" val="37158860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285F7A0-D351-979E-B123-7A25234797B6}"/>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67</a:t>
            </a:fld>
            <a:endParaRPr lang="en-GB"/>
          </a:p>
        </p:txBody>
      </p:sp>
      <p:pic>
        <p:nvPicPr>
          <p:cNvPr id="4098" name="Picture 2" descr="5">
            <a:extLst>
              <a:ext uri="{FF2B5EF4-FFF2-40B4-BE49-F238E27FC236}">
                <a16:creationId xmlns:a16="http://schemas.microsoft.com/office/drawing/2014/main" id="{D6E34DFB-E74B-82DF-1D26-364715C589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2707" y="0"/>
            <a:ext cx="7078585" cy="4631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915565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A4651-88AA-FD1C-5B81-CAD61B1BA575}"/>
              </a:ext>
            </a:extLst>
          </p:cNvPr>
          <p:cNvSpPr>
            <a:spLocks noGrp="1"/>
          </p:cNvSpPr>
          <p:nvPr>
            <p:ph type="title" idx="4294967295"/>
          </p:nvPr>
        </p:nvSpPr>
        <p:spPr>
          <a:xfrm>
            <a:off x="657225" y="274638"/>
            <a:ext cx="8486775" cy="993775"/>
          </a:xfrm>
        </p:spPr>
        <p:txBody>
          <a:bodyPr/>
          <a:lstStyle/>
          <a:p>
            <a:r>
              <a:rPr lang="en-IN" dirty="0"/>
              <a:t>Provisioning Volumes controller</a:t>
            </a:r>
          </a:p>
        </p:txBody>
      </p:sp>
      <p:sp>
        <p:nvSpPr>
          <p:cNvPr id="3" name="Slide Number Placeholder 2">
            <a:extLst>
              <a:ext uri="{FF2B5EF4-FFF2-40B4-BE49-F238E27FC236}">
                <a16:creationId xmlns:a16="http://schemas.microsoft.com/office/drawing/2014/main" id="{FE267547-D35D-7EC5-796E-61BFA2185449}"/>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68</a:t>
            </a:fld>
            <a:endParaRPr lang="en-GB"/>
          </a:p>
        </p:txBody>
      </p:sp>
      <p:sp>
        <p:nvSpPr>
          <p:cNvPr id="5" name="TextBox 4">
            <a:extLst>
              <a:ext uri="{FF2B5EF4-FFF2-40B4-BE49-F238E27FC236}">
                <a16:creationId xmlns:a16="http://schemas.microsoft.com/office/drawing/2014/main" id="{32265D54-66E3-58C0-1F99-4D7759688A75}"/>
              </a:ext>
            </a:extLst>
          </p:cNvPr>
          <p:cNvSpPr txBox="1"/>
          <p:nvPr/>
        </p:nvSpPr>
        <p:spPr>
          <a:xfrm>
            <a:off x="375077" y="1579550"/>
            <a:ext cx="4077325" cy="2462213"/>
          </a:xfrm>
          <a:prstGeom prst="rect">
            <a:avLst/>
          </a:prstGeom>
          <a:noFill/>
        </p:spPr>
        <p:txBody>
          <a:bodyPr wrap="square">
            <a:spAutoFit/>
          </a:bodyPr>
          <a:lstStyle/>
          <a:p>
            <a:pPr algn="l"/>
            <a:r>
              <a:rPr lang="en-US" b="1" i="0" dirty="0">
                <a:solidFill>
                  <a:srgbClr val="404040"/>
                </a:solidFill>
                <a:effectLst/>
                <a:highlight>
                  <a:srgbClr val="FFFFFF"/>
                </a:highlight>
                <a:latin typeface="-apple-system"/>
              </a:rPr>
              <a:t>PV Status Changes (</a:t>
            </a:r>
            <a:r>
              <a:rPr lang="en-US" b="1" i="0" dirty="0" err="1">
                <a:solidFill>
                  <a:srgbClr val="404040"/>
                </a:solidFill>
                <a:effectLst/>
                <a:highlight>
                  <a:srgbClr val="FFFFFF"/>
                </a:highlight>
                <a:latin typeface="-apple-system"/>
              </a:rPr>
              <a:t>UpdatePVStatus</a:t>
            </a:r>
            <a:r>
              <a:rPr lang="en-US" b="1" i="0" dirty="0">
                <a:solidFill>
                  <a:srgbClr val="404040"/>
                </a:solidFill>
                <a:effectLst/>
                <a:highlight>
                  <a:srgbClr val="FFFFFF"/>
                </a:highlight>
                <a:latin typeface="-apple-system"/>
              </a:rPr>
              <a:t>)</a:t>
            </a:r>
            <a:endParaRPr lang="en-US" b="0" i="0" dirty="0">
              <a:solidFill>
                <a:srgbClr val="404040"/>
              </a:solidFill>
              <a:effectLst/>
              <a:highlight>
                <a:srgbClr val="FFFFFF"/>
              </a:highlight>
              <a:latin typeface="-apple-system"/>
            </a:endParaRPr>
          </a:p>
          <a:p>
            <a:pPr algn="l">
              <a:buFont typeface="Arial" panose="020B0604020202020204" pitchFamily="34" charset="0"/>
              <a:buChar char="•"/>
            </a:pPr>
            <a:r>
              <a:rPr lang="en-US" b="0" i="0" dirty="0">
                <a:solidFill>
                  <a:srgbClr val="24292E"/>
                </a:solidFill>
                <a:effectLst/>
                <a:highlight>
                  <a:srgbClr val="FFFFFF"/>
                </a:highlight>
                <a:latin typeface="-apple-system"/>
              </a:rPr>
              <a:t>The PV starts in the Available state and changes to the Bound state after being bound to the PVC.</a:t>
            </a:r>
          </a:p>
          <a:p>
            <a:pPr algn="l">
              <a:buFont typeface="Arial" panose="020B0604020202020204" pitchFamily="34" charset="0"/>
              <a:buChar char="•"/>
            </a:pPr>
            <a:r>
              <a:rPr lang="en-US" b="0" i="0" dirty="0">
                <a:solidFill>
                  <a:srgbClr val="24292E"/>
                </a:solidFill>
                <a:effectLst/>
                <a:highlight>
                  <a:srgbClr val="FFFFFF"/>
                </a:highlight>
                <a:latin typeface="-apple-system"/>
              </a:rPr>
              <a:t>The PV changes to the Released state after the bound PVC is deleted.</a:t>
            </a:r>
          </a:p>
          <a:p>
            <a:pPr algn="l">
              <a:buFont typeface="Arial" panose="020B0604020202020204" pitchFamily="34" charset="0"/>
              <a:buChar char="•"/>
            </a:pPr>
            <a:r>
              <a:rPr lang="en-US" b="0" i="0" dirty="0">
                <a:solidFill>
                  <a:srgbClr val="24292E"/>
                </a:solidFill>
                <a:effectLst/>
                <a:highlight>
                  <a:srgbClr val="FFFFFF"/>
                </a:highlight>
                <a:latin typeface="-apple-system"/>
              </a:rPr>
              <a:t>The PV changes to the Available state when the PV reclaim policy is Recycled or the .</a:t>
            </a:r>
            <a:r>
              <a:rPr lang="en-US" b="0" i="0" dirty="0" err="1">
                <a:solidFill>
                  <a:srgbClr val="24292E"/>
                </a:solidFill>
                <a:effectLst/>
                <a:highlight>
                  <a:srgbClr val="FFFFFF"/>
                </a:highlight>
                <a:latin typeface="-apple-system"/>
              </a:rPr>
              <a:t>Spec.ClaimRef</a:t>
            </a:r>
            <a:r>
              <a:rPr lang="en-US" b="0" i="0" dirty="0">
                <a:solidFill>
                  <a:srgbClr val="24292E"/>
                </a:solidFill>
                <a:effectLst/>
                <a:highlight>
                  <a:srgbClr val="FFFFFF"/>
                </a:highlight>
                <a:latin typeface="-apple-system"/>
              </a:rPr>
              <a:t> of the PV is manually deleted.</a:t>
            </a:r>
          </a:p>
          <a:p>
            <a:pPr algn="l">
              <a:buFont typeface="Arial" panose="020B0604020202020204" pitchFamily="34" charset="0"/>
              <a:buChar char="•"/>
            </a:pPr>
            <a:r>
              <a:rPr lang="en-US" b="0" i="0" dirty="0">
                <a:solidFill>
                  <a:srgbClr val="24292E"/>
                </a:solidFill>
                <a:effectLst/>
                <a:highlight>
                  <a:srgbClr val="FFFFFF"/>
                </a:highlight>
                <a:latin typeface="-apple-system"/>
              </a:rPr>
              <a:t>The PV changes to the Failed state when the PV reclaim policy is unknown, the recycle operation fails, or the volume cannot be deleted.</a:t>
            </a:r>
          </a:p>
        </p:txBody>
      </p:sp>
      <p:sp>
        <p:nvSpPr>
          <p:cNvPr id="7" name="TextBox 6">
            <a:extLst>
              <a:ext uri="{FF2B5EF4-FFF2-40B4-BE49-F238E27FC236}">
                <a16:creationId xmlns:a16="http://schemas.microsoft.com/office/drawing/2014/main" id="{0727A9F8-E4C1-B7A1-EDE9-33F64B8C4908}"/>
              </a:ext>
            </a:extLst>
          </p:cNvPr>
          <p:cNvSpPr txBox="1"/>
          <p:nvPr/>
        </p:nvSpPr>
        <p:spPr>
          <a:xfrm>
            <a:off x="4691600" y="1654500"/>
            <a:ext cx="4572000" cy="2031325"/>
          </a:xfrm>
          <a:prstGeom prst="rect">
            <a:avLst/>
          </a:prstGeom>
          <a:noFill/>
        </p:spPr>
        <p:txBody>
          <a:bodyPr wrap="square">
            <a:spAutoFit/>
          </a:bodyPr>
          <a:lstStyle/>
          <a:p>
            <a:pPr algn="l"/>
            <a:r>
              <a:rPr lang="en-US" b="1" i="0" dirty="0">
                <a:solidFill>
                  <a:srgbClr val="404040"/>
                </a:solidFill>
                <a:effectLst/>
                <a:highlight>
                  <a:srgbClr val="FFFFFF"/>
                </a:highlight>
                <a:latin typeface="-apple-system"/>
              </a:rPr>
              <a:t>PVC Status Changes (</a:t>
            </a:r>
            <a:r>
              <a:rPr lang="en-US" b="1" i="0" dirty="0" err="1">
                <a:solidFill>
                  <a:srgbClr val="404040"/>
                </a:solidFill>
                <a:effectLst/>
                <a:highlight>
                  <a:srgbClr val="FFFFFF"/>
                </a:highlight>
                <a:latin typeface="-apple-system"/>
              </a:rPr>
              <a:t>UpdatePVCStatus</a:t>
            </a:r>
            <a:r>
              <a:rPr lang="en-US" b="1" i="0" dirty="0">
                <a:solidFill>
                  <a:srgbClr val="404040"/>
                </a:solidFill>
                <a:effectLst/>
                <a:highlight>
                  <a:srgbClr val="FFFFFF"/>
                </a:highlight>
                <a:latin typeface="-apple-system"/>
              </a:rPr>
              <a:t>)</a:t>
            </a:r>
            <a:endParaRPr lang="en-US" b="0" i="0" dirty="0">
              <a:solidFill>
                <a:srgbClr val="404040"/>
              </a:solidFill>
              <a:effectLst/>
              <a:highlight>
                <a:srgbClr val="FFFFFF"/>
              </a:highlight>
              <a:latin typeface="-apple-system"/>
            </a:endParaRPr>
          </a:p>
          <a:p>
            <a:pPr algn="l">
              <a:buFont typeface="Arial" panose="020B0604020202020204" pitchFamily="34" charset="0"/>
              <a:buChar char="•"/>
            </a:pPr>
            <a:r>
              <a:rPr lang="en-US" b="0" i="0" dirty="0">
                <a:solidFill>
                  <a:srgbClr val="24292E"/>
                </a:solidFill>
                <a:effectLst/>
                <a:highlight>
                  <a:srgbClr val="FFFFFF"/>
                </a:highlight>
                <a:latin typeface="-apple-system"/>
              </a:rPr>
              <a:t>The PVC changes to the Pending state when the cluster does not include any PV that matches the PVC. The PVC changes from the Pending to the Bound state after it is bound to a PV.</a:t>
            </a:r>
          </a:p>
          <a:p>
            <a:pPr algn="l">
              <a:buFont typeface="Arial" panose="020B0604020202020204" pitchFamily="34" charset="0"/>
              <a:buChar char="•"/>
            </a:pPr>
            <a:r>
              <a:rPr lang="en-US" b="0" i="0" dirty="0">
                <a:solidFill>
                  <a:srgbClr val="24292E"/>
                </a:solidFill>
                <a:effectLst/>
                <a:highlight>
                  <a:srgbClr val="FFFFFF"/>
                </a:highlight>
                <a:latin typeface="-apple-system"/>
              </a:rPr>
              <a:t>The PVC changes to the Lost state when the bound PV is deleted from the environment.</a:t>
            </a:r>
          </a:p>
          <a:p>
            <a:pPr algn="l">
              <a:buFont typeface="Arial" panose="020B0604020202020204" pitchFamily="34" charset="0"/>
              <a:buChar char="•"/>
            </a:pPr>
            <a:r>
              <a:rPr lang="en-US" b="0" i="0" dirty="0">
                <a:solidFill>
                  <a:srgbClr val="24292E"/>
                </a:solidFill>
                <a:effectLst/>
                <a:highlight>
                  <a:srgbClr val="FFFFFF"/>
                </a:highlight>
                <a:latin typeface="-apple-system"/>
              </a:rPr>
              <a:t>The PVC changes to the Bound state after it is bound to a </a:t>
            </a:r>
            <a:r>
              <a:rPr lang="en-US" b="1" i="0" dirty="0">
                <a:solidFill>
                  <a:srgbClr val="24292E"/>
                </a:solidFill>
                <a:effectLst/>
                <a:highlight>
                  <a:srgbClr val="FFFFFF"/>
                </a:highlight>
                <a:latin typeface="-apple-system"/>
              </a:rPr>
              <a:t>PV with the same name as that of the previous PV</a:t>
            </a:r>
            <a:r>
              <a:rPr lang="en-US" b="0" i="0" dirty="0">
                <a:solidFill>
                  <a:srgbClr val="24292E"/>
                </a:solidFill>
                <a:effectLst/>
                <a:highlight>
                  <a:srgbClr val="FFFFFF"/>
                </a:highlight>
                <a:latin typeface="-apple-system"/>
              </a:rPr>
              <a:t>.</a:t>
            </a:r>
          </a:p>
        </p:txBody>
      </p:sp>
    </p:spTree>
    <p:extLst>
      <p:ext uri="{BB962C8B-B14F-4D97-AF65-F5344CB8AC3E}">
        <p14:creationId xmlns:p14="http://schemas.microsoft.com/office/powerpoint/2010/main" val="29970866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6225F03-0757-D62C-73D4-A9DF07F177EB}"/>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69</a:t>
            </a:fld>
            <a:endParaRPr lang="en-GB"/>
          </a:p>
        </p:txBody>
      </p:sp>
      <p:sp>
        <p:nvSpPr>
          <p:cNvPr id="5" name="TextBox 4">
            <a:extLst>
              <a:ext uri="{FF2B5EF4-FFF2-40B4-BE49-F238E27FC236}">
                <a16:creationId xmlns:a16="http://schemas.microsoft.com/office/drawing/2014/main" id="{16439433-6BD0-2A2D-E8B5-495EC9B74796}"/>
              </a:ext>
            </a:extLst>
          </p:cNvPr>
          <p:cNvSpPr txBox="1"/>
          <p:nvPr/>
        </p:nvSpPr>
        <p:spPr>
          <a:xfrm>
            <a:off x="2286000" y="2311983"/>
            <a:ext cx="4572000" cy="954107"/>
          </a:xfrm>
          <a:prstGeom prst="rect">
            <a:avLst/>
          </a:prstGeom>
          <a:noFill/>
        </p:spPr>
        <p:txBody>
          <a:bodyPr wrap="square">
            <a:spAutoFit/>
          </a:bodyPr>
          <a:lstStyle/>
          <a:p>
            <a:r>
              <a:rPr lang="en-IN" dirty="0">
                <a:hlinkClick r:id="rId2"/>
              </a:rPr>
              <a:t>https://www.slideshare.net/rishabhindoria52/introduction-to-kubernetes-139878615</a:t>
            </a:r>
            <a:endParaRPr lang="en-IN" dirty="0"/>
          </a:p>
          <a:p>
            <a:endParaRPr lang="en-IN" dirty="0"/>
          </a:p>
          <a:p>
            <a:r>
              <a:rPr lang="en-IN" dirty="0"/>
              <a:t>https://www.youtube.com/watch?v=4C-0idGOi2A</a:t>
            </a:r>
          </a:p>
        </p:txBody>
      </p:sp>
    </p:spTree>
    <p:extLst>
      <p:ext uri="{BB962C8B-B14F-4D97-AF65-F5344CB8AC3E}">
        <p14:creationId xmlns:p14="http://schemas.microsoft.com/office/powerpoint/2010/main" val="45039785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E631F-75EB-A209-04CF-4786E98A0355}"/>
              </a:ext>
            </a:extLst>
          </p:cNvPr>
          <p:cNvSpPr>
            <a:spLocks noGrp="1"/>
          </p:cNvSpPr>
          <p:nvPr>
            <p:ph type="title" idx="4294967295"/>
          </p:nvPr>
        </p:nvSpPr>
        <p:spPr>
          <a:xfrm>
            <a:off x="0" y="274638"/>
            <a:ext cx="7886700" cy="993775"/>
          </a:xfrm>
        </p:spPr>
        <p:txBody>
          <a:bodyPr/>
          <a:lstStyle/>
          <a:p>
            <a:r>
              <a:rPr lang="en-IN" dirty="0"/>
              <a:t>Links</a:t>
            </a:r>
          </a:p>
        </p:txBody>
      </p:sp>
      <p:sp>
        <p:nvSpPr>
          <p:cNvPr id="3" name="Slide Number Placeholder 2">
            <a:extLst>
              <a:ext uri="{FF2B5EF4-FFF2-40B4-BE49-F238E27FC236}">
                <a16:creationId xmlns:a16="http://schemas.microsoft.com/office/drawing/2014/main" id="{1B0BC610-F3A2-1852-B97B-5A9AFA5CD0C0}"/>
              </a:ext>
            </a:extLst>
          </p:cNvPr>
          <p:cNvSpPr>
            <a:spLocks noGrp="1"/>
          </p:cNvSpPr>
          <p:nvPr>
            <p:ph type="sldNum" idx="4294967295"/>
          </p:nvPr>
        </p:nvSpPr>
        <p:spPr>
          <a:xfrm>
            <a:off x="8535988" y="4632325"/>
            <a:ext cx="608012" cy="274638"/>
          </a:xfrm>
        </p:spPr>
        <p:txBody>
          <a:bodyPr/>
          <a:lstStyle/>
          <a:p>
            <a:fld id="{00000000-1234-1234-1234-123412341234}" type="slidenum">
              <a:rPr lang="en-GB" smtClean="0"/>
              <a:pPr/>
              <a:t>70</a:t>
            </a:fld>
            <a:endParaRPr lang="en-GB"/>
          </a:p>
        </p:txBody>
      </p:sp>
      <p:sp>
        <p:nvSpPr>
          <p:cNvPr id="5" name="TextBox 4">
            <a:extLst>
              <a:ext uri="{FF2B5EF4-FFF2-40B4-BE49-F238E27FC236}">
                <a16:creationId xmlns:a16="http://schemas.microsoft.com/office/drawing/2014/main" id="{E78A9831-14F8-540A-8972-29B9158DFD6B}"/>
              </a:ext>
            </a:extLst>
          </p:cNvPr>
          <p:cNvSpPr txBox="1"/>
          <p:nvPr/>
        </p:nvSpPr>
        <p:spPr>
          <a:xfrm>
            <a:off x="375076" y="1552519"/>
            <a:ext cx="8768924" cy="2246769"/>
          </a:xfrm>
          <a:prstGeom prst="rect">
            <a:avLst/>
          </a:prstGeom>
          <a:noFill/>
        </p:spPr>
        <p:txBody>
          <a:bodyPr wrap="square">
            <a:spAutoFit/>
          </a:bodyPr>
          <a:lstStyle/>
          <a:p>
            <a:pPr marL="285750" indent="-285750">
              <a:buFont typeface="Arial" panose="020B0604020202020204" pitchFamily="34" charset="0"/>
              <a:buChar char="•"/>
            </a:pPr>
            <a:r>
              <a:rPr lang="en-IN" dirty="0"/>
              <a:t>Open Shift </a:t>
            </a:r>
            <a:r>
              <a:rPr lang="en-US" dirty="0">
                <a:hlinkClick r:id="rId2"/>
              </a:rPr>
              <a:t>Projects · Red Hat OpenShift (</a:t>
            </a:r>
            <a:r>
              <a:rPr lang="en-US" dirty="0" err="1">
                <a:hlinkClick r:id="rId2"/>
              </a:rPr>
              <a:t>mms.local</a:t>
            </a:r>
            <a:r>
              <a:rPr lang="en-US" dirty="0">
                <a:hlinkClick r:id="rId2"/>
              </a:rPr>
              <a:t>)</a:t>
            </a:r>
            <a:endParaRPr lang="en-IN" dirty="0"/>
          </a:p>
          <a:p>
            <a:pPr marL="285750" indent="-285750">
              <a:buFont typeface="Arial" panose="020B0604020202020204" pitchFamily="34" charset="0"/>
              <a:buChar char="•"/>
            </a:pPr>
            <a:r>
              <a:rPr lang="en-IN" dirty="0"/>
              <a:t>Prerequisite - </a:t>
            </a:r>
            <a:r>
              <a:rPr lang="en-IN" dirty="0">
                <a:hlinkClick r:id="rId3"/>
              </a:rPr>
              <a:t>Common Pre-Requisite Tasks - Platform - OpenShift - Microlise Confluence</a:t>
            </a:r>
            <a:endParaRPr lang="en-IN" dirty="0"/>
          </a:p>
          <a:p>
            <a:pPr marL="285750" indent="-285750">
              <a:buFont typeface="Arial" panose="020B0604020202020204" pitchFamily="34" charset="0"/>
              <a:buChar char="•"/>
            </a:pPr>
            <a:r>
              <a:rPr lang="en-IN" dirty="0" err="1"/>
              <a:t>Openshift</a:t>
            </a:r>
            <a:r>
              <a:rPr lang="en-IN" dirty="0"/>
              <a:t> Documentation - </a:t>
            </a:r>
            <a:r>
              <a:rPr lang="en-US" dirty="0">
                <a:hlinkClick r:id="rId4"/>
              </a:rPr>
              <a:t>Overview - Platform - OpenShift - Microlise Confluence</a:t>
            </a:r>
            <a:endParaRPr lang="en-US" dirty="0"/>
          </a:p>
          <a:p>
            <a:pPr marL="285750" indent="-285750">
              <a:buFont typeface="Arial" panose="020B0604020202020204" pitchFamily="34" charset="0"/>
              <a:buChar char="•"/>
            </a:pPr>
            <a:r>
              <a:rPr lang="en-IN" dirty="0" err="1"/>
              <a:t>NameSpace</a:t>
            </a:r>
            <a:r>
              <a:rPr lang="en-IN" dirty="0"/>
              <a:t> Creation - </a:t>
            </a:r>
            <a:r>
              <a:rPr lang="en-IN" dirty="0">
                <a:hlinkClick r:id="rId5"/>
              </a:rPr>
              <a:t>asset-tag-</a:t>
            </a:r>
            <a:r>
              <a:rPr lang="en-IN" dirty="0" err="1">
                <a:hlinkClick r:id="rId5"/>
              </a:rPr>
              <a:t>dev.yml</a:t>
            </a:r>
            <a:r>
              <a:rPr lang="en-IN" dirty="0">
                <a:hlinkClick r:id="rId5"/>
              </a:rPr>
              <a:t> - Microsoft Team Foundation Server (microlise.com)</a:t>
            </a:r>
            <a:r>
              <a:rPr lang="en-IN" dirty="0"/>
              <a:t> </a:t>
            </a:r>
          </a:p>
          <a:p>
            <a:pPr marL="285750" indent="-285750">
              <a:buFont typeface="Arial" panose="020B0604020202020204" pitchFamily="34" charset="0"/>
              <a:buChar char="•"/>
            </a:pPr>
            <a:r>
              <a:rPr lang="en-US" dirty="0"/>
              <a:t>Quay Setup - </a:t>
            </a:r>
            <a:r>
              <a:rPr lang="en-US" dirty="0" err="1">
                <a:hlinkClick r:id="rId6"/>
              </a:rPr>
              <a:t>repositories_microlise_build.yml</a:t>
            </a:r>
            <a:r>
              <a:rPr lang="en-US" dirty="0">
                <a:hlinkClick r:id="rId6"/>
              </a:rPr>
              <a:t> - Microsoft Team Foundation Server</a:t>
            </a:r>
            <a:endParaRPr lang="en-US" dirty="0"/>
          </a:p>
          <a:p>
            <a:pPr marL="285750" indent="-285750">
              <a:buFont typeface="Arial" panose="020B0604020202020204" pitchFamily="34" charset="0"/>
              <a:buChar char="•"/>
            </a:pPr>
            <a:r>
              <a:rPr lang="en-IN" dirty="0"/>
              <a:t>Container Image Creation - </a:t>
            </a:r>
            <a:r>
              <a:rPr lang="en-IN" dirty="0" err="1">
                <a:hlinkClick r:id="rId7"/>
              </a:rPr>
              <a:t>Containerfile</a:t>
            </a:r>
            <a:r>
              <a:rPr lang="en-IN" dirty="0">
                <a:hlinkClick r:id="rId7"/>
              </a:rPr>
              <a:t> - Microsoft Team Foundation Server (microlise.com)</a:t>
            </a:r>
            <a:endParaRPr lang="en-IN" dirty="0"/>
          </a:p>
          <a:p>
            <a:pPr marL="285750" indent="-285750">
              <a:buFont typeface="Arial" panose="020B0604020202020204" pitchFamily="34" charset="0"/>
              <a:buChar char="•"/>
            </a:pPr>
            <a:r>
              <a:rPr lang="en-IN" dirty="0"/>
              <a:t>Container Image Build</a:t>
            </a:r>
          </a:p>
          <a:p>
            <a:pPr marL="285750" indent="-285750">
              <a:buFont typeface="Arial" panose="020B0604020202020204" pitchFamily="34" charset="0"/>
              <a:buChar char="•"/>
            </a:pPr>
            <a:r>
              <a:rPr lang="en-IN" dirty="0"/>
              <a:t>Release Project Creation and deployment - </a:t>
            </a:r>
            <a:r>
              <a:rPr lang="en-IN" dirty="0" err="1">
                <a:hlinkClick r:id="rId8"/>
              </a:rPr>
              <a:t>AssetTagApi.Release</a:t>
            </a:r>
            <a:r>
              <a:rPr lang="en-IN" dirty="0">
                <a:hlinkClick r:id="rId8"/>
              </a:rPr>
              <a:t> - Microsoft Team Foundation Server (microlise.com)</a:t>
            </a:r>
            <a:endParaRPr lang="en-IN" dirty="0"/>
          </a:p>
          <a:p>
            <a:pPr marL="285750" indent="-285750">
              <a:buFont typeface="Arial" panose="020B0604020202020204" pitchFamily="34" charset="0"/>
              <a:buChar char="•"/>
            </a:pPr>
            <a:r>
              <a:rPr lang="en-IN" dirty="0" err="1">
                <a:hlinkClick r:id="rId9"/>
              </a:rPr>
              <a:t>AssetTagApi.Release</a:t>
            </a:r>
            <a:r>
              <a:rPr lang="en-IN" dirty="0">
                <a:hlinkClick r:id="rId9"/>
              </a:rPr>
              <a:t> - Microsoft Team Foundation Server (microlise.com)</a:t>
            </a:r>
            <a:endParaRPr lang="en-US" dirty="0"/>
          </a:p>
        </p:txBody>
      </p:sp>
    </p:spTree>
    <p:extLst>
      <p:ext uri="{BB962C8B-B14F-4D97-AF65-F5344CB8AC3E}">
        <p14:creationId xmlns:p14="http://schemas.microsoft.com/office/powerpoint/2010/main" val="785782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Huh Jackie Chan TEFL | English fun, How to memorize things, Teaching english">
            <a:extLst>
              <a:ext uri="{FF2B5EF4-FFF2-40B4-BE49-F238E27FC236}">
                <a16:creationId xmlns:a16="http://schemas.microsoft.com/office/drawing/2014/main" id="{26D55343-77B9-1FF0-CC66-7EDF2F0B149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931" t="9091" r="22092" b="2"/>
          <a:stretch/>
        </p:blipFill>
        <p:spPr bwMode="auto">
          <a:xfrm>
            <a:off x="2642616" y="10"/>
            <a:ext cx="6501384" cy="51434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7F772C7-500A-2223-813E-1095508A88F4}"/>
              </a:ext>
            </a:extLst>
          </p:cNvPr>
          <p:cNvSpPr>
            <a:spLocks noGrp="1"/>
          </p:cNvSpPr>
          <p:nvPr>
            <p:ph type="title" idx="4294967295"/>
          </p:nvPr>
        </p:nvSpPr>
        <p:spPr>
          <a:xfrm>
            <a:off x="0" y="841375"/>
            <a:ext cx="3017838" cy="2403475"/>
          </a:xfrm>
        </p:spPr>
        <p:txBody>
          <a:bodyPr vert="horz" lIns="91440" tIns="45720" rIns="91440" bIns="45720" rtlCol="0" anchor="b">
            <a:normAutofit/>
          </a:bodyPr>
          <a:lstStyle/>
          <a:p>
            <a:r>
              <a:rPr lang="en-US" sz="3600">
                <a:solidFill>
                  <a:schemeClr val="bg1"/>
                </a:solidFill>
                <a:latin typeface="+mj-lt"/>
              </a:rPr>
              <a:t>Any Questions?</a:t>
            </a:r>
          </a:p>
        </p:txBody>
      </p:sp>
      <p:sp>
        <p:nvSpPr>
          <p:cNvPr id="3" name="Slide Number Placeholder 2">
            <a:extLst>
              <a:ext uri="{FF2B5EF4-FFF2-40B4-BE49-F238E27FC236}">
                <a16:creationId xmlns:a16="http://schemas.microsoft.com/office/drawing/2014/main" id="{37B5F0C2-DC39-CF5D-933A-058A848D9201}"/>
              </a:ext>
            </a:extLst>
          </p:cNvPr>
          <p:cNvSpPr>
            <a:spLocks noGrp="1"/>
          </p:cNvSpPr>
          <p:nvPr>
            <p:ph type="sldNum" idx="4294967295"/>
          </p:nvPr>
        </p:nvSpPr>
        <p:spPr>
          <a:xfrm>
            <a:off x="7086600" y="4767263"/>
            <a:ext cx="2057400" cy="273050"/>
          </a:xfrm>
        </p:spPr>
        <p:txBody>
          <a:bodyPr vert="horz" lIns="91440" tIns="45720" rIns="91440" bIns="45720" rtlCol="0" anchor="ctr">
            <a:normAutofit/>
          </a:bodyPr>
          <a:lstStyle/>
          <a:p>
            <a:pPr>
              <a:spcAft>
                <a:spcPts val="600"/>
              </a:spcAft>
              <a:buClrTx/>
              <a:defRPr/>
            </a:pPr>
            <a:fld id="{00000000-1234-1234-1234-123412341234}" type="slidenum">
              <a:rPr lang="en-US" kern="1200">
                <a:solidFill>
                  <a:schemeClr val="bg1"/>
                </a:solidFill>
                <a:latin typeface="Calibri" panose="020F0502020204030204"/>
                <a:ea typeface="+mn-ea"/>
                <a:cs typeface="+mn-cs"/>
              </a:rPr>
              <a:pPr>
                <a:spcAft>
                  <a:spcPts val="600"/>
                </a:spcAft>
                <a:buClrTx/>
                <a:defRPr/>
              </a:pPr>
              <a:t>71</a:t>
            </a:fld>
            <a:endParaRPr lang="en-US" kern="1200">
              <a:solidFill>
                <a:schemeClr val="bg1"/>
              </a:solidFill>
              <a:latin typeface="Calibri" panose="020F0502020204030204"/>
              <a:ea typeface="+mn-ea"/>
              <a:cs typeface="+mn-cs"/>
            </a:endParaRPr>
          </a:p>
        </p:txBody>
      </p:sp>
    </p:spTree>
    <p:extLst>
      <p:ext uri="{BB962C8B-B14F-4D97-AF65-F5344CB8AC3E}">
        <p14:creationId xmlns:p14="http://schemas.microsoft.com/office/powerpoint/2010/main" val="2818628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F1B1A-1FEB-2267-47CC-A145314A7982}"/>
              </a:ext>
            </a:extLst>
          </p:cNvPr>
          <p:cNvSpPr>
            <a:spLocks noGrp="1"/>
          </p:cNvSpPr>
          <p:nvPr>
            <p:ph type="ctrTitle" idx="4294967295"/>
          </p:nvPr>
        </p:nvSpPr>
        <p:spPr>
          <a:xfrm>
            <a:off x="0" y="184150"/>
            <a:ext cx="6858000" cy="1790700"/>
          </a:xfrm>
        </p:spPr>
        <p:txBody>
          <a:bodyPr/>
          <a:lstStyle/>
          <a:p>
            <a:r>
              <a:rPr lang="en-GB" sz="4800"/>
              <a:t>Thank You</a:t>
            </a:r>
            <a:endParaRPr lang="en-GB"/>
          </a:p>
        </p:txBody>
      </p:sp>
    </p:spTree>
    <p:extLst>
      <p:ext uri="{BB962C8B-B14F-4D97-AF65-F5344CB8AC3E}">
        <p14:creationId xmlns:p14="http://schemas.microsoft.com/office/powerpoint/2010/main" val="12317723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147fadb0-dc0d-43dc-a136-3ca320f36535"/>
</p:tagLst>
</file>

<file path=ppt/theme/theme1.xml><?xml version="1.0" encoding="utf-8"?>
<a:theme xmlns:a="http://schemas.openxmlformats.org/drawingml/2006/main" name="Custom Design">
  <a:themeElements>
    <a:clrScheme name="Microlise 1">
      <a:dk1>
        <a:srgbClr val="151D24"/>
      </a:dk1>
      <a:lt1>
        <a:srgbClr val="FFFFFF"/>
      </a:lt1>
      <a:dk2>
        <a:srgbClr val="152644"/>
      </a:dk2>
      <a:lt2>
        <a:srgbClr val="DEDEDE"/>
      </a:lt2>
      <a:accent1>
        <a:srgbClr val="01CBDE"/>
      </a:accent1>
      <a:accent2>
        <a:srgbClr val="DCFF66"/>
      </a:accent2>
      <a:accent3>
        <a:srgbClr val="ED4956"/>
      </a:accent3>
      <a:accent4>
        <a:srgbClr val="F99D4C"/>
      </a:accent4>
      <a:accent5>
        <a:srgbClr val="FFD059"/>
      </a:accent5>
      <a:accent6>
        <a:srgbClr val="00B683"/>
      </a:accent6>
      <a:hlink>
        <a:srgbClr val="787DB8"/>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32dab30a-f4c4-4f05-ba0a-942c1a61d7e0">
      <UserInfo>
        <DisplayName>SharingLinks.78817788-0d8b-4041-ad2b-e5b6b80224b6.OrganizationEdit.3dde1475-bbe2-4c66-9c61-22c202b2f9b9</DisplayName>
        <AccountId>23</AccountId>
        <AccountType/>
      </UserInfo>
      <UserInfo>
        <DisplayName>Mark Beasley</DisplayName>
        <AccountId>452</AccountId>
        <AccountType/>
      </UserInfo>
      <UserInfo>
        <DisplayName>Georgia Smith</DisplayName>
        <AccountId>181</AccountId>
        <AccountType/>
      </UserInfo>
      <UserInfo>
        <DisplayName>Paul Gattini</DisplayName>
        <AccountId>69</AccountId>
        <AccountType/>
      </UserInfo>
      <UserInfo>
        <DisplayName>Michael Lockwood</DisplayName>
        <AccountId>68</AccountId>
        <AccountType/>
      </UserInfo>
      <UserInfo>
        <DisplayName>Rahul Rajabhoj</DisplayName>
        <AccountId>504</AccountId>
        <AccountType/>
      </UserInfo>
      <UserInfo>
        <DisplayName>Ellen Smedley</DisplayName>
        <AccountId>109</AccountId>
        <AccountType/>
      </UserInfo>
      <UserInfo>
        <DisplayName>Sujit Nankar</DisplayName>
        <AccountId>118</AccountId>
        <AccountType/>
      </UserInfo>
      <UserInfo>
        <DisplayName>Brynjar Armannsson</DisplayName>
        <AccountId>411</AccountId>
        <AccountType/>
      </UserInfo>
      <UserInfo>
        <DisplayName>Esme Short</DisplayName>
        <AccountId>629</AccountId>
        <AccountType/>
      </UserInfo>
      <UserInfo>
        <DisplayName>Len Mifsud</DisplayName>
        <AccountId>80</AccountId>
        <AccountType/>
      </UserInfo>
      <UserInfo>
        <DisplayName>Sarah Wilkinson</DisplayName>
        <AccountId>628</AccountId>
        <AccountType/>
      </UserInfo>
      <UserInfo>
        <DisplayName>Chris Williams</DisplayName>
        <AccountId>955</AccountId>
        <AccountType/>
      </UserInfo>
      <UserInfo>
        <DisplayName>Soniya Chaudhari</DisplayName>
        <AccountId>672</AccountId>
        <AccountType/>
      </UserInfo>
      <UserInfo>
        <DisplayName>Mary Mallan</DisplayName>
        <AccountId>508</AccountId>
        <AccountType/>
      </UserInfo>
      <UserInfo>
        <DisplayName>Archana Sharma</DisplayName>
        <AccountId>206</AccountId>
        <AccountType/>
      </UserInfo>
      <UserInfo>
        <DisplayName>Steve Redford</DisplayName>
        <AccountId>45</AccountId>
        <AccountType/>
      </UserInfo>
      <UserInfo>
        <DisplayName>Samantha Watson</DisplayName>
        <AccountId>135</AccountId>
        <AccountType/>
      </UserInfo>
    </SharedWithUsers>
    <lcf76f155ced4ddcb4097134ff3c332f xmlns="67a3356a-583d-4f3a-b665-f2ca97d84155">
      <Terms xmlns="http://schemas.microsoft.com/office/infopath/2007/PartnerControls"/>
    </lcf76f155ced4ddcb4097134ff3c332f>
    <TaxCatchAll xmlns="32dab30a-f4c4-4f05-ba0a-942c1a61d7e0" xsi:nil="true"/>
    <IPT xmlns="67a3356a-583d-4f3a-b665-f2ca97d84155" xsi:nil="true"/>
    <Comment xmlns="67a3356a-583d-4f3a-b665-f2ca97d8415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00358E885EF0F4F8F8DFC987A203D95" ma:contentTypeVersion="20" ma:contentTypeDescription="Create a new document." ma:contentTypeScope="" ma:versionID="390185d194b902d00a2344e44d44c3ff">
  <xsd:schema xmlns:xsd="http://www.w3.org/2001/XMLSchema" xmlns:xs="http://www.w3.org/2001/XMLSchema" xmlns:p="http://schemas.microsoft.com/office/2006/metadata/properties" xmlns:ns2="67a3356a-583d-4f3a-b665-f2ca97d84155" xmlns:ns3="32dab30a-f4c4-4f05-ba0a-942c1a61d7e0" targetNamespace="http://schemas.microsoft.com/office/2006/metadata/properties" ma:root="true" ma:fieldsID="c497c199f589af4eb230f125c09ce468" ns2:_="" ns3:_="">
    <xsd:import namespace="67a3356a-583d-4f3a-b665-f2ca97d84155"/>
    <xsd:import namespace="32dab30a-f4c4-4f05-ba0a-942c1a61d7e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IPT" minOccurs="0"/>
                <xsd:element ref="ns2:lcf76f155ced4ddcb4097134ff3c332f" minOccurs="0"/>
                <xsd:element ref="ns3:TaxCatchAll" minOccurs="0"/>
                <xsd:element ref="ns2:Comment"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7a3356a-583d-4f3a-b665-f2ca97d841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Length (seconds)"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IPT" ma:index="20" nillable="true" ma:displayName="IPT" ma:description="The choice of IPT which IPT the folder or document belongs to." ma:format="Dropdown" ma:internalName="IPT">
      <xsd:simpleType>
        <xsd:union memberTypes="dms:Text">
          <xsd:simpleType>
            <xsd:restriction base="dms:Choice">
              <xsd:enumeration value="HUMS"/>
              <xsd:enumeration value="TransOPS"/>
              <xsd:enumeration value="Driver Efficiency"/>
              <xsd:enumeration value="Choice 4"/>
            </xsd:restriction>
          </xsd:simpleType>
        </xsd:un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7c799105-ea28-4639-badb-665c0011756e" ma:termSetId="09814cd3-568e-fe90-9814-8d621ff8fb84" ma:anchorId="fba54fb3-c3e1-fe81-a776-ca4b69148c4d" ma:open="true" ma:isKeyword="false">
      <xsd:complexType>
        <xsd:sequence>
          <xsd:element ref="pc:Terms" minOccurs="0" maxOccurs="1"/>
        </xsd:sequence>
      </xsd:complexType>
    </xsd:element>
    <xsd:element name="Comment" ma:index="24" nillable="true" ma:displayName="Comment" ma:format="Dropdown" ma:internalName="Comment">
      <xsd:simpleType>
        <xsd:restriction base="dms:Text">
          <xsd:maxLength value="255"/>
        </xsd:restriction>
      </xsd:simpleType>
    </xsd:element>
    <xsd:element name="MediaServiceLocation" ma:index="25" nillable="true" ma:displayName="Location" ma:internalName="MediaServiceLocation" ma:readOnly="true">
      <xsd:simpleType>
        <xsd:restriction base="dms:Text"/>
      </xsd:simple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2dab30a-f4c4-4f05-ba0a-942c1a61d7e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253562ff-64a3-4da5-91fa-7a1c1da17d23}" ma:internalName="TaxCatchAll" ma:showField="CatchAllData" ma:web="32dab30a-f4c4-4f05-ba0a-942c1a61d7e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C88A4F5-A543-4D0B-A6DF-B22A024DEC7E}">
  <ds:schemaRefs>
    <ds:schemaRef ds:uri="http://schemas.microsoft.com/sharepoint/v3/contenttype/forms"/>
  </ds:schemaRefs>
</ds:datastoreItem>
</file>

<file path=customXml/itemProps2.xml><?xml version="1.0" encoding="utf-8"?>
<ds:datastoreItem xmlns:ds="http://schemas.openxmlformats.org/officeDocument/2006/customXml" ds:itemID="{794F6324-DD28-4292-8006-1CE04340D296}">
  <ds:schemaRefs>
    <ds:schemaRef ds:uri="http://purl.org/dc/elements/1.1/"/>
    <ds:schemaRef ds:uri="32dab30a-f4c4-4f05-ba0a-942c1a61d7e0"/>
    <ds:schemaRef ds:uri="http://schemas.microsoft.com/office/infopath/2007/PartnerControls"/>
    <ds:schemaRef ds:uri="67a3356a-583d-4f3a-b665-f2ca97d84155"/>
    <ds:schemaRef ds:uri="http://purl.org/dc/terms/"/>
    <ds:schemaRef ds:uri="http://schemas.microsoft.com/office/2006/metadata/properties"/>
    <ds:schemaRef ds:uri="http://schemas.microsoft.com/office/2006/documentManagement/types"/>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108DFD60-8B23-4371-8EA7-FBAAAB526D83}">
  <ds:schemaRefs>
    <ds:schemaRef ds:uri="32dab30a-f4c4-4f05-ba0a-942c1a61d7e0"/>
    <ds:schemaRef ds:uri="67a3356a-583d-4f3a-b665-f2ca97d8415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9402</TotalTime>
  <Words>3901</Words>
  <Application>Microsoft Office PowerPoint</Application>
  <PresentationFormat>On-screen Show (16:9)</PresentationFormat>
  <Paragraphs>468</Paragraphs>
  <Slides>72</Slides>
  <Notes>10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72</vt:i4>
      </vt:variant>
    </vt:vector>
  </HeadingPairs>
  <TitlesOfParts>
    <vt:vector size="84" baseType="lpstr">
      <vt:lpstr>Space Grotesk</vt:lpstr>
      <vt:lpstr>Calibri</vt:lpstr>
      <vt:lpstr>Work Sans</vt:lpstr>
      <vt:lpstr>Archia</vt:lpstr>
      <vt:lpstr>Wingdings</vt:lpstr>
      <vt:lpstr>Udemy Sans</vt:lpstr>
      <vt:lpstr>Outfit Light</vt:lpstr>
      <vt:lpstr>Arial</vt:lpstr>
      <vt:lpstr>-apple-system</vt:lpstr>
      <vt:lpstr>var(--font-stack-heading)</vt:lpstr>
      <vt:lpstr>DM Sans</vt:lpstr>
      <vt:lpstr>Custom Design</vt:lpstr>
      <vt:lpstr>KUBERNETES</vt:lpstr>
      <vt:lpstr>Agenda</vt:lpstr>
      <vt:lpstr>Architecture of Kubernetes</vt:lpstr>
      <vt:lpstr>PowerPoint Presentation</vt:lpstr>
      <vt:lpstr>Control Plane Components</vt:lpstr>
      <vt:lpstr>NODE Components</vt:lpstr>
      <vt:lpstr>Why to use K8s?</vt:lpstr>
      <vt:lpstr>Container Orchestration</vt:lpstr>
      <vt:lpstr>Self Healing</vt:lpstr>
      <vt:lpstr>  CORE OBJECTS AND APIS</vt:lpstr>
      <vt:lpstr>Core objects and APIs</vt:lpstr>
      <vt:lpstr>PODs</vt:lpstr>
      <vt:lpstr>PODs</vt:lpstr>
      <vt:lpstr>Labels</vt:lpstr>
      <vt:lpstr>Selector</vt:lpstr>
      <vt:lpstr>Selector Type</vt:lpstr>
      <vt:lpstr>SERVICES</vt:lpstr>
      <vt:lpstr>NETWORKING</vt:lpstr>
      <vt:lpstr>Service</vt:lpstr>
      <vt:lpstr>ClusterIP, Nodeport, Load balancer Service</vt:lpstr>
      <vt:lpstr>PowerPoint Presentation</vt:lpstr>
      <vt:lpstr>PowerPoint Presentation</vt:lpstr>
      <vt:lpstr>PowerPoint Presentation</vt:lpstr>
      <vt:lpstr>PowerPoint Presentation</vt:lpstr>
      <vt:lpstr>PowerPoint Presentation</vt:lpstr>
      <vt:lpstr>Communication</vt:lpstr>
      <vt:lpstr>Ingress</vt:lpstr>
      <vt:lpstr>WORKLOADS</vt:lpstr>
      <vt:lpstr>Workloads</vt:lpstr>
      <vt:lpstr>Deployment</vt:lpstr>
      <vt:lpstr>Rolling Update Deployment</vt:lpstr>
      <vt:lpstr>PowerPoint Presentation</vt:lpstr>
      <vt:lpstr>     JOB</vt:lpstr>
      <vt:lpstr>          Cron Job</vt:lpstr>
      <vt:lpstr>Taints &amp; Tolerations</vt:lpstr>
      <vt:lpstr>Taints &amp; Tolerations continue..</vt:lpstr>
      <vt:lpstr>Taints Tolerations &amp; Node Affinity</vt:lpstr>
      <vt:lpstr>Configuration</vt:lpstr>
      <vt:lpstr>Configuration: Config Maps</vt:lpstr>
      <vt:lpstr>Configuration: Secret</vt:lpstr>
      <vt:lpstr>Resource Quota</vt:lpstr>
      <vt:lpstr>Resource Quota</vt:lpstr>
      <vt:lpstr>Continue…</vt:lpstr>
      <vt:lpstr>Again continue…</vt:lpstr>
      <vt:lpstr>Request &amp; Limits</vt:lpstr>
      <vt:lpstr>PowerPoint Presentation</vt:lpstr>
      <vt:lpstr>PowerPoint Presentation</vt:lpstr>
      <vt:lpstr>Limit Range at Namespace level for POD</vt:lpstr>
      <vt:lpstr>How to evaluate resource quota in .Net Application</vt:lpstr>
      <vt:lpstr>Continue…</vt:lpstr>
      <vt:lpstr>K8s Probes</vt:lpstr>
      <vt:lpstr>Start-Up Probe</vt:lpstr>
      <vt:lpstr>Start-up probe</vt:lpstr>
      <vt:lpstr>Liveness Probe</vt:lpstr>
      <vt:lpstr>Liveness Probe</vt:lpstr>
      <vt:lpstr>Readiness Probe</vt:lpstr>
      <vt:lpstr>Readiness Probe</vt:lpstr>
      <vt:lpstr>Container patterns</vt:lpstr>
      <vt:lpstr>Volume</vt:lpstr>
      <vt:lpstr>Kubernetes Volumes</vt:lpstr>
      <vt:lpstr>How PV and PVC Work Together</vt:lpstr>
      <vt:lpstr>Volume Access modes</vt:lpstr>
      <vt:lpstr>Use PVs: Statically Create a PV</vt:lpstr>
      <vt:lpstr>Continue: Statically Create a PV</vt:lpstr>
      <vt:lpstr>Use PVs: Dynamically Create a PV</vt:lpstr>
      <vt:lpstr>Continue: Dynamically Create a PV</vt:lpstr>
      <vt:lpstr>PowerPoint Presentation</vt:lpstr>
      <vt:lpstr>Provisioning Volumes controller</vt:lpstr>
      <vt:lpstr>PowerPoint Presentation</vt:lpstr>
      <vt:lpstr>Links</vt:lpstr>
      <vt:lpstr>Any Questions?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Charlie Brackley</dc:creator>
  <cp:keywords/>
  <dc:description/>
  <cp:lastModifiedBy>Anish Jain</cp:lastModifiedBy>
  <cp:revision>97</cp:revision>
  <dcterms:modified xsi:type="dcterms:W3CDTF">2025-03-12T06:49:57Z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0x010100300358E885EF0F4F8F8DFC987A203D95</vt:lpwstr>
  </property>
  <property fmtid="{D5CDD505-2E9C-101B-9397-08002B2CF9AE}" pid="3" name="MediaServiceImageTags">
    <vt:lpwstr/>
  </property>
</Properties>
</file>