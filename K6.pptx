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653" r:id="rId4"/>
  </p:sldMasterIdLst>
  <p:notesMasterIdLst>
    <p:notesMasterId r:id="rId28"/>
  </p:notesMasterIdLst>
  <p:sldIdLst>
    <p:sldId id="7882" r:id="rId5"/>
    <p:sldId id="8000" r:id="rId6"/>
    <p:sldId id="8034" r:id="rId7"/>
    <p:sldId id="8026" r:id="rId8"/>
    <p:sldId id="8038" r:id="rId9"/>
    <p:sldId id="8035" r:id="rId10"/>
    <p:sldId id="8040" r:id="rId11"/>
    <p:sldId id="8041" r:id="rId12"/>
    <p:sldId id="7954" r:id="rId13"/>
    <p:sldId id="8027" r:id="rId14"/>
    <p:sldId id="8039" r:id="rId15"/>
    <p:sldId id="7955" r:id="rId16"/>
    <p:sldId id="8003" r:id="rId17"/>
    <p:sldId id="7972" r:id="rId18"/>
    <p:sldId id="8032" r:id="rId19"/>
    <p:sldId id="8033" r:id="rId20"/>
    <p:sldId id="8031" r:id="rId21"/>
    <p:sldId id="8036" r:id="rId22"/>
    <p:sldId id="8037" r:id="rId23"/>
    <p:sldId id="8030" r:id="rId24"/>
    <p:sldId id="8028" r:id="rId25"/>
    <p:sldId id="8001" r:id="rId26"/>
    <p:sldId id="7842" r:id="rId27"/>
  </p:sldIdLst>
  <p:sldSz cx="9144000" cy="5143500" type="screen16x9"/>
  <p:notesSz cx="6858000" cy="9144000"/>
  <p:embeddedFontLst>
    <p:embeddedFont>
      <p:font typeface="Aptos Narrow" panose="020B0004020202020204" pitchFamily="34" charset="0"/>
      <p:regular r:id="rId29"/>
      <p:bold r:id="rId30"/>
      <p:italic r:id="rId31"/>
      <p:boldItalic r:id="rId32"/>
    </p:embeddedFont>
    <p:embeddedFont>
      <p:font typeface="Archia" panose="02000503000000020004" pitchFamily="50" charset="0"/>
      <p:regular r:id="rId33"/>
    </p:embeddedFont>
    <p:embeddedFont>
      <p:font typeface="DM Sans" pitchFamily="2" charset="0"/>
      <p:regular r:id="rId34"/>
      <p:bold r:id="rId35"/>
      <p:italic r:id="rId36"/>
      <p:boldItalic r:id="rId37"/>
    </p:embeddedFont>
    <p:embeddedFont>
      <p:font typeface="Outfit Light" pitchFamily="2" charset="0"/>
      <p:regular r:id="rId38"/>
    </p:embeddedFont>
    <p:embeddedFont>
      <p:font typeface="Roboto Mono" panose="00000009000000000000" pitchFamily="49" charset="0"/>
      <p:regular r:id="rId39"/>
      <p:bold r:id="rId40"/>
      <p:italic r:id="rId41"/>
      <p:boldItalic r:id="rId42"/>
    </p:embeddedFont>
  </p:embeddedFontLst>
  <p:custDataLst>
    <p:tags r:id="rId4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9ADD4890-F5AC-40D4-A6AE-ADA05EE06A0C}">
          <p14:sldIdLst>
            <p14:sldId id="7882"/>
            <p14:sldId id="8000"/>
            <p14:sldId id="8034"/>
            <p14:sldId id="8026"/>
            <p14:sldId id="8038"/>
            <p14:sldId id="8035"/>
            <p14:sldId id="8040"/>
            <p14:sldId id="8041"/>
            <p14:sldId id="7954"/>
            <p14:sldId id="8027"/>
            <p14:sldId id="8039"/>
            <p14:sldId id="7955"/>
            <p14:sldId id="8003"/>
            <p14:sldId id="7972"/>
            <p14:sldId id="8032"/>
            <p14:sldId id="8033"/>
            <p14:sldId id="8031"/>
            <p14:sldId id="8036"/>
            <p14:sldId id="8037"/>
            <p14:sldId id="8030"/>
            <p14:sldId id="8028"/>
            <p14:sldId id="8001"/>
            <p14:sldId id="7842"/>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C90111A-8B88-BB2D-0002-3D2E1A171ED5}" name="Ian Kirkwood" initials="IK" userId="S::Ian.Kirkwood@microlise.com::66b137b6-3709-410b-bb13-94511600efc6" providerId="AD"/>
  <p188:author id="{9DEC5F9F-E859-708C-8023-AAB773053077}" name="Stephane Catelain" initials="SC" userId="S::stephane.catelain@microlise.com::0cba0495-4637-4790-a0a8-9c01f6b912dc" providerId="AD"/>
  <p188:author id="{B2AF64C1-FE8D-8128-B9CD-A91CC5EAEA0A}" name="Charlotte Porter" initials="CP" userId="S::charlotte.porter@microlise.com::ef3b827e-ed93-440f-897b-69c964c52c1a" providerId="AD"/>
  <p188:author id="{5324FDD4-44EB-BECB-786A-993DBACAF15D}" name="Stephen Watson" initials="SW" userId="S::stephen.watson@microlise.com::fa9c6ee7-2c13-4e97-b624-908b4d67296f" providerId="AD"/>
  <p188:author id="{5892B7DC-F644-A09D-E113-B3DE8013DB41}" name="Akshat Dimri" initials="AD" userId="S::akshat.dimri@microlise.com::3412880c-09b6-499d-b329-b4e1df0081c6" providerId="AD"/>
  <p188:author id="{CC210FEA-02E1-42B7-7710-CE9FE45D99E0}" name="Stephen Watson" initials="SW" userId="S::stephen.watson@Microlise.com::fa9c6ee7-2c13-4e97-b624-908b4d67296f" providerId="AD"/>
  <p188:author id="{E9030BEB-20CB-7118-317B-199084D624C3}" name="Andy Avery" initials="AA" userId="S::andy.avery@microlise.com::320ea48f-37aa-4a88-8805-33f0ee2244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291F"/>
    <a:srgbClr val="FFFFFF"/>
    <a:srgbClr val="34543F"/>
    <a:srgbClr val="152644"/>
    <a:srgbClr val="240CB4"/>
    <a:srgbClr val="01CBDE"/>
    <a:srgbClr val="BABCB9"/>
    <a:srgbClr val="152544"/>
    <a:srgbClr val="15243C"/>
    <a:srgbClr val="151D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9639D4-E3E2-4D34-9284-5A2195B3D0D7}">
  <a:tblStyle styleId="{6CA9371B-4015-41C4-A221-EC01A6F80B7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104" d="100"/>
          <a:sy n="104" d="100"/>
        </p:scale>
        <p:origin x="850" y="72"/>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gs" Target="tags/tag1.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k6.io/docs/using-k6/test-lifecycle/"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2298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https://www.slideshare.net/slideshow/laravel-load-testing-strategies-and-tools/251763963</a:t>
            </a:r>
          </a:p>
          <a:p>
            <a:r>
              <a:rPr lang="en-IN" dirty="0"/>
              <a:t>https://www.slideshare.net/slideshow/running-distributed-tests-with-k6pdf/254078520</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6847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6098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14</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2916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Test lifecycle (k6.io)</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17</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78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https://grafana.com/docs/k6/latest/using-k6/modules/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48654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65640B-18BE-F499-9E93-F03ED27A842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375077" y="184417"/>
            <a:ext cx="6858000" cy="1790700"/>
          </a:xfrm>
        </p:spPr>
        <p:txBody>
          <a:bodyPr anchor="b"/>
          <a:lstStyle>
            <a:lvl1pPr algn="l">
              <a:defRPr sz="48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375077" y="2224261"/>
            <a:ext cx="6858000" cy="124142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5077" y="4556021"/>
            <a:ext cx="1828800" cy="231648"/>
          </a:xfrm>
          <a:prstGeom prst="rect">
            <a:avLst/>
          </a:prstGeom>
        </p:spPr>
      </p:pic>
    </p:spTree>
    <p:extLst>
      <p:ext uri="{BB962C8B-B14F-4D97-AF65-F5344CB8AC3E}">
        <p14:creationId xmlns:p14="http://schemas.microsoft.com/office/powerpoint/2010/main" val="30224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375077" y="184417"/>
            <a:ext cx="6858000" cy="1790700"/>
          </a:xfrm>
        </p:spPr>
        <p:txBody>
          <a:bodyPr anchor="b"/>
          <a:lstStyle>
            <a:lvl1pPr algn="l">
              <a:defRPr sz="48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375077" y="2224261"/>
            <a:ext cx="2753134" cy="124142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5077" y="4556021"/>
            <a:ext cx="1828800" cy="231648"/>
          </a:xfrm>
          <a:prstGeom prst="rect">
            <a:avLst/>
          </a:prstGeom>
        </p:spPr>
      </p:pic>
    </p:spTree>
    <p:extLst>
      <p:ext uri="{BB962C8B-B14F-4D97-AF65-F5344CB8AC3E}">
        <p14:creationId xmlns:p14="http://schemas.microsoft.com/office/powerpoint/2010/main" val="144901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375077" y="184417"/>
            <a:ext cx="6170102" cy="1790700"/>
          </a:xfrm>
        </p:spPr>
        <p:txBody>
          <a:bodyPr anchor="b"/>
          <a:lstStyle>
            <a:lvl1pPr algn="l">
              <a:defRPr sz="48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375077" y="2224262"/>
            <a:ext cx="5358830" cy="422686"/>
          </a:xfrm>
        </p:spPr>
        <p:txBody>
          <a:bodyP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5" name="Graphic 4">
            <a:extLst>
              <a:ext uri="{FF2B5EF4-FFF2-40B4-BE49-F238E27FC236}">
                <a16:creationId xmlns:a16="http://schemas.microsoft.com/office/drawing/2014/main" id="{577308BC-16A6-FE0F-1C94-589D59CB9D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5077" y="4556021"/>
            <a:ext cx="1828800" cy="231647"/>
          </a:xfrm>
          <a:prstGeom prst="rect">
            <a:avLst/>
          </a:prstGeom>
        </p:spPr>
      </p:pic>
      <p:sp>
        <p:nvSpPr>
          <p:cNvPr id="19" name="Picture Placeholder 18">
            <a:extLst>
              <a:ext uri="{FF2B5EF4-FFF2-40B4-BE49-F238E27FC236}">
                <a16:creationId xmlns:a16="http://schemas.microsoft.com/office/drawing/2014/main" id="{905CE355-F97C-EEBD-8CA6-D3AFCDD6693B}"/>
              </a:ext>
            </a:extLst>
          </p:cNvPr>
          <p:cNvSpPr>
            <a:spLocks noGrp="1"/>
          </p:cNvSpPr>
          <p:nvPr>
            <p:ph type="pic" sz="quarter" idx="10"/>
          </p:nvPr>
        </p:nvSpPr>
        <p:spPr>
          <a:xfrm>
            <a:off x="4173620" y="1092657"/>
            <a:ext cx="4970380" cy="3695011"/>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3578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7886700"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2142456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tx1"/>
                </a:solidFill>
              </a:defRPr>
            </a:lvl1pPr>
          </a:lstStyle>
          <a:p>
            <a:fld id="{7064ED63-6F5C-5942-83E2-082A9F04AE53}"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tx1"/>
                </a:solidFill>
              </a:defRPr>
            </a:lvl1pPr>
          </a:lstStyle>
          <a:p>
            <a:fld id="{CC0CD38E-35A1-2247-B55D-C6626AF9BA09}" type="slidenum">
              <a:rPr lang="en-US" smtClean="0"/>
              <a:pPr/>
              <a:t>‹#›</a:t>
            </a:fld>
            <a:endParaRPr lang="en-US"/>
          </a:p>
        </p:txBody>
      </p:sp>
      <p:pic>
        <p:nvPicPr>
          <p:cNvPr id="9" name="Picture 8">
            <a:extLst>
              <a:ext uri="{FF2B5EF4-FFF2-40B4-BE49-F238E27FC236}">
                <a16:creationId xmlns:a16="http://schemas.microsoft.com/office/drawing/2014/main" id="{21AFCFC0-61CB-5669-F6FB-6544D710AC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Tree>
    <p:extLst>
      <p:ext uri="{BB962C8B-B14F-4D97-AF65-F5344CB8AC3E}">
        <p14:creationId xmlns:p14="http://schemas.microsoft.com/office/powerpoint/2010/main" val="1673424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Dark">
    <p:bg>
      <p:bgPr>
        <a:gradFill>
          <a:gsLst>
            <a:gs pos="53000">
              <a:schemeClr val="tx1"/>
            </a:gs>
            <a:gs pos="0">
              <a:srgbClr val="1D458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buClr>
                <a:schemeClr val="accent1"/>
              </a:buCl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buClr>
                <a:schemeClr val="accent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779D6F75-6C30-D546-9F6A-480A3E7FC071}"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1250069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Cloud Cor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4533099"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5245901" y="1351026"/>
            <a:ext cx="3898099" cy="3792474"/>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50895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Cloud Corner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4533099" cy="3262312"/>
          </a:xfrm>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5245901" y="1351026"/>
            <a:ext cx="3898099" cy="3792474"/>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pic>
        <p:nvPicPr>
          <p:cNvPr id="5" name="Picture 4">
            <a:extLst>
              <a:ext uri="{FF2B5EF4-FFF2-40B4-BE49-F238E27FC236}">
                <a16:creationId xmlns:a16="http://schemas.microsoft.com/office/drawing/2014/main" id="{C4A2B6AF-9798-AAE8-1C64-AD3BE58970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Tree>
    <p:extLst>
      <p:ext uri="{BB962C8B-B14F-4D97-AF65-F5344CB8AC3E}">
        <p14:creationId xmlns:p14="http://schemas.microsoft.com/office/powerpoint/2010/main" val="984438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 Clou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3618699"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5" name="Picture Placeholder 4">
            <a:extLst>
              <a:ext uri="{FF2B5EF4-FFF2-40B4-BE49-F238E27FC236}">
                <a16:creationId xmlns:a16="http://schemas.microsoft.com/office/drawing/2014/main" id="{0ED5484D-3E81-C5C1-0DE4-59CA5DD1C5D4}"/>
              </a:ext>
            </a:extLst>
          </p:cNvPr>
          <p:cNvSpPr>
            <a:spLocks noGrp="1"/>
          </p:cNvSpPr>
          <p:nvPr>
            <p:ph type="pic" sz="quarter" idx="13"/>
          </p:nvPr>
        </p:nvSpPr>
        <p:spPr>
          <a:xfrm>
            <a:off x="4262718" y="936212"/>
            <a:ext cx="4881282" cy="3628775"/>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959355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ers">
    <p:bg>
      <p:bgPr>
        <a:gradFill>
          <a:gsLst>
            <a:gs pos="0">
              <a:schemeClr val="tx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hasCustomPrompt="1"/>
          </p:nvPr>
        </p:nvSpPr>
        <p:spPr/>
        <p:txBody>
          <a:bodyPr/>
          <a:lstStyle>
            <a:lvl1pPr>
              <a:defRPr>
                <a:solidFill>
                  <a:schemeClr val="bg1"/>
                </a:solidFill>
              </a:defRPr>
            </a:lvl1pPr>
          </a:lstStyle>
          <a:p>
            <a:r>
              <a:rPr lang="en-GB"/>
              <a:t>Our customers</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5E5871BD-21DB-4143-921E-431F94C3EA03}"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grpSp>
        <p:nvGrpSpPr>
          <p:cNvPr id="13" name="Group 12">
            <a:extLst>
              <a:ext uri="{FF2B5EF4-FFF2-40B4-BE49-F238E27FC236}">
                <a16:creationId xmlns:a16="http://schemas.microsoft.com/office/drawing/2014/main" id="{F010BB31-E8E2-663E-931B-076D862D6B80}"/>
              </a:ext>
            </a:extLst>
          </p:cNvPr>
          <p:cNvGrpSpPr/>
          <p:nvPr userDrawn="1"/>
        </p:nvGrpSpPr>
        <p:grpSpPr>
          <a:xfrm>
            <a:off x="375077" y="1345546"/>
            <a:ext cx="8284829" cy="2853825"/>
            <a:chOff x="737836" y="1631312"/>
            <a:chExt cx="10716327" cy="3691389"/>
          </a:xfrm>
        </p:grpSpPr>
        <p:sp>
          <p:nvSpPr>
            <p:cNvPr id="7" name="Rounded Rectangle 6">
              <a:extLst>
                <a:ext uri="{FF2B5EF4-FFF2-40B4-BE49-F238E27FC236}">
                  <a16:creationId xmlns:a16="http://schemas.microsoft.com/office/drawing/2014/main" id="{95F75DFA-5602-E1B6-619E-F3B24B1228E1}"/>
                </a:ext>
              </a:extLst>
            </p:cNvPr>
            <p:cNvSpPr/>
            <p:nvPr userDrawn="1"/>
          </p:nvSpPr>
          <p:spPr>
            <a:xfrm>
              <a:off x="444802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8" name="Rounded Rectangle 7">
              <a:extLst>
                <a:ext uri="{FF2B5EF4-FFF2-40B4-BE49-F238E27FC236}">
                  <a16:creationId xmlns:a16="http://schemas.microsoft.com/office/drawing/2014/main" id="{31E4EC00-562F-A299-B747-7BB6FEA97A01}"/>
                </a:ext>
              </a:extLst>
            </p:cNvPr>
            <p:cNvSpPr/>
            <p:nvPr userDrawn="1"/>
          </p:nvSpPr>
          <p:spPr>
            <a:xfrm>
              <a:off x="815821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9" name="Rounded Rectangle 8">
              <a:extLst>
                <a:ext uri="{FF2B5EF4-FFF2-40B4-BE49-F238E27FC236}">
                  <a16:creationId xmlns:a16="http://schemas.microsoft.com/office/drawing/2014/main" id="{4562FAD8-BB1F-3CF2-8D92-3DCF63546A60}"/>
                </a:ext>
              </a:extLst>
            </p:cNvPr>
            <p:cNvSpPr/>
            <p:nvPr userDrawn="1"/>
          </p:nvSpPr>
          <p:spPr>
            <a:xfrm>
              <a:off x="815821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10" name="Rounded Rectangle 9">
              <a:extLst>
                <a:ext uri="{FF2B5EF4-FFF2-40B4-BE49-F238E27FC236}">
                  <a16:creationId xmlns:a16="http://schemas.microsoft.com/office/drawing/2014/main" id="{12CDECEC-1AEC-AC26-FE82-CFE9B24BE3A5}"/>
                </a:ext>
              </a:extLst>
            </p:cNvPr>
            <p:cNvSpPr/>
            <p:nvPr userDrawn="1"/>
          </p:nvSpPr>
          <p:spPr>
            <a:xfrm>
              <a:off x="4438955"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11" name="Rounded Rectangle 10">
              <a:extLst>
                <a:ext uri="{FF2B5EF4-FFF2-40B4-BE49-F238E27FC236}">
                  <a16:creationId xmlns:a16="http://schemas.microsoft.com/office/drawing/2014/main" id="{2D70B812-90BE-EFF0-A375-351B45F9E2A0}"/>
                </a:ext>
              </a:extLst>
            </p:cNvPr>
            <p:cNvSpPr/>
            <p:nvPr userDrawn="1"/>
          </p:nvSpPr>
          <p:spPr>
            <a:xfrm>
              <a:off x="73783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12" name="Rounded Rectangle 11">
              <a:extLst>
                <a:ext uri="{FF2B5EF4-FFF2-40B4-BE49-F238E27FC236}">
                  <a16:creationId xmlns:a16="http://schemas.microsoft.com/office/drawing/2014/main" id="{F806D2A5-D49A-2B4C-6945-B4D6AAF6AA58}"/>
                </a:ext>
              </a:extLst>
            </p:cNvPr>
            <p:cNvSpPr/>
            <p:nvPr userDrawn="1"/>
          </p:nvSpPr>
          <p:spPr>
            <a:xfrm>
              <a:off x="73783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grpSp>
    </p:spTree>
    <p:extLst>
      <p:ext uri="{BB962C8B-B14F-4D97-AF65-F5344CB8AC3E}">
        <p14:creationId xmlns:p14="http://schemas.microsoft.com/office/powerpoint/2010/main" val="571196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hite Contain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8" name="Round Single Corner of Rectangle 7">
            <a:extLst>
              <a:ext uri="{FF2B5EF4-FFF2-40B4-BE49-F238E27FC236}">
                <a16:creationId xmlns:a16="http://schemas.microsoft.com/office/drawing/2014/main" id="{E9D9364F-7640-F911-F9B3-BD269AE140FD}"/>
              </a:ext>
            </a:extLst>
          </p:cNvPr>
          <p:cNvSpPr/>
          <p:nvPr userDrawn="1"/>
        </p:nvSpPr>
        <p:spPr>
          <a:xfrm rot="10800000">
            <a:off x="4823386" y="-1"/>
            <a:ext cx="4320614" cy="4402138"/>
          </a:xfrm>
          <a:prstGeom prst="round1Rect">
            <a:avLst>
              <a:gd name="adj" fmla="val 157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utfit Light" pitchFamily="2" charset="0"/>
            </a:endParaRPr>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tx1"/>
              </a:buClr>
              <a:defRPr sz="2400"/>
            </a:lvl1pPr>
            <a:lvl2pPr>
              <a:buClr>
                <a:schemeClr val="tx1"/>
              </a:buClr>
              <a:defRPr sz="2000"/>
            </a:lvl2pPr>
            <a:lvl3pPr>
              <a:buClr>
                <a:schemeClr val="tx1"/>
              </a:buClr>
              <a:defRPr sz="1800"/>
            </a:lvl3pPr>
            <a:lvl4pPr>
              <a:buClr>
                <a:schemeClr val="tx1"/>
              </a:buClr>
              <a:defRPr sz="1600"/>
            </a:lvl4pPr>
            <a:lvl5pPr>
              <a:buClr>
                <a:schemeClr val="tx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366AB042-33D2-AF6C-C382-47B2851991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Tree>
    <p:extLst>
      <p:ext uri="{BB962C8B-B14F-4D97-AF65-F5344CB8AC3E}">
        <p14:creationId xmlns:p14="http://schemas.microsoft.com/office/powerpoint/2010/main" val="240055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62704-0E1C-9397-E348-29721F6DE9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B27EE6A-B54E-B7F7-240D-9E6057722FDC}"/>
              </a:ext>
            </a:extLst>
          </p:cNvPr>
          <p:cNvSpPr>
            <a:spLocks noGrp="1"/>
          </p:cNvSpPr>
          <p:nvPr>
            <p:ph sz="half" idx="1"/>
          </p:nvPr>
        </p:nvSpPr>
        <p:spPr>
          <a:xfrm>
            <a:off x="375077" y="1370013"/>
            <a:ext cx="3867150"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67281A-E911-2BEF-9A1F-C54E8A2D418C}"/>
              </a:ext>
            </a:extLst>
          </p:cNvPr>
          <p:cNvSpPr>
            <a:spLocks noGrp="1"/>
          </p:cNvSpPr>
          <p:nvPr>
            <p:ph sz="half" idx="2"/>
          </p:nvPr>
        </p:nvSpPr>
        <p:spPr>
          <a:xfrm>
            <a:off x="4394627" y="1370013"/>
            <a:ext cx="3867150"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986D3B9-0985-24EE-1FE1-CF4099EDD72F}"/>
              </a:ext>
            </a:extLst>
          </p:cNvPr>
          <p:cNvSpPr>
            <a:spLocks noGrp="1"/>
          </p:cNvSpPr>
          <p:nvPr>
            <p:ph type="dt" sz="half" idx="10"/>
          </p:nvPr>
        </p:nvSpPr>
        <p:spPr/>
        <p:txBody>
          <a:bodyPr/>
          <a:lstStyle/>
          <a:p>
            <a:fld id="{F0501BE8-2B0B-6B4A-8735-36A00D72CA1D}" type="datetime1">
              <a:rPr lang="en-GB" smtClean="0"/>
              <a:t>06/12/2025</a:t>
            </a:fld>
            <a:endParaRPr lang="en-US"/>
          </a:p>
        </p:txBody>
      </p:sp>
      <p:sp>
        <p:nvSpPr>
          <p:cNvPr id="7" name="Slide Number Placeholder 6">
            <a:extLst>
              <a:ext uri="{FF2B5EF4-FFF2-40B4-BE49-F238E27FC236}">
                <a16:creationId xmlns:a16="http://schemas.microsoft.com/office/drawing/2014/main" id="{88CF2E6E-C0CC-FF12-9A5E-0E4C5351BC05}"/>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E3D8C02-941C-F029-E6E7-EA2BD40DFFA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65387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25F0E8-F5F1-60C4-3084-306D732AFD46}"/>
              </a:ext>
            </a:extLst>
          </p:cNvPr>
          <p:cNvSpPr>
            <a:spLocks noGrp="1"/>
          </p:cNvSpPr>
          <p:nvPr>
            <p:ph type="pic" sz="quarter" idx="13"/>
          </p:nvPr>
        </p:nvSpPr>
        <p:spPr>
          <a:xfrm>
            <a:off x="0" y="0"/>
            <a:ext cx="9144000" cy="5143500"/>
          </a:xfrm>
        </p:spPr>
        <p:txBody>
          <a:bodyPr/>
          <a:lstStyle/>
          <a:p>
            <a:endParaRPr lang="en-US"/>
          </a:p>
        </p:txBody>
      </p:sp>
      <p:sp>
        <p:nvSpPr>
          <p:cNvPr id="2" name="Title 1">
            <a:extLst>
              <a:ext uri="{FF2B5EF4-FFF2-40B4-BE49-F238E27FC236}">
                <a16:creationId xmlns:a16="http://schemas.microsoft.com/office/drawing/2014/main" id="{3F73E142-DAA7-27A2-8354-3A782E076030}"/>
              </a:ext>
            </a:extLst>
          </p:cNvPr>
          <p:cNvSpPr>
            <a:spLocks noGrp="1"/>
          </p:cNvSpPr>
          <p:nvPr>
            <p:ph type="title"/>
          </p:nvPr>
        </p:nvSpPr>
        <p:spPr>
          <a:xfrm>
            <a:off x="366113" y="552717"/>
            <a:ext cx="7886700" cy="2139950"/>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B7E803F-EF23-8347-5303-1873D6E22557}"/>
              </a:ext>
            </a:extLst>
          </p:cNvPr>
          <p:cNvSpPr>
            <a:spLocks noGrp="1"/>
          </p:cNvSpPr>
          <p:nvPr>
            <p:ph type="body" idx="1"/>
          </p:nvPr>
        </p:nvSpPr>
        <p:spPr>
          <a:xfrm>
            <a:off x="366113" y="2711717"/>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8AB8DA-5AF4-DA55-F9DC-4F3507D534D5}"/>
              </a:ext>
            </a:extLst>
          </p:cNvPr>
          <p:cNvSpPr>
            <a:spLocks noGrp="1"/>
          </p:cNvSpPr>
          <p:nvPr>
            <p:ph type="dt" sz="half" idx="10"/>
          </p:nvPr>
        </p:nvSpPr>
        <p:spPr/>
        <p:txBody>
          <a:bodyPr/>
          <a:lstStyle/>
          <a:p>
            <a:fld id="{CD4A11D9-B955-6D4E-924E-589B300E56CD}" type="datetime1">
              <a:rPr lang="en-GB" smtClean="0"/>
              <a:t>06/12/2025</a:t>
            </a:fld>
            <a:endParaRPr lang="en-US"/>
          </a:p>
        </p:txBody>
      </p:sp>
      <p:sp>
        <p:nvSpPr>
          <p:cNvPr id="6" name="Slide Number Placeholder 5">
            <a:extLst>
              <a:ext uri="{FF2B5EF4-FFF2-40B4-BE49-F238E27FC236}">
                <a16:creationId xmlns:a16="http://schemas.microsoft.com/office/drawing/2014/main" id="{62FAD0A0-72F8-A422-2355-060C5E7387C3}"/>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76D4C21-94F7-3567-9B76-A2CDBE60465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1406746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accent1"/>
              </a:buClr>
              <a:defRPr sz="2400"/>
            </a:lvl1pPr>
            <a:lvl2pPr>
              <a:buClr>
                <a:schemeClr val="accent1"/>
              </a:buClr>
              <a:defRPr sz="2000"/>
            </a:lvl2pPr>
            <a:lvl3pPr>
              <a:buClr>
                <a:schemeClr val="accent1"/>
              </a:buClr>
              <a:defRPr sz="1800"/>
            </a:lvl3pPr>
            <a:lvl4pPr>
              <a:buClr>
                <a:schemeClr val="accent1"/>
              </a:buClr>
              <a:defRPr sz="1600"/>
            </a:lvl4pPr>
            <a:lvl5pPr>
              <a:buClr>
                <a:schemeClr val="accent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10" name="Picture Placeholder 9">
            <a:extLst>
              <a:ext uri="{FF2B5EF4-FFF2-40B4-BE49-F238E27FC236}">
                <a16:creationId xmlns:a16="http://schemas.microsoft.com/office/drawing/2014/main" id="{DA6D3706-E79A-720B-0681-29BC862ABD24}"/>
              </a:ext>
            </a:extLst>
          </p:cNvPr>
          <p:cNvSpPr>
            <a:spLocks noGrp="1"/>
          </p:cNvSpPr>
          <p:nvPr>
            <p:ph type="pic" sz="quarter" idx="13"/>
          </p:nvPr>
        </p:nvSpPr>
        <p:spPr>
          <a:xfrm>
            <a:off x="4822749" y="7751"/>
            <a:ext cx="4321252" cy="4402788"/>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2702602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Capti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4944179"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12F4358-7872-7045-8E26-B70E23714E9F}"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4944179" y="1743868"/>
            <a:ext cx="3856920" cy="2658269"/>
          </a:xfrm>
        </p:spPr>
        <p:txBody>
          <a:bodyPr>
            <a:normAutofit/>
          </a:bodyPr>
          <a:lstStyle>
            <a:lvl1pPr>
              <a:buClr>
                <a:schemeClr val="accent1"/>
              </a:buClr>
              <a:defRPr sz="2400"/>
            </a:lvl1pPr>
            <a:lvl2pPr>
              <a:buClr>
                <a:schemeClr val="accent1"/>
              </a:buClr>
              <a:defRPr sz="2000"/>
            </a:lvl2pPr>
            <a:lvl3pPr>
              <a:buClr>
                <a:schemeClr val="accent1"/>
              </a:buClr>
              <a:defRPr sz="1800"/>
            </a:lvl3pPr>
            <a:lvl4pPr>
              <a:buClr>
                <a:schemeClr val="accent1"/>
              </a:buClr>
              <a:defRPr sz="1600"/>
            </a:lvl4pPr>
            <a:lvl5pPr>
              <a:buClr>
                <a:schemeClr val="accent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11" name="Picture Placeholder 10">
            <a:extLst>
              <a:ext uri="{FF2B5EF4-FFF2-40B4-BE49-F238E27FC236}">
                <a16:creationId xmlns:a16="http://schemas.microsoft.com/office/drawing/2014/main" id="{990699E0-C88B-EE65-CF5E-576FE0E6EF73}"/>
              </a:ext>
            </a:extLst>
          </p:cNvPr>
          <p:cNvSpPr>
            <a:spLocks noGrp="1"/>
          </p:cNvSpPr>
          <p:nvPr>
            <p:ph type="pic" sz="quarter" idx="13"/>
          </p:nvPr>
        </p:nvSpPr>
        <p:spPr>
          <a:xfrm>
            <a:off x="0" y="0"/>
            <a:ext cx="4402138" cy="4320614"/>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5550490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Righ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4944179"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0FC86DFC-2749-0949-A903-DD3A2385A57C}"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4944179" y="1743868"/>
            <a:ext cx="3856920" cy="2658269"/>
          </a:xfrm>
        </p:spPr>
        <p:txBody>
          <a:bodyPr>
            <a:normAutofit/>
          </a:bodyPr>
          <a:lstStyle>
            <a:lvl1pPr>
              <a:buClr>
                <a:schemeClr val="tx1"/>
              </a:buClr>
              <a:defRPr sz="2400"/>
            </a:lvl1pPr>
            <a:lvl2pPr>
              <a:buClr>
                <a:schemeClr val="tx1"/>
              </a:buClr>
              <a:defRPr sz="2000"/>
            </a:lvl2pPr>
            <a:lvl3pPr>
              <a:buClr>
                <a:schemeClr val="tx1"/>
              </a:buClr>
              <a:defRPr sz="1800"/>
            </a:lvl3pPr>
            <a:lvl4pPr>
              <a:buClr>
                <a:schemeClr val="tx1"/>
              </a:buClr>
              <a:defRPr sz="1600"/>
            </a:lvl4pPr>
            <a:lvl5pPr>
              <a:buClr>
                <a:schemeClr val="tx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Picture 8">
            <a:extLst>
              <a:ext uri="{FF2B5EF4-FFF2-40B4-BE49-F238E27FC236}">
                <a16:creationId xmlns:a16="http://schemas.microsoft.com/office/drawing/2014/main" id="{F6423D9E-98AA-549D-5D65-976FB64061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
        <p:nvSpPr>
          <p:cNvPr id="6" name="Picture Placeholder 5">
            <a:extLst>
              <a:ext uri="{FF2B5EF4-FFF2-40B4-BE49-F238E27FC236}">
                <a16:creationId xmlns:a16="http://schemas.microsoft.com/office/drawing/2014/main" id="{86506CC4-37C9-6069-50BC-0B27E5FA021E}"/>
              </a:ext>
            </a:extLst>
          </p:cNvPr>
          <p:cNvSpPr>
            <a:spLocks noGrp="1"/>
          </p:cNvSpPr>
          <p:nvPr>
            <p:ph type="pic" sz="quarter" idx="13"/>
          </p:nvPr>
        </p:nvSpPr>
        <p:spPr>
          <a:xfrm>
            <a:off x="0" y="0"/>
            <a:ext cx="4402138" cy="4320614"/>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1487499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Lef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F233C6DD-C821-6C4C-8902-4089A37EB26A}"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tx1"/>
              </a:buClr>
              <a:defRPr sz="2400"/>
            </a:lvl1pPr>
            <a:lvl2pPr>
              <a:buClr>
                <a:schemeClr val="tx1"/>
              </a:buClr>
              <a:defRPr sz="2000"/>
            </a:lvl2pPr>
            <a:lvl3pPr>
              <a:buClr>
                <a:schemeClr val="tx1"/>
              </a:buClr>
              <a:defRPr sz="1800"/>
            </a:lvl3pPr>
            <a:lvl4pPr>
              <a:buClr>
                <a:schemeClr val="tx1"/>
              </a:buClr>
              <a:defRPr sz="1600"/>
            </a:lvl4pPr>
            <a:lvl5pPr>
              <a:buClr>
                <a:schemeClr val="tx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5E2EB0CB-6F24-1A96-F589-420A8A2589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
        <p:nvSpPr>
          <p:cNvPr id="6" name="Picture Placeholder 5">
            <a:extLst>
              <a:ext uri="{FF2B5EF4-FFF2-40B4-BE49-F238E27FC236}">
                <a16:creationId xmlns:a16="http://schemas.microsoft.com/office/drawing/2014/main" id="{3DAF8107-1F67-F3DD-F642-04E5F35BE4BF}"/>
              </a:ext>
            </a:extLst>
          </p:cNvPr>
          <p:cNvSpPr>
            <a:spLocks noGrp="1"/>
          </p:cNvSpPr>
          <p:nvPr>
            <p:ph type="pic" sz="quarter" idx="13"/>
          </p:nvPr>
        </p:nvSpPr>
        <p:spPr>
          <a:xfrm>
            <a:off x="4822749" y="7751"/>
            <a:ext cx="4321252" cy="4402788"/>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10899103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Righ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4944179" y="342900"/>
            <a:ext cx="3856920" cy="1200150"/>
          </a:xfrm>
        </p:spPr>
        <p:txBody>
          <a:bodyPr anchor="b"/>
          <a:lstStyle>
            <a:lvl1pPr>
              <a:defRPr sz="3200">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B2E0E52D-B26A-6647-98C0-F359F0FA0DC9}"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4944179" y="1743868"/>
            <a:ext cx="3856920" cy="2658269"/>
          </a:xfrm>
        </p:spPr>
        <p:txBody>
          <a:bodyPr>
            <a:normAutofit/>
          </a:bodyPr>
          <a:lstStyle>
            <a:lvl1pPr>
              <a:buClr>
                <a:schemeClr val="accent1"/>
              </a:buClr>
              <a:defRPr sz="2400">
                <a:solidFill>
                  <a:schemeClr val="bg1"/>
                </a:solidFill>
              </a:defRPr>
            </a:lvl1pPr>
            <a:lvl2pPr>
              <a:buClr>
                <a:schemeClr val="accent1"/>
              </a:buClr>
              <a:defRPr sz="2000">
                <a:solidFill>
                  <a:schemeClr val="bg1"/>
                </a:solidFill>
              </a:defRPr>
            </a:lvl2pPr>
            <a:lvl3pPr>
              <a:buClr>
                <a:schemeClr val="accent1"/>
              </a:buClr>
              <a:defRPr sz="1800">
                <a:solidFill>
                  <a:schemeClr val="bg1"/>
                </a:solidFill>
              </a:defRPr>
            </a:lvl3pPr>
            <a:lvl4pPr>
              <a:buClr>
                <a:schemeClr val="accent1"/>
              </a:buClr>
              <a:defRPr sz="1600">
                <a:solidFill>
                  <a:schemeClr val="bg1"/>
                </a:solidFill>
              </a:defRPr>
            </a:lvl4pPr>
            <a:lvl5pPr>
              <a:buClr>
                <a:schemeClr val="accent1"/>
              </a:buClr>
              <a:defRPr sz="16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4" name="Picture Placeholder 3">
            <a:extLst>
              <a:ext uri="{FF2B5EF4-FFF2-40B4-BE49-F238E27FC236}">
                <a16:creationId xmlns:a16="http://schemas.microsoft.com/office/drawing/2014/main" id="{45346D8F-BE67-2A37-EEAD-442FFA1962D0}"/>
              </a:ext>
            </a:extLst>
          </p:cNvPr>
          <p:cNvSpPr>
            <a:spLocks noGrp="1"/>
          </p:cNvSpPr>
          <p:nvPr>
            <p:ph type="pic" sz="quarter" idx="13"/>
          </p:nvPr>
        </p:nvSpPr>
        <p:spPr>
          <a:xfrm>
            <a:off x="0" y="0"/>
            <a:ext cx="4402138" cy="4320614"/>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34540021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Lef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1122EC9D-9608-D048-B827-27F744EB6E71}"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accent1"/>
              </a:buClr>
              <a:defRPr sz="2400">
                <a:solidFill>
                  <a:schemeClr val="bg1"/>
                </a:solidFill>
              </a:defRPr>
            </a:lvl1pPr>
            <a:lvl2pPr>
              <a:buClr>
                <a:schemeClr val="accent1"/>
              </a:buClr>
              <a:defRPr sz="2000">
                <a:solidFill>
                  <a:schemeClr val="bg1"/>
                </a:solidFill>
              </a:defRPr>
            </a:lvl2pPr>
            <a:lvl3pPr>
              <a:buClr>
                <a:schemeClr val="accent1"/>
              </a:buClr>
              <a:defRPr sz="1800">
                <a:solidFill>
                  <a:schemeClr val="bg1"/>
                </a:solidFill>
              </a:defRPr>
            </a:lvl3pPr>
            <a:lvl4pPr>
              <a:buClr>
                <a:schemeClr val="accent1"/>
              </a:buClr>
              <a:defRPr sz="1600">
                <a:solidFill>
                  <a:schemeClr val="bg1"/>
                </a:solidFill>
              </a:defRPr>
            </a:lvl4pPr>
            <a:lvl5pPr>
              <a:buClr>
                <a:schemeClr val="accent1"/>
              </a:buClr>
              <a:defRPr sz="16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4" name="Picture Placeholder 3">
            <a:extLst>
              <a:ext uri="{FF2B5EF4-FFF2-40B4-BE49-F238E27FC236}">
                <a16:creationId xmlns:a16="http://schemas.microsoft.com/office/drawing/2014/main" id="{4B484570-6241-2AA8-DAED-5F742839FFEF}"/>
              </a:ext>
            </a:extLst>
          </p:cNvPr>
          <p:cNvSpPr>
            <a:spLocks noGrp="1"/>
          </p:cNvSpPr>
          <p:nvPr>
            <p:ph type="pic" sz="quarter" idx="13"/>
          </p:nvPr>
        </p:nvSpPr>
        <p:spPr>
          <a:xfrm>
            <a:off x="4822749" y="21501"/>
            <a:ext cx="4321252" cy="4402788"/>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25523733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ust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AD93-1930-9CE4-92F9-CB4BBA81341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635A415D-2F1F-B143-BA62-6BABD16E70A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A47ACEE6-6DDC-172B-7E6A-1F5B9901B8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31531042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ean 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2E9F6446-2BF2-4D44-B716-2ABFAF5C894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B6E1A223-3602-1C4D-02A2-7752E0A4E5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10497764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FD2358-4116-32B5-F26F-D02226622ED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211734" cy="5181600"/>
          </a:xfrm>
          <a:prstGeom prst="rect">
            <a:avLst/>
          </a:prstGeom>
        </p:spPr>
      </p:pic>
      <p:sp>
        <p:nvSpPr>
          <p:cNvPr id="2" name="Title 1">
            <a:extLst>
              <a:ext uri="{FF2B5EF4-FFF2-40B4-BE49-F238E27FC236}">
                <a16:creationId xmlns:a16="http://schemas.microsoft.com/office/drawing/2014/main" id="{F90EAD93-1930-9CE4-92F9-CB4BBA81341C}"/>
              </a:ext>
            </a:extLst>
          </p:cNvPr>
          <p:cNvSpPr>
            <a:spLocks noGrp="1"/>
          </p:cNvSpPr>
          <p:nvPr>
            <p:ph type="title" hasCustomPrompt="1"/>
          </p:nvPr>
        </p:nvSpPr>
        <p:spPr>
          <a:xfrm>
            <a:off x="375077" y="425509"/>
            <a:ext cx="7886700" cy="993775"/>
          </a:xfrm>
        </p:spPr>
        <p:txBody>
          <a:bodyPr/>
          <a:lstStyle>
            <a:lvl1pPr>
              <a:defRPr>
                <a:solidFill>
                  <a:schemeClr val="bg1"/>
                </a:solidFill>
              </a:defRPr>
            </a:lvl1pPr>
          </a:lstStyle>
          <a:p>
            <a:r>
              <a:rPr lang="en-GB"/>
              <a:t>Thank you</a:t>
            </a:r>
            <a:endParaRPr lang="en-US"/>
          </a:p>
        </p:txBody>
      </p:sp>
      <p:sp>
        <p:nvSpPr>
          <p:cNvPr id="7" name="Content Placeholder 2">
            <a:extLst>
              <a:ext uri="{FF2B5EF4-FFF2-40B4-BE49-F238E27FC236}">
                <a16:creationId xmlns:a16="http://schemas.microsoft.com/office/drawing/2014/main" id="{1714766F-CA55-B58F-B135-B22E4B21707B}"/>
              </a:ext>
            </a:extLst>
          </p:cNvPr>
          <p:cNvSpPr>
            <a:spLocks noGrp="1"/>
          </p:cNvSpPr>
          <p:nvPr>
            <p:ph sz="half" idx="1"/>
          </p:nvPr>
        </p:nvSpPr>
        <p:spPr>
          <a:xfrm>
            <a:off x="375076" y="1683778"/>
            <a:ext cx="6563605" cy="140254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8" name="Picture 7">
            <a:extLst>
              <a:ext uri="{FF2B5EF4-FFF2-40B4-BE49-F238E27FC236}">
                <a16:creationId xmlns:a16="http://schemas.microsoft.com/office/drawing/2014/main" id="{13895825-72A7-324E-9A24-5E7861E4F73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74829" y="4306810"/>
            <a:ext cx="2127260" cy="272315"/>
          </a:xfrm>
          <a:prstGeom prst="rect">
            <a:avLst/>
          </a:prstGeom>
        </p:spPr>
      </p:pic>
    </p:spTree>
    <p:extLst>
      <p:ext uri="{BB962C8B-B14F-4D97-AF65-F5344CB8AC3E}">
        <p14:creationId xmlns:p14="http://schemas.microsoft.com/office/powerpoint/2010/main" val="9068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with Addresses">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B82B64C-4A21-48EF-230D-CF646101A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211734" cy="5181600"/>
          </a:xfrm>
          <a:prstGeom prst="rect">
            <a:avLst/>
          </a:prstGeom>
        </p:spPr>
      </p:pic>
      <p:pic>
        <p:nvPicPr>
          <p:cNvPr id="7" name="Picture 6">
            <a:extLst>
              <a:ext uri="{FF2B5EF4-FFF2-40B4-BE49-F238E27FC236}">
                <a16:creationId xmlns:a16="http://schemas.microsoft.com/office/drawing/2014/main" id="{FCAD9A4C-D34B-B0BC-0E62-A6F8857C8C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27229" y="702998"/>
            <a:ext cx="2127260" cy="272315"/>
          </a:xfrm>
          <a:prstGeom prst="rect">
            <a:avLst/>
          </a:prstGeom>
        </p:spPr>
      </p:pic>
      <p:grpSp>
        <p:nvGrpSpPr>
          <p:cNvPr id="8" name="Group 7">
            <a:extLst>
              <a:ext uri="{FF2B5EF4-FFF2-40B4-BE49-F238E27FC236}">
                <a16:creationId xmlns:a16="http://schemas.microsoft.com/office/drawing/2014/main" id="{9535EE59-ECCB-8065-694C-8E4E76D63E7D}"/>
              </a:ext>
            </a:extLst>
          </p:cNvPr>
          <p:cNvGrpSpPr/>
          <p:nvPr userDrawn="1"/>
        </p:nvGrpSpPr>
        <p:grpSpPr>
          <a:xfrm>
            <a:off x="627229" y="1916977"/>
            <a:ext cx="4644682" cy="2545938"/>
            <a:chOff x="1243806" y="6879747"/>
            <a:chExt cx="5311140" cy="3710423"/>
          </a:xfrm>
        </p:grpSpPr>
        <p:sp>
          <p:nvSpPr>
            <p:cNvPr id="9" name="object 4">
              <a:extLst>
                <a:ext uri="{FF2B5EF4-FFF2-40B4-BE49-F238E27FC236}">
                  <a16:creationId xmlns:a16="http://schemas.microsoft.com/office/drawing/2014/main" id="{5CDD6526-A240-87EB-44B1-FCEC4312E6AF}"/>
                </a:ext>
              </a:extLst>
            </p:cNvPr>
            <p:cNvSpPr txBox="1"/>
            <p:nvPr/>
          </p:nvSpPr>
          <p:spPr>
            <a:xfrm>
              <a:off x="1243806" y="8198706"/>
              <a:ext cx="2432497" cy="1101751"/>
            </a:xfrm>
            <a:prstGeom prst="rect">
              <a:avLst/>
            </a:prstGeom>
          </p:spPr>
          <p:txBody>
            <a:bodyPr vert="horz" wrap="square" lIns="0" tIns="12065" rIns="0" bIns="0" rtlCol="0">
              <a:spAutoFit/>
            </a:bodyPr>
            <a:lstStyle/>
            <a:p>
              <a:pPr marL="12700" marR="5080">
                <a:lnSpc>
                  <a:spcPct val="100000"/>
                </a:lnSpc>
                <a:spcBef>
                  <a:spcPts val="95"/>
                </a:spcBef>
              </a:pPr>
              <a:r>
                <a:rPr sz="900">
                  <a:solidFill>
                    <a:srgbClr val="FFFFFF"/>
                  </a:solidFill>
                  <a:latin typeface="DM Sans" pitchFamily="2" charset="77"/>
                  <a:cs typeface="Calibri"/>
                </a:rPr>
                <a:t>Microlise Limited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Farrington Way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Eastwood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Nottinghamshire</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NG16 3AG</a:t>
              </a:r>
              <a:endParaRPr sz="900">
                <a:latin typeface="DM Sans" pitchFamily="2" charset="77"/>
                <a:cs typeface="Calibri"/>
              </a:endParaRPr>
            </a:p>
          </p:txBody>
        </p:sp>
        <p:sp>
          <p:nvSpPr>
            <p:cNvPr id="10" name="object 5">
              <a:extLst>
                <a:ext uri="{FF2B5EF4-FFF2-40B4-BE49-F238E27FC236}">
                  <a16:creationId xmlns:a16="http://schemas.microsoft.com/office/drawing/2014/main" id="{D3AEB353-018B-618A-B8F0-7C8493D19746}"/>
                </a:ext>
              </a:extLst>
            </p:cNvPr>
            <p:cNvSpPr txBox="1"/>
            <p:nvPr/>
          </p:nvSpPr>
          <p:spPr>
            <a:xfrm>
              <a:off x="1243807" y="9765024"/>
              <a:ext cx="1500244" cy="825146"/>
            </a:xfrm>
            <a:prstGeom prst="rect">
              <a:avLst/>
            </a:prstGeom>
          </p:spPr>
          <p:txBody>
            <a:bodyPr vert="horz" wrap="square" lIns="0" tIns="12065" rIns="0" bIns="0" rtlCol="0">
              <a:spAutoFit/>
            </a:bodyPr>
            <a:lstStyle/>
            <a:p>
              <a:pPr marL="12700" marR="306070">
                <a:lnSpc>
                  <a:spcPct val="100000"/>
                </a:lnSpc>
                <a:spcBef>
                  <a:spcPts val="95"/>
                </a:spcBef>
              </a:pPr>
              <a:r>
                <a:rPr sz="900">
                  <a:solidFill>
                    <a:srgbClr val="FFFFFF"/>
                  </a:solidFill>
                  <a:latin typeface="DM Sans" pitchFamily="2" charset="77"/>
                  <a:cs typeface="Calibri"/>
                </a:rPr>
                <a:t>Registered in England &amp; Wales with</a:t>
              </a:r>
              <a:r>
                <a:rPr lang="en-GB" sz="900">
                  <a:solidFill>
                    <a:srgbClr val="FFFFFF"/>
                  </a:solidFill>
                  <a:latin typeface="DM Sans" pitchFamily="2" charset="77"/>
                  <a:cs typeface="Calibri"/>
                </a:rPr>
                <a:t> </a:t>
              </a:r>
              <a:r>
                <a:rPr sz="900">
                  <a:solidFill>
                    <a:srgbClr val="FFFFFF"/>
                  </a:solidFill>
                  <a:latin typeface="DM Sans" pitchFamily="2" charset="77"/>
                  <a:cs typeface="Calibri"/>
                </a:rPr>
                <a:t>Company No. 03037936</a:t>
              </a:r>
              <a:endParaRPr sz="900">
                <a:latin typeface="DM Sans" pitchFamily="2" charset="77"/>
                <a:cs typeface="Calibri"/>
              </a:endParaRPr>
            </a:p>
          </p:txBody>
        </p:sp>
        <p:sp>
          <p:nvSpPr>
            <p:cNvPr id="11" name="object 6">
              <a:extLst>
                <a:ext uri="{FF2B5EF4-FFF2-40B4-BE49-F238E27FC236}">
                  <a16:creationId xmlns:a16="http://schemas.microsoft.com/office/drawing/2014/main" id="{7B1C569B-8C1B-4838-1EA3-33558516C075}"/>
                </a:ext>
              </a:extLst>
            </p:cNvPr>
            <p:cNvSpPr txBox="1"/>
            <p:nvPr/>
          </p:nvSpPr>
          <p:spPr>
            <a:xfrm>
              <a:off x="2744051" y="8198706"/>
              <a:ext cx="1688171" cy="1045683"/>
            </a:xfrm>
            <a:prstGeom prst="rect">
              <a:avLst/>
            </a:prstGeom>
          </p:spPr>
          <p:txBody>
            <a:bodyPr vert="horz" wrap="square" lIns="0" tIns="12065" rIns="0" bIns="0" rtlCol="0">
              <a:spAutoFit/>
            </a:bodyPr>
            <a:lstStyle/>
            <a:p>
              <a:pPr marL="12700" marR="5080">
                <a:lnSpc>
                  <a:spcPct val="100000"/>
                </a:lnSpc>
                <a:spcBef>
                  <a:spcPts val="95"/>
                </a:spcBef>
              </a:pPr>
              <a:r>
                <a:rPr sz="900">
                  <a:solidFill>
                    <a:srgbClr val="FFFFFF"/>
                  </a:solidFill>
                  <a:latin typeface="DM Sans" pitchFamily="2" charset="77"/>
                  <a:cs typeface="Calibri"/>
                </a:rPr>
                <a:t>Microlise Group plc Farrington Way </a:t>
              </a:r>
              <a:br>
                <a:rPr lang="en-GB" sz="900">
                  <a:solidFill>
                    <a:srgbClr val="FFFFFF"/>
                  </a:solidFill>
                  <a:latin typeface="DM Sans" pitchFamily="2" charset="77"/>
                  <a:cs typeface="Calibri"/>
                </a:rPr>
              </a:br>
              <a:r>
                <a:rPr sz="900">
                  <a:solidFill>
                    <a:srgbClr val="FFFFFF"/>
                  </a:solidFill>
                  <a:latin typeface="DM Sans" pitchFamily="2" charset="77"/>
                  <a:cs typeface="Calibri"/>
                </a:rPr>
                <a:t>Eastwood </a:t>
              </a:r>
              <a:br>
                <a:rPr lang="en-GB" sz="900">
                  <a:solidFill>
                    <a:srgbClr val="FFFFFF"/>
                  </a:solidFill>
                  <a:latin typeface="DM Sans" pitchFamily="2" charset="77"/>
                  <a:cs typeface="Calibri"/>
                </a:rPr>
              </a:br>
              <a:r>
                <a:rPr sz="900">
                  <a:solidFill>
                    <a:srgbClr val="FFFFFF"/>
                  </a:solidFill>
                  <a:latin typeface="DM Sans" pitchFamily="2" charset="77"/>
                  <a:cs typeface="Calibri"/>
                </a:rPr>
                <a:t>Nottinghamshire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NG16 3AG</a:t>
              </a:r>
              <a:endParaRPr sz="900">
                <a:latin typeface="DM Sans" pitchFamily="2" charset="77"/>
                <a:cs typeface="Calibri"/>
              </a:endParaRPr>
            </a:p>
          </p:txBody>
        </p:sp>
        <p:sp>
          <p:nvSpPr>
            <p:cNvPr id="12" name="object 7">
              <a:extLst>
                <a:ext uri="{FF2B5EF4-FFF2-40B4-BE49-F238E27FC236}">
                  <a16:creationId xmlns:a16="http://schemas.microsoft.com/office/drawing/2014/main" id="{BFF300BA-FBA5-33AB-D570-DEF601C7592E}"/>
                </a:ext>
              </a:extLst>
            </p:cNvPr>
            <p:cNvSpPr txBox="1"/>
            <p:nvPr/>
          </p:nvSpPr>
          <p:spPr>
            <a:xfrm>
              <a:off x="2744052" y="9765024"/>
              <a:ext cx="1308883" cy="825146"/>
            </a:xfrm>
            <a:prstGeom prst="rect">
              <a:avLst/>
            </a:prstGeom>
          </p:spPr>
          <p:txBody>
            <a:bodyPr vert="horz" wrap="square" lIns="0" tIns="12065" rIns="0" bIns="0" rtlCol="0">
              <a:spAutoFit/>
            </a:bodyPr>
            <a:lstStyle/>
            <a:p>
              <a:pPr marL="12700" marR="5080">
                <a:lnSpc>
                  <a:spcPct val="100000"/>
                </a:lnSpc>
                <a:spcBef>
                  <a:spcPts val="95"/>
                </a:spcBef>
              </a:pPr>
              <a:r>
                <a:rPr sz="900">
                  <a:solidFill>
                    <a:srgbClr val="FFFFFF"/>
                  </a:solidFill>
                  <a:latin typeface="DM Sans" pitchFamily="2" charset="77"/>
                  <a:cs typeface="Calibri"/>
                </a:rPr>
                <a:t>Registered in England &amp;  Wales with Company No. 11553192</a:t>
              </a:r>
              <a:endParaRPr sz="900">
                <a:latin typeface="DM Sans" pitchFamily="2" charset="77"/>
                <a:cs typeface="Calibri"/>
              </a:endParaRPr>
            </a:p>
          </p:txBody>
        </p:sp>
        <p:sp>
          <p:nvSpPr>
            <p:cNvPr id="13" name="object 16">
              <a:extLst>
                <a:ext uri="{FF2B5EF4-FFF2-40B4-BE49-F238E27FC236}">
                  <a16:creationId xmlns:a16="http://schemas.microsoft.com/office/drawing/2014/main" id="{434445B8-5756-9429-2A0F-FEE153B50457}"/>
                </a:ext>
              </a:extLst>
            </p:cNvPr>
            <p:cNvSpPr txBox="1"/>
            <p:nvPr/>
          </p:nvSpPr>
          <p:spPr>
            <a:xfrm>
              <a:off x="1243806" y="6879747"/>
              <a:ext cx="5311140" cy="563491"/>
            </a:xfrm>
            <a:prstGeom prst="rect">
              <a:avLst/>
            </a:prstGeom>
          </p:spPr>
          <p:txBody>
            <a:bodyPr vert="horz" wrap="square" lIns="0" tIns="17145" rIns="0" bIns="0" rtlCol="0">
              <a:spAutoFit/>
            </a:bodyPr>
            <a:lstStyle/>
            <a:p>
              <a:pPr marL="12700">
                <a:lnSpc>
                  <a:spcPct val="100000"/>
                </a:lnSpc>
                <a:spcBef>
                  <a:spcPts val="135"/>
                </a:spcBef>
              </a:pPr>
              <a:r>
                <a:rPr sz="2400">
                  <a:solidFill>
                    <a:schemeClr val="accent1"/>
                  </a:solidFill>
                  <a:latin typeface="DM Sans" pitchFamily="2" charset="77"/>
                  <a:cs typeface="Calibri"/>
                </a:rPr>
                <a:t>www.microlise.com</a:t>
              </a:r>
              <a:r>
                <a:rPr lang="en-GB" sz="2400">
                  <a:solidFill>
                    <a:schemeClr val="accent1"/>
                  </a:solidFill>
                  <a:latin typeface="DM Sans" pitchFamily="2" charset="77"/>
                  <a:cs typeface="Calibri"/>
                </a:rPr>
                <a:t> </a:t>
              </a:r>
              <a:endParaRPr sz="2400">
                <a:solidFill>
                  <a:schemeClr val="accent1"/>
                </a:solidFill>
                <a:latin typeface="DM Sans" pitchFamily="2" charset="77"/>
                <a:cs typeface="Calibri"/>
              </a:endParaRPr>
            </a:p>
          </p:txBody>
        </p:sp>
      </p:grpSp>
    </p:spTree>
    <p:extLst>
      <p:ext uri="{BB962C8B-B14F-4D97-AF65-F5344CB8AC3E}">
        <p14:creationId xmlns:p14="http://schemas.microsoft.com/office/powerpoint/2010/main" val="123954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Module Starting Slide">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3435072" cy="5143500"/>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10" name="Parallelogram 14">
            <a:extLst>
              <a:ext uri="{FF2B5EF4-FFF2-40B4-BE49-F238E27FC236}">
                <a16:creationId xmlns:a16="http://schemas.microsoft.com/office/drawing/2014/main" id="{BA60C70F-7EE5-4927-B922-88B1C47FADB9}"/>
              </a:ext>
            </a:extLst>
          </p:cNvPr>
          <p:cNvSpPr/>
          <p:nvPr userDrawn="1"/>
        </p:nvSpPr>
        <p:spPr>
          <a:xfrm>
            <a:off x="5586413" y="0"/>
            <a:ext cx="2143125" cy="51435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rtl="0"/>
            <a:endParaRPr lang="en-GB" sz="1050" noProof="0"/>
          </a:p>
        </p:txBody>
      </p:sp>
      <p:sp>
        <p:nvSpPr>
          <p:cNvPr id="3" name="Content Placeholder 2"/>
          <p:cNvSpPr>
            <a:spLocks noGrp="1"/>
          </p:cNvSpPr>
          <p:nvPr>
            <p:ph idx="1"/>
          </p:nvPr>
        </p:nvSpPr>
        <p:spPr>
          <a:xfrm>
            <a:off x="3738542" y="1601215"/>
            <a:ext cx="4642348" cy="2816328"/>
          </a:xfrm>
        </p:spPr>
        <p:txBody>
          <a:bodyPr rtlCol="0" anchor="t">
            <a:normAutofit/>
          </a:bodyPr>
          <a:lstStyle>
            <a:lvl1pPr>
              <a:defRPr sz="1500"/>
            </a:lvl1pPr>
            <a:lvl2pPr>
              <a:defRPr sz="1350"/>
            </a:lvl2pPr>
            <a:lvl3pPr>
              <a:defRPr sz="1050"/>
            </a:lvl3pPr>
            <a:lvl4pPr>
              <a:defRPr sz="1050"/>
            </a:lvl4pPr>
            <a:lvl5pPr>
              <a:defRPr sz="105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3738542" y="309194"/>
            <a:ext cx="4642348" cy="833526"/>
          </a:xfrm>
        </p:spPr>
        <p:txBody>
          <a:bodyPr rtlCol="0">
            <a:noAutofit/>
          </a:bodyPr>
          <a:lstStyle>
            <a:lvl1pPr>
              <a:defRPr sz="27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p:nvPr userDrawn="1"/>
        </p:nvCxnSpPr>
        <p:spPr>
          <a:xfrm>
            <a:off x="3738542" y="1326311"/>
            <a:ext cx="4642348" cy="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185421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0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3377946" y="917150"/>
            <a:ext cx="5306588" cy="3390676"/>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3" name="Content Placeholder 2"/>
          <p:cNvSpPr>
            <a:spLocks noGrp="1"/>
          </p:cNvSpPr>
          <p:nvPr>
            <p:ph idx="1"/>
          </p:nvPr>
        </p:nvSpPr>
        <p:spPr>
          <a:xfrm>
            <a:off x="106381" y="1022890"/>
            <a:ext cx="2575709" cy="3703020"/>
          </a:xfrm>
        </p:spPr>
        <p:txBody>
          <a:bodyPr rtlCol="0" anchor="t">
            <a:normAutofit/>
          </a:bodyPr>
          <a:lstStyle>
            <a:lvl1pPr>
              <a:defRPr sz="1200"/>
            </a:lvl1pPr>
            <a:lvl2pPr>
              <a:defRPr sz="1050"/>
            </a:lvl2pPr>
            <a:lvl3pPr>
              <a:defRPr sz="825"/>
            </a:lvl3pPr>
            <a:lvl4pPr>
              <a:defRPr sz="825"/>
            </a:lvl4pPr>
            <a:lvl5pPr>
              <a:defRPr sz="825"/>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106380" y="274185"/>
            <a:ext cx="2589289" cy="527158"/>
          </a:xfrm>
        </p:spPr>
        <p:txBody>
          <a:bodyPr rtlCol="0">
            <a:noAutofit/>
          </a:bodyPr>
          <a:lstStyle>
            <a:lvl1pPr>
              <a:defRPr sz="15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a:cxnSpLocks/>
          </p:cNvCxnSpPr>
          <p:nvPr userDrawn="1"/>
        </p:nvCxnSpPr>
        <p:spPr>
          <a:xfrm>
            <a:off x="92799" y="917150"/>
            <a:ext cx="258929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4FC02E08-8FFB-2F32-CE3B-196AD2A7D13E}"/>
              </a:ext>
            </a:extLst>
          </p:cNvPr>
          <p:cNvCxnSpPr>
            <a:cxnSpLocks/>
          </p:cNvCxnSpPr>
          <p:nvPr userDrawn="1"/>
        </p:nvCxnSpPr>
        <p:spPr>
          <a:xfrm>
            <a:off x="2766967" y="274184"/>
            <a:ext cx="0" cy="4451726"/>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33297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p:cNvSpPr/>
          <p:nvPr userDrawn="1"/>
        </p:nvSpPr>
        <p:spPr>
          <a:xfrm>
            <a:off x="-8468" y="-1"/>
            <a:ext cx="3884432" cy="5143501"/>
          </a:xfrm>
          <a:prstGeom prst="rect">
            <a:avLst/>
          </a:prstGeom>
          <a:solidFill>
            <a:srgbClr val="0075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4" name="Picture 2" descr="Y:\Branding &amp; Graphics JD\Microlise Logos\Standard logo\White\PNG\Microlise_Logo_White_800px_web.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579928" y="498401"/>
            <a:ext cx="1003603" cy="457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47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239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B77C89-30AF-531D-EA53-92B212C544C4}"/>
              </a:ext>
            </a:extLst>
          </p:cNvPr>
          <p:cNvSpPr>
            <a:spLocks noGrp="1"/>
          </p:cNvSpPr>
          <p:nvPr>
            <p:ph type="title"/>
          </p:nvPr>
        </p:nvSpPr>
        <p:spPr>
          <a:xfrm>
            <a:off x="375077" y="274638"/>
            <a:ext cx="7886700" cy="99377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83950DF-701D-D598-68F0-FCD09E7585B5}"/>
              </a:ext>
            </a:extLst>
          </p:cNvPr>
          <p:cNvSpPr>
            <a:spLocks noGrp="1"/>
          </p:cNvSpPr>
          <p:nvPr>
            <p:ph type="body" idx="1"/>
          </p:nvPr>
        </p:nvSpPr>
        <p:spPr>
          <a:xfrm>
            <a:off x="375077" y="1370013"/>
            <a:ext cx="7886700" cy="326231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BF03E1-14AE-35AA-9268-AE524D44C954}"/>
              </a:ext>
            </a:extLst>
          </p:cNvPr>
          <p:cNvSpPr>
            <a:spLocks noGrp="1"/>
          </p:cNvSpPr>
          <p:nvPr>
            <p:ph type="dt" sz="half" idx="2"/>
          </p:nvPr>
        </p:nvSpPr>
        <p:spPr>
          <a:xfrm>
            <a:off x="6195412" y="4632325"/>
            <a:ext cx="2057400" cy="274637"/>
          </a:xfrm>
          <a:prstGeom prst="rect">
            <a:avLst/>
          </a:prstGeom>
        </p:spPr>
        <p:txBody>
          <a:bodyPr vert="horz" lIns="91440" tIns="45720" rIns="91440" bIns="45720" rtlCol="0" anchor="ctr"/>
          <a:lstStyle>
            <a:lvl1pPr algn="r">
              <a:defRPr sz="900" b="0" i="0">
                <a:solidFill>
                  <a:schemeClr val="tx1"/>
                </a:solidFill>
                <a:latin typeface="Outfit Light" pitchFamily="2" charset="0"/>
              </a:defRPr>
            </a:lvl1pPr>
          </a:lstStyle>
          <a:p>
            <a:fld id="{B8DA1A95-0620-4B43-9EA1-72D8A64E0460}" type="datetime1">
              <a:rPr lang="en-GB" smtClean="0"/>
              <a:t>06/12/2025</a:t>
            </a:fld>
            <a:endParaRPr lang="en-US"/>
          </a:p>
        </p:txBody>
      </p:sp>
      <p:sp>
        <p:nvSpPr>
          <p:cNvPr id="6" name="Slide Number Placeholder 5">
            <a:extLst>
              <a:ext uri="{FF2B5EF4-FFF2-40B4-BE49-F238E27FC236}">
                <a16:creationId xmlns:a16="http://schemas.microsoft.com/office/drawing/2014/main" id="{26016C77-B5B6-9D68-8334-B64DFFC7CC16}"/>
              </a:ext>
            </a:extLst>
          </p:cNvPr>
          <p:cNvSpPr>
            <a:spLocks noGrp="1"/>
          </p:cNvSpPr>
          <p:nvPr>
            <p:ph type="sldNum" sz="quarter" idx="4"/>
          </p:nvPr>
        </p:nvSpPr>
        <p:spPr>
          <a:xfrm>
            <a:off x="8252812" y="4632325"/>
            <a:ext cx="609207" cy="274637"/>
          </a:xfrm>
          <a:prstGeom prst="rect">
            <a:avLst/>
          </a:prstGeom>
        </p:spPr>
        <p:txBody>
          <a:bodyPr vert="horz" lIns="91440" tIns="45720" rIns="91440" bIns="45720" rtlCol="0" anchor="ctr"/>
          <a:lstStyle>
            <a:lvl1pPr algn="r">
              <a:defRPr sz="900" b="0" i="0">
                <a:solidFill>
                  <a:schemeClr val="tx1"/>
                </a:solidFill>
                <a:latin typeface="Outfit Light" pitchFamily="2" charset="0"/>
              </a:defRPr>
            </a:lvl1pPr>
          </a:lstStyle>
          <a:p>
            <a:fld id="{CC0CD38E-35A1-2247-B55D-C6626AF9BA09}" type="slidenum">
              <a:rPr lang="en-US" smtClean="0"/>
              <a:pPr/>
              <a:t>‹#›</a:t>
            </a:fld>
            <a:endParaRPr lang="en-US"/>
          </a:p>
        </p:txBody>
      </p:sp>
    </p:spTree>
    <p:extLst>
      <p:ext uri="{BB962C8B-B14F-4D97-AF65-F5344CB8AC3E}">
        <p14:creationId xmlns:p14="http://schemas.microsoft.com/office/powerpoint/2010/main" val="2945807643"/>
      </p:ext>
    </p:extLst>
  </p:cSld>
  <p:clrMap bg1="lt1" tx1="dk1" bg2="lt2" tx2="dk2" accent1="accent1" accent2="accent2" accent3="accent3" accent4="accent4" accent5="accent5" accent6="accent6" hlink="hlink" folHlink="folHlink"/>
  <p:sldLayoutIdLst>
    <p:sldLayoutId id="2147483654" r:id="rId1"/>
    <p:sldLayoutId id="2147483680" r:id="rId2"/>
    <p:sldLayoutId id="2147483673" r:id="rId3"/>
    <p:sldLayoutId id="2147483683" r:id="rId4"/>
    <p:sldLayoutId id="2147483669" r:id="rId5"/>
    <p:sldLayoutId id="2147483668" r:id="rId6"/>
    <p:sldLayoutId id="2147483655" r:id="rId7"/>
    <p:sldLayoutId id="2147483684" r:id="rId8"/>
    <p:sldLayoutId id="2147483682" r:id="rId9"/>
    <p:sldLayoutId id="2147483674" r:id="rId10"/>
    <p:sldLayoutId id="2147483681" r:id="rId11"/>
    <p:sldLayoutId id="2147483657" r:id="rId12"/>
    <p:sldLayoutId id="2147483656" r:id="rId13"/>
    <p:sldLayoutId id="2147483662" r:id="rId14"/>
    <p:sldLayoutId id="2147483667" r:id="rId15"/>
    <p:sldLayoutId id="2147483678" r:id="rId16"/>
    <p:sldLayoutId id="2147483679" r:id="rId17"/>
    <p:sldLayoutId id="2147483676" r:id="rId18"/>
    <p:sldLayoutId id="2147483677" r:id="rId19"/>
    <p:sldLayoutId id="2147483652" r:id="rId20"/>
    <p:sldLayoutId id="2147483672" r:id="rId21"/>
    <p:sldLayoutId id="2147483670" r:id="rId22"/>
    <p:sldLayoutId id="2147483671" r:id="rId23"/>
    <p:sldLayoutId id="2147483713" r:id="rId24"/>
    <p:sldLayoutId id="2147483714" r:id="rId25"/>
    <p:sldLayoutId id="2147483715" r:id="rId26"/>
    <p:sldLayoutId id="2147483719" r:id="rId27"/>
  </p:sldLayoutIdLst>
  <p:hf hdr="0" ftr="0" dt="0"/>
  <p:txStyles>
    <p:titleStyle>
      <a:lvl1pPr algn="l" defTabSz="914400" rtl="0" eaLnBrk="1" latinLnBrk="0" hangingPunct="1">
        <a:lnSpc>
          <a:spcPct val="90000"/>
        </a:lnSpc>
        <a:spcBef>
          <a:spcPct val="0"/>
        </a:spcBef>
        <a:buNone/>
        <a:defRPr sz="4000" kern="1200">
          <a:solidFill>
            <a:schemeClr val="tx1"/>
          </a:solidFill>
          <a:latin typeface="Archia" panose="02000503000000020004"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utfit Ligh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utfit Ligh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utfit Ligh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utfit Ligh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utfit Ligh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7.xml"/><Relationship Id="rId5" Type="http://schemas.openxmlformats.org/officeDocument/2006/relationships/image" Target="../media/image1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5A163-7275-AC26-92BC-4D0DCD188E98}"/>
              </a:ext>
            </a:extLst>
          </p:cNvPr>
          <p:cNvSpPr>
            <a:spLocks noGrp="1"/>
          </p:cNvSpPr>
          <p:nvPr>
            <p:ph type="ctrTitle" idx="4294967295"/>
          </p:nvPr>
        </p:nvSpPr>
        <p:spPr>
          <a:xfrm>
            <a:off x="2077699" y="314410"/>
            <a:ext cx="5256212" cy="1028700"/>
          </a:xfrm>
        </p:spPr>
        <p:txBody>
          <a:bodyPr/>
          <a:lstStyle/>
          <a:p>
            <a:r>
              <a:rPr lang="en-US" dirty="0"/>
              <a:t> k6 Load Testing</a:t>
            </a:r>
          </a:p>
        </p:txBody>
      </p:sp>
      <p:pic>
        <p:nvPicPr>
          <p:cNvPr id="2050" name="Picture 2" descr="4-day Docker and Kubernetes Training – Software Blog">
            <a:extLst>
              <a:ext uri="{FF2B5EF4-FFF2-40B4-BE49-F238E27FC236}">
                <a16:creationId xmlns:a16="http://schemas.microsoft.com/office/drawing/2014/main" id="{35B88B29-7892-D800-4EF8-46A6BC5A8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338" y="304512"/>
            <a:ext cx="1166997" cy="116699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4786020-AC45-EEDB-148D-417C580E11EE}"/>
              </a:ext>
            </a:extLst>
          </p:cNvPr>
          <p:cNvSpPr txBox="1">
            <a:spLocks/>
          </p:cNvSpPr>
          <p:nvPr/>
        </p:nvSpPr>
        <p:spPr>
          <a:xfrm>
            <a:off x="2786628" y="980288"/>
            <a:ext cx="2951330" cy="102980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a:solidFill>
                  <a:schemeClr val="tx1"/>
                </a:solidFill>
                <a:latin typeface="Archia" panose="02000503000000020004" pitchFamily="2" charset="77"/>
                <a:ea typeface="+mj-ea"/>
                <a:cs typeface="+mj-cs"/>
              </a:defRPr>
            </a:lvl1pPr>
          </a:lstStyle>
          <a:p>
            <a:pPr>
              <a:buClrTx/>
              <a:buFontTx/>
            </a:pPr>
            <a:r>
              <a:rPr lang="en-US" sz="3200" dirty="0"/>
              <a:t>By Anish Jain</a:t>
            </a:r>
          </a:p>
        </p:txBody>
      </p:sp>
      <p:pic>
        <p:nvPicPr>
          <p:cNvPr id="5122" name="Picture 2" descr="OpenShift Monitoring with Instana | IBM">
            <a:extLst>
              <a:ext uri="{FF2B5EF4-FFF2-40B4-BE49-F238E27FC236}">
                <a16:creationId xmlns:a16="http://schemas.microsoft.com/office/drawing/2014/main" id="{9A81D826-87DD-E69A-D303-5548D3210F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69" y="241608"/>
            <a:ext cx="2950876" cy="22260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0E5012-10BC-E2C2-0587-B2BAA6ACFC4E}"/>
              </a:ext>
            </a:extLst>
          </p:cNvPr>
          <p:cNvSpPr txBox="1"/>
          <p:nvPr/>
        </p:nvSpPr>
        <p:spPr>
          <a:xfrm>
            <a:off x="172837" y="3153907"/>
            <a:ext cx="3369802" cy="738664"/>
          </a:xfrm>
          <a:prstGeom prst="rect">
            <a:avLst/>
          </a:prstGeom>
          <a:noFill/>
        </p:spPr>
        <p:txBody>
          <a:bodyPr wrap="square">
            <a:spAutoFit/>
          </a:bodyPr>
          <a:lstStyle/>
          <a:p>
            <a:r>
              <a:rPr lang="en-US" dirty="0"/>
              <a:t>k6 is an open-source tool for performance testing APIs, websites, and backend services using JavaScript.</a:t>
            </a:r>
            <a:endParaRPr lang="en-IN" dirty="0"/>
          </a:p>
        </p:txBody>
      </p:sp>
      <p:pic>
        <p:nvPicPr>
          <p:cNvPr id="1030" name="Picture 6" descr="K6 logo - Social media &amp; Logos Icons">
            <a:extLst>
              <a:ext uri="{FF2B5EF4-FFF2-40B4-BE49-F238E27FC236}">
                <a16:creationId xmlns:a16="http://schemas.microsoft.com/office/drawing/2014/main" id="{68B700ED-ADFA-CEB9-AB94-AD6C605F5F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91" y="865634"/>
            <a:ext cx="1316361" cy="1316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827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0" y="274638"/>
            <a:ext cx="7886700" cy="993775"/>
          </a:xfrm>
        </p:spPr>
        <p:txBody>
          <a:bodyPr/>
          <a:lstStyle/>
          <a:p>
            <a:r>
              <a:rPr lang="en-IN" dirty="0"/>
              <a:t>Agenda</a:t>
            </a:r>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a:t>
            </a:fld>
            <a:endParaRPr lang="en-GB"/>
          </a:p>
        </p:txBody>
      </p:sp>
      <p:sp>
        <p:nvSpPr>
          <p:cNvPr id="6" name="TextBox 5">
            <a:extLst>
              <a:ext uri="{FF2B5EF4-FFF2-40B4-BE49-F238E27FC236}">
                <a16:creationId xmlns:a16="http://schemas.microsoft.com/office/drawing/2014/main" id="{21629A80-80B3-E7BC-BB6E-32689695BB6F}"/>
              </a:ext>
            </a:extLst>
          </p:cNvPr>
          <p:cNvSpPr txBox="1"/>
          <p:nvPr/>
        </p:nvSpPr>
        <p:spPr>
          <a:xfrm>
            <a:off x="508819" y="1376760"/>
            <a:ext cx="2804008" cy="3600986"/>
          </a:xfrm>
          <a:prstGeom prst="rect">
            <a:avLst/>
          </a:prstGeom>
          <a:noFill/>
        </p:spPr>
        <p:txBody>
          <a:bodyPr wrap="square">
            <a:spAutoFit/>
          </a:bodyPr>
          <a:lstStyle/>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k6 offerings</a:t>
            </a:r>
          </a:p>
          <a:p>
            <a:pPr marL="285750" indent="-285750">
              <a:buFont typeface="Arial" panose="020B0604020202020204" pitchFamily="34" charset="0"/>
              <a:buChar char="•"/>
            </a:pPr>
            <a:r>
              <a:rPr lang="en-US" sz="1200" dirty="0"/>
              <a:t>xK6 Installation</a:t>
            </a:r>
          </a:p>
          <a:p>
            <a:pPr marL="285750" indent="-285750">
              <a:buFont typeface="Arial" panose="020B0604020202020204" pitchFamily="34" charset="0"/>
              <a:buChar char="•"/>
            </a:pPr>
            <a:r>
              <a:rPr lang="en-US" sz="1200" dirty="0"/>
              <a:t>Myths about load testing</a:t>
            </a:r>
          </a:p>
          <a:p>
            <a:pPr marL="285750" indent="-285750">
              <a:buFont typeface="Arial" panose="020B0604020202020204" pitchFamily="34" charset="0"/>
              <a:buChar char="•"/>
            </a:pPr>
            <a:r>
              <a:rPr lang="en-US" sz="1200" dirty="0"/>
              <a:t>Load Testing Type</a:t>
            </a:r>
          </a:p>
          <a:p>
            <a:pPr marL="285750" indent="-285750">
              <a:buFont typeface="Arial" panose="020B0604020202020204" pitchFamily="34" charset="0"/>
              <a:buChar char="•"/>
            </a:pPr>
            <a:r>
              <a:rPr lang="en-US" sz="1200" dirty="0"/>
              <a:t>Purpose of Load Testing</a:t>
            </a:r>
          </a:p>
          <a:p>
            <a:pPr marL="285750" indent="-285750">
              <a:buFont typeface="Arial" panose="020B0604020202020204" pitchFamily="34" charset="0"/>
              <a:buChar char="•"/>
            </a:pPr>
            <a:r>
              <a:rPr lang="en-US" sz="1200" dirty="0"/>
              <a:t>Introduction to K6</a:t>
            </a:r>
          </a:p>
          <a:p>
            <a:pPr marL="285750" lvl="4" indent="-285750">
              <a:buFont typeface="Arial" panose="020B0604020202020204" pitchFamily="34" charset="0"/>
              <a:buChar char="•"/>
            </a:pPr>
            <a:r>
              <a:rPr lang="en-US" sz="1200" dirty="0"/>
              <a:t>Options In K6</a:t>
            </a:r>
          </a:p>
          <a:p>
            <a:pPr marL="285750" lvl="4" indent="-285750">
              <a:buFont typeface="Arial" panose="020B0604020202020204" pitchFamily="34" charset="0"/>
              <a:buChar char="•"/>
            </a:pPr>
            <a:r>
              <a:rPr lang="en-US" sz="1200" dirty="0"/>
              <a:t>Check</a:t>
            </a:r>
          </a:p>
          <a:p>
            <a:pPr marL="285750" lvl="4" indent="-285750">
              <a:buFont typeface="Arial" panose="020B0604020202020204" pitchFamily="34" charset="0"/>
              <a:buChar char="•"/>
            </a:pPr>
            <a:r>
              <a:rPr lang="en-US" sz="1200" dirty="0"/>
              <a:t>Threshold</a:t>
            </a:r>
          </a:p>
          <a:p>
            <a:pPr marL="285750" lvl="4" indent="-285750">
              <a:buFont typeface="Arial" panose="020B0604020202020204" pitchFamily="34" charset="0"/>
              <a:buChar char="•"/>
            </a:pPr>
            <a:r>
              <a:rPr lang="en-US" sz="1200" dirty="0"/>
              <a:t>Build-in Metrics</a:t>
            </a:r>
          </a:p>
          <a:p>
            <a:pPr marL="285750" lvl="4" indent="-285750">
              <a:buFont typeface="Arial" panose="020B0604020202020204" pitchFamily="34" charset="0"/>
              <a:buChar char="•"/>
            </a:pPr>
            <a:r>
              <a:rPr lang="en-US" sz="1200" dirty="0"/>
              <a:t>Custom Metrics</a:t>
            </a:r>
          </a:p>
          <a:p>
            <a:pPr marL="285750" lvl="4" indent="-285750">
              <a:buFont typeface="Arial" panose="020B0604020202020204" pitchFamily="34" charset="0"/>
              <a:buChar char="•"/>
            </a:pPr>
            <a:r>
              <a:rPr lang="en-US" sz="1200" dirty="0"/>
              <a:t>Test lifecycle</a:t>
            </a:r>
          </a:p>
          <a:p>
            <a:pPr marL="285750" lvl="4" indent="-285750">
              <a:buFont typeface="Arial" panose="020B0604020202020204" pitchFamily="34" charset="0"/>
              <a:buChar char="•"/>
            </a:pPr>
            <a:r>
              <a:rPr lang="en-US" sz="1200" dirty="0"/>
              <a:t>Groups</a:t>
            </a:r>
          </a:p>
          <a:p>
            <a:pPr marL="285750" lvl="4" indent="-285750">
              <a:buFont typeface="Arial" panose="020B0604020202020204" pitchFamily="34" charset="0"/>
              <a:buChar char="•"/>
            </a:pPr>
            <a:r>
              <a:rPr lang="en-US" sz="1200" dirty="0"/>
              <a:t>Demo</a:t>
            </a:r>
          </a:p>
          <a:p>
            <a:pPr marL="285750" lvl="4" indent="-285750">
              <a:buFont typeface="Arial" panose="020B0604020202020204" pitchFamily="34" charset="0"/>
              <a:buChar char="•"/>
            </a:pPr>
            <a:r>
              <a:rPr lang="en-US" sz="1200" dirty="0"/>
              <a:t>k6 Load Test Results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IN" sz="1200" dirty="0"/>
          </a:p>
        </p:txBody>
      </p:sp>
      <p:pic>
        <p:nvPicPr>
          <p:cNvPr id="5122" name="Picture 2" descr="Performance Testing with K6. k6 is an open-source load testing tool… | by  Dilum Pathiraja | Medium">
            <a:extLst>
              <a:ext uri="{FF2B5EF4-FFF2-40B4-BE49-F238E27FC236}">
                <a16:creationId xmlns:a16="http://schemas.microsoft.com/office/drawing/2014/main" id="{21361E8A-14F3-9764-01CE-C0FB282AB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587" y="808496"/>
            <a:ext cx="6228413" cy="3260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607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35FCE-6E0D-352F-C981-89D15F7A5E3B}"/>
              </a:ext>
            </a:extLst>
          </p:cNvPr>
          <p:cNvSpPr>
            <a:spLocks noGrp="1"/>
          </p:cNvSpPr>
          <p:nvPr>
            <p:ph type="title" idx="4294967295"/>
          </p:nvPr>
        </p:nvSpPr>
        <p:spPr>
          <a:xfrm>
            <a:off x="5175250" y="368300"/>
            <a:ext cx="3968750" cy="1220788"/>
          </a:xfrm>
        </p:spPr>
        <p:txBody>
          <a:bodyPr vert="horz" lIns="91440" tIns="45720" rIns="91440" bIns="45720" rtlCol="0" anchor="b">
            <a:normAutofit/>
          </a:bodyPr>
          <a:lstStyle/>
          <a:p>
            <a:r>
              <a:rPr lang="en-US" sz="3000">
                <a:latin typeface="+mj-lt"/>
              </a:rPr>
              <a:t>Myths about load testing</a:t>
            </a:r>
          </a:p>
        </p:txBody>
      </p:sp>
      <p:sp>
        <p:nvSpPr>
          <p:cNvPr id="3" name="Slide Number Placeholder 2">
            <a:extLst>
              <a:ext uri="{FF2B5EF4-FFF2-40B4-BE49-F238E27FC236}">
                <a16:creationId xmlns:a16="http://schemas.microsoft.com/office/drawing/2014/main" id="{6AE51AAE-2B3D-8E7B-ED2C-CAACA71FF44C}"/>
              </a:ext>
            </a:extLst>
          </p:cNvPr>
          <p:cNvSpPr>
            <a:spLocks noGrp="1"/>
          </p:cNvSpPr>
          <p:nvPr>
            <p:ph type="sldNum" idx="4294967295"/>
          </p:nvPr>
        </p:nvSpPr>
        <p:spPr>
          <a:xfrm>
            <a:off x="8535988" y="4632325"/>
            <a:ext cx="608012" cy="274638"/>
          </a:xfrm>
        </p:spPr>
        <p:txBody>
          <a:bodyPr vert="horz" lIns="91440" tIns="45720" rIns="91440" bIns="45720" rtlCol="0" anchor="ctr">
            <a:normAutofit/>
          </a:bodyPr>
          <a:lstStyle/>
          <a:p>
            <a:pPr algn="l">
              <a:spcAft>
                <a:spcPts val="600"/>
              </a:spcAft>
              <a:buClrTx/>
              <a:defRPr/>
            </a:pPr>
            <a:fld id="{00000000-1234-1234-1234-123412341234}" type="slidenum">
              <a:rPr lang="en-US" kern="1200">
                <a:solidFill>
                  <a:srgbClr val="FFFFFF"/>
                </a:solidFill>
                <a:latin typeface="Calibri" panose="020F0502020204030204"/>
                <a:ea typeface="+mn-ea"/>
                <a:cs typeface="+mn-cs"/>
              </a:rPr>
              <a:pPr algn="l">
                <a:spcAft>
                  <a:spcPts val="600"/>
                </a:spcAft>
                <a:buClrTx/>
                <a:defRPr/>
              </a:pPr>
              <a:t>3</a:t>
            </a:fld>
            <a:endParaRPr lang="en-US" kern="1200">
              <a:solidFill>
                <a:srgbClr val="FFFFFF"/>
              </a:solidFill>
              <a:latin typeface="Calibri" panose="020F0502020204030204"/>
              <a:ea typeface="+mn-ea"/>
              <a:cs typeface="+mn-cs"/>
            </a:endParaRPr>
          </a:p>
        </p:txBody>
      </p:sp>
      <p:pic>
        <p:nvPicPr>
          <p:cNvPr id="4098" name="Picture 2" descr="100 Myth and facts ideas | myths, facts, fun facts">
            <a:extLst>
              <a:ext uri="{FF2B5EF4-FFF2-40B4-BE49-F238E27FC236}">
                <a16:creationId xmlns:a16="http://schemas.microsoft.com/office/drawing/2014/main" id="{9E1DAE6A-6D19-071A-D81A-8A11A272C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459"/>
          <a:stretch/>
        </p:blipFill>
        <p:spPr bwMode="auto">
          <a:xfrm>
            <a:off x="1" y="1190"/>
            <a:ext cx="4571999" cy="5142310"/>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ED0E49A-07A7-4E72-4F17-6AF7C50918C4}"/>
              </a:ext>
            </a:extLst>
          </p:cNvPr>
          <p:cNvSpPr txBox="1"/>
          <p:nvPr/>
        </p:nvSpPr>
        <p:spPr>
          <a:xfrm>
            <a:off x="4813300" y="1960959"/>
            <a:ext cx="3968747" cy="2814636"/>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kern="1200">
                <a:solidFill>
                  <a:schemeClr val="tx1"/>
                </a:solidFill>
                <a:latin typeface="+mn-lt"/>
                <a:ea typeface="+mn-ea"/>
                <a:cs typeface="+mn-cs"/>
              </a:rPr>
              <a:t>Performance testing == load testing</a:t>
            </a:r>
          </a:p>
          <a:p>
            <a:pPr marL="285750" indent="-228600">
              <a:lnSpc>
                <a:spcPct val="90000"/>
              </a:lnSpc>
              <a:spcAft>
                <a:spcPts val="600"/>
              </a:spcAft>
              <a:buFont typeface="Arial" panose="020B0604020202020204" pitchFamily="34" charset="0"/>
              <a:buChar char="•"/>
            </a:pPr>
            <a:r>
              <a:rPr lang="en-US" kern="1200">
                <a:solidFill>
                  <a:schemeClr val="tx1"/>
                </a:solidFill>
                <a:latin typeface="+mn-lt"/>
                <a:ea typeface="+mn-ea"/>
                <a:cs typeface="+mn-cs"/>
              </a:rPr>
              <a:t>It is only for large companies</a:t>
            </a:r>
          </a:p>
          <a:p>
            <a:pPr marL="285750" indent="-228600">
              <a:lnSpc>
                <a:spcPct val="90000"/>
              </a:lnSpc>
              <a:spcAft>
                <a:spcPts val="600"/>
              </a:spcAft>
              <a:buFont typeface="Arial" panose="020B0604020202020204" pitchFamily="34" charset="0"/>
              <a:buChar char="•"/>
            </a:pPr>
            <a:r>
              <a:rPr lang="en-US" kern="1200">
                <a:solidFill>
                  <a:schemeClr val="tx1"/>
                </a:solidFill>
                <a:latin typeface="+mn-lt"/>
                <a:ea typeface="+mn-ea"/>
                <a:cs typeface="+mn-cs"/>
              </a:rPr>
              <a:t>Is expensive to do</a:t>
            </a:r>
          </a:p>
          <a:p>
            <a:pPr marL="285750" indent="-228600">
              <a:lnSpc>
                <a:spcPct val="90000"/>
              </a:lnSpc>
              <a:spcAft>
                <a:spcPts val="600"/>
              </a:spcAft>
              <a:buFont typeface="Arial" panose="020B0604020202020204" pitchFamily="34" charset="0"/>
              <a:buChar char="•"/>
            </a:pPr>
            <a:r>
              <a:rPr lang="en-US" kern="1200">
                <a:solidFill>
                  <a:schemeClr val="tx1"/>
                </a:solidFill>
                <a:latin typeface="+mn-lt"/>
                <a:ea typeface="+mn-ea"/>
                <a:cs typeface="+mn-cs"/>
              </a:rPr>
              <a:t>Should only be in production</a:t>
            </a:r>
          </a:p>
          <a:p>
            <a:pPr marL="285750" indent="-228600">
              <a:lnSpc>
                <a:spcPct val="90000"/>
              </a:lnSpc>
              <a:spcAft>
                <a:spcPts val="600"/>
              </a:spcAft>
              <a:buFont typeface="Arial" panose="020B0604020202020204" pitchFamily="34" charset="0"/>
              <a:buChar char="•"/>
            </a:pPr>
            <a:r>
              <a:rPr lang="en-US" kern="1200">
                <a:solidFill>
                  <a:schemeClr val="tx1"/>
                </a:solidFill>
                <a:latin typeface="+mn-lt"/>
                <a:ea typeface="+mn-ea"/>
                <a:cs typeface="+mn-cs"/>
              </a:rPr>
              <a:t>Unnecessary if you have Observability</a:t>
            </a:r>
          </a:p>
        </p:txBody>
      </p:sp>
    </p:spTree>
    <p:extLst>
      <p:ext uri="{BB962C8B-B14F-4D97-AF65-F5344CB8AC3E}">
        <p14:creationId xmlns:p14="http://schemas.microsoft.com/office/powerpoint/2010/main" val="1141409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38960-53CF-99CA-5519-7642D9E1EC63}"/>
              </a:ext>
            </a:extLst>
          </p:cNvPr>
          <p:cNvSpPr>
            <a:spLocks noGrp="1"/>
          </p:cNvSpPr>
          <p:nvPr>
            <p:ph type="title" idx="4294967295"/>
          </p:nvPr>
        </p:nvSpPr>
        <p:spPr>
          <a:xfrm>
            <a:off x="0" y="274638"/>
            <a:ext cx="7886700" cy="993775"/>
          </a:xfrm>
        </p:spPr>
        <p:txBody>
          <a:bodyPr/>
          <a:lstStyle/>
          <a:p>
            <a:r>
              <a:rPr lang="en-IN" dirty="0"/>
              <a:t>Introduction to K6</a:t>
            </a:r>
          </a:p>
        </p:txBody>
      </p:sp>
      <p:sp>
        <p:nvSpPr>
          <p:cNvPr id="3" name="Slide Number Placeholder 2">
            <a:extLst>
              <a:ext uri="{FF2B5EF4-FFF2-40B4-BE49-F238E27FC236}">
                <a16:creationId xmlns:a16="http://schemas.microsoft.com/office/drawing/2014/main" id="{10F2FD04-50FF-4BBF-8BF2-F961A949D92D}"/>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a:t>
            </a:fld>
            <a:endParaRPr lang="en-GB"/>
          </a:p>
        </p:txBody>
      </p:sp>
      <p:sp>
        <p:nvSpPr>
          <p:cNvPr id="7" name="TextBox 6">
            <a:extLst>
              <a:ext uri="{FF2B5EF4-FFF2-40B4-BE49-F238E27FC236}">
                <a16:creationId xmlns:a16="http://schemas.microsoft.com/office/drawing/2014/main" id="{7B9CECD5-3510-CB54-2507-3E5232FDD741}"/>
              </a:ext>
            </a:extLst>
          </p:cNvPr>
          <p:cNvSpPr txBox="1"/>
          <p:nvPr/>
        </p:nvSpPr>
        <p:spPr>
          <a:xfrm>
            <a:off x="577120" y="1406286"/>
            <a:ext cx="8117175" cy="2462213"/>
          </a:xfrm>
          <a:prstGeom prst="rect">
            <a:avLst/>
          </a:prstGeom>
          <a:noFill/>
        </p:spPr>
        <p:txBody>
          <a:bodyPr wrap="square">
            <a:spAutoFit/>
          </a:bodyPr>
          <a:lstStyle/>
          <a:p>
            <a:pPr marL="285750" indent="-285750">
              <a:buFont typeface="Arial" panose="020B0604020202020204" pitchFamily="34" charset="0"/>
              <a:buChar char="•"/>
            </a:pPr>
            <a:r>
              <a:rPr lang="en-IN" dirty="0"/>
              <a:t>k6 is an open-source load testing tool for testing the performance of APIs, microservices, and websites.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Load Testing is primarily concerned with assessing the current performance of your system in terms of concurrent users or requests per second.</a:t>
            </a:r>
          </a:p>
          <a:p>
            <a:endParaRPr lang="en-IN" dirty="0"/>
          </a:p>
          <a:p>
            <a:pPr marL="285750" indent="-285750">
              <a:buFont typeface="Arial" panose="020B0604020202020204" pitchFamily="34" charset="0"/>
              <a:buChar char="•"/>
            </a:pPr>
            <a:r>
              <a:rPr lang="en-IN" dirty="0"/>
              <a:t>This tool is scriptable and support the </a:t>
            </a:r>
            <a:r>
              <a:rPr lang="en-IN" dirty="0" err="1"/>
              <a:t>Javascript</a:t>
            </a:r>
            <a:r>
              <a:rPr lang="en-IN" dirty="0"/>
              <a:t> language.</a:t>
            </a:r>
          </a:p>
          <a:p>
            <a:endParaRPr lang="en-IN" dirty="0"/>
          </a:p>
          <a:p>
            <a:pPr marL="285750" indent="-285750">
              <a:buFont typeface="Arial" panose="020B0604020202020204" pitchFamily="34" charset="0"/>
              <a:buChar char="•"/>
            </a:pPr>
            <a:r>
              <a:rPr lang="en-IN" dirty="0"/>
              <a:t>k6 was initially released on GitHub in 2017 by Load Impact as an open-source.</a:t>
            </a:r>
          </a:p>
          <a:p>
            <a:endParaRPr lang="en-IN" dirty="0"/>
          </a:p>
          <a:p>
            <a:pPr marL="285750" indent="-285750">
              <a:buFont typeface="Arial" panose="020B0604020202020204" pitchFamily="34" charset="0"/>
              <a:buChar char="•"/>
            </a:pPr>
            <a:r>
              <a:rPr lang="en-IN" dirty="0"/>
              <a:t>It’s written in Go Language.</a:t>
            </a:r>
          </a:p>
        </p:txBody>
      </p:sp>
    </p:spTree>
    <p:extLst>
      <p:ext uri="{BB962C8B-B14F-4D97-AF65-F5344CB8AC3E}">
        <p14:creationId xmlns:p14="http://schemas.microsoft.com/office/powerpoint/2010/main" val="3136152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37796-7B18-516D-3501-92737C9DB25F}"/>
              </a:ext>
            </a:extLst>
          </p:cNvPr>
          <p:cNvSpPr>
            <a:spLocks noGrp="1"/>
          </p:cNvSpPr>
          <p:nvPr>
            <p:ph type="title" idx="4294967295"/>
          </p:nvPr>
        </p:nvSpPr>
        <p:spPr>
          <a:xfrm>
            <a:off x="0" y="-23813"/>
            <a:ext cx="7886700" cy="993776"/>
          </a:xfrm>
        </p:spPr>
        <p:txBody>
          <a:bodyPr/>
          <a:lstStyle/>
          <a:p>
            <a:r>
              <a:rPr lang="en-IN" dirty="0"/>
              <a:t>k6 offerings</a:t>
            </a:r>
          </a:p>
        </p:txBody>
      </p:sp>
      <p:sp>
        <p:nvSpPr>
          <p:cNvPr id="3" name="Slide Number Placeholder 2">
            <a:extLst>
              <a:ext uri="{FF2B5EF4-FFF2-40B4-BE49-F238E27FC236}">
                <a16:creationId xmlns:a16="http://schemas.microsoft.com/office/drawing/2014/main" id="{0DAAB659-88CA-6F39-6350-129265ACEE44}"/>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a:t>
            </a:fld>
            <a:endParaRPr lang="en-GB"/>
          </a:p>
        </p:txBody>
      </p:sp>
      <p:sp>
        <p:nvSpPr>
          <p:cNvPr id="5" name="TextBox 4">
            <a:extLst>
              <a:ext uri="{FF2B5EF4-FFF2-40B4-BE49-F238E27FC236}">
                <a16:creationId xmlns:a16="http://schemas.microsoft.com/office/drawing/2014/main" id="{ECCED770-F099-4492-4178-3FBA4BF8D1B8}"/>
              </a:ext>
            </a:extLst>
          </p:cNvPr>
          <p:cNvSpPr txBox="1"/>
          <p:nvPr/>
        </p:nvSpPr>
        <p:spPr>
          <a:xfrm>
            <a:off x="375076" y="977852"/>
            <a:ext cx="3020195" cy="3539430"/>
          </a:xfrm>
          <a:prstGeom prst="rect">
            <a:avLst/>
          </a:prstGeom>
          <a:noFill/>
        </p:spPr>
        <p:txBody>
          <a:bodyPr wrap="square">
            <a:spAutoFit/>
          </a:bodyPr>
          <a:lstStyle/>
          <a:p>
            <a:r>
              <a:rPr lang="en-IN" b="1" dirty="0"/>
              <a:t>k6 Open Source</a:t>
            </a:r>
          </a:p>
          <a:p>
            <a:endParaRPr lang="en-IN" b="1" dirty="0"/>
          </a:p>
          <a:p>
            <a:r>
              <a:rPr lang="en-IN" b="1" i="1" dirty="0"/>
              <a:t>Features</a:t>
            </a:r>
            <a:r>
              <a:rPr lang="en-IN" dirty="0"/>
              <a:t>:</a:t>
            </a:r>
          </a:p>
          <a:p>
            <a:endParaRPr lang="en-IN" b="1" dirty="0"/>
          </a:p>
          <a:p>
            <a:pPr marL="285750" indent="-285750">
              <a:buFont typeface="Arial" panose="020B0604020202020204" pitchFamily="34" charset="0"/>
              <a:buChar char="•"/>
            </a:pPr>
            <a:r>
              <a:rPr lang="en-IN" b="1" dirty="0"/>
              <a:t>Scripting:</a:t>
            </a:r>
            <a:r>
              <a:rPr lang="en-IN" dirty="0"/>
              <a:t> Write tests in JavaScript.</a:t>
            </a:r>
          </a:p>
          <a:p>
            <a:endParaRPr lang="en-IN" dirty="0"/>
          </a:p>
          <a:p>
            <a:pPr marL="285750" indent="-285750">
              <a:buFont typeface="Arial" panose="020B0604020202020204" pitchFamily="34" charset="0"/>
              <a:buChar char="•"/>
            </a:pPr>
            <a:r>
              <a:rPr lang="en-IN" b="1" dirty="0"/>
              <a:t>Local Execution:</a:t>
            </a:r>
            <a:r>
              <a:rPr lang="en-IN" dirty="0"/>
              <a:t> Run tests locally on your machine.</a:t>
            </a:r>
          </a:p>
          <a:p>
            <a:endParaRPr lang="en-IN" b="1" dirty="0"/>
          </a:p>
          <a:p>
            <a:pPr marL="285750" indent="-285750">
              <a:buFont typeface="Arial" panose="020B0604020202020204" pitchFamily="34" charset="0"/>
              <a:buChar char="•"/>
            </a:pPr>
            <a:r>
              <a:rPr lang="en-IN" b="1" dirty="0"/>
              <a:t>Integrations:</a:t>
            </a:r>
            <a:r>
              <a:rPr lang="en-IN" dirty="0"/>
              <a:t> Integrate with CI/CD pipelines.</a:t>
            </a:r>
          </a:p>
          <a:p>
            <a:endParaRPr lang="en-IN" b="1" dirty="0"/>
          </a:p>
          <a:p>
            <a:pPr marL="285750" indent="-285750">
              <a:buFont typeface="Arial" panose="020B0604020202020204" pitchFamily="34" charset="0"/>
              <a:buChar char="•"/>
            </a:pPr>
            <a:r>
              <a:rPr lang="en-IN" b="1" dirty="0"/>
              <a:t>Visualization:</a:t>
            </a:r>
            <a:r>
              <a:rPr lang="en-IN" dirty="0"/>
              <a:t> Basic result visualization in the terminal.</a:t>
            </a:r>
          </a:p>
          <a:p>
            <a:endParaRPr lang="en-IN" dirty="0"/>
          </a:p>
        </p:txBody>
      </p:sp>
      <p:sp>
        <p:nvSpPr>
          <p:cNvPr id="7" name="TextBox 6">
            <a:extLst>
              <a:ext uri="{FF2B5EF4-FFF2-40B4-BE49-F238E27FC236}">
                <a16:creationId xmlns:a16="http://schemas.microsoft.com/office/drawing/2014/main" id="{BB1E19D8-427B-2B64-ED07-668321B13213}"/>
              </a:ext>
            </a:extLst>
          </p:cNvPr>
          <p:cNvSpPr txBox="1"/>
          <p:nvPr/>
        </p:nvSpPr>
        <p:spPr>
          <a:xfrm>
            <a:off x="3395271" y="969476"/>
            <a:ext cx="5835836" cy="4185761"/>
          </a:xfrm>
          <a:prstGeom prst="rect">
            <a:avLst/>
          </a:prstGeom>
          <a:noFill/>
        </p:spPr>
        <p:txBody>
          <a:bodyPr wrap="square">
            <a:spAutoFit/>
          </a:bodyPr>
          <a:lstStyle/>
          <a:p>
            <a:r>
              <a:rPr lang="en-IN" b="1" dirty="0"/>
              <a:t>k6 Cloud</a:t>
            </a:r>
          </a:p>
          <a:p>
            <a:endParaRPr lang="en-IN" b="1" dirty="0"/>
          </a:p>
          <a:p>
            <a:r>
              <a:rPr lang="en-IN" b="1" i="1" dirty="0"/>
              <a:t>Features</a:t>
            </a:r>
            <a:r>
              <a:rPr lang="en-IN" b="1" dirty="0"/>
              <a:t>:</a:t>
            </a:r>
          </a:p>
          <a:p>
            <a:endParaRPr lang="en-IN" b="1" dirty="0"/>
          </a:p>
          <a:p>
            <a:r>
              <a:rPr lang="en-IN" b="1" dirty="0"/>
              <a:t>Distributed Testing:</a:t>
            </a:r>
            <a:r>
              <a:rPr lang="en-IN" dirty="0"/>
              <a:t> Run tests from multiple cloud locations.</a:t>
            </a:r>
          </a:p>
          <a:p>
            <a:endParaRPr lang="en-IN" b="1" dirty="0"/>
          </a:p>
          <a:p>
            <a:r>
              <a:rPr lang="en-IN" b="1" dirty="0"/>
              <a:t>Scalability:</a:t>
            </a:r>
            <a:r>
              <a:rPr lang="en-IN" dirty="0"/>
              <a:t> Easily scale tests to thousands of virtual users.</a:t>
            </a:r>
          </a:p>
          <a:p>
            <a:endParaRPr lang="en-IN" dirty="0"/>
          </a:p>
          <a:p>
            <a:r>
              <a:rPr lang="en-IN" b="1" dirty="0"/>
              <a:t>Test Builder:</a:t>
            </a:r>
            <a:r>
              <a:rPr lang="en-IN" dirty="0"/>
              <a:t> Create tests using a graphical interface.</a:t>
            </a:r>
          </a:p>
          <a:p>
            <a:endParaRPr lang="en-IN" dirty="0"/>
          </a:p>
          <a:p>
            <a:r>
              <a:rPr lang="en-IN" b="1" dirty="0"/>
              <a:t>Result Storage:</a:t>
            </a:r>
            <a:r>
              <a:rPr lang="en-IN" dirty="0"/>
              <a:t> Store and analyse test results in the cloud.</a:t>
            </a:r>
          </a:p>
          <a:p>
            <a:endParaRPr lang="en-IN" b="1" dirty="0"/>
          </a:p>
          <a:p>
            <a:r>
              <a:rPr lang="en-IN" b="1" dirty="0"/>
              <a:t>Dashboards:</a:t>
            </a:r>
            <a:r>
              <a:rPr lang="en-IN" dirty="0"/>
              <a:t> Rich, interactive dashboards for visualizing results.</a:t>
            </a:r>
          </a:p>
          <a:p>
            <a:endParaRPr lang="en-IN" b="1" dirty="0"/>
          </a:p>
          <a:p>
            <a:r>
              <a:rPr lang="en-IN" b="1" dirty="0"/>
              <a:t>Collaboration:</a:t>
            </a:r>
            <a:r>
              <a:rPr lang="en-IN" dirty="0"/>
              <a:t> Share test results and collaborate with team members.</a:t>
            </a:r>
          </a:p>
          <a:p>
            <a:endParaRPr lang="en-IN" b="1" dirty="0"/>
          </a:p>
          <a:p>
            <a:r>
              <a:rPr lang="en-IN" b="1" dirty="0"/>
              <a:t>Integrations:</a:t>
            </a:r>
            <a:r>
              <a:rPr lang="en-IN" dirty="0"/>
              <a:t> Seamless integration with Grafana and other tools.</a:t>
            </a:r>
          </a:p>
          <a:p>
            <a:endParaRPr lang="en-IN" dirty="0"/>
          </a:p>
          <a:p>
            <a:r>
              <a:rPr lang="en-IN" b="1" dirty="0"/>
              <a:t>Support:</a:t>
            </a:r>
            <a:r>
              <a:rPr lang="en-IN" dirty="0"/>
              <a:t> Premium support and enterprise-grade security.</a:t>
            </a:r>
          </a:p>
        </p:txBody>
      </p:sp>
    </p:spTree>
    <p:extLst>
      <p:ext uri="{BB962C8B-B14F-4D97-AF65-F5344CB8AC3E}">
        <p14:creationId xmlns:p14="http://schemas.microsoft.com/office/powerpoint/2010/main" val="105015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BC640-733B-7032-AF72-375D74B0CE40}"/>
              </a:ext>
            </a:extLst>
          </p:cNvPr>
          <p:cNvSpPr>
            <a:spLocks noGrp="1"/>
          </p:cNvSpPr>
          <p:nvPr>
            <p:ph type="title" idx="4294967295"/>
          </p:nvPr>
        </p:nvSpPr>
        <p:spPr>
          <a:xfrm>
            <a:off x="0" y="-69850"/>
            <a:ext cx="7886700" cy="993775"/>
          </a:xfrm>
        </p:spPr>
        <p:txBody>
          <a:bodyPr/>
          <a:lstStyle/>
          <a:p>
            <a:r>
              <a:rPr lang="en-IN" dirty="0"/>
              <a:t>xK6 Installation</a:t>
            </a:r>
          </a:p>
        </p:txBody>
      </p:sp>
      <p:sp>
        <p:nvSpPr>
          <p:cNvPr id="3" name="Slide Number Placeholder 2">
            <a:extLst>
              <a:ext uri="{FF2B5EF4-FFF2-40B4-BE49-F238E27FC236}">
                <a16:creationId xmlns:a16="http://schemas.microsoft.com/office/drawing/2014/main" id="{64E16796-33B6-BCCB-3107-25D216237EF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a:t>
            </a:fld>
            <a:endParaRPr lang="en-GB"/>
          </a:p>
        </p:txBody>
      </p:sp>
      <p:sp>
        <p:nvSpPr>
          <p:cNvPr id="6" name="TextBox 5">
            <a:extLst>
              <a:ext uri="{FF2B5EF4-FFF2-40B4-BE49-F238E27FC236}">
                <a16:creationId xmlns:a16="http://schemas.microsoft.com/office/drawing/2014/main" id="{F0DB80B5-4FA4-77B8-466F-19D95B0F6FFC}"/>
              </a:ext>
            </a:extLst>
          </p:cNvPr>
          <p:cNvSpPr txBox="1"/>
          <p:nvPr/>
        </p:nvSpPr>
        <p:spPr>
          <a:xfrm>
            <a:off x="1034321" y="757684"/>
            <a:ext cx="8109679" cy="4524315"/>
          </a:xfrm>
          <a:prstGeom prst="rect">
            <a:avLst/>
          </a:prstGeom>
          <a:noFill/>
        </p:spPr>
        <p:txBody>
          <a:bodyPr wrap="square">
            <a:spAutoFit/>
          </a:bodyPr>
          <a:lstStyle/>
          <a:p>
            <a:r>
              <a:rPr lang="en-IN" sz="900" b="1" dirty="0"/>
              <a:t>Step 1: Install Go</a:t>
            </a:r>
          </a:p>
          <a:p>
            <a:r>
              <a:rPr lang="en-IN" sz="900" dirty="0"/>
              <a:t>1. Download and Install Go: Visit the [Go official website](https://golang.org/dl/) and download the installer for Windows. Follow the installation instructions.</a:t>
            </a:r>
          </a:p>
          <a:p>
            <a:endParaRPr lang="en-IN" sz="900" dirty="0"/>
          </a:p>
          <a:p>
            <a:r>
              <a:rPr lang="en-IN" sz="900" b="1" dirty="0"/>
              <a:t>Step 2: Set Up Your Environment</a:t>
            </a:r>
          </a:p>
          <a:p>
            <a:r>
              <a:rPr lang="en-IN" sz="900" dirty="0"/>
              <a:t>1. Set GOPATH: Ensure your `GOPATH` environment variable is set. You can do this by adding the following to your system environment variables:</a:t>
            </a:r>
          </a:p>
          <a:p>
            <a:r>
              <a:rPr lang="en-IN" sz="900" dirty="0"/>
              <a:t>   ```</a:t>
            </a:r>
            <a:r>
              <a:rPr lang="en-IN" sz="900" dirty="0" err="1"/>
              <a:t>powershell</a:t>
            </a:r>
            <a:endParaRPr lang="en-IN" sz="900" dirty="0"/>
          </a:p>
          <a:p>
            <a:r>
              <a:rPr lang="en-IN" sz="900" dirty="0"/>
              <a:t>   </a:t>
            </a:r>
            <a:r>
              <a:rPr lang="en-IN" sz="900" dirty="0" err="1"/>
              <a:t>setx</a:t>
            </a:r>
            <a:r>
              <a:rPr lang="en-IN" sz="900" dirty="0"/>
              <a:t> GOPATH "C:\Users\YourUsername\go"</a:t>
            </a:r>
          </a:p>
          <a:p>
            <a:r>
              <a:rPr lang="en-IN" sz="900" dirty="0"/>
              <a:t>   ```</a:t>
            </a:r>
          </a:p>
          <a:p>
            <a:r>
              <a:rPr lang="en-IN" sz="900" dirty="0"/>
              <a:t>   Replace `</a:t>
            </a:r>
            <a:r>
              <a:rPr lang="en-IN" sz="900" dirty="0" err="1"/>
              <a:t>YourUsername</a:t>
            </a:r>
            <a:r>
              <a:rPr lang="en-IN" sz="900" dirty="0"/>
              <a:t>` with your actual username.</a:t>
            </a:r>
          </a:p>
          <a:p>
            <a:endParaRPr lang="en-IN" sz="900" dirty="0"/>
          </a:p>
          <a:p>
            <a:r>
              <a:rPr lang="en-IN" sz="900" b="1" dirty="0"/>
              <a:t>Step 3: Install xk6</a:t>
            </a:r>
          </a:p>
          <a:p>
            <a:r>
              <a:rPr lang="en-IN" sz="900" dirty="0"/>
              <a:t>1. Open PowerShell: Run PowerShell as an administrator.</a:t>
            </a:r>
          </a:p>
          <a:p>
            <a:r>
              <a:rPr lang="en-IN" sz="900" dirty="0"/>
              <a:t>2. Install xk6:</a:t>
            </a:r>
          </a:p>
          <a:p>
            <a:r>
              <a:rPr lang="en-IN" sz="900" dirty="0"/>
              <a:t>   ```</a:t>
            </a:r>
            <a:r>
              <a:rPr lang="en-IN" sz="900" dirty="0" err="1"/>
              <a:t>powershell</a:t>
            </a:r>
            <a:endParaRPr lang="en-IN" sz="900" dirty="0"/>
          </a:p>
          <a:p>
            <a:r>
              <a:rPr lang="en-IN" sz="900" dirty="0"/>
              <a:t>   go install go.k6.io/xk6/</a:t>
            </a:r>
            <a:r>
              <a:rPr lang="en-IN" sz="900" dirty="0" err="1"/>
              <a:t>cmd</a:t>
            </a:r>
            <a:r>
              <a:rPr lang="en-IN" sz="900" dirty="0"/>
              <a:t>/xk6@latest</a:t>
            </a:r>
          </a:p>
          <a:p>
            <a:r>
              <a:rPr lang="en-IN" sz="900" dirty="0"/>
              <a:t>   ```</a:t>
            </a:r>
          </a:p>
          <a:p>
            <a:endParaRPr lang="en-IN" sz="900" dirty="0"/>
          </a:p>
          <a:p>
            <a:r>
              <a:rPr lang="en-IN" sz="900" b="1" dirty="0"/>
              <a:t>Step 4: Build k6 with Visualization Extensions</a:t>
            </a:r>
          </a:p>
          <a:p>
            <a:r>
              <a:rPr lang="en-IN" sz="900" dirty="0"/>
              <a:t>1. Build k6 with Extensions: Use the following command to build k6 with the desired visualization extensions:</a:t>
            </a:r>
          </a:p>
          <a:p>
            <a:r>
              <a:rPr lang="en-IN" sz="900" dirty="0"/>
              <a:t>   ```</a:t>
            </a:r>
            <a:r>
              <a:rPr lang="en-IN" sz="900" dirty="0" err="1"/>
              <a:t>powershell</a:t>
            </a:r>
            <a:endParaRPr lang="en-IN" sz="900" dirty="0"/>
          </a:p>
          <a:p>
            <a:r>
              <a:rPr lang="en-IN" sz="900" dirty="0"/>
              <a:t>   xk6 build --with github.com/</a:t>
            </a:r>
            <a:r>
              <a:rPr lang="en-IN" sz="900" dirty="0" err="1"/>
              <a:t>grafana</a:t>
            </a:r>
            <a:r>
              <a:rPr lang="en-IN" sz="900" dirty="0"/>
              <a:t>/xk6-dashboard@latest</a:t>
            </a:r>
          </a:p>
          <a:p>
            <a:r>
              <a:rPr lang="en-IN" sz="900" dirty="0"/>
              <a:t>   ```</a:t>
            </a:r>
          </a:p>
          <a:p>
            <a:r>
              <a:rPr lang="en-IN" sz="900" dirty="0"/>
              <a:t>   This will create a `k6.exe` file in your current directory with the specified extensions.</a:t>
            </a:r>
          </a:p>
          <a:p>
            <a:endParaRPr lang="en-IN" sz="900" dirty="0"/>
          </a:p>
          <a:p>
            <a:r>
              <a:rPr lang="en-IN" sz="900" b="1" dirty="0"/>
              <a:t>Step 5: Verify Installation</a:t>
            </a:r>
          </a:p>
          <a:p>
            <a:r>
              <a:rPr lang="en-IN" sz="900" dirty="0"/>
              <a:t>1. Check the Directory: Ensure that `k6.exe` is present in your current directory.</a:t>
            </a:r>
          </a:p>
          <a:p>
            <a:r>
              <a:rPr lang="en-IN" sz="900" dirty="0"/>
              <a:t>2. Run k6: Open a new PowerShell window and run:</a:t>
            </a:r>
          </a:p>
          <a:p>
            <a:r>
              <a:rPr lang="en-IN" sz="900" dirty="0"/>
              <a:t>   ```</a:t>
            </a:r>
            <a:r>
              <a:rPr lang="en-IN" sz="900" dirty="0" err="1"/>
              <a:t>powershell</a:t>
            </a:r>
            <a:endParaRPr lang="en-IN" sz="900" dirty="0"/>
          </a:p>
          <a:p>
            <a:r>
              <a:rPr lang="en-IN" sz="900" dirty="0"/>
              <a:t>   .\k6.exe version</a:t>
            </a:r>
          </a:p>
          <a:p>
            <a:r>
              <a:rPr lang="en-IN" sz="900" dirty="0"/>
              <a:t>   ```</a:t>
            </a:r>
          </a:p>
          <a:p>
            <a:r>
              <a:rPr lang="en-IN" sz="900" dirty="0"/>
              <a:t>   This should display the version of k6, confirming the installation.</a:t>
            </a:r>
          </a:p>
          <a:p>
            <a:r>
              <a:rPr lang="en-IN" sz="900" dirty="0"/>
              <a:t>./k6.exe run --out web-dashboard=port=5666 '.\</a:t>
            </a:r>
            <a:r>
              <a:rPr lang="en-IN" sz="900" dirty="0" err="1"/>
              <a:t>exporttokafka</a:t>
            </a:r>
            <a:r>
              <a:rPr lang="en-IN" sz="900"/>
              <a:t> copy.js'</a:t>
            </a:r>
            <a:endParaRPr lang="en-IN" sz="900" dirty="0"/>
          </a:p>
        </p:txBody>
      </p:sp>
    </p:spTree>
    <p:extLst>
      <p:ext uri="{BB962C8B-B14F-4D97-AF65-F5344CB8AC3E}">
        <p14:creationId xmlns:p14="http://schemas.microsoft.com/office/powerpoint/2010/main" val="410935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AD10F-A6F1-BF01-3015-20845EE57B95}"/>
              </a:ext>
            </a:extLst>
          </p:cNvPr>
          <p:cNvSpPr>
            <a:spLocks noGrp="1"/>
          </p:cNvSpPr>
          <p:nvPr>
            <p:ph type="title" idx="4294967295"/>
          </p:nvPr>
        </p:nvSpPr>
        <p:spPr>
          <a:xfrm>
            <a:off x="0" y="274638"/>
            <a:ext cx="7886700" cy="993775"/>
          </a:xfrm>
        </p:spPr>
        <p:txBody>
          <a:bodyPr/>
          <a:lstStyle/>
          <a:p>
            <a:r>
              <a:rPr lang="en-IN" dirty="0"/>
              <a:t>K6 Build Upon</a:t>
            </a:r>
          </a:p>
        </p:txBody>
      </p:sp>
      <p:sp>
        <p:nvSpPr>
          <p:cNvPr id="3" name="Slide Number Placeholder 2">
            <a:extLst>
              <a:ext uri="{FF2B5EF4-FFF2-40B4-BE49-F238E27FC236}">
                <a16:creationId xmlns:a16="http://schemas.microsoft.com/office/drawing/2014/main" id="{4268F573-2663-3F5D-FF34-7AAF5588F39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7</a:t>
            </a:fld>
            <a:endParaRPr lang="en-GB"/>
          </a:p>
        </p:txBody>
      </p:sp>
      <p:pic>
        <p:nvPicPr>
          <p:cNvPr id="5" name="Picture 4">
            <a:extLst>
              <a:ext uri="{FF2B5EF4-FFF2-40B4-BE49-F238E27FC236}">
                <a16:creationId xmlns:a16="http://schemas.microsoft.com/office/drawing/2014/main" id="{885F3CC9-74CC-9747-9224-146993C3ABCE}"/>
              </a:ext>
            </a:extLst>
          </p:cNvPr>
          <p:cNvPicPr>
            <a:picLocks noChangeAspect="1"/>
          </p:cNvPicPr>
          <p:nvPr/>
        </p:nvPicPr>
        <p:blipFill>
          <a:blip r:embed="rId2"/>
          <a:stretch>
            <a:fillRect/>
          </a:stretch>
        </p:blipFill>
        <p:spPr>
          <a:xfrm>
            <a:off x="1633014" y="1495482"/>
            <a:ext cx="5760844" cy="2791703"/>
          </a:xfrm>
          <a:prstGeom prst="rect">
            <a:avLst/>
          </a:prstGeom>
        </p:spPr>
      </p:pic>
    </p:spTree>
    <p:extLst>
      <p:ext uri="{BB962C8B-B14F-4D97-AF65-F5344CB8AC3E}">
        <p14:creationId xmlns:p14="http://schemas.microsoft.com/office/powerpoint/2010/main" val="415087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1E23-4953-8C4B-93AF-6A2E8AF6D6E3}"/>
              </a:ext>
            </a:extLst>
          </p:cNvPr>
          <p:cNvSpPr>
            <a:spLocks noGrp="1"/>
          </p:cNvSpPr>
          <p:nvPr>
            <p:ph type="title" idx="4294967295"/>
          </p:nvPr>
        </p:nvSpPr>
        <p:spPr>
          <a:xfrm>
            <a:off x="0" y="-220663"/>
            <a:ext cx="7886700" cy="993776"/>
          </a:xfrm>
        </p:spPr>
        <p:txBody>
          <a:bodyPr/>
          <a:lstStyle/>
          <a:p>
            <a:r>
              <a:rPr lang="en-IN" dirty="0"/>
              <a:t>K6 vs </a:t>
            </a:r>
            <a:r>
              <a:rPr lang="en-IN" dirty="0" err="1"/>
              <a:t>Jmeter</a:t>
            </a:r>
            <a:endParaRPr lang="en-IN" dirty="0"/>
          </a:p>
        </p:txBody>
      </p:sp>
      <p:sp>
        <p:nvSpPr>
          <p:cNvPr id="3" name="Slide Number Placeholder 2">
            <a:extLst>
              <a:ext uri="{FF2B5EF4-FFF2-40B4-BE49-F238E27FC236}">
                <a16:creationId xmlns:a16="http://schemas.microsoft.com/office/drawing/2014/main" id="{4260D30F-88C5-2B8F-4D11-B1CBF3531EC0}"/>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8</a:t>
            </a:fld>
            <a:endParaRPr lang="en-GB"/>
          </a:p>
        </p:txBody>
      </p:sp>
      <p:graphicFrame>
        <p:nvGraphicFramePr>
          <p:cNvPr id="4" name="Table 3">
            <a:extLst>
              <a:ext uri="{FF2B5EF4-FFF2-40B4-BE49-F238E27FC236}">
                <a16:creationId xmlns:a16="http://schemas.microsoft.com/office/drawing/2014/main" id="{7CD4DB62-8FDF-D07C-8963-1D2F5A1207C5}"/>
              </a:ext>
            </a:extLst>
          </p:cNvPr>
          <p:cNvGraphicFramePr>
            <a:graphicFrameLocks noGrp="1"/>
          </p:cNvGraphicFramePr>
          <p:nvPr>
            <p:extLst>
              <p:ext uri="{D42A27DB-BD31-4B8C-83A1-F6EECF244321}">
                <p14:modId xmlns:p14="http://schemas.microsoft.com/office/powerpoint/2010/main" val="3923545911"/>
              </p:ext>
            </p:extLst>
          </p:nvPr>
        </p:nvGraphicFramePr>
        <p:xfrm>
          <a:off x="206554" y="564456"/>
          <a:ext cx="5491936" cy="3990773"/>
        </p:xfrm>
        <a:graphic>
          <a:graphicData uri="http://schemas.openxmlformats.org/drawingml/2006/table">
            <a:tbl>
              <a:tblPr/>
              <a:tblGrid>
                <a:gridCol w="1248167">
                  <a:extLst>
                    <a:ext uri="{9D8B030D-6E8A-4147-A177-3AD203B41FA5}">
                      <a16:colId xmlns:a16="http://schemas.microsoft.com/office/drawing/2014/main" val="2289482652"/>
                    </a:ext>
                  </a:extLst>
                </a:gridCol>
                <a:gridCol w="1661189">
                  <a:extLst>
                    <a:ext uri="{9D8B030D-6E8A-4147-A177-3AD203B41FA5}">
                      <a16:colId xmlns:a16="http://schemas.microsoft.com/office/drawing/2014/main" val="4184435350"/>
                    </a:ext>
                  </a:extLst>
                </a:gridCol>
                <a:gridCol w="2582580">
                  <a:extLst>
                    <a:ext uri="{9D8B030D-6E8A-4147-A177-3AD203B41FA5}">
                      <a16:colId xmlns:a16="http://schemas.microsoft.com/office/drawing/2014/main" val="2050734451"/>
                    </a:ext>
                  </a:extLst>
                </a:gridCol>
              </a:tblGrid>
              <a:tr h="190888">
                <a:tc>
                  <a:txBody>
                    <a:bodyPr/>
                    <a:lstStyle/>
                    <a:p>
                      <a:pPr algn="l" fontAlgn="b"/>
                      <a:r>
                        <a:rPr lang="en-IN" sz="1000" b="1" i="0" u="none" strike="noStrike">
                          <a:solidFill>
                            <a:srgbClr val="000000"/>
                          </a:solidFill>
                          <a:effectLst/>
                          <a:latin typeface="Calibri" panose="020F0502020204030204" pitchFamily="34" charset="0"/>
                        </a:rPr>
                        <a:t>Parameter</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1" i="0" u="none" strike="noStrike">
                          <a:solidFill>
                            <a:srgbClr val="000000"/>
                          </a:solidFill>
                          <a:effectLst/>
                          <a:latin typeface="Calibri" panose="020F0502020204030204" pitchFamily="34" charset="0"/>
                        </a:rPr>
                        <a:t>k6</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1" i="0" u="none" strike="noStrike">
                          <a:solidFill>
                            <a:srgbClr val="000000"/>
                          </a:solidFill>
                          <a:effectLst/>
                          <a:latin typeface="Calibri" panose="020F0502020204030204" pitchFamily="34" charset="0"/>
                        </a:rPr>
                        <a:t>JMeter</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3577929"/>
                  </a:ext>
                </a:extLst>
              </a:tr>
              <a:tr h="190888">
                <a:tc>
                  <a:txBody>
                    <a:bodyPr/>
                    <a:lstStyle/>
                    <a:p>
                      <a:pPr algn="l" fontAlgn="b"/>
                      <a:r>
                        <a:rPr lang="en-IN" sz="1000" b="0" i="0" u="none" strike="noStrike">
                          <a:solidFill>
                            <a:srgbClr val="000000"/>
                          </a:solidFill>
                          <a:effectLst/>
                          <a:latin typeface="Calibri" panose="020F0502020204030204" pitchFamily="34" charset="0"/>
                        </a:rPr>
                        <a:t>Release Year</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2017</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1998</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7114010"/>
                  </a:ext>
                </a:extLst>
              </a:tr>
              <a:tr h="190888">
                <a:tc>
                  <a:txBody>
                    <a:bodyPr/>
                    <a:lstStyle/>
                    <a:p>
                      <a:pPr algn="l" fontAlgn="b"/>
                      <a:r>
                        <a:rPr lang="en-IN" sz="1000" b="0" i="0" u="none" strike="noStrike">
                          <a:solidFill>
                            <a:srgbClr val="000000"/>
                          </a:solidFill>
                          <a:effectLst/>
                          <a:latin typeface="Calibri" panose="020F0502020204030204" pitchFamily="34" charset="0"/>
                        </a:rPr>
                        <a:t>Scripting Language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JavaScript</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Java, Groovy</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8614991"/>
                  </a:ext>
                </a:extLst>
              </a:tr>
              <a:tr h="190888">
                <a:tc>
                  <a:txBody>
                    <a:bodyPr/>
                    <a:lstStyle/>
                    <a:p>
                      <a:pPr algn="l" fontAlgn="b"/>
                      <a:r>
                        <a:rPr lang="en-IN" sz="1000" b="0" i="0" u="none" strike="noStrike">
                          <a:solidFill>
                            <a:srgbClr val="000000"/>
                          </a:solidFill>
                          <a:effectLst/>
                          <a:latin typeface="Calibri" panose="020F0502020204030204" pitchFamily="34" charset="0"/>
                        </a:rPr>
                        <a:t>User Interface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Command-line, Code-based</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GUI, Code-based</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7178583"/>
                  </a:ext>
                </a:extLst>
              </a:tr>
              <a:tr h="190888">
                <a:tc>
                  <a:txBody>
                    <a:bodyPr/>
                    <a:lstStyle/>
                    <a:p>
                      <a:pPr algn="l" fontAlgn="b"/>
                      <a:r>
                        <a:rPr lang="en-IN" sz="1000" b="0" i="0" u="none" strike="noStrike">
                          <a:solidFill>
                            <a:srgbClr val="000000"/>
                          </a:solidFill>
                          <a:effectLst/>
                          <a:latin typeface="Calibri" panose="020F0502020204030204" pitchFamily="34" charset="0"/>
                        </a:rPr>
                        <a:t>Ease of Use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High (developer-friendly)</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Calibri" panose="020F0502020204030204" pitchFamily="34" charset="0"/>
                        </a:rPr>
                        <a:t>Moderate (GUI-based, but can be complex)</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2083409"/>
                  </a:ext>
                </a:extLst>
              </a:tr>
              <a:tr h="317951">
                <a:tc>
                  <a:txBody>
                    <a:bodyPr/>
                    <a:lstStyle/>
                    <a:p>
                      <a:pPr algn="l" fontAlgn="b"/>
                      <a:r>
                        <a:rPr lang="en-IN" sz="1000" b="0" i="0" u="none" strike="noStrike">
                          <a:solidFill>
                            <a:srgbClr val="000000"/>
                          </a:solidFill>
                          <a:effectLst/>
                          <a:latin typeface="Calibri" panose="020F0502020204030204" pitchFamily="34" charset="0"/>
                        </a:rPr>
                        <a:t>Performance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High (efficient resource usage)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Moderate (can be resource-intensive)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004912"/>
                  </a:ext>
                </a:extLst>
              </a:tr>
              <a:tr h="337489">
                <a:tc>
                  <a:txBody>
                    <a:bodyPr/>
                    <a:lstStyle/>
                    <a:p>
                      <a:pPr algn="l" fontAlgn="b"/>
                      <a:r>
                        <a:rPr lang="en-IN" sz="1000" b="0" i="0" u="none" strike="noStrike">
                          <a:solidFill>
                            <a:srgbClr val="000000"/>
                          </a:solidFill>
                          <a:effectLst/>
                          <a:latin typeface="Calibri" panose="020F0502020204030204" pitchFamily="34" charset="0"/>
                        </a:rPr>
                        <a:t>Integration</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it-IT" sz="1000" b="0" i="0" u="none" strike="noStrike">
                          <a:solidFill>
                            <a:srgbClr val="000000"/>
                          </a:solidFill>
                          <a:effectLst/>
                          <a:latin typeface="Calibri" panose="020F0502020204030204" pitchFamily="34" charset="0"/>
                        </a:rPr>
                        <a:t>CI/CD pipelines, Grafana, InfluxDB</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CI/CD pipelines, Jenkins, Grafana</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0536231"/>
                  </a:ext>
                </a:extLst>
              </a:tr>
              <a:tr h="190888">
                <a:tc>
                  <a:txBody>
                    <a:bodyPr/>
                    <a:lstStyle/>
                    <a:p>
                      <a:pPr algn="l" fontAlgn="b"/>
                      <a:r>
                        <a:rPr lang="en-IN" sz="1000" b="0" i="0" u="none" strike="noStrike">
                          <a:solidFill>
                            <a:srgbClr val="000000"/>
                          </a:solidFill>
                          <a:effectLst/>
                          <a:latin typeface="Calibri" panose="020F0502020204030204" pitchFamily="34" charset="0"/>
                        </a:rPr>
                        <a:t>Reporting</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JSON, InfluxDB, Grafana</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HTML, CSV, XML, Grafana</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4728870"/>
                  </a:ext>
                </a:extLst>
              </a:tr>
              <a:tr h="317951">
                <a:tc>
                  <a:txBody>
                    <a:bodyPr/>
                    <a:lstStyle/>
                    <a:p>
                      <a:pPr algn="l" fontAlgn="b"/>
                      <a:r>
                        <a:rPr lang="en-IN" sz="1000" b="0" i="0" u="none" strike="noStrike">
                          <a:solidFill>
                            <a:srgbClr val="000000"/>
                          </a:solidFill>
                          <a:effectLst/>
                          <a:latin typeface="Calibri" panose="020F0502020204030204" pitchFamily="34" charset="0"/>
                        </a:rPr>
                        <a:t>Protocol Support</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HTTP/1.1, HTTP/2, WebSocket</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HTTP, HTTPS, FTP, JDBC, JMS, LDAP, SOAP</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6369499"/>
                  </a:ext>
                </a:extLst>
              </a:tr>
              <a:tr h="190888">
                <a:tc>
                  <a:txBody>
                    <a:bodyPr/>
                    <a:lstStyle/>
                    <a:p>
                      <a:pPr algn="l" fontAlgn="b"/>
                      <a:r>
                        <a:rPr lang="en-IN" sz="1000" b="0" i="0" u="none" strike="noStrike">
                          <a:solidFill>
                            <a:srgbClr val="000000"/>
                          </a:solidFill>
                          <a:effectLst/>
                          <a:latin typeface="Calibri" panose="020F0502020204030204" pitchFamily="34" charset="0"/>
                        </a:rPr>
                        <a:t>Community Support</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Growing, active community</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dirty="0">
                          <a:solidFill>
                            <a:srgbClr val="000000"/>
                          </a:solidFill>
                          <a:effectLst/>
                          <a:latin typeface="Calibri" panose="020F0502020204030204" pitchFamily="34" charset="0"/>
                        </a:rPr>
                        <a:t>Large, established community</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9815261"/>
                  </a:ext>
                </a:extLst>
              </a:tr>
              <a:tr h="190888">
                <a:tc>
                  <a:txBody>
                    <a:bodyPr/>
                    <a:lstStyle/>
                    <a:p>
                      <a:pPr algn="l" fontAlgn="b"/>
                      <a:r>
                        <a:rPr lang="en-IN" sz="1000" b="0" i="0" u="none" strike="noStrike">
                          <a:solidFill>
                            <a:srgbClr val="000000"/>
                          </a:solidFill>
                          <a:effectLst/>
                          <a:latin typeface="Calibri" panose="020F0502020204030204" pitchFamily="34" charset="0"/>
                        </a:rPr>
                        <a:t>Extensibility</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High (via xk6 extensions)</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Calibri" panose="020F0502020204030204" pitchFamily="34" charset="0"/>
                        </a:rPr>
                        <a:t>High (via plugins and scripting)</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7747521"/>
                  </a:ext>
                </a:extLst>
              </a:tr>
              <a:tr h="190888">
                <a:tc>
                  <a:txBody>
                    <a:bodyPr/>
                    <a:lstStyle/>
                    <a:p>
                      <a:pPr algn="l" fontAlgn="b"/>
                      <a:r>
                        <a:rPr lang="en-IN" sz="1000" b="0" i="0" u="none" strike="noStrike">
                          <a:solidFill>
                            <a:srgbClr val="000000"/>
                          </a:solidFill>
                          <a:effectLst/>
                          <a:latin typeface="Calibri" panose="020F0502020204030204" pitchFamily="34" charset="0"/>
                        </a:rPr>
                        <a:t>License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Open-source (Apache 2.0)</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Open-source (Apache 2.0)</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8845164"/>
                  </a:ext>
                </a:extLst>
              </a:tr>
              <a:tr h="317951">
                <a:tc>
                  <a:txBody>
                    <a:bodyPr/>
                    <a:lstStyle/>
                    <a:p>
                      <a:pPr algn="l" fontAlgn="b"/>
                      <a:r>
                        <a:rPr lang="en-IN" sz="1000" b="0" i="0" u="none" strike="noStrike">
                          <a:solidFill>
                            <a:srgbClr val="000000"/>
                          </a:solidFill>
                          <a:effectLst/>
                          <a:latin typeface="Calibri" panose="020F0502020204030204" pitchFamily="34" charset="0"/>
                        </a:rPr>
                        <a:t>Scalability</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Calibri" panose="020F0502020204030204" pitchFamily="34" charset="0"/>
                        </a:rPr>
                        <a:t>High (efficient handling of VUs)</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High (supports distributed testing)</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4865484"/>
                  </a:ext>
                </a:extLst>
              </a:tr>
              <a:tr h="190888">
                <a:tc>
                  <a:txBody>
                    <a:bodyPr/>
                    <a:lstStyle/>
                    <a:p>
                      <a:pPr algn="l" fontAlgn="b"/>
                      <a:r>
                        <a:rPr lang="en-IN" sz="1000" b="0" i="0" u="none" strike="noStrike">
                          <a:solidFill>
                            <a:srgbClr val="000000"/>
                          </a:solidFill>
                          <a:effectLst/>
                          <a:latin typeface="Calibri" panose="020F0502020204030204" pitchFamily="34" charset="0"/>
                        </a:rPr>
                        <a:t>Resource Efficiency</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High (written in Go)</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Moderate (written in Java)</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3108382"/>
                  </a:ext>
                </a:extLst>
              </a:tr>
              <a:tr h="337489">
                <a:tc>
                  <a:txBody>
                    <a:bodyPr/>
                    <a:lstStyle/>
                    <a:p>
                      <a:pPr algn="l" fontAlgn="b"/>
                      <a:r>
                        <a:rPr lang="en-IN" sz="1000" b="0" i="0" u="none" strike="noStrike">
                          <a:solidFill>
                            <a:srgbClr val="000000"/>
                          </a:solidFill>
                          <a:effectLst/>
                          <a:latin typeface="Calibri" panose="020F0502020204030204" pitchFamily="34" charset="0"/>
                        </a:rPr>
                        <a:t>Learning Curve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Moderate (requires coding knowledge)</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Low to Moderate (GUI-based)</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2544418"/>
                  </a:ext>
                </a:extLst>
              </a:tr>
              <a:tr h="337489">
                <a:tc>
                  <a:txBody>
                    <a:bodyPr/>
                    <a:lstStyle/>
                    <a:p>
                      <a:pPr algn="l" fontAlgn="b"/>
                      <a:r>
                        <a:rPr lang="en-IN" sz="1000" b="0" i="0" u="none" strike="noStrike">
                          <a:solidFill>
                            <a:srgbClr val="000000"/>
                          </a:solidFill>
                          <a:effectLst/>
                          <a:latin typeface="Calibri" panose="020F0502020204030204" pitchFamily="34" charset="0"/>
                        </a:rPr>
                        <a:t>Error Handling</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Calibri" panose="020F0502020204030204" pitchFamily="34" charset="0"/>
                        </a:rPr>
                        <a:t>Detailed error messages and logs</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Calibri" panose="020F0502020204030204" pitchFamily="34" charset="0"/>
                        </a:rPr>
                        <a:t>Detailed error messages and logs</a:t>
                      </a:r>
                    </a:p>
                  </a:txBody>
                  <a:tcPr marL="6577" marR="6577" marT="6577" marB="3946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1817899"/>
                  </a:ext>
                </a:extLst>
              </a:tr>
            </a:tbl>
          </a:graphicData>
        </a:graphic>
      </p:graphicFrame>
      <p:sp>
        <p:nvSpPr>
          <p:cNvPr id="6" name="TextBox 5">
            <a:extLst>
              <a:ext uri="{FF2B5EF4-FFF2-40B4-BE49-F238E27FC236}">
                <a16:creationId xmlns:a16="http://schemas.microsoft.com/office/drawing/2014/main" id="{8688CAB5-9488-9DE8-CA68-52752E27AFB6}"/>
              </a:ext>
            </a:extLst>
          </p:cNvPr>
          <p:cNvSpPr txBox="1"/>
          <p:nvPr/>
        </p:nvSpPr>
        <p:spPr>
          <a:xfrm>
            <a:off x="5705334" y="497535"/>
            <a:ext cx="3163529" cy="3647152"/>
          </a:xfrm>
          <a:prstGeom prst="rect">
            <a:avLst/>
          </a:prstGeom>
          <a:noFill/>
        </p:spPr>
        <p:txBody>
          <a:bodyPr wrap="square">
            <a:spAutoFit/>
          </a:bodyPr>
          <a:lstStyle/>
          <a:p>
            <a:r>
              <a:rPr lang="en-IN" sz="1050" dirty="0"/>
              <a:t>Key Differences:</a:t>
            </a:r>
          </a:p>
          <a:p>
            <a:endParaRPr lang="en-IN" sz="1050" dirty="0"/>
          </a:p>
          <a:p>
            <a:pPr marL="171450" indent="-171450">
              <a:buFont typeface="Arial" panose="020B0604020202020204" pitchFamily="34" charset="0"/>
              <a:buChar char="•"/>
            </a:pPr>
            <a:r>
              <a:rPr lang="en-IN" sz="1050" dirty="0"/>
              <a:t>Scripting: k6 uses JavaScript, making it more appealing to developers familiar with modern web development. JMeter uses Java and Groovy, which might be more familiar to testers with a background in enterprise environments.</a:t>
            </a:r>
          </a:p>
          <a:p>
            <a:pPr marL="171450" indent="-171450">
              <a:buFont typeface="Arial" panose="020B0604020202020204" pitchFamily="34" charset="0"/>
              <a:buChar char="•"/>
            </a:pPr>
            <a:r>
              <a:rPr lang="en-IN" sz="1050" dirty="0"/>
              <a:t>User Interface: k6 is primarily command-line based, which can be more efficient for automated testing and CI/CD integration. JMeter offers a GUI, which can be easier for beginners but might become cumbersome for complex tests.</a:t>
            </a:r>
          </a:p>
          <a:p>
            <a:pPr marL="171450" indent="-171450">
              <a:buFont typeface="Arial" panose="020B0604020202020204" pitchFamily="34" charset="0"/>
              <a:buChar char="•"/>
            </a:pPr>
            <a:r>
              <a:rPr lang="en-IN" sz="1050" dirty="0"/>
              <a:t>Performance and Resource Usage: k6 is known for its efficient resource usage, making it suitable for high-load scenarios. JMeter can be more resource-intensive, especially for large-scale tests.</a:t>
            </a:r>
          </a:p>
          <a:p>
            <a:pPr marL="171450" indent="-171450">
              <a:buFont typeface="Arial" panose="020B0604020202020204" pitchFamily="34" charset="0"/>
              <a:buChar char="•"/>
            </a:pPr>
            <a:r>
              <a:rPr lang="en-IN" sz="1050" dirty="0"/>
              <a:t>Integration and Extensibility: Both tools offer extensive integration options, but k6’s modern approach and support for extensions via xk6 make it highly flexible.</a:t>
            </a:r>
          </a:p>
        </p:txBody>
      </p:sp>
    </p:spTree>
    <p:extLst>
      <p:ext uri="{BB962C8B-B14F-4D97-AF65-F5344CB8AC3E}">
        <p14:creationId xmlns:p14="http://schemas.microsoft.com/office/powerpoint/2010/main" val="1552638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0" y="274638"/>
            <a:ext cx="7886700" cy="993775"/>
          </a:xfrm>
        </p:spPr>
        <p:txBody>
          <a:bodyPr/>
          <a:lstStyle/>
          <a:p>
            <a:r>
              <a:rPr lang="en-IN" dirty="0"/>
              <a:t>LOAD TESTING TYPE</a:t>
            </a:r>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9</a:t>
            </a:fld>
            <a:endParaRPr lang="en-GB"/>
          </a:p>
        </p:txBody>
      </p:sp>
      <p:pic>
        <p:nvPicPr>
          <p:cNvPr id="2052" name="Picture 4">
            <a:extLst>
              <a:ext uri="{FF2B5EF4-FFF2-40B4-BE49-F238E27FC236}">
                <a16:creationId xmlns:a16="http://schemas.microsoft.com/office/drawing/2014/main" id="{0C5C08DC-4DC1-A9FF-4F7F-868686A9D4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93" y="1664494"/>
            <a:ext cx="91440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863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1415-C41E-225A-B048-039594F636B6}"/>
              </a:ext>
            </a:extLst>
          </p:cNvPr>
          <p:cNvSpPr>
            <a:spLocks noGrp="1"/>
          </p:cNvSpPr>
          <p:nvPr>
            <p:ph type="title" idx="4294967295"/>
          </p:nvPr>
        </p:nvSpPr>
        <p:spPr>
          <a:xfrm>
            <a:off x="0" y="65088"/>
            <a:ext cx="7886700" cy="993775"/>
          </a:xfrm>
        </p:spPr>
        <p:txBody>
          <a:bodyPr/>
          <a:lstStyle/>
          <a:p>
            <a:r>
              <a:rPr lang="en-IN" dirty="0"/>
              <a:t>Purpose of Load Testing</a:t>
            </a:r>
          </a:p>
        </p:txBody>
      </p:sp>
      <p:sp>
        <p:nvSpPr>
          <p:cNvPr id="3" name="Slide Number Placeholder 2">
            <a:extLst>
              <a:ext uri="{FF2B5EF4-FFF2-40B4-BE49-F238E27FC236}">
                <a16:creationId xmlns:a16="http://schemas.microsoft.com/office/drawing/2014/main" id="{FB7EECF3-5844-771C-BF9B-94C4D6F8C2D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10</a:t>
            </a:fld>
            <a:endParaRPr lang="en-GB"/>
          </a:p>
        </p:txBody>
      </p:sp>
      <p:sp>
        <p:nvSpPr>
          <p:cNvPr id="5" name="TextBox 4">
            <a:extLst>
              <a:ext uri="{FF2B5EF4-FFF2-40B4-BE49-F238E27FC236}">
                <a16:creationId xmlns:a16="http://schemas.microsoft.com/office/drawing/2014/main" id="{E2B96CD4-EC3F-6C99-A7D5-A13D9B4E3952}"/>
              </a:ext>
            </a:extLst>
          </p:cNvPr>
          <p:cNvSpPr txBox="1"/>
          <p:nvPr/>
        </p:nvSpPr>
        <p:spPr>
          <a:xfrm>
            <a:off x="452537" y="988077"/>
            <a:ext cx="8691463" cy="3416320"/>
          </a:xfrm>
          <a:prstGeom prst="rect">
            <a:avLst/>
          </a:prstGeom>
          <a:noFill/>
        </p:spPr>
        <p:txBody>
          <a:bodyPr wrap="square">
            <a:spAutoFit/>
          </a:bodyPr>
          <a:lstStyle/>
          <a:p>
            <a:r>
              <a:rPr lang="en-IN" sz="900" b="1" dirty="0"/>
              <a:t>1. Identify Performance Bottlenecks</a:t>
            </a:r>
          </a:p>
          <a:p>
            <a:r>
              <a:rPr lang="en-IN" sz="900" dirty="0"/>
              <a:t>- Uncover areas where the system may slow down or fail under heavy load.</a:t>
            </a:r>
          </a:p>
          <a:p>
            <a:r>
              <a:rPr lang="en-IN" sz="900" b="1" i="1" dirty="0"/>
              <a:t>Example</a:t>
            </a:r>
            <a:r>
              <a:rPr lang="en-IN" sz="900" dirty="0"/>
              <a:t>: During load testing, you might find that the database queries are taking too long to execute under heavy load. This can help you optimize the queries or improve the database indexing to enhance performance.</a:t>
            </a:r>
          </a:p>
          <a:p>
            <a:endParaRPr lang="en-IN" sz="900" dirty="0"/>
          </a:p>
          <a:p>
            <a:r>
              <a:rPr lang="en-IN" sz="900" b="1" dirty="0"/>
              <a:t>2. Validate System Capacity</a:t>
            </a:r>
          </a:p>
          <a:p>
            <a:r>
              <a:rPr lang="en-IN" sz="900" dirty="0"/>
              <a:t>- Ensure the system can handle expected user loads without compromising functionality or user experience.</a:t>
            </a:r>
          </a:p>
          <a:p>
            <a:r>
              <a:rPr lang="en-IN" sz="900" b="1" i="1" dirty="0"/>
              <a:t>Example</a:t>
            </a:r>
            <a:r>
              <a:rPr lang="en-IN" sz="900" dirty="0"/>
              <a:t>: If your e-commerce website expects a surge in traffic during a sale, load testing can ensure that the site can handle thousands of simultaneous users without crashing or slowing down significantly.</a:t>
            </a:r>
          </a:p>
          <a:p>
            <a:endParaRPr lang="en-IN" sz="900" dirty="0"/>
          </a:p>
          <a:p>
            <a:r>
              <a:rPr lang="en-IN" sz="900" b="1" dirty="0"/>
              <a:t>3. Evaluate Behaviour Under Load</a:t>
            </a:r>
          </a:p>
          <a:p>
            <a:r>
              <a:rPr lang="en-IN" sz="900" dirty="0"/>
              <a:t>- Assess how the software performs under both high and normal user loads.</a:t>
            </a:r>
          </a:p>
          <a:p>
            <a:r>
              <a:rPr lang="en-IN" sz="900" b="1" i="1" dirty="0"/>
              <a:t>Example</a:t>
            </a:r>
            <a:r>
              <a:rPr lang="en-IN" sz="900" dirty="0"/>
              <a:t>: A social media platform might perform well with 1,000 users but start to lag or show errors when the user count reaches 10,000. Load testing helps identify these issues so they can be addressed before they affect real users.</a:t>
            </a:r>
          </a:p>
          <a:p>
            <a:endParaRPr lang="en-IN" sz="900" dirty="0"/>
          </a:p>
          <a:p>
            <a:r>
              <a:rPr lang="en-IN" sz="900" b="1" dirty="0"/>
              <a:t>4. Measure Key Metrics</a:t>
            </a:r>
          </a:p>
          <a:p>
            <a:r>
              <a:rPr lang="en-IN" sz="900" dirty="0"/>
              <a:t>- Track response times, throughput rates, and resource utilization levels.</a:t>
            </a:r>
          </a:p>
          <a:p>
            <a:r>
              <a:rPr lang="en-IN" sz="900" b="1" i="1" dirty="0"/>
              <a:t>Example</a:t>
            </a:r>
            <a:r>
              <a:rPr lang="en-IN" sz="900" dirty="0"/>
              <a:t>: By measuring response times, you might discover that the average page load time increases from 2 seconds to 10 seconds under heavy load. This information is crucial for making performance improvements.</a:t>
            </a:r>
          </a:p>
          <a:p>
            <a:endParaRPr lang="en-IN" sz="900" dirty="0"/>
          </a:p>
          <a:p>
            <a:r>
              <a:rPr lang="en-IN" sz="900" b="1" dirty="0"/>
              <a:t>5. Determine Breaking Points</a:t>
            </a:r>
          </a:p>
          <a:p>
            <a:r>
              <a:rPr lang="en-IN" sz="900" dirty="0"/>
              <a:t>- Identify the maximum load the application can handle before it breaks down.</a:t>
            </a:r>
          </a:p>
          <a:p>
            <a:r>
              <a:rPr lang="en-IN" sz="900" b="1" i="1" dirty="0"/>
              <a:t>Example</a:t>
            </a:r>
            <a:r>
              <a:rPr lang="en-IN" sz="900" dirty="0"/>
              <a:t>: Load testing might reveal that your application can handle up to 5,000 concurrent users before it starts to fail. Knowing this breaking point allows you to plan for scaling up resources or optimizing the application to handle more users.</a:t>
            </a:r>
          </a:p>
        </p:txBody>
      </p:sp>
    </p:spTree>
    <p:extLst>
      <p:ext uri="{BB962C8B-B14F-4D97-AF65-F5344CB8AC3E}">
        <p14:creationId xmlns:p14="http://schemas.microsoft.com/office/powerpoint/2010/main" val="3745130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282575"/>
            <a:ext cx="8761413" cy="2673350"/>
          </a:xfrm>
        </p:spPr>
        <p:txBody>
          <a:bodyPr vert="horz" lIns="91440" tIns="45720" rIns="91440" bIns="45720" rtlCol="0" anchor="b">
            <a:normAutofit/>
          </a:bodyPr>
          <a:lstStyle/>
          <a:p>
            <a:pPr algn="ctr"/>
            <a:r>
              <a:rPr lang="en-US" sz="8600" dirty="0">
                <a:ln w="22225">
                  <a:solidFill>
                    <a:schemeClr val="tx1"/>
                  </a:solidFill>
                  <a:miter lim="800000"/>
                </a:ln>
                <a:noFill/>
                <a:latin typeface="+mj-lt"/>
              </a:rPr>
              <a:t>K6 Essentials</a:t>
            </a:r>
          </a:p>
        </p:txBody>
      </p:sp>
    </p:spTree>
    <p:extLst>
      <p:ext uri="{BB962C8B-B14F-4D97-AF65-F5344CB8AC3E}">
        <p14:creationId xmlns:p14="http://schemas.microsoft.com/office/powerpoint/2010/main" val="342934566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0" y="274638"/>
            <a:ext cx="7886700" cy="993775"/>
          </a:xfrm>
        </p:spPr>
        <p:txBody>
          <a:bodyPr/>
          <a:lstStyle/>
          <a:p>
            <a:r>
              <a:rPr lang="en-US" dirty="0"/>
              <a:t>Options In K6</a:t>
            </a:r>
            <a:endParaRPr lang="en-IN" dirty="0"/>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12</a:t>
            </a:fld>
            <a:endParaRPr lang="en-GB"/>
          </a:p>
        </p:txBody>
      </p:sp>
      <p:sp>
        <p:nvSpPr>
          <p:cNvPr id="9" name="TextBox 8">
            <a:extLst>
              <a:ext uri="{FF2B5EF4-FFF2-40B4-BE49-F238E27FC236}">
                <a16:creationId xmlns:a16="http://schemas.microsoft.com/office/drawing/2014/main" id="{5633C7E0-9A93-68C5-4719-B74ADB069245}"/>
              </a:ext>
            </a:extLst>
          </p:cNvPr>
          <p:cNvSpPr txBox="1"/>
          <p:nvPr/>
        </p:nvSpPr>
        <p:spPr>
          <a:xfrm>
            <a:off x="87423" y="2015794"/>
            <a:ext cx="1858780" cy="1384995"/>
          </a:xfrm>
          <a:prstGeom prst="rect">
            <a:avLst/>
          </a:prstGeom>
          <a:noFill/>
        </p:spPr>
        <p:txBody>
          <a:bodyPr wrap="square">
            <a:spAutoFit/>
          </a:bodyPr>
          <a:lstStyle/>
          <a:p>
            <a:r>
              <a:rPr lang="en-US" dirty="0"/>
              <a:t>A fixed number of VUs execute as many iterations as possible for a specified amount of time.</a:t>
            </a:r>
            <a:endParaRPr lang="en-IN" dirty="0"/>
          </a:p>
        </p:txBody>
      </p:sp>
      <p:sp>
        <p:nvSpPr>
          <p:cNvPr id="4" name="Rectangle 3">
            <a:extLst>
              <a:ext uri="{FF2B5EF4-FFF2-40B4-BE49-F238E27FC236}">
                <a16:creationId xmlns:a16="http://schemas.microsoft.com/office/drawing/2014/main" id="{A2817B28-CB46-0621-3182-D0B5B3B1C366}"/>
              </a:ext>
            </a:extLst>
          </p:cNvPr>
          <p:cNvSpPr/>
          <p:nvPr/>
        </p:nvSpPr>
        <p:spPr>
          <a:xfrm>
            <a:off x="82446" y="1268413"/>
            <a:ext cx="1858780" cy="4461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VUs</a:t>
            </a:r>
          </a:p>
        </p:txBody>
      </p:sp>
      <p:sp>
        <p:nvSpPr>
          <p:cNvPr id="5" name="Rectangle 4">
            <a:extLst>
              <a:ext uri="{FF2B5EF4-FFF2-40B4-BE49-F238E27FC236}">
                <a16:creationId xmlns:a16="http://schemas.microsoft.com/office/drawing/2014/main" id="{E636DB7E-F7A5-237B-7D17-CC7BA1EFA5F6}"/>
              </a:ext>
            </a:extLst>
          </p:cNvPr>
          <p:cNvSpPr/>
          <p:nvPr/>
        </p:nvSpPr>
        <p:spPr>
          <a:xfrm>
            <a:off x="2356018" y="3177737"/>
            <a:ext cx="1858780" cy="4461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Stages</a:t>
            </a:r>
          </a:p>
        </p:txBody>
      </p:sp>
      <p:sp>
        <p:nvSpPr>
          <p:cNvPr id="7" name="Rectangle 6">
            <a:extLst>
              <a:ext uri="{FF2B5EF4-FFF2-40B4-BE49-F238E27FC236}">
                <a16:creationId xmlns:a16="http://schemas.microsoft.com/office/drawing/2014/main" id="{289D3E98-0BCF-EFB7-E8FC-091C98E69842}"/>
              </a:ext>
            </a:extLst>
          </p:cNvPr>
          <p:cNvSpPr/>
          <p:nvPr/>
        </p:nvSpPr>
        <p:spPr>
          <a:xfrm>
            <a:off x="2431115" y="1268413"/>
            <a:ext cx="1858780" cy="4461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Duration</a:t>
            </a:r>
          </a:p>
        </p:txBody>
      </p:sp>
      <p:sp>
        <p:nvSpPr>
          <p:cNvPr id="8" name="TextBox 7">
            <a:extLst>
              <a:ext uri="{FF2B5EF4-FFF2-40B4-BE49-F238E27FC236}">
                <a16:creationId xmlns:a16="http://schemas.microsoft.com/office/drawing/2014/main" id="{0F696188-78DB-02FC-EC50-B86011126E15}"/>
              </a:ext>
            </a:extLst>
          </p:cNvPr>
          <p:cNvSpPr txBox="1"/>
          <p:nvPr/>
        </p:nvSpPr>
        <p:spPr>
          <a:xfrm>
            <a:off x="2371051" y="2152314"/>
            <a:ext cx="1858780" cy="954107"/>
          </a:xfrm>
          <a:prstGeom prst="rect">
            <a:avLst/>
          </a:prstGeom>
          <a:noFill/>
        </p:spPr>
        <p:txBody>
          <a:bodyPr wrap="square">
            <a:spAutoFit/>
          </a:bodyPr>
          <a:lstStyle/>
          <a:p>
            <a:r>
              <a:rPr lang="en-US" dirty="0"/>
              <a:t>A string specifying</a:t>
            </a:r>
          </a:p>
          <a:p>
            <a:r>
              <a:rPr lang="en-US" dirty="0"/>
              <a:t>the total duration a</a:t>
            </a:r>
          </a:p>
          <a:p>
            <a:r>
              <a:rPr lang="en-US" dirty="0"/>
              <a:t>test run should be</a:t>
            </a:r>
          </a:p>
          <a:p>
            <a:r>
              <a:rPr lang="en-US" dirty="0"/>
              <a:t>run for.</a:t>
            </a:r>
            <a:endParaRPr lang="en-IN" dirty="0"/>
          </a:p>
        </p:txBody>
      </p:sp>
      <p:sp>
        <p:nvSpPr>
          <p:cNvPr id="10" name="TextBox 9">
            <a:extLst>
              <a:ext uri="{FF2B5EF4-FFF2-40B4-BE49-F238E27FC236}">
                <a16:creationId xmlns:a16="http://schemas.microsoft.com/office/drawing/2014/main" id="{DF16CB65-0BB8-F0C2-6170-09F3EA7B15E2}"/>
              </a:ext>
            </a:extLst>
          </p:cNvPr>
          <p:cNvSpPr txBox="1"/>
          <p:nvPr/>
        </p:nvSpPr>
        <p:spPr>
          <a:xfrm>
            <a:off x="2371051" y="3737411"/>
            <a:ext cx="1858780" cy="1169551"/>
          </a:xfrm>
          <a:prstGeom prst="rect">
            <a:avLst/>
          </a:prstGeom>
          <a:noFill/>
        </p:spPr>
        <p:txBody>
          <a:bodyPr wrap="square">
            <a:spAutoFit/>
          </a:bodyPr>
          <a:lstStyle/>
          <a:p>
            <a:r>
              <a:rPr lang="en-US" dirty="0"/>
              <a:t>Array of objects that</a:t>
            </a:r>
          </a:p>
          <a:p>
            <a:r>
              <a:rPr lang="en-US" dirty="0"/>
              <a:t>specify the target</a:t>
            </a:r>
          </a:p>
          <a:p>
            <a:r>
              <a:rPr lang="en-US" dirty="0"/>
              <a:t>number of VUs to</a:t>
            </a:r>
          </a:p>
          <a:p>
            <a:r>
              <a:rPr lang="en-US" dirty="0"/>
              <a:t>ramp up or down to.</a:t>
            </a:r>
          </a:p>
          <a:p>
            <a:r>
              <a:rPr lang="en-US" dirty="0"/>
              <a:t>Options in K6</a:t>
            </a:r>
            <a:endParaRPr lang="en-IN" dirty="0"/>
          </a:p>
        </p:txBody>
      </p:sp>
      <p:pic>
        <p:nvPicPr>
          <p:cNvPr id="12" name="Picture 11">
            <a:extLst>
              <a:ext uri="{FF2B5EF4-FFF2-40B4-BE49-F238E27FC236}">
                <a16:creationId xmlns:a16="http://schemas.microsoft.com/office/drawing/2014/main" id="{619FDF11-AB4E-7005-6676-8F39C0B37968}"/>
              </a:ext>
            </a:extLst>
          </p:cNvPr>
          <p:cNvPicPr>
            <a:picLocks noChangeAspect="1"/>
          </p:cNvPicPr>
          <p:nvPr/>
        </p:nvPicPr>
        <p:blipFill>
          <a:blip r:embed="rId2"/>
          <a:stretch>
            <a:fillRect/>
          </a:stretch>
        </p:blipFill>
        <p:spPr>
          <a:xfrm>
            <a:off x="4441683" y="1268413"/>
            <a:ext cx="4697339" cy="3125449"/>
          </a:xfrm>
          <a:prstGeom prst="rect">
            <a:avLst/>
          </a:prstGeom>
        </p:spPr>
      </p:pic>
    </p:spTree>
    <p:extLst>
      <p:ext uri="{BB962C8B-B14F-4D97-AF65-F5344CB8AC3E}">
        <p14:creationId xmlns:p14="http://schemas.microsoft.com/office/powerpoint/2010/main" val="2778357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F503-09E1-0A59-EC86-7E024CD9EE99}"/>
              </a:ext>
            </a:extLst>
          </p:cNvPr>
          <p:cNvSpPr>
            <a:spLocks noGrp="1"/>
          </p:cNvSpPr>
          <p:nvPr>
            <p:ph type="title" idx="4294967295"/>
          </p:nvPr>
        </p:nvSpPr>
        <p:spPr>
          <a:xfrm>
            <a:off x="0" y="-115888"/>
            <a:ext cx="7886700" cy="993776"/>
          </a:xfrm>
        </p:spPr>
        <p:txBody>
          <a:bodyPr/>
          <a:lstStyle/>
          <a:p>
            <a:r>
              <a:rPr lang="en-IN" dirty="0"/>
              <a:t>CHECKS</a:t>
            </a:r>
          </a:p>
        </p:txBody>
      </p:sp>
      <p:sp>
        <p:nvSpPr>
          <p:cNvPr id="3" name="Slide Number Placeholder 2">
            <a:extLst>
              <a:ext uri="{FF2B5EF4-FFF2-40B4-BE49-F238E27FC236}">
                <a16:creationId xmlns:a16="http://schemas.microsoft.com/office/drawing/2014/main" id="{45EDD10B-1C38-5DC0-6014-4139894F240A}"/>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13</a:t>
            </a:fld>
            <a:endParaRPr lang="en-GB"/>
          </a:p>
        </p:txBody>
      </p:sp>
      <p:sp>
        <p:nvSpPr>
          <p:cNvPr id="5" name="TextBox 4">
            <a:extLst>
              <a:ext uri="{FF2B5EF4-FFF2-40B4-BE49-F238E27FC236}">
                <a16:creationId xmlns:a16="http://schemas.microsoft.com/office/drawing/2014/main" id="{EC2D1A01-5BE7-5D62-17F0-BAB6D9FB34D1}"/>
              </a:ext>
            </a:extLst>
          </p:cNvPr>
          <p:cNvSpPr txBox="1"/>
          <p:nvPr/>
        </p:nvSpPr>
        <p:spPr>
          <a:xfrm>
            <a:off x="299801" y="776317"/>
            <a:ext cx="8214611" cy="553998"/>
          </a:xfrm>
          <a:prstGeom prst="rect">
            <a:avLst/>
          </a:prstGeom>
          <a:noFill/>
        </p:spPr>
        <p:txBody>
          <a:bodyPr wrap="square">
            <a:spAutoFit/>
          </a:bodyPr>
          <a:lstStyle/>
          <a:p>
            <a:pPr marL="285750" indent="-285750">
              <a:buFont typeface="Arial" panose="020B0604020202020204" pitchFamily="34" charset="0"/>
              <a:buChar char="•"/>
            </a:pPr>
            <a:r>
              <a:rPr lang="en-US" sz="1000" dirty="0"/>
              <a:t>Checks are asserts but differ in that they don't halt the execution. Instead, they store the result of the check, pass or fail, and let the script execution continue.</a:t>
            </a:r>
          </a:p>
          <a:p>
            <a:pPr marL="285750" indent="-285750">
              <a:buFont typeface="Arial" panose="020B0604020202020204" pitchFamily="34" charset="0"/>
              <a:buChar char="•"/>
            </a:pPr>
            <a:r>
              <a:rPr lang="en-US" sz="1000" dirty="0"/>
              <a:t>Checks are great for codifying assertions relating to HTTP requests/responses, such as making sure the response code is an HTTP.</a:t>
            </a:r>
          </a:p>
        </p:txBody>
      </p:sp>
      <p:pic>
        <p:nvPicPr>
          <p:cNvPr id="8" name="Picture 7">
            <a:extLst>
              <a:ext uri="{FF2B5EF4-FFF2-40B4-BE49-F238E27FC236}">
                <a16:creationId xmlns:a16="http://schemas.microsoft.com/office/drawing/2014/main" id="{8A98AFA9-F957-0F95-68A3-67433C7B0A43}"/>
              </a:ext>
            </a:extLst>
          </p:cNvPr>
          <p:cNvPicPr>
            <a:picLocks noChangeAspect="1"/>
          </p:cNvPicPr>
          <p:nvPr/>
        </p:nvPicPr>
        <p:blipFill>
          <a:blip r:embed="rId3"/>
          <a:stretch>
            <a:fillRect/>
          </a:stretch>
        </p:blipFill>
        <p:spPr>
          <a:xfrm>
            <a:off x="164891" y="1348974"/>
            <a:ext cx="8963956" cy="3125590"/>
          </a:xfrm>
          <a:prstGeom prst="rect">
            <a:avLst/>
          </a:prstGeom>
        </p:spPr>
      </p:pic>
    </p:spTree>
    <p:extLst>
      <p:ext uri="{BB962C8B-B14F-4D97-AF65-F5344CB8AC3E}">
        <p14:creationId xmlns:p14="http://schemas.microsoft.com/office/powerpoint/2010/main" val="2052312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E0B52-6EC2-EC93-FDE5-24D77EDB6611}"/>
              </a:ext>
            </a:extLst>
          </p:cNvPr>
          <p:cNvSpPr>
            <a:spLocks noGrp="1"/>
          </p:cNvSpPr>
          <p:nvPr>
            <p:ph type="title" idx="4294967295"/>
          </p:nvPr>
        </p:nvSpPr>
        <p:spPr>
          <a:xfrm>
            <a:off x="0" y="192088"/>
            <a:ext cx="7886700" cy="993775"/>
          </a:xfrm>
        </p:spPr>
        <p:txBody>
          <a:bodyPr/>
          <a:lstStyle/>
          <a:p>
            <a:r>
              <a:rPr lang="en-IN" dirty="0"/>
              <a:t>Threshold</a:t>
            </a:r>
          </a:p>
        </p:txBody>
      </p:sp>
      <p:sp>
        <p:nvSpPr>
          <p:cNvPr id="3" name="Slide Number Placeholder 2">
            <a:extLst>
              <a:ext uri="{FF2B5EF4-FFF2-40B4-BE49-F238E27FC236}">
                <a16:creationId xmlns:a16="http://schemas.microsoft.com/office/drawing/2014/main" id="{72FC9A2D-B729-6901-3CF9-476D700A36F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14</a:t>
            </a:fld>
            <a:endParaRPr lang="en-GB"/>
          </a:p>
        </p:txBody>
      </p:sp>
      <p:sp>
        <p:nvSpPr>
          <p:cNvPr id="5" name="TextBox 4">
            <a:extLst>
              <a:ext uri="{FF2B5EF4-FFF2-40B4-BE49-F238E27FC236}">
                <a16:creationId xmlns:a16="http://schemas.microsoft.com/office/drawing/2014/main" id="{ADEB6B9C-2B51-C810-92A8-0940897EA50A}"/>
              </a:ext>
            </a:extLst>
          </p:cNvPr>
          <p:cNvSpPr txBox="1"/>
          <p:nvPr/>
        </p:nvSpPr>
        <p:spPr>
          <a:xfrm>
            <a:off x="194872" y="1694587"/>
            <a:ext cx="2712993" cy="1754326"/>
          </a:xfrm>
          <a:prstGeom prst="rect">
            <a:avLst/>
          </a:prstGeom>
          <a:noFill/>
        </p:spPr>
        <p:txBody>
          <a:bodyPr wrap="square">
            <a:spAutoFit/>
          </a:bodyPr>
          <a:lstStyle/>
          <a:p>
            <a:pPr marL="285750" indent="-285750">
              <a:buFont typeface="Arial" panose="020B0604020202020204" pitchFamily="34" charset="0"/>
              <a:buChar char="•"/>
            </a:pPr>
            <a:r>
              <a:rPr lang="en-US" sz="1200" dirty="0"/>
              <a:t>Thresholds are a pass/fail criteria used to specify the performance expectations of the system under test.</a:t>
            </a:r>
          </a:p>
          <a:p>
            <a:endParaRPr lang="en-US" sz="1200" dirty="0"/>
          </a:p>
          <a:p>
            <a:pPr marL="285750" indent="-285750">
              <a:buFont typeface="Arial" panose="020B0604020202020204" pitchFamily="34" charset="0"/>
              <a:buChar char="•"/>
            </a:pPr>
            <a:r>
              <a:rPr lang="en-US" sz="1200" dirty="0"/>
              <a:t>Thresholds analyze the performance metrics and determine the final test result (pass/fail).</a:t>
            </a:r>
          </a:p>
        </p:txBody>
      </p:sp>
      <p:pic>
        <p:nvPicPr>
          <p:cNvPr id="8" name="Picture 7">
            <a:extLst>
              <a:ext uri="{FF2B5EF4-FFF2-40B4-BE49-F238E27FC236}">
                <a16:creationId xmlns:a16="http://schemas.microsoft.com/office/drawing/2014/main" id="{87E8D8B7-BBC9-7686-5B28-60C3211FD410}"/>
              </a:ext>
            </a:extLst>
          </p:cNvPr>
          <p:cNvPicPr>
            <a:picLocks noChangeAspect="1"/>
          </p:cNvPicPr>
          <p:nvPr/>
        </p:nvPicPr>
        <p:blipFill>
          <a:blip r:embed="rId3"/>
          <a:stretch>
            <a:fillRect/>
          </a:stretch>
        </p:blipFill>
        <p:spPr>
          <a:xfrm>
            <a:off x="3874732" y="1112904"/>
            <a:ext cx="5269268" cy="4030596"/>
          </a:xfrm>
          <a:prstGeom prst="rect">
            <a:avLst/>
          </a:prstGeom>
        </p:spPr>
      </p:pic>
    </p:spTree>
    <p:extLst>
      <p:ext uri="{BB962C8B-B14F-4D97-AF65-F5344CB8AC3E}">
        <p14:creationId xmlns:p14="http://schemas.microsoft.com/office/powerpoint/2010/main" val="2375124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58E2F-BEBD-DEE0-30C3-B46D3BF6F4A5}"/>
              </a:ext>
            </a:extLst>
          </p:cNvPr>
          <p:cNvSpPr>
            <a:spLocks noGrp="1"/>
          </p:cNvSpPr>
          <p:nvPr>
            <p:ph type="title" idx="4294967295"/>
          </p:nvPr>
        </p:nvSpPr>
        <p:spPr>
          <a:xfrm>
            <a:off x="0" y="274638"/>
            <a:ext cx="7886700" cy="993775"/>
          </a:xfrm>
        </p:spPr>
        <p:txBody>
          <a:bodyPr/>
          <a:lstStyle/>
          <a:p>
            <a:r>
              <a:rPr lang="en-IN" dirty="0"/>
              <a:t>Build-in Metrics</a:t>
            </a:r>
          </a:p>
        </p:txBody>
      </p:sp>
      <p:sp>
        <p:nvSpPr>
          <p:cNvPr id="3" name="Slide Number Placeholder 2">
            <a:extLst>
              <a:ext uri="{FF2B5EF4-FFF2-40B4-BE49-F238E27FC236}">
                <a16:creationId xmlns:a16="http://schemas.microsoft.com/office/drawing/2014/main" id="{BACBCEEA-6408-C555-F033-7D9EB919F120}"/>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15</a:t>
            </a:fld>
            <a:endParaRPr lang="en-GB"/>
          </a:p>
        </p:txBody>
      </p:sp>
      <p:pic>
        <p:nvPicPr>
          <p:cNvPr id="5" name="Picture 4">
            <a:extLst>
              <a:ext uri="{FF2B5EF4-FFF2-40B4-BE49-F238E27FC236}">
                <a16:creationId xmlns:a16="http://schemas.microsoft.com/office/drawing/2014/main" id="{DA79EAB2-9928-F435-E37E-E7E05876BA40}"/>
              </a:ext>
            </a:extLst>
          </p:cNvPr>
          <p:cNvPicPr>
            <a:picLocks noChangeAspect="1"/>
          </p:cNvPicPr>
          <p:nvPr/>
        </p:nvPicPr>
        <p:blipFill>
          <a:blip r:embed="rId2"/>
          <a:stretch>
            <a:fillRect/>
          </a:stretch>
        </p:blipFill>
        <p:spPr>
          <a:xfrm>
            <a:off x="517160" y="1094283"/>
            <a:ext cx="4639456" cy="1317134"/>
          </a:xfrm>
          <a:prstGeom prst="rect">
            <a:avLst/>
          </a:prstGeom>
        </p:spPr>
      </p:pic>
      <p:pic>
        <p:nvPicPr>
          <p:cNvPr id="7" name="Picture 6">
            <a:extLst>
              <a:ext uri="{FF2B5EF4-FFF2-40B4-BE49-F238E27FC236}">
                <a16:creationId xmlns:a16="http://schemas.microsoft.com/office/drawing/2014/main" id="{72AE21E2-8DE9-7248-8494-99624F1E2678}"/>
              </a:ext>
            </a:extLst>
          </p:cNvPr>
          <p:cNvPicPr>
            <a:picLocks noChangeAspect="1"/>
          </p:cNvPicPr>
          <p:nvPr/>
        </p:nvPicPr>
        <p:blipFill>
          <a:blip r:embed="rId3"/>
          <a:stretch>
            <a:fillRect/>
          </a:stretch>
        </p:blipFill>
        <p:spPr>
          <a:xfrm>
            <a:off x="1274770" y="2497164"/>
            <a:ext cx="6978042" cy="2135161"/>
          </a:xfrm>
          <a:prstGeom prst="rect">
            <a:avLst/>
          </a:prstGeom>
        </p:spPr>
      </p:pic>
    </p:spTree>
    <p:extLst>
      <p:ext uri="{BB962C8B-B14F-4D97-AF65-F5344CB8AC3E}">
        <p14:creationId xmlns:p14="http://schemas.microsoft.com/office/powerpoint/2010/main" val="3521597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3B7B-B90A-E37C-0576-FC5BC864ED98}"/>
              </a:ext>
            </a:extLst>
          </p:cNvPr>
          <p:cNvSpPr>
            <a:spLocks noGrp="1"/>
          </p:cNvSpPr>
          <p:nvPr>
            <p:ph type="title" idx="4294967295"/>
          </p:nvPr>
        </p:nvSpPr>
        <p:spPr>
          <a:xfrm>
            <a:off x="0" y="274638"/>
            <a:ext cx="7886700" cy="993775"/>
          </a:xfrm>
        </p:spPr>
        <p:txBody>
          <a:bodyPr/>
          <a:lstStyle/>
          <a:p>
            <a:r>
              <a:rPr lang="en-IN" dirty="0"/>
              <a:t>Custom Metrics</a:t>
            </a:r>
          </a:p>
        </p:txBody>
      </p:sp>
      <p:sp>
        <p:nvSpPr>
          <p:cNvPr id="3" name="Slide Number Placeholder 2">
            <a:extLst>
              <a:ext uri="{FF2B5EF4-FFF2-40B4-BE49-F238E27FC236}">
                <a16:creationId xmlns:a16="http://schemas.microsoft.com/office/drawing/2014/main" id="{A036BA00-428A-3E1C-024B-E4D538552A07}"/>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16</a:t>
            </a:fld>
            <a:endParaRPr lang="en-GB"/>
          </a:p>
        </p:txBody>
      </p:sp>
      <p:pic>
        <p:nvPicPr>
          <p:cNvPr id="7" name="Picture 6">
            <a:extLst>
              <a:ext uri="{FF2B5EF4-FFF2-40B4-BE49-F238E27FC236}">
                <a16:creationId xmlns:a16="http://schemas.microsoft.com/office/drawing/2014/main" id="{75523870-B0D0-6573-77C0-9D85B3E83404}"/>
              </a:ext>
            </a:extLst>
          </p:cNvPr>
          <p:cNvPicPr>
            <a:picLocks noChangeAspect="1"/>
          </p:cNvPicPr>
          <p:nvPr/>
        </p:nvPicPr>
        <p:blipFill>
          <a:blip r:embed="rId2"/>
          <a:stretch>
            <a:fillRect/>
          </a:stretch>
        </p:blipFill>
        <p:spPr>
          <a:xfrm>
            <a:off x="5222081" y="0"/>
            <a:ext cx="3921919" cy="5143500"/>
          </a:xfrm>
          <a:prstGeom prst="rect">
            <a:avLst/>
          </a:prstGeom>
        </p:spPr>
      </p:pic>
      <p:sp>
        <p:nvSpPr>
          <p:cNvPr id="9" name="TextBox 8">
            <a:extLst>
              <a:ext uri="{FF2B5EF4-FFF2-40B4-BE49-F238E27FC236}">
                <a16:creationId xmlns:a16="http://schemas.microsoft.com/office/drawing/2014/main" id="{8393FA4B-E99C-E0CE-6197-598FDA2DABB4}"/>
              </a:ext>
            </a:extLst>
          </p:cNvPr>
          <p:cNvSpPr txBox="1"/>
          <p:nvPr/>
        </p:nvSpPr>
        <p:spPr>
          <a:xfrm>
            <a:off x="650081" y="1714301"/>
            <a:ext cx="4572000" cy="738664"/>
          </a:xfrm>
          <a:prstGeom prst="rect">
            <a:avLst/>
          </a:prstGeom>
          <a:noFill/>
        </p:spPr>
        <p:txBody>
          <a:bodyPr wrap="square">
            <a:spAutoFit/>
          </a:bodyPr>
          <a:lstStyle/>
          <a:p>
            <a:r>
              <a:rPr lang="en-IN" dirty="0"/>
              <a:t>K6 allows you to create custom metrics of any type.</a:t>
            </a:r>
          </a:p>
          <a:p>
            <a:endParaRPr lang="en-IN" dirty="0"/>
          </a:p>
          <a:p>
            <a:r>
              <a:rPr lang="en-IN" dirty="0"/>
              <a:t>Custom Metrics are reported at the end of the test.</a:t>
            </a:r>
          </a:p>
        </p:txBody>
      </p:sp>
    </p:spTree>
    <p:extLst>
      <p:ext uri="{BB962C8B-B14F-4D97-AF65-F5344CB8AC3E}">
        <p14:creationId xmlns:p14="http://schemas.microsoft.com/office/powerpoint/2010/main" val="2630131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70370-AB1C-A982-3B2F-D4C122DF782B}"/>
              </a:ext>
            </a:extLst>
          </p:cNvPr>
          <p:cNvSpPr>
            <a:spLocks noGrp="1"/>
          </p:cNvSpPr>
          <p:nvPr>
            <p:ph type="title" idx="4294967295"/>
          </p:nvPr>
        </p:nvSpPr>
        <p:spPr>
          <a:xfrm>
            <a:off x="0" y="125413"/>
            <a:ext cx="7886700" cy="993775"/>
          </a:xfrm>
        </p:spPr>
        <p:txBody>
          <a:bodyPr/>
          <a:lstStyle/>
          <a:p>
            <a:r>
              <a:rPr lang="en-IN" dirty="0"/>
              <a:t>Test lifecycle</a:t>
            </a:r>
          </a:p>
        </p:txBody>
      </p:sp>
      <p:sp>
        <p:nvSpPr>
          <p:cNvPr id="3" name="Slide Number Placeholder 2">
            <a:extLst>
              <a:ext uri="{FF2B5EF4-FFF2-40B4-BE49-F238E27FC236}">
                <a16:creationId xmlns:a16="http://schemas.microsoft.com/office/drawing/2014/main" id="{5CD0B795-B087-5926-8F3F-018EFFA5E012}"/>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17</a:t>
            </a:fld>
            <a:endParaRPr lang="en-GB"/>
          </a:p>
        </p:txBody>
      </p:sp>
      <p:graphicFrame>
        <p:nvGraphicFramePr>
          <p:cNvPr id="4" name="Table 3">
            <a:extLst>
              <a:ext uri="{FF2B5EF4-FFF2-40B4-BE49-F238E27FC236}">
                <a16:creationId xmlns:a16="http://schemas.microsoft.com/office/drawing/2014/main" id="{0C68FB45-8C3A-06D0-8B5B-AC8F627E5623}"/>
              </a:ext>
            </a:extLst>
          </p:cNvPr>
          <p:cNvGraphicFramePr>
            <a:graphicFrameLocks noGrp="1"/>
          </p:cNvGraphicFramePr>
          <p:nvPr>
            <p:extLst>
              <p:ext uri="{D42A27DB-BD31-4B8C-83A1-F6EECF244321}">
                <p14:modId xmlns:p14="http://schemas.microsoft.com/office/powerpoint/2010/main" val="3881380467"/>
              </p:ext>
            </p:extLst>
          </p:nvPr>
        </p:nvGraphicFramePr>
        <p:xfrm>
          <a:off x="3365511" y="1121332"/>
          <a:ext cx="5496508" cy="3368108"/>
        </p:xfrm>
        <a:graphic>
          <a:graphicData uri="http://schemas.openxmlformats.org/drawingml/2006/table">
            <a:tbl>
              <a:tblPr/>
              <a:tblGrid>
                <a:gridCol w="1374127">
                  <a:extLst>
                    <a:ext uri="{9D8B030D-6E8A-4147-A177-3AD203B41FA5}">
                      <a16:colId xmlns:a16="http://schemas.microsoft.com/office/drawing/2014/main" val="4096929960"/>
                    </a:ext>
                  </a:extLst>
                </a:gridCol>
                <a:gridCol w="1374127">
                  <a:extLst>
                    <a:ext uri="{9D8B030D-6E8A-4147-A177-3AD203B41FA5}">
                      <a16:colId xmlns:a16="http://schemas.microsoft.com/office/drawing/2014/main" val="804830066"/>
                    </a:ext>
                  </a:extLst>
                </a:gridCol>
                <a:gridCol w="1374127">
                  <a:extLst>
                    <a:ext uri="{9D8B030D-6E8A-4147-A177-3AD203B41FA5}">
                      <a16:colId xmlns:a16="http://schemas.microsoft.com/office/drawing/2014/main" val="1082097866"/>
                    </a:ext>
                  </a:extLst>
                </a:gridCol>
                <a:gridCol w="1374127">
                  <a:extLst>
                    <a:ext uri="{9D8B030D-6E8A-4147-A177-3AD203B41FA5}">
                      <a16:colId xmlns:a16="http://schemas.microsoft.com/office/drawing/2014/main" val="1532633452"/>
                    </a:ext>
                  </a:extLst>
                </a:gridCol>
              </a:tblGrid>
              <a:tr h="224876">
                <a:tc>
                  <a:txBody>
                    <a:bodyPr/>
                    <a:lstStyle/>
                    <a:p>
                      <a:pPr algn="l"/>
                      <a:r>
                        <a:rPr lang="en-IN" sz="1050" cap="all">
                          <a:solidFill>
                            <a:srgbClr val="5A5C87"/>
                          </a:solidFill>
                          <a:effectLst/>
                          <a:highlight>
                            <a:srgbClr val="F9F8FC"/>
                          </a:highlight>
                        </a:rPr>
                        <a:t>Test stage</a:t>
                      </a:r>
                    </a:p>
                  </a:txBody>
                  <a:tcPr marL="48984" marR="48984" marT="24492" marB="24492"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solidFill>
                      <a:srgbClr val="F9F8FC"/>
                    </a:solidFill>
                  </a:tcPr>
                </a:tc>
                <a:tc>
                  <a:txBody>
                    <a:bodyPr/>
                    <a:lstStyle/>
                    <a:p>
                      <a:pPr algn="l"/>
                      <a:r>
                        <a:rPr lang="en-IN" sz="1050" cap="all">
                          <a:solidFill>
                            <a:srgbClr val="5A5C87"/>
                          </a:solidFill>
                          <a:effectLst/>
                          <a:highlight>
                            <a:srgbClr val="F9F8FC"/>
                          </a:highlight>
                        </a:rPr>
                        <a:t>Purpose</a:t>
                      </a:r>
                    </a:p>
                  </a:txBody>
                  <a:tcPr marL="48984" marR="48984" marT="24492" marB="24492"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solidFill>
                      <a:srgbClr val="F9F8FC"/>
                    </a:solidFill>
                  </a:tcPr>
                </a:tc>
                <a:tc>
                  <a:txBody>
                    <a:bodyPr/>
                    <a:lstStyle/>
                    <a:p>
                      <a:pPr algn="l"/>
                      <a:r>
                        <a:rPr lang="en-IN" sz="1050" cap="all">
                          <a:solidFill>
                            <a:srgbClr val="5A5C87"/>
                          </a:solidFill>
                          <a:effectLst/>
                          <a:highlight>
                            <a:srgbClr val="F9F8FC"/>
                          </a:highlight>
                        </a:rPr>
                        <a:t>Example</a:t>
                      </a:r>
                    </a:p>
                  </a:txBody>
                  <a:tcPr marL="48984" marR="48984" marT="24492" marB="24492"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solidFill>
                      <a:srgbClr val="F9F8FC"/>
                    </a:solidFill>
                  </a:tcPr>
                </a:tc>
                <a:tc>
                  <a:txBody>
                    <a:bodyPr/>
                    <a:lstStyle/>
                    <a:p>
                      <a:pPr algn="l"/>
                      <a:r>
                        <a:rPr lang="en-IN" sz="1050" cap="all">
                          <a:solidFill>
                            <a:srgbClr val="5A5C87"/>
                          </a:solidFill>
                          <a:effectLst/>
                          <a:highlight>
                            <a:srgbClr val="F9F8FC"/>
                          </a:highlight>
                        </a:rPr>
                        <a:t>Called</a:t>
                      </a:r>
                    </a:p>
                  </a:txBody>
                  <a:tcPr marL="48984" marR="48984" marT="24492" marB="24492"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solidFill>
                      <a:srgbClr val="F9F8FC"/>
                    </a:solidFill>
                  </a:tcPr>
                </a:tc>
                <a:extLst>
                  <a:ext uri="{0D108BD9-81ED-4DB2-BD59-A6C34878D82A}">
                    <a16:rowId xmlns:a16="http://schemas.microsoft.com/office/drawing/2014/main" val="2592199605"/>
                  </a:ext>
                </a:extLst>
              </a:tr>
              <a:tr h="625739">
                <a:tc>
                  <a:txBody>
                    <a:bodyPr/>
                    <a:lstStyle/>
                    <a:p>
                      <a:pPr fontAlgn="base"/>
                      <a:r>
                        <a:rPr lang="en-IN" sz="1050" b="0">
                          <a:effectLst/>
                        </a:rPr>
                        <a:t>1. init</a:t>
                      </a:r>
                      <a:endParaRPr lang="en-IN" sz="1050">
                        <a:effectLst/>
                      </a:endParaRP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a:effectLst/>
                        </a:rPr>
                        <a:t>Load local files, import modules, declare lifecycle functions</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IN" sz="1050">
                          <a:effectLst/>
                        </a:rPr>
                        <a:t>Open JSON file, Import module</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IN" sz="1050" dirty="0">
                          <a:effectLst/>
                        </a:rPr>
                        <a:t>Once per VU</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extLst>
                  <a:ext uri="{0D108BD9-81ED-4DB2-BD59-A6C34878D82A}">
                    <a16:rowId xmlns:a16="http://schemas.microsoft.com/office/drawing/2014/main" val="1942771616"/>
                  </a:ext>
                </a:extLst>
              </a:tr>
              <a:tr h="625739">
                <a:tc>
                  <a:txBody>
                    <a:bodyPr/>
                    <a:lstStyle/>
                    <a:p>
                      <a:pPr fontAlgn="base"/>
                      <a:r>
                        <a:rPr lang="en-IN" sz="1050" b="0">
                          <a:effectLst/>
                        </a:rPr>
                        <a:t>2. Setup</a:t>
                      </a:r>
                      <a:endParaRPr lang="en-IN" sz="1050">
                        <a:effectLst/>
                      </a:endParaRP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dirty="0">
                          <a:effectLst/>
                        </a:rPr>
                        <a:t>Set up data for processing, share data among VUs</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a:effectLst/>
                        </a:rPr>
                        <a:t>Call API to start test environment</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IN" sz="1050">
                          <a:effectLst/>
                        </a:rPr>
                        <a:t>Once</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extLst>
                  <a:ext uri="{0D108BD9-81ED-4DB2-BD59-A6C34878D82A}">
                    <a16:rowId xmlns:a16="http://schemas.microsoft.com/office/drawing/2014/main" val="2617333804"/>
                  </a:ext>
                </a:extLst>
              </a:tr>
              <a:tr h="713733">
                <a:tc>
                  <a:txBody>
                    <a:bodyPr/>
                    <a:lstStyle/>
                    <a:p>
                      <a:pPr fontAlgn="base"/>
                      <a:r>
                        <a:rPr lang="en-IN" sz="1050" b="0">
                          <a:effectLst/>
                        </a:rPr>
                        <a:t>3. VU code</a:t>
                      </a:r>
                      <a:endParaRPr lang="en-IN" sz="1050">
                        <a:effectLst/>
                      </a:endParaRP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a:effectLst/>
                        </a:rPr>
                        <a:t>Run the test function, usually </a:t>
                      </a:r>
                      <a:r>
                        <a:rPr lang="en-US" sz="1050" b="0">
                          <a:solidFill>
                            <a:srgbClr val="3C3C64"/>
                          </a:solidFill>
                          <a:effectLst/>
                          <a:highlight>
                            <a:srgbClr val="F9F8FC"/>
                          </a:highlight>
                          <a:latin typeface="Roboto Mono" panose="020F0502020204030204" pitchFamily="49" charset="0"/>
                        </a:rPr>
                        <a:t>default</a:t>
                      </a:r>
                      <a:endParaRPr lang="en-US" sz="1050">
                        <a:effectLst/>
                      </a:endParaRP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a:effectLst/>
                        </a:rPr>
                        <a:t>Make https requests, validate responses</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a:effectLst/>
                        </a:rPr>
                        <a:t>Once per iteration, as many times as the test options require</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extLst>
                  <a:ext uri="{0D108BD9-81ED-4DB2-BD59-A6C34878D82A}">
                    <a16:rowId xmlns:a16="http://schemas.microsoft.com/office/drawing/2014/main" val="767628897"/>
                  </a:ext>
                </a:extLst>
              </a:tr>
              <a:tr h="1065712">
                <a:tc>
                  <a:txBody>
                    <a:bodyPr/>
                    <a:lstStyle/>
                    <a:p>
                      <a:pPr fontAlgn="base"/>
                      <a:r>
                        <a:rPr lang="en-IN" sz="1050" b="0">
                          <a:effectLst/>
                        </a:rPr>
                        <a:t>4. Teardown</a:t>
                      </a:r>
                      <a:endParaRPr lang="en-IN" sz="1050">
                        <a:effectLst/>
                      </a:endParaRP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a:effectLst/>
                        </a:rPr>
                        <a:t>Process result of setup code, stop test environment</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US" sz="1050">
                          <a:effectLst/>
                        </a:rPr>
                        <a:t>Validate that setup had a certain result, send webhook notifying that test has finished</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tc>
                  <a:txBody>
                    <a:bodyPr/>
                    <a:lstStyle/>
                    <a:p>
                      <a:pPr fontAlgn="base"/>
                      <a:r>
                        <a:rPr lang="en-IN" sz="1050" dirty="0">
                          <a:effectLst/>
                        </a:rPr>
                        <a:t>Once</a:t>
                      </a:r>
                    </a:p>
                  </a:txBody>
                  <a:tcPr marL="48984" marR="48984" marT="48984" marB="48984" anchor="ctr">
                    <a:lnL w="7620" cap="flat" cmpd="sng" algn="ctr">
                      <a:solidFill>
                        <a:srgbClr val="ECE8F1"/>
                      </a:solidFill>
                      <a:prstDash val="solid"/>
                      <a:round/>
                      <a:headEnd type="none" w="med" len="med"/>
                      <a:tailEnd type="none" w="med" len="med"/>
                    </a:lnL>
                    <a:lnR w="7620" cap="flat" cmpd="sng" algn="ctr">
                      <a:solidFill>
                        <a:srgbClr val="ECE8F1"/>
                      </a:solidFill>
                      <a:prstDash val="solid"/>
                      <a:round/>
                      <a:headEnd type="none" w="med" len="med"/>
                      <a:tailEnd type="none" w="med" len="med"/>
                    </a:lnR>
                    <a:lnT w="7620" cap="flat" cmpd="sng" algn="ctr">
                      <a:solidFill>
                        <a:srgbClr val="ECE8F1"/>
                      </a:solidFill>
                      <a:prstDash val="solid"/>
                      <a:round/>
                      <a:headEnd type="none" w="med" len="med"/>
                      <a:tailEnd type="none" w="med" len="med"/>
                    </a:lnT>
                    <a:lnB w="7620" cap="flat" cmpd="sng" algn="ctr">
                      <a:solidFill>
                        <a:srgbClr val="ECE8F1"/>
                      </a:solidFill>
                      <a:prstDash val="solid"/>
                      <a:round/>
                      <a:headEnd type="none" w="med" len="med"/>
                      <a:tailEnd type="none" w="med" len="med"/>
                    </a:lnB>
                    <a:noFill/>
                  </a:tcPr>
                </a:tc>
                <a:extLst>
                  <a:ext uri="{0D108BD9-81ED-4DB2-BD59-A6C34878D82A}">
                    <a16:rowId xmlns:a16="http://schemas.microsoft.com/office/drawing/2014/main" val="891580824"/>
                  </a:ext>
                </a:extLst>
              </a:tr>
            </a:tbl>
          </a:graphicData>
        </a:graphic>
      </p:graphicFrame>
      <p:pic>
        <p:nvPicPr>
          <p:cNvPr id="10" name="Picture 9">
            <a:extLst>
              <a:ext uri="{FF2B5EF4-FFF2-40B4-BE49-F238E27FC236}">
                <a16:creationId xmlns:a16="http://schemas.microsoft.com/office/drawing/2014/main" id="{362A07F9-C060-5CDB-9C3B-64812DA3C90D}"/>
              </a:ext>
            </a:extLst>
          </p:cNvPr>
          <p:cNvPicPr>
            <a:picLocks noChangeAspect="1"/>
          </p:cNvPicPr>
          <p:nvPr/>
        </p:nvPicPr>
        <p:blipFill>
          <a:blip r:embed="rId3"/>
          <a:stretch>
            <a:fillRect/>
          </a:stretch>
        </p:blipFill>
        <p:spPr>
          <a:xfrm>
            <a:off x="375077" y="1119497"/>
            <a:ext cx="2820449" cy="3368109"/>
          </a:xfrm>
          <a:prstGeom prst="rect">
            <a:avLst/>
          </a:prstGeom>
        </p:spPr>
      </p:pic>
    </p:spTree>
    <p:extLst>
      <p:ext uri="{BB962C8B-B14F-4D97-AF65-F5344CB8AC3E}">
        <p14:creationId xmlns:p14="http://schemas.microsoft.com/office/powerpoint/2010/main" val="1007540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EDA46-D118-CF64-4F28-650276C01BCE}"/>
              </a:ext>
            </a:extLst>
          </p:cNvPr>
          <p:cNvSpPr>
            <a:spLocks noGrp="1"/>
          </p:cNvSpPr>
          <p:nvPr>
            <p:ph type="title" idx="4294967295"/>
          </p:nvPr>
        </p:nvSpPr>
        <p:spPr>
          <a:xfrm>
            <a:off x="0" y="274638"/>
            <a:ext cx="7886700" cy="993775"/>
          </a:xfrm>
        </p:spPr>
        <p:txBody>
          <a:bodyPr/>
          <a:lstStyle/>
          <a:p>
            <a:r>
              <a:rPr lang="en-IN" dirty="0"/>
              <a:t>Modules</a:t>
            </a:r>
          </a:p>
        </p:txBody>
      </p:sp>
      <p:sp>
        <p:nvSpPr>
          <p:cNvPr id="3" name="Slide Number Placeholder 2">
            <a:extLst>
              <a:ext uri="{FF2B5EF4-FFF2-40B4-BE49-F238E27FC236}">
                <a16:creationId xmlns:a16="http://schemas.microsoft.com/office/drawing/2014/main" id="{7FCA8A4E-3884-BDD5-C209-B0162D502961}"/>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18</a:t>
            </a:fld>
            <a:endParaRPr lang="en-GB"/>
          </a:p>
        </p:txBody>
      </p:sp>
      <p:graphicFrame>
        <p:nvGraphicFramePr>
          <p:cNvPr id="7" name="Table 6">
            <a:extLst>
              <a:ext uri="{FF2B5EF4-FFF2-40B4-BE49-F238E27FC236}">
                <a16:creationId xmlns:a16="http://schemas.microsoft.com/office/drawing/2014/main" id="{E04128EC-A954-600D-DD18-C1BDB46E7011}"/>
              </a:ext>
            </a:extLst>
          </p:cNvPr>
          <p:cNvGraphicFramePr>
            <a:graphicFrameLocks noGrp="1"/>
          </p:cNvGraphicFramePr>
          <p:nvPr>
            <p:extLst>
              <p:ext uri="{D42A27DB-BD31-4B8C-83A1-F6EECF244321}">
                <p14:modId xmlns:p14="http://schemas.microsoft.com/office/powerpoint/2010/main" val="347856453"/>
              </p:ext>
            </p:extLst>
          </p:nvPr>
        </p:nvGraphicFramePr>
        <p:xfrm>
          <a:off x="538917" y="1268413"/>
          <a:ext cx="8323102" cy="2748378"/>
        </p:xfrm>
        <a:graphic>
          <a:graphicData uri="http://schemas.openxmlformats.org/drawingml/2006/table">
            <a:tbl>
              <a:tblPr>
                <a:tableStyleId>{7E9639D4-E3E2-4D34-9284-5A2195B3D0D7}</a:tableStyleId>
              </a:tblPr>
              <a:tblGrid>
                <a:gridCol w="1495930">
                  <a:extLst>
                    <a:ext uri="{9D8B030D-6E8A-4147-A177-3AD203B41FA5}">
                      <a16:colId xmlns:a16="http://schemas.microsoft.com/office/drawing/2014/main" val="1538414223"/>
                    </a:ext>
                  </a:extLst>
                </a:gridCol>
                <a:gridCol w="2848633">
                  <a:extLst>
                    <a:ext uri="{9D8B030D-6E8A-4147-A177-3AD203B41FA5}">
                      <a16:colId xmlns:a16="http://schemas.microsoft.com/office/drawing/2014/main" val="988977894"/>
                    </a:ext>
                  </a:extLst>
                </a:gridCol>
                <a:gridCol w="3978539">
                  <a:extLst>
                    <a:ext uri="{9D8B030D-6E8A-4147-A177-3AD203B41FA5}">
                      <a16:colId xmlns:a16="http://schemas.microsoft.com/office/drawing/2014/main" val="599463347"/>
                    </a:ext>
                  </a:extLst>
                </a:gridCol>
              </a:tblGrid>
              <a:tr h="466156">
                <a:tc>
                  <a:txBody>
                    <a:bodyPr/>
                    <a:lstStyle/>
                    <a:p>
                      <a:pPr algn="l" fontAlgn="ctr"/>
                      <a:r>
                        <a:rPr lang="en-IN" sz="1100" b="1" u="none" strike="noStrike" dirty="0">
                          <a:effectLst/>
                        </a:rPr>
                        <a:t>Module Type</a:t>
                      </a:r>
                      <a:endParaRPr lang="en-IN"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en-IN" sz="1100" b="1" u="none" strike="noStrike" dirty="0">
                          <a:effectLst/>
                        </a:rPr>
                        <a:t>Description</a:t>
                      </a:r>
                      <a:endParaRPr lang="en-IN"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en-IN" sz="1100" b="1" u="none" strike="noStrike" dirty="0">
                          <a:effectLst/>
                        </a:rPr>
                        <a:t>Example</a:t>
                      </a:r>
                      <a:endParaRPr lang="en-IN"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286323416"/>
                  </a:ext>
                </a:extLst>
              </a:tr>
              <a:tr h="466156">
                <a:tc>
                  <a:txBody>
                    <a:bodyPr/>
                    <a:lstStyle/>
                    <a:p>
                      <a:pPr algn="l" fontAlgn="ctr"/>
                      <a:r>
                        <a:rPr lang="en-IN" sz="1100" u="none" strike="noStrike">
                          <a:effectLst/>
                        </a:rPr>
                        <a:t>Built-in Modules</a:t>
                      </a:r>
                      <a:endParaRPr lang="en-IN"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100" u="none" strike="noStrike" dirty="0">
                          <a:effectLst/>
                        </a:rPr>
                        <a:t>Core functionalities provided by k6. These are included by default.</a:t>
                      </a:r>
                      <a:endParaRPr lang="en-US"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000" u="none" strike="noStrike" dirty="0">
                          <a:effectLst/>
                        </a:rPr>
                        <a:t>import http from 'k6/http';</a:t>
                      </a:r>
                      <a:r>
                        <a:rPr lang="en-US" sz="1100" u="none" strike="noStrike" dirty="0">
                          <a:effectLst/>
                        </a:rPr>
                        <a:t> - for making HTTP requests.</a:t>
                      </a:r>
                      <a:endParaRPr lang="en-US" sz="1000" b="0" i="0" u="none" strike="noStrike" dirty="0">
                        <a:solidFill>
                          <a:srgbClr val="000000"/>
                        </a:solidFill>
                        <a:effectLst/>
                        <a:latin typeface="Arial Unicode MS"/>
                      </a:endParaRPr>
                    </a:p>
                  </a:txBody>
                  <a:tcPr marL="7620" marR="7620" marT="7620" marB="0" anchor="ctr"/>
                </a:tc>
                <a:extLst>
                  <a:ext uri="{0D108BD9-81ED-4DB2-BD59-A6C34878D82A}">
                    <a16:rowId xmlns:a16="http://schemas.microsoft.com/office/drawing/2014/main" val="2750887413"/>
                  </a:ext>
                </a:extLst>
              </a:tr>
              <a:tr h="650676">
                <a:tc>
                  <a:txBody>
                    <a:bodyPr/>
                    <a:lstStyle/>
                    <a:p>
                      <a:pPr algn="l" fontAlgn="ctr"/>
                      <a:r>
                        <a:rPr lang="en-IN" sz="1100" u="none" strike="noStrike">
                          <a:effectLst/>
                        </a:rPr>
                        <a:t>Local Modules</a:t>
                      </a:r>
                      <a:endParaRPr lang="en-IN"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100" u="none" strike="noStrike">
                          <a:effectLst/>
                        </a:rPr>
                        <a:t>Modules stored on the local filesystem, accessed via relative or absolute paths.</a:t>
                      </a:r>
                      <a:endParaRPr lang="en-US"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000" u="none" strike="noStrike" dirty="0">
                          <a:effectLst/>
                        </a:rPr>
                        <a:t>import { </a:t>
                      </a:r>
                      <a:r>
                        <a:rPr lang="en-US" sz="1000" u="none" strike="noStrike" dirty="0" err="1">
                          <a:effectLst/>
                        </a:rPr>
                        <a:t>someHelper</a:t>
                      </a:r>
                      <a:r>
                        <a:rPr lang="en-US" sz="1000" u="none" strike="noStrike" dirty="0">
                          <a:effectLst/>
                        </a:rPr>
                        <a:t> } from './helpers.js';</a:t>
                      </a:r>
                      <a:r>
                        <a:rPr lang="en-US" sz="1100" u="none" strike="noStrike" dirty="0">
                          <a:effectLst/>
                        </a:rPr>
                        <a:t> - importing a helper function from a local file.</a:t>
                      </a:r>
                      <a:endParaRPr lang="en-US" sz="1000" b="0" i="0" u="none" strike="noStrike" dirty="0">
                        <a:solidFill>
                          <a:srgbClr val="000000"/>
                        </a:solidFill>
                        <a:effectLst/>
                        <a:latin typeface="Arial Unicode MS"/>
                      </a:endParaRPr>
                    </a:p>
                  </a:txBody>
                  <a:tcPr marL="7620" marR="7620" marT="7620" marB="0" anchor="ctr"/>
                </a:tc>
                <a:extLst>
                  <a:ext uri="{0D108BD9-81ED-4DB2-BD59-A6C34878D82A}">
                    <a16:rowId xmlns:a16="http://schemas.microsoft.com/office/drawing/2014/main" val="3280489750"/>
                  </a:ext>
                </a:extLst>
              </a:tr>
              <a:tr h="466156">
                <a:tc>
                  <a:txBody>
                    <a:bodyPr/>
                    <a:lstStyle/>
                    <a:p>
                      <a:pPr algn="l" fontAlgn="ctr"/>
                      <a:r>
                        <a:rPr lang="en-IN" sz="1100" u="none" strike="noStrike">
                          <a:effectLst/>
                        </a:rPr>
                        <a:t>Remote Modules</a:t>
                      </a:r>
                      <a:endParaRPr lang="en-IN"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100" u="none" strike="noStrike">
                          <a:effectLst/>
                        </a:rPr>
                        <a:t>Modules accessed over HTTP(S) from a web server or repository.</a:t>
                      </a:r>
                      <a:endParaRPr lang="en-US"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000" u="none" strike="noStrike" dirty="0">
                          <a:effectLst/>
                        </a:rPr>
                        <a:t>import { </a:t>
                      </a:r>
                      <a:r>
                        <a:rPr lang="en-US" sz="1000" u="none" strike="noStrike" dirty="0" err="1">
                          <a:effectLst/>
                        </a:rPr>
                        <a:t>randomItem</a:t>
                      </a:r>
                      <a:r>
                        <a:rPr lang="en-US" sz="1000" u="none" strike="noStrike" dirty="0">
                          <a:effectLst/>
                        </a:rPr>
                        <a:t> } from 'https://jslib.k6.io/k6-utils/1.2.0/index.js';</a:t>
                      </a:r>
                      <a:r>
                        <a:rPr lang="en-US" sz="1100" u="none" strike="noStrike" dirty="0">
                          <a:effectLst/>
                        </a:rPr>
                        <a:t> - importing from a remote URL.</a:t>
                      </a:r>
                      <a:endParaRPr lang="en-US" sz="1000" b="0" i="0" u="none" strike="noStrike" dirty="0">
                        <a:solidFill>
                          <a:srgbClr val="000000"/>
                        </a:solidFill>
                        <a:effectLst/>
                        <a:latin typeface="Arial Unicode MS"/>
                      </a:endParaRPr>
                    </a:p>
                  </a:txBody>
                  <a:tcPr marL="7620" marR="7620" marT="7620" marB="0" anchor="ctr"/>
                </a:tc>
                <a:extLst>
                  <a:ext uri="{0D108BD9-81ED-4DB2-BD59-A6C34878D82A}">
                    <a16:rowId xmlns:a16="http://schemas.microsoft.com/office/drawing/2014/main" val="2160997766"/>
                  </a:ext>
                </a:extLst>
              </a:tr>
              <a:tr h="699234">
                <a:tc>
                  <a:txBody>
                    <a:bodyPr/>
                    <a:lstStyle/>
                    <a:p>
                      <a:pPr algn="l" fontAlgn="ctr"/>
                      <a:r>
                        <a:rPr lang="en-IN" sz="1100" u="none" strike="noStrike">
                          <a:effectLst/>
                        </a:rPr>
                        <a:t>Extension Modules</a:t>
                      </a:r>
                      <a:endParaRPr lang="en-IN"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100" u="none" strike="noStrike">
                          <a:effectLst/>
                        </a:rPr>
                        <a:t>Custom modules that extend k6 functionality, often written in Go.</a:t>
                      </a:r>
                      <a:endParaRPr lang="en-US"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000" u="none" strike="noStrike" dirty="0">
                          <a:effectLst/>
                        </a:rPr>
                        <a:t>xk6 build --with github.com/</a:t>
                      </a:r>
                      <a:r>
                        <a:rPr lang="en-US" sz="1000" u="none" strike="noStrike" dirty="0" err="1">
                          <a:effectLst/>
                        </a:rPr>
                        <a:t>grafana</a:t>
                      </a:r>
                      <a:r>
                        <a:rPr lang="en-US" sz="1000" u="none" strike="noStrike" dirty="0">
                          <a:effectLst/>
                        </a:rPr>
                        <a:t>/xk6-dashboard@latest</a:t>
                      </a:r>
                      <a:r>
                        <a:rPr lang="en-US" sz="1100" u="none" strike="noStrike" dirty="0">
                          <a:effectLst/>
                        </a:rPr>
                        <a:t> - building k6 with a dashboard extension.</a:t>
                      </a:r>
                      <a:endParaRPr lang="en-US" sz="1000" b="0" i="0" u="none" strike="noStrike" dirty="0">
                        <a:solidFill>
                          <a:srgbClr val="000000"/>
                        </a:solidFill>
                        <a:effectLst/>
                        <a:latin typeface="Arial Unicode MS"/>
                      </a:endParaRPr>
                    </a:p>
                  </a:txBody>
                  <a:tcPr marL="7620" marR="7620" marT="7620" marB="0" anchor="ctr"/>
                </a:tc>
                <a:extLst>
                  <a:ext uri="{0D108BD9-81ED-4DB2-BD59-A6C34878D82A}">
                    <a16:rowId xmlns:a16="http://schemas.microsoft.com/office/drawing/2014/main" val="3006627434"/>
                  </a:ext>
                </a:extLst>
              </a:tr>
            </a:tbl>
          </a:graphicData>
        </a:graphic>
      </p:graphicFrame>
    </p:spTree>
    <p:extLst>
      <p:ext uri="{BB962C8B-B14F-4D97-AF65-F5344CB8AC3E}">
        <p14:creationId xmlns:p14="http://schemas.microsoft.com/office/powerpoint/2010/main" val="3439705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3F6FA-6749-6A46-DBA4-A11DF3ED556F}"/>
              </a:ext>
            </a:extLst>
          </p:cNvPr>
          <p:cNvSpPr>
            <a:spLocks noGrp="1"/>
          </p:cNvSpPr>
          <p:nvPr>
            <p:ph type="title" idx="4294967295"/>
          </p:nvPr>
        </p:nvSpPr>
        <p:spPr>
          <a:xfrm>
            <a:off x="0" y="103188"/>
            <a:ext cx="7886700" cy="993775"/>
          </a:xfrm>
        </p:spPr>
        <p:txBody>
          <a:bodyPr/>
          <a:lstStyle/>
          <a:p>
            <a:r>
              <a:rPr lang="en-IN" dirty="0"/>
              <a:t>Groups</a:t>
            </a:r>
          </a:p>
        </p:txBody>
      </p:sp>
      <p:sp>
        <p:nvSpPr>
          <p:cNvPr id="3" name="Slide Number Placeholder 2">
            <a:extLst>
              <a:ext uri="{FF2B5EF4-FFF2-40B4-BE49-F238E27FC236}">
                <a16:creationId xmlns:a16="http://schemas.microsoft.com/office/drawing/2014/main" id="{DDB81508-4C11-5C8C-5E65-22FBBC89C123}"/>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19</a:t>
            </a:fld>
            <a:endParaRPr lang="en-GB"/>
          </a:p>
        </p:txBody>
      </p:sp>
      <p:pic>
        <p:nvPicPr>
          <p:cNvPr id="5" name="Picture 4">
            <a:extLst>
              <a:ext uri="{FF2B5EF4-FFF2-40B4-BE49-F238E27FC236}">
                <a16:creationId xmlns:a16="http://schemas.microsoft.com/office/drawing/2014/main" id="{79CDFFC3-0BC2-8D74-C7F5-940FDDAA020B}"/>
              </a:ext>
            </a:extLst>
          </p:cNvPr>
          <p:cNvPicPr>
            <a:picLocks noChangeAspect="1"/>
          </p:cNvPicPr>
          <p:nvPr/>
        </p:nvPicPr>
        <p:blipFill>
          <a:blip r:embed="rId2"/>
          <a:stretch>
            <a:fillRect/>
          </a:stretch>
        </p:blipFill>
        <p:spPr>
          <a:xfrm>
            <a:off x="5025759" y="1154561"/>
            <a:ext cx="4118241" cy="3988939"/>
          </a:xfrm>
          <a:prstGeom prst="rect">
            <a:avLst/>
          </a:prstGeom>
        </p:spPr>
      </p:pic>
      <p:sp>
        <p:nvSpPr>
          <p:cNvPr id="7" name="TextBox 6">
            <a:extLst>
              <a:ext uri="{FF2B5EF4-FFF2-40B4-BE49-F238E27FC236}">
                <a16:creationId xmlns:a16="http://schemas.microsoft.com/office/drawing/2014/main" id="{25AA7900-0933-C4E8-3877-0FE63C857A2A}"/>
              </a:ext>
            </a:extLst>
          </p:cNvPr>
          <p:cNvSpPr txBox="1"/>
          <p:nvPr/>
        </p:nvSpPr>
        <p:spPr>
          <a:xfrm>
            <a:off x="262651" y="1097099"/>
            <a:ext cx="4763108" cy="3454792"/>
          </a:xfrm>
          <a:prstGeom prst="rect">
            <a:avLst/>
          </a:prstGeom>
          <a:noFill/>
        </p:spPr>
        <p:txBody>
          <a:bodyPr wrap="square">
            <a:spAutoFit/>
          </a:bodyPr>
          <a:lstStyle/>
          <a:p>
            <a:r>
              <a:rPr lang="en-IN" sz="1150" b="1" dirty="0"/>
              <a:t>What are Groups?</a:t>
            </a:r>
          </a:p>
          <a:p>
            <a:r>
              <a:rPr lang="en-IN" sz="1150" b="1" dirty="0"/>
              <a:t>Definition</a:t>
            </a:r>
            <a:r>
              <a:rPr lang="en-IN" sz="1150" dirty="0"/>
              <a:t>: Groups in k6 are used to organize and structure your load test scripts.</a:t>
            </a:r>
          </a:p>
          <a:p>
            <a:r>
              <a:rPr lang="en-IN" sz="1150" b="1" dirty="0"/>
              <a:t>Purpose</a:t>
            </a:r>
            <a:r>
              <a:rPr lang="en-IN" sz="1150" dirty="0"/>
              <a:t>: They help in categorizing and isolating different parts of your test, making it easier to analyse results.</a:t>
            </a:r>
          </a:p>
          <a:p>
            <a:endParaRPr lang="en-IN" sz="1150" dirty="0"/>
          </a:p>
          <a:p>
            <a:r>
              <a:rPr lang="en-US" sz="1150" b="1" dirty="0"/>
              <a:t>Benefits of Using Groups</a:t>
            </a:r>
          </a:p>
          <a:p>
            <a:pPr marL="285750" indent="-285750">
              <a:buFont typeface="Arial" panose="020B0604020202020204" pitchFamily="34" charset="0"/>
              <a:buChar char="•"/>
            </a:pPr>
            <a:r>
              <a:rPr lang="en-US" sz="1150" dirty="0"/>
              <a:t>Organized Results: Groups help in organizing the results, making it easier to identify which part of the test is causing issues.</a:t>
            </a:r>
          </a:p>
          <a:p>
            <a:pPr marL="285750" indent="-285750">
              <a:buFont typeface="Arial" panose="020B0604020202020204" pitchFamily="34" charset="0"/>
              <a:buChar char="•"/>
            </a:pPr>
            <a:r>
              <a:rPr lang="en-US" sz="1150" dirty="0"/>
              <a:t>Improved Readability: Scripts are more readable and maintainable.</a:t>
            </a:r>
          </a:p>
          <a:p>
            <a:pPr marL="285750" indent="-285750">
              <a:buFont typeface="Arial" panose="020B0604020202020204" pitchFamily="34" charset="0"/>
              <a:buChar char="•"/>
            </a:pPr>
            <a:r>
              <a:rPr lang="en-US" sz="1150" dirty="0"/>
              <a:t>Detailed Analysis: Allows for detailed analysis of specific parts of the test.</a:t>
            </a:r>
          </a:p>
          <a:p>
            <a:pPr marL="285750" indent="-285750">
              <a:buFont typeface="Arial" panose="020B0604020202020204" pitchFamily="34" charset="0"/>
              <a:buChar char="•"/>
            </a:pPr>
            <a:endParaRPr lang="en-US" sz="1150" dirty="0"/>
          </a:p>
          <a:p>
            <a:r>
              <a:rPr lang="en-US" sz="1150" b="1" dirty="0"/>
              <a:t>Best Practices</a:t>
            </a:r>
          </a:p>
          <a:p>
            <a:pPr marL="285750" indent="-285750">
              <a:buFont typeface="Arial" panose="020B0604020202020204" pitchFamily="34" charset="0"/>
              <a:buChar char="•"/>
            </a:pPr>
            <a:r>
              <a:rPr lang="en-US" sz="1150" dirty="0"/>
              <a:t>Meaningful Names: Use meaningful names for groups to clearly indicate what part of the test they represent.</a:t>
            </a:r>
          </a:p>
          <a:p>
            <a:pPr marL="285750" indent="-285750">
              <a:buFont typeface="Arial" panose="020B0604020202020204" pitchFamily="34" charset="0"/>
              <a:buChar char="•"/>
            </a:pPr>
            <a:r>
              <a:rPr lang="en-US" sz="1150" dirty="0"/>
              <a:t>Avoid Async Code: Avoid using asynchronous code within groups to ensure reliable tagging and results.</a:t>
            </a:r>
          </a:p>
        </p:txBody>
      </p:sp>
    </p:spTree>
    <p:extLst>
      <p:ext uri="{BB962C8B-B14F-4D97-AF65-F5344CB8AC3E}">
        <p14:creationId xmlns:p14="http://schemas.microsoft.com/office/powerpoint/2010/main" val="139275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282575"/>
            <a:ext cx="8761413" cy="2673350"/>
          </a:xfrm>
        </p:spPr>
        <p:txBody>
          <a:bodyPr vert="horz" lIns="91440" tIns="45720" rIns="91440" bIns="45720" rtlCol="0" anchor="b">
            <a:normAutofit/>
          </a:bodyPr>
          <a:lstStyle/>
          <a:p>
            <a:pPr algn="ctr"/>
            <a:r>
              <a:rPr lang="en-US" sz="8600" dirty="0">
                <a:ln w="22225">
                  <a:solidFill>
                    <a:schemeClr val="tx1"/>
                  </a:solidFill>
                  <a:miter lim="800000"/>
                </a:ln>
                <a:noFill/>
                <a:latin typeface="+mj-lt"/>
              </a:rPr>
              <a:t>DEMO</a:t>
            </a:r>
          </a:p>
        </p:txBody>
      </p:sp>
    </p:spTree>
    <p:extLst>
      <p:ext uri="{BB962C8B-B14F-4D97-AF65-F5344CB8AC3E}">
        <p14:creationId xmlns:p14="http://schemas.microsoft.com/office/powerpoint/2010/main" val="310399340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5996-5FAA-DB54-87E9-153741FD9050}"/>
              </a:ext>
            </a:extLst>
          </p:cNvPr>
          <p:cNvSpPr>
            <a:spLocks noGrp="1"/>
          </p:cNvSpPr>
          <p:nvPr>
            <p:ph type="title" idx="4294967295"/>
          </p:nvPr>
        </p:nvSpPr>
        <p:spPr>
          <a:xfrm>
            <a:off x="0" y="-96838"/>
            <a:ext cx="7886700" cy="993776"/>
          </a:xfrm>
        </p:spPr>
        <p:txBody>
          <a:bodyPr/>
          <a:lstStyle/>
          <a:p>
            <a:r>
              <a:rPr lang="en-IN"/>
              <a:t>k6 Load Test Results</a:t>
            </a:r>
            <a:endParaRPr lang="en-IN" dirty="0"/>
          </a:p>
        </p:txBody>
      </p:sp>
      <p:sp>
        <p:nvSpPr>
          <p:cNvPr id="3" name="Slide Number Placeholder 2">
            <a:extLst>
              <a:ext uri="{FF2B5EF4-FFF2-40B4-BE49-F238E27FC236}">
                <a16:creationId xmlns:a16="http://schemas.microsoft.com/office/drawing/2014/main" id="{CAA31C69-B78B-0F19-4C48-23F1FD76025C}"/>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21</a:t>
            </a:fld>
            <a:endParaRPr lang="en-GB"/>
          </a:p>
        </p:txBody>
      </p:sp>
      <p:sp>
        <p:nvSpPr>
          <p:cNvPr id="5" name="TextBox 4">
            <a:extLst>
              <a:ext uri="{FF2B5EF4-FFF2-40B4-BE49-F238E27FC236}">
                <a16:creationId xmlns:a16="http://schemas.microsoft.com/office/drawing/2014/main" id="{66566830-7258-FAF9-FD61-99993605A38C}"/>
              </a:ext>
            </a:extLst>
          </p:cNvPr>
          <p:cNvSpPr txBox="1"/>
          <p:nvPr/>
        </p:nvSpPr>
        <p:spPr>
          <a:xfrm>
            <a:off x="866297" y="1002088"/>
            <a:ext cx="2056786" cy="3277820"/>
          </a:xfrm>
          <a:prstGeom prst="rect">
            <a:avLst/>
          </a:prstGeom>
          <a:noFill/>
        </p:spPr>
        <p:txBody>
          <a:bodyPr wrap="square">
            <a:spAutoFit/>
          </a:bodyPr>
          <a:lstStyle/>
          <a:p>
            <a:r>
              <a:rPr lang="en-IN" sz="900" b="1" dirty="0"/>
              <a:t>1. Overview</a:t>
            </a:r>
          </a:p>
          <a:p>
            <a:r>
              <a:rPr lang="en-IN" sz="900" dirty="0"/>
              <a:t>- Test Duration: 10 minutes</a:t>
            </a:r>
          </a:p>
          <a:p>
            <a:r>
              <a:rPr lang="en-IN" sz="900" dirty="0"/>
              <a:t>- Total Requests: 10,000</a:t>
            </a:r>
          </a:p>
          <a:p>
            <a:r>
              <a:rPr lang="en-IN" sz="900" dirty="0"/>
              <a:t>- Concurrent Users: 100</a:t>
            </a:r>
          </a:p>
          <a:p>
            <a:endParaRPr lang="en-IN" sz="900" dirty="0"/>
          </a:p>
          <a:p>
            <a:r>
              <a:rPr lang="en-IN" sz="900" b="1" dirty="0"/>
              <a:t>2. Key Metrics</a:t>
            </a:r>
          </a:p>
          <a:p>
            <a:r>
              <a:rPr lang="en-IN" sz="900" b="1" i="1" dirty="0"/>
              <a:t>- Response Time:</a:t>
            </a:r>
          </a:p>
          <a:p>
            <a:r>
              <a:rPr lang="en-IN" sz="900" dirty="0"/>
              <a:t>  - Average: 200 </a:t>
            </a:r>
            <a:r>
              <a:rPr lang="en-IN" sz="900" dirty="0" err="1"/>
              <a:t>ms</a:t>
            </a:r>
            <a:endParaRPr lang="en-IN" sz="900" dirty="0"/>
          </a:p>
          <a:p>
            <a:r>
              <a:rPr lang="en-IN" sz="900" dirty="0"/>
              <a:t>  - 95th Percentile: 350 </a:t>
            </a:r>
            <a:r>
              <a:rPr lang="en-IN" sz="900" dirty="0" err="1"/>
              <a:t>ms</a:t>
            </a:r>
            <a:endParaRPr lang="en-IN" sz="900" dirty="0"/>
          </a:p>
          <a:p>
            <a:r>
              <a:rPr lang="en-IN" sz="900" dirty="0"/>
              <a:t>  - Max: 500 </a:t>
            </a:r>
            <a:r>
              <a:rPr lang="en-IN" sz="900" dirty="0" err="1"/>
              <a:t>ms</a:t>
            </a:r>
            <a:endParaRPr lang="en-IN" sz="900" dirty="0"/>
          </a:p>
          <a:p>
            <a:endParaRPr lang="en-IN" sz="900" dirty="0"/>
          </a:p>
          <a:p>
            <a:r>
              <a:rPr lang="en-IN" sz="900" dirty="0"/>
              <a:t>- </a:t>
            </a:r>
            <a:r>
              <a:rPr lang="en-IN" sz="900" b="1" i="1" dirty="0"/>
              <a:t>Throughput:</a:t>
            </a:r>
          </a:p>
          <a:p>
            <a:r>
              <a:rPr lang="en-IN" sz="900" dirty="0"/>
              <a:t>  - Requests per Second: 16.67</a:t>
            </a:r>
          </a:p>
          <a:p>
            <a:endParaRPr lang="en-IN" sz="900" dirty="0"/>
          </a:p>
          <a:p>
            <a:r>
              <a:rPr lang="en-IN" sz="900" b="1" i="1" dirty="0"/>
              <a:t>- Error Rate:</a:t>
            </a:r>
          </a:p>
          <a:p>
            <a:r>
              <a:rPr lang="en-IN" sz="900" dirty="0"/>
              <a:t>  - Total Errors: 50</a:t>
            </a:r>
          </a:p>
          <a:p>
            <a:r>
              <a:rPr lang="en-IN" sz="900" dirty="0"/>
              <a:t>  - Error Percentage: 0.5%</a:t>
            </a:r>
          </a:p>
          <a:p>
            <a:endParaRPr lang="en-IN" sz="900" dirty="0"/>
          </a:p>
          <a:p>
            <a:r>
              <a:rPr lang="en-IN" sz="900" b="1" dirty="0"/>
              <a:t>3. Resource Utilization</a:t>
            </a:r>
          </a:p>
          <a:p>
            <a:r>
              <a:rPr lang="en-IN" sz="900" dirty="0"/>
              <a:t>- CPU Usage: 70%</a:t>
            </a:r>
          </a:p>
          <a:p>
            <a:r>
              <a:rPr lang="en-IN" sz="900" dirty="0"/>
              <a:t>- Memory Usage: 60%</a:t>
            </a:r>
          </a:p>
          <a:p>
            <a:endParaRPr lang="en-IN" sz="900" dirty="0"/>
          </a:p>
          <a:p>
            <a:endParaRPr lang="en-IN" sz="900" dirty="0"/>
          </a:p>
        </p:txBody>
      </p:sp>
      <p:sp>
        <p:nvSpPr>
          <p:cNvPr id="6" name="TextBox 5">
            <a:extLst>
              <a:ext uri="{FF2B5EF4-FFF2-40B4-BE49-F238E27FC236}">
                <a16:creationId xmlns:a16="http://schemas.microsoft.com/office/drawing/2014/main" id="{DDEE4FD7-7282-7687-A6C1-492D4132B912}"/>
              </a:ext>
            </a:extLst>
          </p:cNvPr>
          <p:cNvSpPr txBox="1"/>
          <p:nvPr/>
        </p:nvSpPr>
        <p:spPr>
          <a:xfrm>
            <a:off x="3879849" y="939006"/>
            <a:ext cx="5046794" cy="3277820"/>
          </a:xfrm>
          <a:prstGeom prst="rect">
            <a:avLst/>
          </a:prstGeom>
          <a:noFill/>
        </p:spPr>
        <p:txBody>
          <a:bodyPr wrap="square">
            <a:spAutoFit/>
          </a:bodyPr>
          <a:lstStyle/>
          <a:p>
            <a:r>
              <a:rPr lang="en-IN" sz="900" b="1" dirty="0"/>
              <a:t>4. Performance Insights</a:t>
            </a:r>
          </a:p>
          <a:p>
            <a:r>
              <a:rPr lang="en-IN" sz="900" dirty="0"/>
              <a:t>- Bottlenecks Identified:</a:t>
            </a:r>
          </a:p>
          <a:p>
            <a:r>
              <a:rPr lang="en-IN" sz="900" dirty="0"/>
              <a:t>  - High response times during peak load</a:t>
            </a:r>
          </a:p>
          <a:p>
            <a:r>
              <a:rPr lang="en-IN" sz="900" dirty="0"/>
              <a:t>  - Increased error rate when concurrent users exceeded 90</a:t>
            </a:r>
          </a:p>
          <a:p>
            <a:endParaRPr lang="en-IN" sz="900" dirty="0"/>
          </a:p>
          <a:p>
            <a:r>
              <a:rPr lang="en-IN" sz="900" dirty="0"/>
              <a:t>- Recommendations:</a:t>
            </a:r>
          </a:p>
          <a:p>
            <a:r>
              <a:rPr lang="en-IN" sz="900" dirty="0"/>
              <a:t>  - Optimize database queries</a:t>
            </a:r>
          </a:p>
          <a:p>
            <a:r>
              <a:rPr lang="en-IN" sz="900" dirty="0"/>
              <a:t>  - Scale server resources during peak times</a:t>
            </a:r>
          </a:p>
          <a:p>
            <a:endParaRPr lang="en-IN" sz="900" dirty="0"/>
          </a:p>
          <a:p>
            <a:r>
              <a:rPr lang="en-IN" sz="900" b="1" dirty="0"/>
              <a:t>5. Detailed Metrics Breakdown</a:t>
            </a:r>
          </a:p>
          <a:p>
            <a:r>
              <a:rPr lang="en-IN" sz="900" b="1" i="1" dirty="0"/>
              <a:t>- HTTP Request Duration:</a:t>
            </a:r>
          </a:p>
          <a:p>
            <a:r>
              <a:rPr lang="en-IN" sz="900" dirty="0"/>
              <a:t>  - Min: 150 </a:t>
            </a:r>
            <a:r>
              <a:rPr lang="en-IN" sz="900" dirty="0" err="1"/>
              <a:t>ms</a:t>
            </a:r>
            <a:endParaRPr lang="en-IN" sz="900" dirty="0"/>
          </a:p>
          <a:p>
            <a:r>
              <a:rPr lang="en-IN" sz="900" dirty="0"/>
              <a:t>  - Median: 200 </a:t>
            </a:r>
            <a:r>
              <a:rPr lang="en-IN" sz="900" dirty="0" err="1"/>
              <a:t>ms</a:t>
            </a:r>
            <a:endParaRPr lang="en-IN" sz="900" dirty="0"/>
          </a:p>
          <a:p>
            <a:r>
              <a:rPr lang="en-IN" sz="900" dirty="0"/>
              <a:t>  - 90th Percentile: 300 </a:t>
            </a:r>
            <a:r>
              <a:rPr lang="en-IN" sz="900" dirty="0" err="1"/>
              <a:t>ms</a:t>
            </a:r>
            <a:endParaRPr lang="en-IN" sz="900" dirty="0"/>
          </a:p>
          <a:p>
            <a:endParaRPr lang="en-IN" sz="900" dirty="0"/>
          </a:p>
          <a:p>
            <a:r>
              <a:rPr lang="en-IN" sz="900" b="1" i="1" dirty="0"/>
              <a:t>- HTTP Response Codes:</a:t>
            </a:r>
          </a:p>
          <a:p>
            <a:r>
              <a:rPr lang="en-IN" sz="900" dirty="0"/>
              <a:t>  - 200 OK: 9,950</a:t>
            </a:r>
          </a:p>
          <a:p>
            <a:r>
              <a:rPr lang="en-IN" sz="900" dirty="0"/>
              <a:t>  - 500 Internal Server Error: 50</a:t>
            </a:r>
          </a:p>
          <a:p>
            <a:endParaRPr lang="en-IN" sz="900" dirty="0"/>
          </a:p>
          <a:p>
            <a:r>
              <a:rPr lang="en-US" sz="900" b="1" dirty="0"/>
              <a:t>6. Visualizations</a:t>
            </a:r>
          </a:p>
          <a:p>
            <a:r>
              <a:rPr lang="en-US" sz="900" dirty="0"/>
              <a:t>- Response Time Distribution: Graph showing the distribution of response times.</a:t>
            </a:r>
          </a:p>
          <a:p>
            <a:r>
              <a:rPr lang="en-US" sz="900" dirty="0"/>
              <a:t>- Error Rate Over Time: Graph showing error rates throughout the test duration.</a:t>
            </a:r>
          </a:p>
          <a:p>
            <a:r>
              <a:rPr lang="en-US" sz="900" dirty="0"/>
              <a:t>- Resource Utilization Trends: Graphs showing CPU and memory usage over time.</a:t>
            </a:r>
            <a:endParaRPr lang="en-IN" sz="900" dirty="0"/>
          </a:p>
        </p:txBody>
      </p:sp>
    </p:spTree>
    <p:extLst>
      <p:ext uri="{BB962C8B-B14F-4D97-AF65-F5344CB8AC3E}">
        <p14:creationId xmlns:p14="http://schemas.microsoft.com/office/powerpoint/2010/main" val="3799868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uh Jackie Chan TEFL | English fun, How to memorize things, Teaching english">
            <a:extLst>
              <a:ext uri="{FF2B5EF4-FFF2-40B4-BE49-F238E27FC236}">
                <a16:creationId xmlns:a16="http://schemas.microsoft.com/office/drawing/2014/main" id="{26D55343-77B9-1FF0-CC66-7EDF2F0B14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31" t="9091" r="22092" b="2"/>
          <a:stretch/>
        </p:blipFill>
        <p:spPr bwMode="auto">
          <a:xfrm>
            <a:off x="2642616" y="10"/>
            <a:ext cx="6501384" cy="51434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F772C7-500A-2223-813E-1095508A88F4}"/>
              </a:ext>
            </a:extLst>
          </p:cNvPr>
          <p:cNvSpPr>
            <a:spLocks noGrp="1"/>
          </p:cNvSpPr>
          <p:nvPr>
            <p:ph type="title" idx="4294967295"/>
          </p:nvPr>
        </p:nvSpPr>
        <p:spPr>
          <a:xfrm>
            <a:off x="0" y="841375"/>
            <a:ext cx="3017838" cy="2403475"/>
          </a:xfrm>
        </p:spPr>
        <p:txBody>
          <a:bodyPr vert="horz" lIns="91440" tIns="45720" rIns="91440" bIns="45720" rtlCol="0" anchor="b">
            <a:normAutofit/>
          </a:bodyPr>
          <a:lstStyle/>
          <a:p>
            <a:r>
              <a:rPr lang="en-US" sz="3600">
                <a:solidFill>
                  <a:schemeClr val="bg1"/>
                </a:solidFill>
                <a:latin typeface="+mj-lt"/>
              </a:rPr>
              <a:t>Any Questions?</a:t>
            </a:r>
          </a:p>
        </p:txBody>
      </p:sp>
      <p:sp>
        <p:nvSpPr>
          <p:cNvPr id="3" name="Slide Number Placeholder 2">
            <a:extLst>
              <a:ext uri="{FF2B5EF4-FFF2-40B4-BE49-F238E27FC236}">
                <a16:creationId xmlns:a16="http://schemas.microsoft.com/office/drawing/2014/main" id="{37B5F0C2-DC39-CF5D-933A-058A848D9201}"/>
              </a:ext>
            </a:extLst>
          </p:cNvPr>
          <p:cNvSpPr>
            <a:spLocks noGrp="1"/>
          </p:cNvSpPr>
          <p:nvPr>
            <p:ph type="sldNum" idx="4294967295"/>
          </p:nvPr>
        </p:nvSpPr>
        <p:spPr>
          <a:xfrm>
            <a:off x="8535988" y="4632325"/>
            <a:ext cx="608012" cy="274638"/>
          </a:xfrm>
        </p:spPr>
        <p:txBody>
          <a:bodyPr vert="horz" lIns="91440" tIns="45720" rIns="91440" bIns="45720" rtlCol="0" anchor="ctr">
            <a:normAutofit/>
          </a:bodyPr>
          <a:lstStyle/>
          <a:p>
            <a:pPr>
              <a:spcAft>
                <a:spcPts val="600"/>
              </a:spcAft>
              <a:buClrTx/>
              <a:defRPr/>
            </a:pPr>
            <a:fld id="{00000000-1234-1234-1234-123412341234}" type="slidenum">
              <a:rPr lang="en-US" kern="1200">
                <a:solidFill>
                  <a:schemeClr val="bg1"/>
                </a:solidFill>
                <a:latin typeface="Calibri" panose="020F0502020204030204"/>
                <a:ea typeface="+mn-ea"/>
                <a:cs typeface="+mn-cs"/>
              </a:rPr>
              <a:pPr>
                <a:spcAft>
                  <a:spcPts val="600"/>
                </a:spcAft>
                <a:buClrTx/>
                <a:defRPr/>
              </a:pPr>
              <a:t>22</a:t>
            </a:fld>
            <a:endParaRPr lang="en-US" kern="1200">
              <a:solidFill>
                <a:schemeClr val="bg1"/>
              </a:solidFill>
              <a:latin typeface="Calibri" panose="020F0502020204030204"/>
              <a:ea typeface="+mn-ea"/>
              <a:cs typeface="+mn-cs"/>
            </a:endParaRPr>
          </a:p>
        </p:txBody>
      </p:sp>
    </p:spTree>
    <p:extLst>
      <p:ext uri="{BB962C8B-B14F-4D97-AF65-F5344CB8AC3E}">
        <p14:creationId xmlns:p14="http://schemas.microsoft.com/office/powerpoint/2010/main" val="281862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B1A-1FEB-2267-47CC-A145314A7982}"/>
              </a:ext>
            </a:extLst>
          </p:cNvPr>
          <p:cNvSpPr>
            <a:spLocks noGrp="1"/>
          </p:cNvSpPr>
          <p:nvPr>
            <p:ph type="ctrTitle" idx="4294967295"/>
          </p:nvPr>
        </p:nvSpPr>
        <p:spPr>
          <a:xfrm>
            <a:off x="0" y="104775"/>
            <a:ext cx="6858000" cy="798513"/>
          </a:xfrm>
        </p:spPr>
        <p:txBody>
          <a:bodyPr/>
          <a:lstStyle/>
          <a:p>
            <a:r>
              <a:rPr lang="en-GB" sz="4800" dirty="0"/>
              <a:t>                 Thank You</a:t>
            </a:r>
            <a:endParaRPr lang="en-GB" dirty="0"/>
          </a:p>
        </p:txBody>
      </p:sp>
      <p:pic>
        <p:nvPicPr>
          <p:cNvPr id="4" name="Picture 3">
            <a:extLst>
              <a:ext uri="{FF2B5EF4-FFF2-40B4-BE49-F238E27FC236}">
                <a16:creationId xmlns:a16="http://schemas.microsoft.com/office/drawing/2014/main" id="{07637D99-E2A5-7232-9353-81B282338CA6}"/>
              </a:ext>
            </a:extLst>
          </p:cNvPr>
          <p:cNvPicPr>
            <a:picLocks noChangeAspect="1"/>
          </p:cNvPicPr>
          <p:nvPr/>
        </p:nvPicPr>
        <p:blipFill>
          <a:blip r:embed="rId2"/>
          <a:stretch>
            <a:fillRect/>
          </a:stretch>
        </p:blipFill>
        <p:spPr>
          <a:xfrm>
            <a:off x="2320051" y="1060735"/>
            <a:ext cx="4701947" cy="3238781"/>
          </a:xfrm>
          <a:prstGeom prst="rect">
            <a:avLst/>
          </a:prstGeom>
        </p:spPr>
      </p:pic>
    </p:spTree>
    <p:extLst>
      <p:ext uri="{BB962C8B-B14F-4D97-AF65-F5344CB8AC3E}">
        <p14:creationId xmlns:p14="http://schemas.microsoft.com/office/powerpoint/2010/main" val="12317723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147fadb0-dc0d-43dc-a136-3ca320f36535"/>
</p:tagLst>
</file>

<file path=ppt/theme/theme1.xml><?xml version="1.0" encoding="utf-8"?>
<a:theme xmlns:a="http://schemas.openxmlformats.org/drawingml/2006/main" name="Custom Design">
  <a:themeElements>
    <a:clrScheme name="Microlise 1">
      <a:dk1>
        <a:srgbClr val="151D24"/>
      </a:dk1>
      <a:lt1>
        <a:srgbClr val="FFFFFF"/>
      </a:lt1>
      <a:dk2>
        <a:srgbClr val="152644"/>
      </a:dk2>
      <a:lt2>
        <a:srgbClr val="DEDEDE"/>
      </a:lt2>
      <a:accent1>
        <a:srgbClr val="01CBDE"/>
      </a:accent1>
      <a:accent2>
        <a:srgbClr val="DCFF66"/>
      </a:accent2>
      <a:accent3>
        <a:srgbClr val="ED4956"/>
      </a:accent3>
      <a:accent4>
        <a:srgbClr val="F99D4C"/>
      </a:accent4>
      <a:accent5>
        <a:srgbClr val="FFD059"/>
      </a:accent5>
      <a:accent6>
        <a:srgbClr val="00B683"/>
      </a:accent6>
      <a:hlink>
        <a:srgbClr val="787DB8"/>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00358E885EF0F4F8F8DFC987A203D95" ma:contentTypeVersion="20" ma:contentTypeDescription="Create a new document." ma:contentTypeScope="" ma:versionID="390185d194b902d00a2344e44d44c3ff">
  <xsd:schema xmlns:xsd="http://www.w3.org/2001/XMLSchema" xmlns:xs="http://www.w3.org/2001/XMLSchema" xmlns:p="http://schemas.microsoft.com/office/2006/metadata/properties" xmlns:ns2="67a3356a-583d-4f3a-b665-f2ca97d84155" xmlns:ns3="32dab30a-f4c4-4f05-ba0a-942c1a61d7e0" targetNamespace="http://schemas.microsoft.com/office/2006/metadata/properties" ma:root="true" ma:fieldsID="c497c199f589af4eb230f125c09ce468" ns2:_="" ns3:_="">
    <xsd:import namespace="67a3356a-583d-4f3a-b665-f2ca97d84155"/>
    <xsd:import namespace="32dab30a-f4c4-4f05-ba0a-942c1a61d7e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IPT" minOccurs="0"/>
                <xsd:element ref="ns2:lcf76f155ced4ddcb4097134ff3c332f" minOccurs="0"/>
                <xsd:element ref="ns3:TaxCatchAll" minOccurs="0"/>
                <xsd:element ref="ns2:Comment"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a3356a-583d-4f3a-b665-f2ca97d841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IPT" ma:index="20" nillable="true" ma:displayName="IPT" ma:description="The choice of IPT which IPT the folder or document belongs to." ma:format="Dropdown" ma:internalName="IPT">
      <xsd:simpleType>
        <xsd:union memberTypes="dms:Text">
          <xsd:simpleType>
            <xsd:restriction base="dms:Choice">
              <xsd:enumeration value="HUMS"/>
              <xsd:enumeration value="TransOPS"/>
              <xsd:enumeration value="Driver Efficiency"/>
              <xsd:enumeration value="Choice 4"/>
            </xsd:restriction>
          </xsd:simpleType>
        </xsd:un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c799105-ea28-4639-badb-665c0011756e" ma:termSetId="09814cd3-568e-fe90-9814-8d621ff8fb84" ma:anchorId="fba54fb3-c3e1-fe81-a776-ca4b69148c4d" ma:open="true" ma:isKeyword="false">
      <xsd:complexType>
        <xsd:sequence>
          <xsd:element ref="pc:Terms" minOccurs="0" maxOccurs="1"/>
        </xsd:sequence>
      </xsd:complexType>
    </xsd:element>
    <xsd:element name="Comment" ma:index="24" nillable="true" ma:displayName="Comment" ma:format="Dropdown" ma:internalName="Comment">
      <xsd:simpleType>
        <xsd:restriction base="dms:Text">
          <xsd:maxLength value="255"/>
        </xsd:restriction>
      </xsd:simpleType>
    </xsd:element>
    <xsd:element name="MediaServiceLocation" ma:index="25" nillable="true" ma:displayName="Location" ma:internalName="MediaServiceLocation" ma:readOnly="true">
      <xsd:simpleType>
        <xsd:restriction base="dms:Text"/>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dab30a-f4c4-4f05-ba0a-942c1a61d7e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253562ff-64a3-4da5-91fa-7a1c1da17d23}" ma:internalName="TaxCatchAll" ma:showField="CatchAllData" ma:web="32dab30a-f4c4-4f05-ba0a-942c1a61d7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32dab30a-f4c4-4f05-ba0a-942c1a61d7e0">
      <UserInfo>
        <DisplayName>SharingLinks.78817788-0d8b-4041-ad2b-e5b6b80224b6.OrganizationEdit.3dde1475-bbe2-4c66-9c61-22c202b2f9b9</DisplayName>
        <AccountId>23</AccountId>
        <AccountType/>
      </UserInfo>
      <UserInfo>
        <DisplayName>Mark Beasley</DisplayName>
        <AccountId>452</AccountId>
        <AccountType/>
      </UserInfo>
      <UserInfo>
        <DisplayName>Georgia Smith</DisplayName>
        <AccountId>181</AccountId>
        <AccountType/>
      </UserInfo>
      <UserInfo>
        <DisplayName>Paul Gattini</DisplayName>
        <AccountId>69</AccountId>
        <AccountType/>
      </UserInfo>
      <UserInfo>
        <DisplayName>Michael Lockwood</DisplayName>
        <AccountId>68</AccountId>
        <AccountType/>
      </UserInfo>
      <UserInfo>
        <DisplayName>Rahul Rajabhoj</DisplayName>
        <AccountId>504</AccountId>
        <AccountType/>
      </UserInfo>
      <UserInfo>
        <DisplayName>Ellen Smedley</DisplayName>
        <AccountId>109</AccountId>
        <AccountType/>
      </UserInfo>
      <UserInfo>
        <DisplayName>Sujit Nankar</DisplayName>
        <AccountId>118</AccountId>
        <AccountType/>
      </UserInfo>
      <UserInfo>
        <DisplayName>Brynjar Armannsson</DisplayName>
        <AccountId>411</AccountId>
        <AccountType/>
      </UserInfo>
      <UserInfo>
        <DisplayName>Esme Short</DisplayName>
        <AccountId>629</AccountId>
        <AccountType/>
      </UserInfo>
      <UserInfo>
        <DisplayName>Len Mifsud</DisplayName>
        <AccountId>80</AccountId>
        <AccountType/>
      </UserInfo>
      <UserInfo>
        <DisplayName>Sarah Wilkinson</DisplayName>
        <AccountId>628</AccountId>
        <AccountType/>
      </UserInfo>
      <UserInfo>
        <DisplayName>Chris Williams</DisplayName>
        <AccountId>955</AccountId>
        <AccountType/>
      </UserInfo>
      <UserInfo>
        <DisplayName>Soniya Chaudhari</DisplayName>
        <AccountId>672</AccountId>
        <AccountType/>
      </UserInfo>
      <UserInfo>
        <DisplayName>Mary Mallan</DisplayName>
        <AccountId>508</AccountId>
        <AccountType/>
      </UserInfo>
      <UserInfo>
        <DisplayName>Archana Sharma</DisplayName>
        <AccountId>206</AccountId>
        <AccountType/>
      </UserInfo>
      <UserInfo>
        <DisplayName>Steve Redford</DisplayName>
        <AccountId>45</AccountId>
        <AccountType/>
      </UserInfo>
      <UserInfo>
        <DisplayName>Samantha Watson</DisplayName>
        <AccountId>135</AccountId>
        <AccountType/>
      </UserInfo>
    </SharedWithUsers>
    <lcf76f155ced4ddcb4097134ff3c332f xmlns="67a3356a-583d-4f3a-b665-f2ca97d84155">
      <Terms xmlns="http://schemas.microsoft.com/office/infopath/2007/PartnerControls"/>
    </lcf76f155ced4ddcb4097134ff3c332f>
    <TaxCatchAll xmlns="32dab30a-f4c4-4f05-ba0a-942c1a61d7e0" xsi:nil="true"/>
    <IPT xmlns="67a3356a-583d-4f3a-b665-f2ca97d84155" xsi:nil="true"/>
    <Comment xmlns="67a3356a-583d-4f3a-b665-f2ca97d84155" xsi:nil="true"/>
  </documentManagement>
</p:properties>
</file>

<file path=customXml/itemProps1.xml><?xml version="1.0" encoding="utf-8"?>
<ds:datastoreItem xmlns:ds="http://schemas.openxmlformats.org/officeDocument/2006/customXml" ds:itemID="{5C88A4F5-A543-4D0B-A6DF-B22A024DEC7E}">
  <ds:schemaRefs>
    <ds:schemaRef ds:uri="http://schemas.microsoft.com/sharepoint/v3/contenttype/forms"/>
  </ds:schemaRefs>
</ds:datastoreItem>
</file>

<file path=customXml/itemProps2.xml><?xml version="1.0" encoding="utf-8"?>
<ds:datastoreItem xmlns:ds="http://schemas.openxmlformats.org/officeDocument/2006/customXml" ds:itemID="{108DFD60-8B23-4371-8EA7-FBAAAB526D83}">
  <ds:schemaRefs>
    <ds:schemaRef ds:uri="32dab30a-f4c4-4f05-ba0a-942c1a61d7e0"/>
    <ds:schemaRef ds:uri="67a3356a-583d-4f3a-b665-f2ca97d841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94F6324-DD28-4292-8006-1CE04340D296}">
  <ds:schemaRefs>
    <ds:schemaRef ds:uri="http://purl.org/dc/elements/1.1/"/>
    <ds:schemaRef ds:uri="32dab30a-f4c4-4f05-ba0a-942c1a61d7e0"/>
    <ds:schemaRef ds:uri="http://schemas.microsoft.com/office/infopath/2007/PartnerControls"/>
    <ds:schemaRef ds:uri="67a3356a-583d-4f3a-b665-f2ca97d84155"/>
    <ds:schemaRef ds:uri="http://purl.org/dc/terms/"/>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11182</TotalTime>
  <Words>2103</Words>
  <Application>Microsoft Office PowerPoint</Application>
  <PresentationFormat>On-screen Show (16:9)</PresentationFormat>
  <Paragraphs>332</Paragraphs>
  <Slides>23</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Outfit Light</vt:lpstr>
      <vt:lpstr>Calibri</vt:lpstr>
      <vt:lpstr>Arial</vt:lpstr>
      <vt:lpstr>Arial Unicode MS</vt:lpstr>
      <vt:lpstr>DM Sans</vt:lpstr>
      <vt:lpstr>Roboto Mono</vt:lpstr>
      <vt:lpstr>Archia</vt:lpstr>
      <vt:lpstr>Aptos Narrow</vt:lpstr>
      <vt:lpstr>Custom Design</vt:lpstr>
      <vt:lpstr> k6 Load Testing</vt:lpstr>
      <vt:lpstr>Agenda</vt:lpstr>
      <vt:lpstr>Myths about load testing</vt:lpstr>
      <vt:lpstr>Introduction to K6</vt:lpstr>
      <vt:lpstr>k6 offerings</vt:lpstr>
      <vt:lpstr>xK6 Installation</vt:lpstr>
      <vt:lpstr>K6 Build Upon</vt:lpstr>
      <vt:lpstr>K6 vs Jmeter</vt:lpstr>
      <vt:lpstr>LOAD TESTING TYPE</vt:lpstr>
      <vt:lpstr>Purpose of Load Testing</vt:lpstr>
      <vt:lpstr>K6 Essentials</vt:lpstr>
      <vt:lpstr>Options In K6</vt:lpstr>
      <vt:lpstr>CHECKS</vt:lpstr>
      <vt:lpstr>Threshold</vt:lpstr>
      <vt:lpstr>Build-in Metrics</vt:lpstr>
      <vt:lpstr>Custom Metrics</vt:lpstr>
      <vt:lpstr>Test lifecycle</vt:lpstr>
      <vt:lpstr>Modules</vt:lpstr>
      <vt:lpstr>Groups</vt:lpstr>
      <vt:lpstr>DEMO</vt:lpstr>
      <vt:lpstr>k6 Load Test Results</vt:lpstr>
      <vt:lpstr>Any Questions?</vt:lpstr>
      <vt:lpstr>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Charlie Brackley</dc:creator>
  <cp:keywords/>
  <dc:description/>
  <cp:lastModifiedBy>Anish Jain</cp:lastModifiedBy>
  <cp:revision>137</cp:revision>
  <dcterms:modified xsi:type="dcterms:W3CDTF">2025-12-06T06:35:05Z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0x010100300358E885EF0F4F8F8DFC987A203D95</vt:lpwstr>
  </property>
  <property fmtid="{D5CDD505-2E9C-101B-9397-08002B2CF9AE}" pid="3" name="MediaServiceImageTags">
    <vt:lpwstr/>
  </property>
</Properties>
</file>