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4"/>
  </p:sldMasterIdLst>
  <p:notesMasterIdLst>
    <p:notesMasterId r:id="rId28"/>
  </p:notesMasterIdLst>
  <p:handoutMasterIdLst>
    <p:handoutMasterId r:id="rId29"/>
  </p:handoutMasterIdLst>
  <p:sldIdLst>
    <p:sldId id="507" r:id="rId5"/>
    <p:sldId id="501" r:id="rId6"/>
    <p:sldId id="260" r:id="rId7"/>
    <p:sldId id="502" r:id="rId8"/>
    <p:sldId id="498" r:id="rId9"/>
    <p:sldId id="479" r:id="rId10"/>
    <p:sldId id="470" r:id="rId11"/>
    <p:sldId id="480" r:id="rId12"/>
    <p:sldId id="482" r:id="rId13"/>
    <p:sldId id="483" r:id="rId14"/>
    <p:sldId id="484" r:id="rId15"/>
    <p:sldId id="486" r:id="rId16"/>
    <p:sldId id="487" r:id="rId17"/>
    <p:sldId id="499" r:id="rId18"/>
    <p:sldId id="489" r:id="rId19"/>
    <p:sldId id="490" r:id="rId20"/>
    <p:sldId id="491" r:id="rId21"/>
    <p:sldId id="494" r:id="rId22"/>
    <p:sldId id="497" r:id="rId23"/>
    <p:sldId id="506" r:id="rId24"/>
    <p:sldId id="505" r:id="rId25"/>
    <p:sldId id="496" r:id="rId26"/>
    <p:sldId id="485" r:id="rId27"/>
  </p:sldIdLst>
  <p:sldSz cx="9144000" cy="5143500" type="screen16x9"/>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mplates" id="{BC477E50-3BA7-47D4-8601-237D0403A4EB}">
          <p14:sldIdLst>
            <p14:sldId id="507"/>
            <p14:sldId id="501"/>
            <p14:sldId id="260"/>
            <p14:sldId id="502"/>
            <p14:sldId id="498"/>
            <p14:sldId id="479"/>
            <p14:sldId id="470"/>
            <p14:sldId id="480"/>
            <p14:sldId id="482"/>
            <p14:sldId id="483"/>
            <p14:sldId id="484"/>
            <p14:sldId id="486"/>
            <p14:sldId id="487"/>
            <p14:sldId id="499"/>
            <p14:sldId id="489"/>
            <p14:sldId id="490"/>
            <p14:sldId id="491"/>
            <p14:sldId id="494"/>
            <p14:sldId id="497"/>
            <p14:sldId id="506"/>
            <p14:sldId id="505"/>
            <p14:sldId id="496"/>
            <p14:sldId id="485"/>
          </p14:sldIdLst>
        </p14:section>
        <p14:section name="Guidance Slides" id="{735D7F38-2138-4D00-9569-83E98BE36F1F}">
          <p14:sldIdLst/>
        </p14:section>
      </p14:sectionLst>
    </p:ext>
    <p:ext uri="{EFAFB233-063F-42B5-8137-9DF3F51BA10A}">
      <p15:sldGuideLst xmlns:p15="http://schemas.microsoft.com/office/powerpoint/2012/main">
        <p15:guide id="1" orient="horz" pos="1620"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5BF"/>
    <a:srgbClr val="25282A"/>
    <a:srgbClr val="F5F4F4"/>
    <a:srgbClr val="E400FF"/>
    <a:srgbClr val="A700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4" autoAdjust="0"/>
    <p:restoredTop sz="88023" autoAdjust="0"/>
  </p:normalViewPr>
  <p:slideViewPr>
    <p:cSldViewPr snapToGrid="0" snapToObjects="1">
      <p:cViewPr varScale="1">
        <p:scale>
          <a:sx n="96" d="100"/>
          <a:sy n="96" d="100"/>
        </p:scale>
        <p:origin x="269" y="62"/>
      </p:cViewPr>
      <p:guideLst>
        <p:guide orient="horz" pos="1620"/>
        <p:guide pos="2880"/>
      </p:guideLst>
    </p:cSldViewPr>
  </p:slideViewPr>
  <p:outlineViewPr>
    <p:cViewPr>
      <p:scale>
        <a:sx n="33" d="100"/>
        <a:sy n="33" d="100"/>
      </p:scale>
      <p:origin x="0" y="-17840"/>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C6ACB067-E662-204F-96BB-F5C554C5695C}" type="datetimeFigureOut">
              <a:rPr lang="en-US" smtClean="0"/>
              <a:pPr/>
              <a:t>12/6/2025</a:t>
            </a:fld>
            <a:endParaRPr lang="en-US" dirty="0"/>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D177663A-02F7-4644-802F-2EFA34073691}" type="slidenum">
              <a:rPr lang="en-US" smtClean="0"/>
              <a:pPr/>
              <a:t>‹#›</a:t>
            </a:fld>
            <a:endParaRPr lang="en-US" dirty="0"/>
          </a:p>
        </p:txBody>
      </p:sp>
    </p:spTree>
    <p:extLst>
      <p:ext uri="{BB962C8B-B14F-4D97-AF65-F5344CB8AC3E}">
        <p14:creationId xmlns:p14="http://schemas.microsoft.com/office/powerpoint/2010/main" val="22012418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4F1955E7-FF17-A441-90F6-61120954C635}" type="datetimeFigureOut">
              <a:rPr lang="en-US" smtClean="0"/>
              <a:pPr/>
              <a:t>12/6/2025</a:t>
            </a:fld>
            <a:endParaRPr lang="en-US" dirty="0"/>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34EF99D4-2D81-EE47-AF99-EAAF470997A3}" type="slidenum">
              <a:rPr lang="en-US" smtClean="0"/>
              <a:pPr/>
              <a:t>‹#›</a:t>
            </a:fld>
            <a:endParaRPr lang="en-US" dirty="0"/>
          </a:p>
        </p:txBody>
      </p:sp>
    </p:spTree>
    <p:extLst>
      <p:ext uri="{BB962C8B-B14F-4D97-AF65-F5344CB8AC3E}">
        <p14:creationId xmlns:p14="http://schemas.microsoft.com/office/powerpoint/2010/main" val="752291803"/>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4EF99D4-2D81-EE47-AF99-EAAF470997A3}" type="slidenum">
              <a:rPr lang="en-US" smtClean="0"/>
              <a:pPr/>
              <a:t>2</a:t>
            </a:fld>
            <a:endParaRPr lang="en-US" dirty="0"/>
          </a:p>
        </p:txBody>
      </p:sp>
    </p:spTree>
    <p:extLst>
      <p:ext uri="{BB962C8B-B14F-4D97-AF65-F5344CB8AC3E}">
        <p14:creationId xmlns:p14="http://schemas.microsoft.com/office/powerpoint/2010/main" val="3134934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4EF99D4-2D81-EE47-AF99-EAAF470997A3}" type="slidenum">
              <a:rPr lang="en-US" smtClean="0"/>
              <a:pPr/>
              <a:t>20</a:t>
            </a:fld>
            <a:endParaRPr lang="en-US" dirty="0"/>
          </a:p>
        </p:txBody>
      </p:sp>
    </p:spTree>
    <p:extLst>
      <p:ext uri="{BB962C8B-B14F-4D97-AF65-F5344CB8AC3E}">
        <p14:creationId xmlns:p14="http://schemas.microsoft.com/office/powerpoint/2010/main" val="11716421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s/slide1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bg2">
                    <a:lumMod val="40000"/>
                    <a:lumOff val="6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pic>
        <p:nvPicPr>
          <p:cNvPr id="7" name="Picture 6">
            <a:extLst>
              <a:ext uri="{FF2B5EF4-FFF2-40B4-BE49-F238E27FC236}">
                <a16:creationId xmlns:a16="http://schemas.microsoft.com/office/drawing/2014/main" id="{5AFFC943-7323-A49D-27F6-A36E6EBDA545}"/>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12713" b="26287"/>
          <a:stretch/>
        </p:blipFill>
        <p:spPr>
          <a:xfrm>
            <a:off x="0" y="0"/>
            <a:ext cx="9203734" cy="5181600"/>
          </a:xfrm>
          <a:prstGeom prst="rect">
            <a:avLst/>
          </a:prstGeom>
        </p:spPr>
      </p:pic>
      <p:sp>
        <p:nvSpPr>
          <p:cNvPr id="8" name="Rectangle 7">
            <a:extLst>
              <a:ext uri="{FF2B5EF4-FFF2-40B4-BE49-F238E27FC236}">
                <a16:creationId xmlns:a16="http://schemas.microsoft.com/office/drawing/2014/main" id="{C9AD4E2E-8007-BA1C-CB99-34AD18D41804}"/>
              </a:ext>
            </a:extLst>
          </p:cNvPr>
          <p:cNvSpPr/>
          <p:nvPr userDrawn="1"/>
        </p:nvSpPr>
        <p:spPr>
          <a:xfrm>
            <a:off x="1" y="1"/>
            <a:ext cx="5496339" cy="413467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pic>
        <p:nvPicPr>
          <p:cNvPr id="9" name="Picture 2" descr="Y:\Branding &amp; Graphics JD\Microlise Logos\Standard logo\White\PNG\Microlise_Logo_White_800px_web.png">
            <a:extLst>
              <a:ext uri="{FF2B5EF4-FFF2-40B4-BE49-F238E27FC236}">
                <a16:creationId xmlns:a16="http://schemas.microsoft.com/office/drawing/2014/main" id="{13E8F0DE-7FDD-42D8-E1D1-6709AF880D69}"/>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7272983" y="4134679"/>
            <a:ext cx="1594620" cy="7269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122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68778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36566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18336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08665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66549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03146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5"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5"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54589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2337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39221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3475945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1" name="Text Placeholder 3"/>
          <p:cNvSpPr>
            <a:spLocks noGrp="1"/>
          </p:cNvSpPr>
          <p:nvPr>
            <p:ph type="body" sz="half" idx="14"/>
          </p:nvPr>
        </p:nvSpPr>
        <p:spPr>
          <a:xfrm>
            <a:off x="1447800" y="2828380"/>
            <a:ext cx="5459737" cy="256631"/>
          </a:xfrm>
        </p:spPr>
        <p:txBody>
          <a:bodyPr vert="horz" lIns="91440" tIns="45720" rIns="91440" bIns="45720" rtlCol="0" anchor="t">
            <a:normAutofit/>
          </a:bodyPr>
          <a:lstStyle>
            <a:lvl1pPr marL="0" indent="0">
              <a:buNone/>
              <a:defRPr lang="en-US" sz="1050" b="0" i="0" kern="1200" cap="small" dirty="0">
                <a:solidFill>
                  <a:schemeClr val="bg2">
                    <a:lumMod val="40000"/>
                    <a:lumOff val="60000"/>
                  </a:schemeClr>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lvl="0" indent="0">
              <a:buNone/>
            </a:pPr>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
        <p:nvSpPr>
          <p:cNvPr id="15" name="TextBox 14"/>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179762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bg2">
                    <a:lumMod val="40000"/>
                    <a:lumOff val="6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26203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12/6/2025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94871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bg2">
                    <a:lumMod val="40000"/>
                    <a:lumOff val="6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9" name="Straight Connector 18"/>
          <p:cNvCxnSpPr/>
          <p:nvPr/>
        </p:nvCxnSpPr>
        <p:spPr>
          <a:xfrm>
            <a:off x="2794607" y="1600200"/>
            <a:ext cx="0" cy="29718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1670" y="1600200"/>
            <a:ext cx="0" cy="297516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8A87A34-81AB-432B-8DAE-1953F412C126}" type="datetimeFigureOut">
              <a:rPr lang="en-US" smtClean="0"/>
              <a:pPr/>
              <a:t>12/6/2025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06534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172956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146124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CE8276-CD6E-6243-803E-04A534FBE9E5}"/>
              </a:ext>
            </a:extLst>
          </p:cNvPr>
          <p:cNvSpPr/>
          <p:nvPr userDrawn="1"/>
        </p:nvSpPr>
        <p:spPr>
          <a:xfrm>
            <a:off x="0" y="4632723"/>
            <a:ext cx="9144000" cy="519588"/>
          </a:xfrm>
          <a:prstGeom prst="rect">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latin typeface="Decima Lt" panose="02000506000000020004" pitchFamily="50" charset="0"/>
            </a:endParaRPr>
          </a:p>
        </p:txBody>
      </p:sp>
      <p:sp>
        <p:nvSpPr>
          <p:cNvPr id="5" name="Title 1">
            <a:extLst>
              <a:ext uri="{FF2B5EF4-FFF2-40B4-BE49-F238E27FC236}">
                <a16:creationId xmlns:a16="http://schemas.microsoft.com/office/drawing/2014/main" id="{77EDB938-F6FE-8544-AA4C-5FFF38E34EEE}"/>
              </a:ext>
            </a:extLst>
          </p:cNvPr>
          <p:cNvSpPr>
            <a:spLocks noGrp="1"/>
          </p:cNvSpPr>
          <p:nvPr>
            <p:ph type="title" hasCustomPrompt="1"/>
          </p:nvPr>
        </p:nvSpPr>
        <p:spPr>
          <a:xfrm>
            <a:off x="628650" y="273844"/>
            <a:ext cx="7886700" cy="994172"/>
          </a:xfrm>
        </p:spPr>
        <p:txBody>
          <a:bodyPr/>
          <a:lstStyle/>
          <a:p>
            <a:r>
              <a:rPr lang="en-US" dirty="0"/>
              <a:t>CLICK TO EDIT MASTER TITLE STYLE</a:t>
            </a:r>
          </a:p>
        </p:txBody>
      </p:sp>
      <p:sp>
        <p:nvSpPr>
          <p:cNvPr id="6" name="Content Placeholder 6">
            <a:extLst>
              <a:ext uri="{FF2B5EF4-FFF2-40B4-BE49-F238E27FC236}">
                <a16:creationId xmlns:a16="http://schemas.microsoft.com/office/drawing/2014/main" id="{3D55FC41-7186-344B-A8D8-6436695BB730}"/>
              </a:ext>
            </a:extLst>
          </p:cNvPr>
          <p:cNvSpPr>
            <a:spLocks noGrp="1"/>
          </p:cNvSpPr>
          <p:nvPr>
            <p:ph sz="quarter" idx="10" hasCustomPrompt="1"/>
          </p:nvPr>
        </p:nvSpPr>
        <p:spPr>
          <a:xfrm>
            <a:off x="628650" y="1350963"/>
            <a:ext cx="7745730" cy="3071812"/>
          </a:xfrm>
        </p:spPr>
        <p:txBody>
          <a:bodyPr/>
          <a:lstStyle>
            <a:lvl1pPr marL="228600" indent="-228600">
              <a:tabLst/>
              <a:defRPr/>
            </a:lvl1pPr>
            <a:lvl3pPr>
              <a:defRPr/>
            </a:lvl3pPr>
            <a:lvl4pPr marL="684000" indent="0">
              <a:buNone/>
              <a:defRPr/>
            </a:lvl4pPr>
            <a:lvl5pPr marL="792000" indent="0">
              <a:buNone/>
              <a:defRPr/>
            </a:lvl5pPr>
          </a:lstStyle>
          <a:p>
            <a:pPr lvl="0"/>
            <a:r>
              <a:rPr lang="en-GB" dirty="0"/>
              <a:t>Click to edit Master text styles</a:t>
            </a:r>
          </a:p>
          <a:p>
            <a:pPr lvl="1"/>
            <a:r>
              <a:rPr lang="en-GB" dirty="0"/>
              <a:t>Second level</a:t>
            </a:r>
          </a:p>
          <a:p>
            <a:pPr lvl="2"/>
            <a:r>
              <a:rPr lang="en-GB" dirty="0"/>
              <a:t>Third level</a:t>
            </a:r>
          </a:p>
        </p:txBody>
      </p:sp>
      <p:pic>
        <p:nvPicPr>
          <p:cNvPr id="8" name="Picture 7" descr="Microlise-Logo-Wht.png">
            <a:hlinkClick r:id="rId2" action="ppaction://hlinksldjump"/>
            <a:extLst>
              <a:ext uri="{FF2B5EF4-FFF2-40B4-BE49-F238E27FC236}">
                <a16:creationId xmlns:a16="http://schemas.microsoft.com/office/drawing/2014/main" id="{C80F346C-91BA-0C45-BCF2-7E2A7F32FB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59826" y="4667255"/>
            <a:ext cx="681937" cy="454624"/>
          </a:xfrm>
          <a:prstGeom prst="rect">
            <a:avLst/>
          </a:prstGeom>
        </p:spPr>
      </p:pic>
      <p:sp>
        <p:nvSpPr>
          <p:cNvPr id="7" name="Title 1">
            <a:extLst>
              <a:ext uri="{FF2B5EF4-FFF2-40B4-BE49-F238E27FC236}">
                <a16:creationId xmlns:a16="http://schemas.microsoft.com/office/drawing/2014/main" id="{37C9BB29-ED87-4174-B490-49555978ECED}"/>
              </a:ext>
            </a:extLst>
          </p:cNvPr>
          <p:cNvSpPr txBox="1">
            <a:spLocks/>
          </p:cNvSpPr>
          <p:nvPr userDrawn="1"/>
        </p:nvSpPr>
        <p:spPr>
          <a:xfrm>
            <a:off x="6710597" y="4578188"/>
            <a:ext cx="2433402" cy="565312"/>
          </a:xfrm>
          <a:prstGeom prst="rect">
            <a:avLst/>
          </a:prstGeom>
        </p:spPr>
        <p:txBody>
          <a:bodyPr vert="horz" lIns="91440" tIns="45720" rIns="91440" bIns="45720" rtlCol="0" anchor="ctr" anchorCtr="0">
            <a:noAutofit/>
          </a:bodyPr>
          <a:lstStyle>
            <a:lvl1pPr algn="ctr" defTabSz="457200" rtl="0" eaLnBrk="1" latinLnBrk="0" hangingPunct="1">
              <a:spcBef>
                <a:spcPct val="0"/>
              </a:spcBef>
              <a:buNone/>
              <a:defRPr sz="4400" kern="1200" cap="all">
                <a:solidFill>
                  <a:schemeClr val="bg1"/>
                </a:solidFill>
                <a:latin typeface="Decima"/>
                <a:ea typeface="+mj-ea"/>
                <a:cs typeface="Decima"/>
              </a:defRPr>
            </a:lvl1pPr>
          </a:lstStyle>
          <a:p>
            <a:pPr algn="l">
              <a:lnSpc>
                <a:spcPct val="100000"/>
              </a:lnSpc>
            </a:pPr>
            <a:r>
              <a:rPr lang="en-US" sz="1100" dirty="0"/>
              <a:t>Classification: CONFIDENTIAL</a:t>
            </a:r>
            <a:endParaRPr lang="en-US" sz="1400" dirty="0"/>
          </a:p>
        </p:txBody>
      </p:sp>
    </p:spTree>
    <p:extLst>
      <p:ext uri="{BB962C8B-B14F-4D97-AF65-F5344CB8AC3E}">
        <p14:creationId xmlns:p14="http://schemas.microsoft.com/office/powerpoint/2010/main" val="1531349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6.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 Target="../slides/slide1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48A87A34-81AB-432B-8DAE-1953F412C126}" type="datetimeFigureOut">
              <a:rPr lang="en-US" smtClean="0"/>
              <a:pPr/>
              <a:t>12/6/2025</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6D22F896-40B5-4ADD-8801-0D06FADFA095}" type="slidenum">
              <a:rPr lang="en-US" smtClean="0"/>
              <a:pPr/>
              <a:t>‹#›</a:t>
            </a:fld>
            <a:endParaRPr lang="en-US" dirty="0"/>
          </a:p>
        </p:txBody>
      </p:sp>
      <p:sp>
        <p:nvSpPr>
          <p:cNvPr id="11" name="Rectangle 10">
            <a:extLst>
              <a:ext uri="{FF2B5EF4-FFF2-40B4-BE49-F238E27FC236}">
                <a16:creationId xmlns:a16="http://schemas.microsoft.com/office/drawing/2014/main" id="{041BE4E2-A476-B535-8B9F-FF22BF5339C5}"/>
              </a:ext>
            </a:extLst>
          </p:cNvPr>
          <p:cNvSpPr/>
          <p:nvPr userDrawn="1"/>
        </p:nvSpPr>
        <p:spPr>
          <a:xfrm>
            <a:off x="0" y="4578188"/>
            <a:ext cx="9144000" cy="565311"/>
          </a:xfrm>
          <a:prstGeom prst="rect">
            <a:avLst/>
          </a:prstGeom>
          <a:solidFill>
            <a:srgbClr val="0075BF"/>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2" name="Picture 11" descr="Microlise-Logo-Wht.png">
            <a:hlinkClick r:id="rId24" action="ppaction://hlinksldjump"/>
            <a:extLst>
              <a:ext uri="{FF2B5EF4-FFF2-40B4-BE49-F238E27FC236}">
                <a16:creationId xmlns:a16="http://schemas.microsoft.com/office/drawing/2014/main" id="{E3841704-11BE-C648-1268-711142C594BC}"/>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297067" y="4622439"/>
            <a:ext cx="681937" cy="454624"/>
          </a:xfrm>
          <a:prstGeom prst="rect">
            <a:avLst/>
          </a:prstGeom>
        </p:spPr>
      </p:pic>
      <p:sp>
        <p:nvSpPr>
          <p:cNvPr id="13" name="Title 1">
            <a:extLst>
              <a:ext uri="{FF2B5EF4-FFF2-40B4-BE49-F238E27FC236}">
                <a16:creationId xmlns:a16="http://schemas.microsoft.com/office/drawing/2014/main" id="{0AD4448A-ACAC-B4CA-3473-DE9A5E7625ED}"/>
              </a:ext>
            </a:extLst>
          </p:cNvPr>
          <p:cNvSpPr txBox="1">
            <a:spLocks/>
          </p:cNvSpPr>
          <p:nvPr userDrawn="1"/>
        </p:nvSpPr>
        <p:spPr>
          <a:xfrm>
            <a:off x="6710597" y="4578188"/>
            <a:ext cx="2433402" cy="565312"/>
          </a:xfrm>
          <a:prstGeom prst="rect">
            <a:avLst/>
          </a:prstGeom>
        </p:spPr>
        <p:txBody>
          <a:bodyPr vert="horz" lIns="91440" tIns="45720" rIns="91440" bIns="45720" rtlCol="0" anchor="ctr" anchorCtr="0">
            <a:noAutofit/>
          </a:bodyPr>
          <a:lstStyle>
            <a:lvl1pPr algn="ctr" defTabSz="457200" rtl="0" eaLnBrk="1" latinLnBrk="0" hangingPunct="1">
              <a:spcBef>
                <a:spcPct val="0"/>
              </a:spcBef>
              <a:buNone/>
              <a:defRPr sz="4400" kern="1200" cap="all">
                <a:solidFill>
                  <a:schemeClr val="bg1"/>
                </a:solidFill>
                <a:latin typeface="Decima"/>
                <a:ea typeface="+mj-ea"/>
                <a:cs typeface="Decima"/>
              </a:defRPr>
            </a:lvl1pPr>
          </a:lstStyle>
          <a:p>
            <a:pPr algn="l">
              <a:lnSpc>
                <a:spcPct val="100000"/>
              </a:lnSpc>
            </a:pPr>
            <a:r>
              <a:rPr lang="en-US" sz="1100" dirty="0"/>
              <a:t>Classification: CONFIDENTIAL</a:t>
            </a:r>
            <a:endParaRPr lang="en-US" sz="1400" dirty="0"/>
          </a:p>
        </p:txBody>
      </p:sp>
    </p:spTree>
    <p:extLst>
      <p:ext uri="{BB962C8B-B14F-4D97-AF65-F5344CB8AC3E}">
        <p14:creationId xmlns:p14="http://schemas.microsoft.com/office/powerpoint/2010/main" val="1973527359"/>
      </p:ext>
    </p:extLst>
  </p:cSld>
  <p:clrMap bg1="dk1" tx1="lt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Lst>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bg2">
            <a:lumMod val="40000"/>
            <a:lumOff val="60000"/>
          </a:schemeClr>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bg2">
            <a:lumMod val="40000"/>
            <a:lumOff val="60000"/>
          </a:schemeClr>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5pPr>
      <a:lvl6pPr marL="187950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bg2">
            <a:lumMod val="40000"/>
            <a:lumOff val="60000"/>
          </a:schemeClr>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gif"/><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8" Type="http://schemas.openxmlformats.org/officeDocument/2006/relationships/hyperlink" Target="https://stackoverflow.com/questions/271440/captured-variable-in-a-loop-in-c-sharp" TargetMode="External"/><Relationship Id="rId3" Type="http://schemas.openxmlformats.org/officeDocument/2006/relationships/image" Target="../media/image3.png"/><Relationship Id="rId7" Type="http://schemas.openxmlformats.org/officeDocument/2006/relationships/hyperlink" Target="https://learn.microsoft.com/en-us/dotnet/standard/parallel-programming/exception-handling-task-parallel-library"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medium.com/@joni2nja/why-you-should-not-use-continuewith-in-your-async-code-c9eaf6087e64" TargetMode="External"/><Relationship Id="rId5" Type="http://schemas.openxmlformats.org/officeDocument/2006/relationships/image" Target="../media/image5.png"/><Relationship Id="rId10" Type="http://schemas.openxmlformats.org/officeDocument/2006/relationships/hyperlink" Target="https://github.com/dotnet/core/issues/7011" TargetMode="External"/><Relationship Id="rId4" Type="http://schemas.openxmlformats.org/officeDocument/2006/relationships/image" Target="../media/image4.png"/><Relationship Id="rId9" Type="http://schemas.openxmlformats.org/officeDocument/2006/relationships/hyperlink" Target="https://slides.com/tomdane/async-await-old/fullscreen#/28/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2"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13257" y="0"/>
            <a:ext cx="419604" cy="2782231"/>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4" name="Freeform: Shape 23">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7275344" cy="5143500"/>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a:extLst>
              <a:ext uri="{FF2B5EF4-FFF2-40B4-BE49-F238E27FC236}">
                <a16:creationId xmlns:a16="http://schemas.microsoft.com/office/drawing/2014/main" id="{628A4C0A-F0C7-23B5-FECE-5B9D83C2B4FB}"/>
              </a:ext>
            </a:extLst>
          </p:cNvPr>
          <p:cNvSpPr txBox="1"/>
          <p:nvPr/>
        </p:nvSpPr>
        <p:spPr>
          <a:xfrm>
            <a:off x="866216" y="1085850"/>
            <a:ext cx="5231186" cy="2497185"/>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300" b="0" i="0" kern="1200" dirty="0">
                <a:solidFill>
                  <a:schemeClr val="tx2"/>
                </a:solidFill>
                <a:latin typeface="+mj-lt"/>
                <a:ea typeface="+mj-ea"/>
                <a:cs typeface="+mj-cs"/>
              </a:rPr>
              <a:t>The Task  Parallel Library</a:t>
            </a:r>
            <a:br>
              <a:rPr lang="en-US" sz="2300" b="0" i="0" kern="1200" dirty="0">
                <a:solidFill>
                  <a:schemeClr val="tx2"/>
                </a:solidFill>
                <a:latin typeface="+mj-lt"/>
                <a:ea typeface="+mj-ea"/>
                <a:cs typeface="+mj-cs"/>
              </a:rPr>
            </a:br>
            <a:br>
              <a:rPr lang="en-US" sz="2300" b="0" i="0" kern="1200" dirty="0">
                <a:solidFill>
                  <a:schemeClr val="tx2"/>
                </a:solidFill>
                <a:latin typeface="+mj-lt"/>
                <a:ea typeface="+mj-ea"/>
                <a:cs typeface="+mj-cs"/>
              </a:rPr>
            </a:br>
            <a:r>
              <a:rPr lang="en-US" sz="2300" b="0" i="0" kern="1200" dirty="0">
                <a:solidFill>
                  <a:schemeClr val="tx2"/>
                </a:solidFill>
                <a:latin typeface="+mj-lt"/>
                <a:ea typeface="+mj-ea"/>
                <a:cs typeface="+mj-cs"/>
              </a:rPr>
              <a:t>Not only</a:t>
            </a:r>
            <a:br>
              <a:rPr lang="en-US" sz="2300" b="0" i="0" kern="1200" dirty="0">
                <a:solidFill>
                  <a:schemeClr val="tx2"/>
                </a:solidFill>
                <a:latin typeface="+mj-lt"/>
                <a:ea typeface="+mj-ea"/>
                <a:cs typeface="+mj-cs"/>
              </a:rPr>
            </a:br>
            <a:r>
              <a:rPr lang="en-US" sz="2300" b="0" i="0" kern="1200" dirty="0">
                <a:solidFill>
                  <a:schemeClr val="tx2"/>
                </a:solidFill>
                <a:latin typeface="+mj-lt"/>
                <a:ea typeface="+mj-ea"/>
                <a:cs typeface="+mj-cs"/>
              </a:rPr>
              <a:t>Multithreading</a:t>
            </a:r>
            <a:br>
              <a:rPr lang="en-US" sz="2300" b="0" i="0" kern="1200" dirty="0">
                <a:solidFill>
                  <a:schemeClr val="tx2"/>
                </a:solidFill>
                <a:latin typeface="+mj-lt"/>
                <a:ea typeface="+mj-ea"/>
                <a:cs typeface="+mj-cs"/>
              </a:rPr>
            </a:br>
            <a:br>
              <a:rPr lang="en-US" sz="2300" b="0" i="0" kern="1200" dirty="0">
                <a:solidFill>
                  <a:schemeClr val="tx2"/>
                </a:solidFill>
                <a:latin typeface="+mj-lt"/>
                <a:ea typeface="+mj-ea"/>
                <a:cs typeface="+mj-cs"/>
              </a:rPr>
            </a:br>
            <a:r>
              <a:rPr lang="en-US" sz="2300" b="0" i="0" kern="1200" dirty="0">
                <a:solidFill>
                  <a:schemeClr val="tx2"/>
                </a:solidFill>
                <a:latin typeface="+mj-lt"/>
                <a:ea typeface="+mj-ea"/>
                <a:cs typeface="+mj-cs"/>
              </a:rPr>
              <a:t>But Also</a:t>
            </a:r>
            <a:br>
              <a:rPr lang="en-US" sz="2300" b="0" i="0" kern="1200" dirty="0">
                <a:solidFill>
                  <a:schemeClr val="tx2"/>
                </a:solidFill>
                <a:latin typeface="+mj-lt"/>
                <a:ea typeface="+mj-ea"/>
                <a:cs typeface="+mj-cs"/>
              </a:rPr>
            </a:br>
            <a:r>
              <a:rPr lang="en-US" sz="2300" b="0" i="0" kern="1200" dirty="0">
                <a:solidFill>
                  <a:schemeClr val="tx2"/>
                </a:solidFill>
                <a:latin typeface="+mj-lt"/>
                <a:ea typeface="+mj-ea"/>
                <a:cs typeface="+mj-cs"/>
              </a:rPr>
              <a:t>Async Programming</a:t>
            </a:r>
          </a:p>
        </p:txBody>
      </p:sp>
      <p:sp>
        <p:nvSpPr>
          <p:cNvPr id="26" name="Rectangle 25">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6" name="TextBox 5">
            <a:extLst>
              <a:ext uri="{FF2B5EF4-FFF2-40B4-BE49-F238E27FC236}">
                <a16:creationId xmlns:a16="http://schemas.microsoft.com/office/drawing/2014/main" id="{4744E2E8-3BCE-2E1F-9C8C-EC5722A4F212}"/>
              </a:ext>
            </a:extLst>
          </p:cNvPr>
          <p:cNvSpPr txBox="1"/>
          <p:nvPr/>
        </p:nvSpPr>
        <p:spPr>
          <a:xfrm>
            <a:off x="2365949" y="3813778"/>
            <a:ext cx="4572000" cy="369332"/>
          </a:xfrm>
          <a:prstGeom prst="rect">
            <a:avLst/>
          </a:prstGeom>
          <a:noFill/>
        </p:spPr>
        <p:txBody>
          <a:bodyPr wrap="square">
            <a:spAutoFit/>
          </a:bodyPr>
          <a:lstStyle/>
          <a:p>
            <a:pPr marL="0" indent="0">
              <a:lnSpc>
                <a:spcPct val="100000"/>
              </a:lnSpc>
              <a:spcBef>
                <a:spcPts val="300"/>
              </a:spcBef>
              <a:buNone/>
            </a:pPr>
            <a:r>
              <a:rPr lang="en-US" dirty="0">
                <a:solidFill>
                  <a:srgbClr val="FF0000"/>
                </a:solidFill>
              </a:rPr>
              <a:t>From Anish Jain</a:t>
            </a:r>
          </a:p>
        </p:txBody>
      </p:sp>
    </p:spTree>
    <p:extLst>
      <p:ext uri="{BB962C8B-B14F-4D97-AF65-F5344CB8AC3E}">
        <p14:creationId xmlns:p14="http://schemas.microsoft.com/office/powerpoint/2010/main" val="1239038357"/>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D67CA421-FA2B-47ED-A101-F8BBEBB29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4DE5BF-0A18-D151-AF1F-14D2BEEF0CF3}"/>
              </a:ext>
            </a:extLst>
          </p:cNvPr>
          <p:cNvSpPr>
            <a:spLocks noGrp="1"/>
          </p:cNvSpPr>
          <p:nvPr>
            <p:ph type="title" idx="4294967295"/>
          </p:nvPr>
        </p:nvSpPr>
        <p:spPr>
          <a:xfrm>
            <a:off x="6150209" y="994410"/>
            <a:ext cx="2508015" cy="2299880"/>
          </a:xfrm>
        </p:spPr>
        <p:txBody>
          <a:bodyPr vert="horz" lIns="91440" tIns="45720" rIns="91440" bIns="45720" rtlCol="0" anchor="b">
            <a:normAutofit/>
          </a:bodyPr>
          <a:lstStyle/>
          <a:p>
            <a:pPr defTabSz="457200"/>
            <a:r>
              <a:rPr lang="en-US" sz="4100" b="0" i="0" kern="1200">
                <a:solidFill>
                  <a:srgbClr val="EBEBEB"/>
                </a:solidFill>
                <a:latin typeface="+mj-lt"/>
                <a:ea typeface="+mj-ea"/>
                <a:cs typeface="+mj-cs"/>
              </a:rPr>
              <a:t>Thread vs Task</a:t>
            </a:r>
          </a:p>
        </p:txBody>
      </p:sp>
      <p:sp useBgFill="1">
        <p:nvSpPr>
          <p:cNvPr id="24" name="Rectangle 23">
            <a:extLst>
              <a:ext uri="{FF2B5EF4-FFF2-40B4-BE49-F238E27FC236}">
                <a16:creationId xmlns:a16="http://schemas.microsoft.com/office/drawing/2014/main" id="{12425D82-CD5E-45A4-9542-70951E59F2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685" y="479928"/>
            <a:ext cx="5186748" cy="418364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21DB897-A621-4D5F-AC81-91199AC437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5" name="Picture 4">
            <a:extLst>
              <a:ext uri="{FF2B5EF4-FFF2-40B4-BE49-F238E27FC236}">
                <a16:creationId xmlns:a16="http://schemas.microsoft.com/office/drawing/2014/main" id="{ABEC06DF-4FE5-33C5-59B5-A0FEF4814F13}"/>
              </a:ext>
            </a:extLst>
          </p:cNvPr>
          <p:cNvPicPr>
            <a:picLocks noChangeAspect="1"/>
          </p:cNvPicPr>
          <p:nvPr/>
        </p:nvPicPr>
        <p:blipFill>
          <a:blip r:embed="rId7"/>
          <a:stretch>
            <a:fillRect/>
          </a:stretch>
        </p:blipFill>
        <p:spPr>
          <a:xfrm>
            <a:off x="716544" y="1002840"/>
            <a:ext cx="4706688" cy="3141713"/>
          </a:xfrm>
          <a:prstGeom prst="rect">
            <a:avLst/>
          </a:prstGeom>
          <a:effectLst/>
        </p:spPr>
      </p:pic>
    </p:spTree>
    <p:extLst>
      <p:ext uri="{BB962C8B-B14F-4D97-AF65-F5344CB8AC3E}">
        <p14:creationId xmlns:p14="http://schemas.microsoft.com/office/powerpoint/2010/main" val="112196840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6" name="Picture 1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8" name="Oval 1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20" name="Picture 1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2" name="Picture 2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4" name="Rectangle 23">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A9AD067-1B55-3542-91CD-87E78CD396A0}"/>
              </a:ext>
            </a:extLst>
          </p:cNvPr>
          <p:cNvSpPr>
            <a:spLocks noGrp="1"/>
          </p:cNvSpPr>
          <p:nvPr>
            <p:ph type="title" idx="4294967295"/>
          </p:nvPr>
        </p:nvSpPr>
        <p:spPr>
          <a:xfrm>
            <a:off x="486696" y="471949"/>
            <a:ext cx="2629122" cy="1216741"/>
          </a:xfrm>
        </p:spPr>
        <p:txBody>
          <a:bodyPr vert="horz" lIns="91440" tIns="45720" rIns="91440" bIns="45720" rtlCol="0" anchor="t">
            <a:normAutofit/>
          </a:bodyPr>
          <a:lstStyle/>
          <a:p>
            <a:pPr defTabSz="457200">
              <a:lnSpc>
                <a:spcPct val="90000"/>
              </a:lnSpc>
            </a:pPr>
            <a:r>
              <a:rPr lang="en-US" sz="2600" b="0" i="0" kern="1200">
                <a:solidFill>
                  <a:srgbClr val="EBEBEB"/>
                </a:solidFill>
                <a:latin typeface="+mj-lt"/>
                <a:ea typeface="+mj-ea"/>
                <a:cs typeface="+mj-cs"/>
              </a:rPr>
              <a:t>Asynchronous Defined</a:t>
            </a:r>
          </a:p>
        </p:txBody>
      </p:sp>
      <p:sp>
        <p:nvSpPr>
          <p:cNvPr id="28" name="Rectangle 27">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9292" y="0"/>
            <a:ext cx="5664708" cy="51435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2766" y="363474"/>
            <a:ext cx="4938073" cy="4304390"/>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30AC884-9024-E92F-6ADD-B702CFA0ED05}"/>
              </a:ext>
            </a:extLst>
          </p:cNvPr>
          <p:cNvPicPr>
            <a:picLocks noChangeAspect="1"/>
          </p:cNvPicPr>
          <p:nvPr/>
        </p:nvPicPr>
        <p:blipFill>
          <a:blip r:embed="rId6"/>
          <a:stretch>
            <a:fillRect/>
          </a:stretch>
        </p:blipFill>
        <p:spPr>
          <a:xfrm>
            <a:off x="4236328" y="724196"/>
            <a:ext cx="4150947" cy="3580193"/>
          </a:xfrm>
          <a:prstGeom prst="rect">
            <a:avLst/>
          </a:prstGeom>
          <a:effectLst/>
        </p:spPr>
      </p:pic>
      <p:sp>
        <p:nvSpPr>
          <p:cNvPr id="32" name="Rectangle 31">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9" name="Content Placeholder 2">
            <a:extLst>
              <a:ext uri="{FF2B5EF4-FFF2-40B4-BE49-F238E27FC236}">
                <a16:creationId xmlns:a16="http://schemas.microsoft.com/office/drawing/2014/main" id="{1C8F6489-C0A2-4712-A747-8453E2956B6F}"/>
              </a:ext>
            </a:extLst>
          </p:cNvPr>
          <p:cNvSpPr>
            <a:spLocks noGrp="1"/>
          </p:cNvSpPr>
          <p:nvPr>
            <p:ph sz="quarter" idx="4294967295"/>
          </p:nvPr>
        </p:nvSpPr>
        <p:spPr>
          <a:xfrm>
            <a:off x="486698" y="1828800"/>
            <a:ext cx="2629120" cy="2839064"/>
          </a:xfrm>
        </p:spPr>
        <p:txBody>
          <a:bodyPr vert="horz" lIns="91440" tIns="45720" rIns="91440" bIns="45720" rtlCol="0">
            <a:normAutofit/>
          </a:bodyPr>
          <a:lstStyle/>
          <a:p>
            <a:pPr lvl="1" defTabSz="457200">
              <a:spcBef>
                <a:spcPts val="1000"/>
              </a:spcBef>
            </a:pPr>
            <a:r>
              <a:rPr lang="en-US">
                <a:solidFill>
                  <a:srgbClr val="FFFFFF"/>
                </a:solidFill>
              </a:rPr>
              <a:t>Concurrent</a:t>
            </a:r>
          </a:p>
          <a:p>
            <a:pPr lvl="1" defTabSz="457200">
              <a:spcBef>
                <a:spcPts val="1000"/>
              </a:spcBef>
            </a:pPr>
            <a:r>
              <a:rPr lang="en-US">
                <a:solidFill>
                  <a:srgbClr val="FFFFFF"/>
                </a:solidFill>
              </a:rPr>
              <a:t>Multithreaded</a:t>
            </a:r>
          </a:p>
          <a:p>
            <a:pPr lvl="1" defTabSz="457200">
              <a:spcBef>
                <a:spcPts val="1000"/>
              </a:spcBef>
            </a:pPr>
            <a:r>
              <a:rPr lang="en-US">
                <a:solidFill>
                  <a:srgbClr val="FFFFFF"/>
                </a:solidFill>
              </a:rPr>
              <a:t>Parallel</a:t>
            </a:r>
          </a:p>
          <a:p>
            <a:pPr lvl="1" defTabSz="457200">
              <a:spcBef>
                <a:spcPts val="1000"/>
              </a:spcBef>
            </a:pPr>
            <a:r>
              <a:rPr lang="en-US">
                <a:solidFill>
                  <a:srgbClr val="FFFFFF"/>
                </a:solidFill>
              </a:rPr>
              <a:t>Asynchronous</a:t>
            </a:r>
          </a:p>
        </p:txBody>
      </p:sp>
    </p:spTree>
    <p:extLst>
      <p:ext uri="{BB962C8B-B14F-4D97-AF65-F5344CB8AC3E}">
        <p14:creationId xmlns:p14="http://schemas.microsoft.com/office/powerpoint/2010/main" val="25080800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1FEBC38-2320-414A-A3F3-23958170AA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F17AD0-4668-46E4-B248-CD980B04F8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360045"/>
            <a:ext cx="8428482" cy="4423410"/>
          </a:xfrm>
          <a:prstGeom prst="rect">
            <a:avLst/>
          </a:prstGeom>
          <a:solidFill>
            <a:srgbClr val="FFFFFF"/>
          </a:solidFill>
          <a:ln>
            <a:noFill/>
          </a:ln>
          <a:effectLst>
            <a:outerShdw blurRad="50800" dist="50800" dir="5400000" algn="ctr" rotWithShape="0">
              <a:srgbClr val="5F5F5F">
                <a:alpha val="5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89ED7022-822D-7C12-FC28-B2BE91C13AF5}"/>
              </a:ext>
            </a:extLst>
          </p:cNvPr>
          <p:cNvGraphicFramePr>
            <a:graphicFrameLocks noGrp="1"/>
          </p:cNvGraphicFramePr>
          <p:nvPr>
            <p:extLst>
              <p:ext uri="{D42A27DB-BD31-4B8C-83A1-F6EECF244321}">
                <p14:modId xmlns:p14="http://schemas.microsoft.com/office/powerpoint/2010/main" val="3653309554"/>
              </p:ext>
            </p:extLst>
          </p:nvPr>
        </p:nvGraphicFramePr>
        <p:xfrm>
          <a:off x="482600" y="567044"/>
          <a:ext cx="8178801" cy="4087129"/>
        </p:xfrm>
        <a:graphic>
          <a:graphicData uri="http://schemas.openxmlformats.org/drawingml/2006/table">
            <a:tbl>
              <a:tblPr>
                <a:tableStyleId>{5C22544A-7EE6-4342-B048-85BDC9FD1C3A}</a:tableStyleId>
              </a:tblPr>
              <a:tblGrid>
                <a:gridCol w="1806826">
                  <a:extLst>
                    <a:ext uri="{9D8B030D-6E8A-4147-A177-3AD203B41FA5}">
                      <a16:colId xmlns:a16="http://schemas.microsoft.com/office/drawing/2014/main" val="3369161317"/>
                    </a:ext>
                  </a:extLst>
                </a:gridCol>
                <a:gridCol w="2100567">
                  <a:extLst>
                    <a:ext uri="{9D8B030D-6E8A-4147-A177-3AD203B41FA5}">
                      <a16:colId xmlns:a16="http://schemas.microsoft.com/office/drawing/2014/main" val="2997865747"/>
                    </a:ext>
                  </a:extLst>
                </a:gridCol>
                <a:gridCol w="1813854">
                  <a:extLst>
                    <a:ext uri="{9D8B030D-6E8A-4147-A177-3AD203B41FA5}">
                      <a16:colId xmlns:a16="http://schemas.microsoft.com/office/drawing/2014/main" val="1867647089"/>
                    </a:ext>
                  </a:extLst>
                </a:gridCol>
                <a:gridCol w="2457554">
                  <a:extLst>
                    <a:ext uri="{9D8B030D-6E8A-4147-A177-3AD203B41FA5}">
                      <a16:colId xmlns:a16="http://schemas.microsoft.com/office/drawing/2014/main" val="1619722833"/>
                    </a:ext>
                  </a:extLst>
                </a:gridCol>
              </a:tblGrid>
              <a:tr h="178533">
                <a:tc>
                  <a:txBody>
                    <a:bodyPr/>
                    <a:lstStyle/>
                    <a:p>
                      <a:pPr algn="l" fontAlgn="ctr"/>
                      <a:r>
                        <a:rPr lang="en-IN" sz="900" u="none" strike="noStrike">
                          <a:effectLst/>
                        </a:rPr>
                        <a:t>Concurrent</a:t>
                      </a:r>
                      <a:endParaRPr lang="en-IN" sz="900" b="1"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IN" sz="900" u="none" strike="noStrike">
                          <a:effectLst/>
                        </a:rPr>
                        <a:t>Multithreaded</a:t>
                      </a:r>
                      <a:endParaRPr lang="en-IN" sz="900" b="1"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IN" sz="900" u="none" strike="noStrike">
                          <a:effectLst/>
                        </a:rPr>
                        <a:t>Parallel</a:t>
                      </a:r>
                      <a:endParaRPr lang="en-IN" sz="900" b="1"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IN" sz="900" u="none" strike="noStrike">
                          <a:effectLst/>
                        </a:rPr>
                        <a:t>Asynchronous</a:t>
                      </a:r>
                      <a:endParaRPr lang="en-IN" sz="900" b="1" i="0" u="none" strike="noStrike">
                        <a:solidFill>
                          <a:srgbClr val="111111"/>
                        </a:solidFill>
                        <a:effectLst/>
                        <a:latin typeface="Segoe UI" panose="020B0502040204020203" pitchFamily="34" charset="0"/>
                      </a:endParaRPr>
                    </a:p>
                  </a:txBody>
                  <a:tcPr marL="4481" marR="4481" marT="4481" marB="0" anchor="ctr"/>
                </a:tc>
                <a:extLst>
                  <a:ext uri="{0D108BD9-81ED-4DB2-BD59-A6C34878D82A}">
                    <a16:rowId xmlns:a16="http://schemas.microsoft.com/office/drawing/2014/main" val="792407657"/>
                  </a:ext>
                </a:extLst>
              </a:tr>
              <a:tr h="1028555">
                <a:tc>
                  <a:txBody>
                    <a:bodyPr/>
                    <a:lstStyle/>
                    <a:p>
                      <a:pPr algn="l" fontAlgn="ctr"/>
                      <a:r>
                        <a:rPr lang="en-US" sz="900" u="none" strike="noStrike">
                          <a:effectLst/>
                        </a:rPr>
                        <a:t>Concurrent programming is about the interleaving of multiple tasks within a single process or thread1. It does not necessarily imply parallelism or asynchrony.</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Multithreaded programming is about creating and managing multiple threads within a single process. Each thread can run a different task concurrently, but may or may not run in parallel depending on the number of CPU cores.</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Parallel programming is about executing multiple tasks simultaneously on multiple CPU cores. It is a form of concurrency that exploits the parallelism of hardware.</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Asynchronous programming is about initiating multiple tasks without waiting for each one to complete. It does not necessarily imply concurrency or parallelism, as the tasks may run on the same thread or different threads.</a:t>
                      </a:r>
                      <a:endParaRPr lang="en-US" sz="900" b="0" i="0" u="none" strike="noStrike">
                        <a:solidFill>
                          <a:srgbClr val="111111"/>
                        </a:solidFill>
                        <a:effectLst/>
                        <a:latin typeface="Segoe UI" panose="020B0502040204020203" pitchFamily="34" charset="0"/>
                      </a:endParaRPr>
                    </a:p>
                  </a:txBody>
                  <a:tcPr marL="4481" marR="4481" marT="4481" marB="0" anchor="ctr"/>
                </a:tc>
                <a:extLst>
                  <a:ext uri="{0D108BD9-81ED-4DB2-BD59-A6C34878D82A}">
                    <a16:rowId xmlns:a16="http://schemas.microsoft.com/office/drawing/2014/main" val="1048120761"/>
                  </a:ext>
                </a:extLst>
              </a:tr>
              <a:tr h="886885">
                <a:tc>
                  <a:txBody>
                    <a:bodyPr/>
                    <a:lstStyle/>
                    <a:p>
                      <a:pPr algn="l" fontAlgn="ctr"/>
                      <a:r>
                        <a:rPr lang="en-US" sz="900" u="none" strike="noStrike">
                          <a:effectLst/>
                        </a:rPr>
                        <a:t>Concurrent programming can improve the responsiveness and scalability of an application by allowing it to handle multiple requests or events without blocking.</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Multithreaded programming can improve the performance and responsiveness of an application by utilizing the CPU resources more efficiently, especially on multi-core processors.</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Parallel programming can improve the performance and throughput of an application by reducing the execution time of CPU-bound tasks.</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Asynchronous programming can improve the responsiveness and scalability of an application by avoiding blocking the current thread while waiting for I/O-bound tasks.</a:t>
                      </a:r>
                      <a:endParaRPr lang="en-US" sz="900" b="0" i="0" u="none" strike="noStrike">
                        <a:solidFill>
                          <a:srgbClr val="111111"/>
                        </a:solidFill>
                        <a:effectLst/>
                        <a:latin typeface="Segoe UI" panose="020B0502040204020203" pitchFamily="34" charset="0"/>
                      </a:endParaRPr>
                    </a:p>
                  </a:txBody>
                  <a:tcPr marL="4481" marR="4481" marT="4481" marB="0" anchor="ctr"/>
                </a:tc>
                <a:extLst>
                  <a:ext uri="{0D108BD9-81ED-4DB2-BD59-A6C34878D82A}">
                    <a16:rowId xmlns:a16="http://schemas.microsoft.com/office/drawing/2014/main" val="543470590"/>
                  </a:ext>
                </a:extLst>
              </a:tr>
              <a:tr h="886885">
                <a:tc>
                  <a:txBody>
                    <a:bodyPr/>
                    <a:lstStyle/>
                    <a:p>
                      <a:pPr algn="l" fontAlgn="ctr"/>
                      <a:r>
                        <a:rPr lang="en-US" sz="900" u="none" strike="noStrike">
                          <a:effectLst/>
                        </a:rPr>
                        <a:t>Concurrent programming can introduce challenges such as race conditions, deadlocks, and resource starvation when multiple tasks access shared data or resources.</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Multithreaded programming can introduce challenges such as thread safety, synchronization, and context switching when multiple threads access shared data or resources.</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Parallel programming can introduce challenges such as load balancing, data partitioning, and communication overhead when multiple tasks run on multiple cores.</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Asynchronous programming can introduce challenges such as error handling, callback hell, and debugging when multiple tasks run without blocking.</a:t>
                      </a:r>
                      <a:endParaRPr lang="en-US" sz="900" b="0" i="0" u="none" strike="noStrike">
                        <a:solidFill>
                          <a:srgbClr val="111111"/>
                        </a:solidFill>
                        <a:effectLst/>
                        <a:latin typeface="Segoe UI" panose="020B0502040204020203" pitchFamily="34" charset="0"/>
                      </a:endParaRPr>
                    </a:p>
                  </a:txBody>
                  <a:tcPr marL="4481" marR="4481" marT="4481" marB="0" anchor="ctr"/>
                </a:tc>
                <a:extLst>
                  <a:ext uri="{0D108BD9-81ED-4DB2-BD59-A6C34878D82A}">
                    <a16:rowId xmlns:a16="http://schemas.microsoft.com/office/drawing/2014/main" val="3833128106"/>
                  </a:ext>
                </a:extLst>
              </a:tr>
              <a:tr h="1028555">
                <a:tc>
                  <a:txBody>
                    <a:bodyPr/>
                    <a:lstStyle/>
                    <a:p>
                      <a:pPr algn="l" fontAlgn="ctr"/>
                      <a:r>
                        <a:rPr lang="en-US" sz="900" u="none" strike="noStrike">
                          <a:effectLst/>
                        </a:rPr>
                        <a:t>Concurrent programming can be implemented using various techniques such as coroutines, generators, actors, message passing, etc2.</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Multithreaded programming can be implemented using various classes and methods in the System.Threading namespace such as Thread, ThreadPool, Monitor, Mutex, etc3.</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Parallel programming can be implemented using various classes and methods in the System.Threading.Tasks namespace such as Task, TaskFactory, Parallel, etc.</a:t>
                      </a:r>
                      <a:endParaRPr lang="en-US" sz="900" b="0" i="0" u="none" strike="noStrike">
                        <a:solidFill>
                          <a:srgbClr val="111111"/>
                        </a:solidFill>
                        <a:effectLst/>
                        <a:latin typeface="Segoe UI" panose="020B0502040204020203" pitchFamily="34" charset="0"/>
                      </a:endParaRPr>
                    </a:p>
                  </a:txBody>
                  <a:tcPr marL="4481" marR="4481" marT="4481" marB="0" anchor="ctr"/>
                </a:tc>
                <a:tc>
                  <a:txBody>
                    <a:bodyPr/>
                    <a:lstStyle/>
                    <a:p>
                      <a:pPr algn="l" fontAlgn="ctr"/>
                      <a:r>
                        <a:rPr lang="en-US" sz="900" u="none" strike="noStrike">
                          <a:effectLst/>
                        </a:rPr>
                        <a:t>Asynchronous programming can be implemented using various classes and methods in the System.Threading.Tasks namespace such as Task, TaskCompletionSource, Task.Run, etc. It can also use keywords such as async and await to simplify the code.</a:t>
                      </a:r>
                      <a:endParaRPr lang="en-US" sz="900" b="0" i="0" u="none" strike="noStrike">
                        <a:solidFill>
                          <a:srgbClr val="111111"/>
                        </a:solidFill>
                        <a:effectLst/>
                        <a:latin typeface="Segoe UI" panose="020B0502040204020203" pitchFamily="34" charset="0"/>
                      </a:endParaRPr>
                    </a:p>
                  </a:txBody>
                  <a:tcPr marL="4481" marR="4481" marT="4481" marB="0" anchor="ctr"/>
                </a:tc>
                <a:extLst>
                  <a:ext uri="{0D108BD9-81ED-4DB2-BD59-A6C34878D82A}">
                    <a16:rowId xmlns:a16="http://schemas.microsoft.com/office/drawing/2014/main" val="4059305056"/>
                  </a:ext>
                </a:extLst>
              </a:tr>
            </a:tbl>
          </a:graphicData>
        </a:graphic>
      </p:graphicFrame>
    </p:spTree>
    <p:extLst>
      <p:ext uri="{BB962C8B-B14F-4D97-AF65-F5344CB8AC3E}">
        <p14:creationId xmlns:p14="http://schemas.microsoft.com/office/powerpoint/2010/main" val="87131925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9" name="Picture 8">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1" name="Oval 10">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3" name="Picture 12">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5" name="Picture 14">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7" name="Rectangle 16">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13257" y="0"/>
            <a:ext cx="419604" cy="2782231"/>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7275344" cy="5143500"/>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DFF0D129-BA1C-1233-55C9-2B9B773F6FB4}"/>
              </a:ext>
            </a:extLst>
          </p:cNvPr>
          <p:cNvSpPr>
            <a:spLocks noGrp="1"/>
          </p:cNvSpPr>
          <p:nvPr>
            <p:ph type="title" idx="4294967295"/>
          </p:nvPr>
        </p:nvSpPr>
        <p:spPr>
          <a:xfrm>
            <a:off x="866216" y="1085850"/>
            <a:ext cx="5231186" cy="2497185"/>
          </a:xfrm>
        </p:spPr>
        <p:txBody>
          <a:bodyPr vert="horz" lIns="91440" tIns="45720" rIns="91440" bIns="45720" rtlCol="0" anchor="b">
            <a:normAutofit/>
          </a:bodyPr>
          <a:lstStyle/>
          <a:p>
            <a:pPr defTabSz="457200"/>
            <a:r>
              <a:rPr lang="en-US" sz="7200" b="0" i="0" kern="1200" dirty="0">
                <a:solidFill>
                  <a:schemeClr val="tx2"/>
                </a:solidFill>
                <a:latin typeface="+mj-lt"/>
                <a:ea typeface="+mj-ea"/>
                <a:cs typeface="+mj-cs"/>
              </a:rPr>
              <a:t>Let's start with TASK</a:t>
            </a:r>
          </a:p>
        </p:txBody>
      </p:sp>
      <p:sp>
        <p:nvSpPr>
          <p:cNvPr id="25" name="Rectangle 24">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84108602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757B325C-3E35-45CF-9D07-3BCB281F3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A9AD067-1B55-3542-91CD-87E78CD396A0}"/>
              </a:ext>
            </a:extLst>
          </p:cNvPr>
          <p:cNvSpPr>
            <a:spLocks noGrp="1"/>
          </p:cNvSpPr>
          <p:nvPr>
            <p:ph type="title" idx="4294967295"/>
          </p:nvPr>
        </p:nvSpPr>
        <p:spPr>
          <a:xfrm>
            <a:off x="6143943" y="994410"/>
            <a:ext cx="2514282" cy="2299880"/>
          </a:xfrm>
        </p:spPr>
        <p:txBody>
          <a:bodyPr vert="horz" lIns="91440" tIns="45720" rIns="91440" bIns="45720" rtlCol="0" anchor="b">
            <a:normAutofit/>
          </a:bodyPr>
          <a:lstStyle/>
          <a:p>
            <a:pPr defTabSz="457200"/>
            <a:r>
              <a:rPr lang="en-US" sz="4100" b="0" i="0" kern="1200">
                <a:solidFill>
                  <a:srgbClr val="EBEBEB"/>
                </a:solidFill>
                <a:latin typeface="+mj-lt"/>
                <a:ea typeface="+mj-ea"/>
                <a:cs typeface="+mj-cs"/>
              </a:rPr>
              <a:t>Creating Task</a:t>
            </a:r>
          </a:p>
        </p:txBody>
      </p:sp>
      <p:sp>
        <p:nvSpPr>
          <p:cNvPr id="26" name="Freeform 36">
            <a:extLst>
              <a:ext uri="{FF2B5EF4-FFF2-40B4-BE49-F238E27FC236}">
                <a16:creationId xmlns:a16="http://schemas.microsoft.com/office/drawing/2014/main" id="{C24BEC42-AFF3-40D1-93A2-A27A42E1E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597760" y="0"/>
            <a:ext cx="419604" cy="2782230"/>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608F427C-1EC9-4280-9367-F2B3AA063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857465" cy="5143500"/>
          </a:xfrm>
          <a:custGeom>
            <a:avLst/>
            <a:gdLst>
              <a:gd name="connsiteX0" fmla="*/ 6465239 w 7809954"/>
              <a:gd name="connsiteY0" fmla="*/ 0 h 6858000"/>
              <a:gd name="connsiteX1" fmla="*/ 7808777 w 7809954"/>
              <a:gd name="connsiteY1" fmla="*/ 0 h 6858000"/>
              <a:gd name="connsiteX2" fmla="*/ 7783732 w 7809954"/>
              <a:gd name="connsiteY2" fmla="*/ 155676 h 6858000"/>
              <a:gd name="connsiteX3" fmla="*/ 7759863 w 7809954"/>
              <a:gd name="connsiteY3" fmla="*/ 310667 h 6858000"/>
              <a:gd name="connsiteX4" fmla="*/ 7736499 w 7809954"/>
              <a:gd name="connsiteY4" fmla="*/ 466344 h 6858000"/>
              <a:gd name="connsiteX5" fmla="*/ 7716496 w 7809954"/>
              <a:gd name="connsiteY5" fmla="*/ 622706 h 6858000"/>
              <a:gd name="connsiteX6" fmla="*/ 7696325 w 7809954"/>
              <a:gd name="connsiteY6" fmla="*/ 778383 h 6858000"/>
              <a:gd name="connsiteX7" fmla="*/ 7677499 w 7809954"/>
              <a:gd name="connsiteY7" fmla="*/ 934745 h 6858000"/>
              <a:gd name="connsiteX8" fmla="*/ 7661363 w 7809954"/>
              <a:gd name="connsiteY8" fmla="*/ 1089050 h 6858000"/>
              <a:gd name="connsiteX9" fmla="*/ 7646067 w 7809954"/>
              <a:gd name="connsiteY9" fmla="*/ 1245413 h 6858000"/>
              <a:gd name="connsiteX10" fmla="*/ 7632115 w 7809954"/>
              <a:gd name="connsiteY10" fmla="*/ 1401089 h 6858000"/>
              <a:gd name="connsiteX11" fmla="*/ 7620013 w 7809954"/>
              <a:gd name="connsiteY11" fmla="*/ 1554023 h 6858000"/>
              <a:gd name="connsiteX12" fmla="*/ 7607910 w 7809954"/>
              <a:gd name="connsiteY12" fmla="*/ 1709013 h 6858000"/>
              <a:gd name="connsiteX13" fmla="*/ 7597825 w 7809954"/>
              <a:gd name="connsiteY13" fmla="*/ 1861947 h 6858000"/>
              <a:gd name="connsiteX14" fmla="*/ 7589925 w 7809954"/>
              <a:gd name="connsiteY14" fmla="*/ 2014880 h 6858000"/>
              <a:gd name="connsiteX15" fmla="*/ 7581688 w 7809954"/>
              <a:gd name="connsiteY15" fmla="*/ 2167128 h 6858000"/>
              <a:gd name="connsiteX16" fmla="*/ 7574797 w 7809954"/>
              <a:gd name="connsiteY16" fmla="*/ 2318004 h 6858000"/>
              <a:gd name="connsiteX17" fmla="*/ 7569922 w 7809954"/>
              <a:gd name="connsiteY17" fmla="*/ 2467508 h 6858000"/>
              <a:gd name="connsiteX18" fmla="*/ 7565720 w 7809954"/>
              <a:gd name="connsiteY18" fmla="*/ 2617013 h 6858000"/>
              <a:gd name="connsiteX19" fmla="*/ 7561686 w 7809954"/>
              <a:gd name="connsiteY19" fmla="*/ 2765145 h 6858000"/>
              <a:gd name="connsiteX20" fmla="*/ 7559837 w 7809954"/>
              <a:gd name="connsiteY20" fmla="*/ 2911221 h 6858000"/>
              <a:gd name="connsiteX21" fmla="*/ 7557820 w 7809954"/>
              <a:gd name="connsiteY21" fmla="*/ 3057296 h 6858000"/>
              <a:gd name="connsiteX22" fmla="*/ 7556811 w 7809954"/>
              <a:gd name="connsiteY22" fmla="*/ 3201314 h 6858000"/>
              <a:gd name="connsiteX23" fmla="*/ 7557820 w 7809954"/>
              <a:gd name="connsiteY23" fmla="*/ 3343960 h 6858000"/>
              <a:gd name="connsiteX24" fmla="*/ 7557820 w 7809954"/>
              <a:gd name="connsiteY24" fmla="*/ 3485235 h 6858000"/>
              <a:gd name="connsiteX25" fmla="*/ 7559837 w 7809954"/>
              <a:gd name="connsiteY25" fmla="*/ 3625138 h 6858000"/>
              <a:gd name="connsiteX26" fmla="*/ 7562862 w 7809954"/>
              <a:gd name="connsiteY26" fmla="*/ 3762298 h 6858000"/>
              <a:gd name="connsiteX27" fmla="*/ 7565720 w 7809954"/>
              <a:gd name="connsiteY27" fmla="*/ 3898087 h 6858000"/>
              <a:gd name="connsiteX28" fmla="*/ 7568914 w 7809954"/>
              <a:gd name="connsiteY28" fmla="*/ 4031132 h 6858000"/>
              <a:gd name="connsiteX29" fmla="*/ 7573788 w 7809954"/>
              <a:gd name="connsiteY29" fmla="*/ 4163491 h 6858000"/>
              <a:gd name="connsiteX30" fmla="*/ 7578999 w 7809954"/>
              <a:gd name="connsiteY30" fmla="*/ 4293793 h 6858000"/>
              <a:gd name="connsiteX31" fmla="*/ 7583705 w 7809954"/>
              <a:gd name="connsiteY31" fmla="*/ 4421352 h 6858000"/>
              <a:gd name="connsiteX32" fmla="*/ 7596985 w 7809954"/>
              <a:gd name="connsiteY32" fmla="*/ 4670298 h 6858000"/>
              <a:gd name="connsiteX33" fmla="*/ 7611104 w 7809954"/>
              <a:gd name="connsiteY33" fmla="*/ 4908956 h 6858000"/>
              <a:gd name="connsiteX34" fmla="*/ 7625896 w 7809954"/>
              <a:gd name="connsiteY34" fmla="*/ 5138013 h 6858000"/>
              <a:gd name="connsiteX35" fmla="*/ 7642201 w 7809954"/>
              <a:gd name="connsiteY35" fmla="*/ 5354726 h 6858000"/>
              <a:gd name="connsiteX36" fmla="*/ 7659178 w 7809954"/>
              <a:gd name="connsiteY36" fmla="*/ 5561838 h 6858000"/>
              <a:gd name="connsiteX37" fmla="*/ 7677499 w 7809954"/>
              <a:gd name="connsiteY37" fmla="*/ 5753862 h 6858000"/>
              <a:gd name="connsiteX38" fmla="*/ 7695485 w 7809954"/>
              <a:gd name="connsiteY38" fmla="*/ 5934227 h 6858000"/>
              <a:gd name="connsiteX39" fmla="*/ 7713470 w 7809954"/>
              <a:gd name="connsiteY39" fmla="*/ 6100191 h 6858000"/>
              <a:gd name="connsiteX40" fmla="*/ 7730447 w 7809954"/>
              <a:gd name="connsiteY40" fmla="*/ 6252438 h 6858000"/>
              <a:gd name="connsiteX41" fmla="*/ 7746584 w 7809954"/>
              <a:gd name="connsiteY41" fmla="*/ 6387541 h 6858000"/>
              <a:gd name="connsiteX42" fmla="*/ 7761880 w 7809954"/>
              <a:gd name="connsiteY42" fmla="*/ 6509613 h 6858000"/>
              <a:gd name="connsiteX43" fmla="*/ 7774655 w 7809954"/>
              <a:gd name="connsiteY43" fmla="*/ 6612483 h 6858000"/>
              <a:gd name="connsiteX44" fmla="*/ 7786757 w 7809954"/>
              <a:gd name="connsiteY44" fmla="*/ 6698894 h 6858000"/>
              <a:gd name="connsiteX45" fmla="*/ 7804071 w 7809954"/>
              <a:gd name="connsiteY45" fmla="*/ 6817538 h 6858000"/>
              <a:gd name="connsiteX46" fmla="*/ 7809954 w 7809954"/>
              <a:gd name="connsiteY46" fmla="*/ 6858000 h 6858000"/>
              <a:gd name="connsiteX47" fmla="*/ 7157124 w 7809954"/>
              <a:gd name="connsiteY47" fmla="*/ 6858000 h 6858000"/>
              <a:gd name="connsiteX48" fmla="*/ 7157124 w 7809954"/>
              <a:gd name="connsiteY48" fmla="*/ 6858000 h 6858000"/>
              <a:gd name="connsiteX49" fmla="*/ 0 w 7809954"/>
              <a:gd name="connsiteY49" fmla="*/ 6858000 h 6858000"/>
              <a:gd name="connsiteX50" fmla="*/ 0 w 7809954"/>
              <a:gd name="connsiteY50" fmla="*/ 0 h 6858000"/>
              <a:gd name="connsiteX51" fmla="*/ 6465239 w 7809954"/>
              <a:gd name="connsiteY5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7809954" h="6858000">
                <a:moveTo>
                  <a:pt x="6465239" y="0"/>
                </a:moveTo>
                <a:lnTo>
                  <a:pt x="7808777" y="0"/>
                </a:lnTo>
                <a:lnTo>
                  <a:pt x="7783732" y="155676"/>
                </a:lnTo>
                <a:lnTo>
                  <a:pt x="7759863" y="310667"/>
                </a:lnTo>
                <a:lnTo>
                  <a:pt x="7736499" y="466344"/>
                </a:lnTo>
                <a:lnTo>
                  <a:pt x="7716496" y="622706"/>
                </a:lnTo>
                <a:lnTo>
                  <a:pt x="7696325" y="778383"/>
                </a:lnTo>
                <a:lnTo>
                  <a:pt x="7677499" y="934745"/>
                </a:lnTo>
                <a:lnTo>
                  <a:pt x="7661363" y="1089050"/>
                </a:lnTo>
                <a:lnTo>
                  <a:pt x="7646067" y="1245413"/>
                </a:lnTo>
                <a:lnTo>
                  <a:pt x="7632115" y="1401089"/>
                </a:lnTo>
                <a:lnTo>
                  <a:pt x="7620013" y="1554023"/>
                </a:lnTo>
                <a:lnTo>
                  <a:pt x="7607910" y="1709013"/>
                </a:lnTo>
                <a:lnTo>
                  <a:pt x="7597825" y="1861947"/>
                </a:lnTo>
                <a:lnTo>
                  <a:pt x="7589925" y="2014880"/>
                </a:lnTo>
                <a:lnTo>
                  <a:pt x="7581688" y="2167128"/>
                </a:lnTo>
                <a:lnTo>
                  <a:pt x="7574797" y="2318004"/>
                </a:lnTo>
                <a:lnTo>
                  <a:pt x="7569922" y="2467508"/>
                </a:lnTo>
                <a:lnTo>
                  <a:pt x="7565720" y="2617013"/>
                </a:lnTo>
                <a:lnTo>
                  <a:pt x="7561686" y="2765145"/>
                </a:lnTo>
                <a:lnTo>
                  <a:pt x="7559837" y="2911221"/>
                </a:lnTo>
                <a:lnTo>
                  <a:pt x="7557820" y="3057296"/>
                </a:lnTo>
                <a:lnTo>
                  <a:pt x="7556811" y="3201314"/>
                </a:lnTo>
                <a:lnTo>
                  <a:pt x="7557820" y="3343960"/>
                </a:lnTo>
                <a:lnTo>
                  <a:pt x="7557820" y="3485235"/>
                </a:lnTo>
                <a:lnTo>
                  <a:pt x="7559837" y="3625138"/>
                </a:lnTo>
                <a:lnTo>
                  <a:pt x="7562862" y="3762298"/>
                </a:lnTo>
                <a:lnTo>
                  <a:pt x="7565720" y="3898087"/>
                </a:lnTo>
                <a:lnTo>
                  <a:pt x="7568914" y="4031132"/>
                </a:lnTo>
                <a:lnTo>
                  <a:pt x="7573788" y="4163491"/>
                </a:lnTo>
                <a:lnTo>
                  <a:pt x="7578999" y="4293793"/>
                </a:lnTo>
                <a:lnTo>
                  <a:pt x="7583705" y="4421352"/>
                </a:lnTo>
                <a:lnTo>
                  <a:pt x="7596985" y="4670298"/>
                </a:lnTo>
                <a:lnTo>
                  <a:pt x="7611104" y="4908956"/>
                </a:lnTo>
                <a:lnTo>
                  <a:pt x="7625896" y="5138013"/>
                </a:lnTo>
                <a:lnTo>
                  <a:pt x="7642201" y="5354726"/>
                </a:lnTo>
                <a:lnTo>
                  <a:pt x="7659178" y="5561838"/>
                </a:lnTo>
                <a:lnTo>
                  <a:pt x="7677499" y="5753862"/>
                </a:lnTo>
                <a:lnTo>
                  <a:pt x="7695485" y="5934227"/>
                </a:lnTo>
                <a:lnTo>
                  <a:pt x="7713470" y="6100191"/>
                </a:lnTo>
                <a:lnTo>
                  <a:pt x="7730447" y="6252438"/>
                </a:lnTo>
                <a:lnTo>
                  <a:pt x="7746584" y="6387541"/>
                </a:lnTo>
                <a:lnTo>
                  <a:pt x="7761880" y="6509613"/>
                </a:lnTo>
                <a:lnTo>
                  <a:pt x="7774655" y="6612483"/>
                </a:lnTo>
                <a:lnTo>
                  <a:pt x="7786757" y="6698894"/>
                </a:lnTo>
                <a:lnTo>
                  <a:pt x="7804071" y="6817538"/>
                </a:lnTo>
                <a:lnTo>
                  <a:pt x="7809954" y="6858000"/>
                </a:lnTo>
                <a:lnTo>
                  <a:pt x="7157124" y="6858000"/>
                </a:lnTo>
                <a:lnTo>
                  <a:pt x="7157124" y="6858000"/>
                </a:lnTo>
                <a:lnTo>
                  <a:pt x="0" y="6858000"/>
                </a:lnTo>
                <a:lnTo>
                  <a:pt x="0" y="0"/>
                </a:lnTo>
                <a:lnTo>
                  <a:pt x="646523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Rectangle 29">
            <a:extLst>
              <a:ext uri="{FF2B5EF4-FFF2-40B4-BE49-F238E27FC236}">
                <a16:creationId xmlns:a16="http://schemas.microsoft.com/office/drawing/2014/main" id="{F98810A7-E114-447A-A7D6-69B27CFB56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7" name="Picture 6">
            <a:extLst>
              <a:ext uri="{FF2B5EF4-FFF2-40B4-BE49-F238E27FC236}">
                <a16:creationId xmlns:a16="http://schemas.microsoft.com/office/drawing/2014/main" id="{E2DEFEE3-BBC2-9C6A-7030-80F1A1E2BF9E}"/>
              </a:ext>
            </a:extLst>
          </p:cNvPr>
          <p:cNvPicPr>
            <a:picLocks noChangeAspect="1"/>
          </p:cNvPicPr>
          <p:nvPr/>
        </p:nvPicPr>
        <p:blipFill>
          <a:blip r:embed="rId6"/>
          <a:stretch>
            <a:fillRect/>
          </a:stretch>
        </p:blipFill>
        <p:spPr>
          <a:xfrm>
            <a:off x="482890" y="1066616"/>
            <a:ext cx="4702997" cy="3009918"/>
          </a:xfrm>
          <a:prstGeom prst="rect">
            <a:avLst/>
          </a:prstGeom>
          <a:effectLst/>
        </p:spPr>
      </p:pic>
    </p:spTree>
    <p:extLst>
      <p:ext uri="{BB962C8B-B14F-4D97-AF65-F5344CB8AC3E}">
        <p14:creationId xmlns:p14="http://schemas.microsoft.com/office/powerpoint/2010/main" val="1344531563"/>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A9AD067-1B55-3542-91CD-87E78CD396A0}"/>
              </a:ext>
            </a:extLst>
          </p:cNvPr>
          <p:cNvSpPr>
            <a:spLocks noGrp="1"/>
          </p:cNvSpPr>
          <p:nvPr>
            <p:ph type="title" idx="4294967295"/>
          </p:nvPr>
        </p:nvSpPr>
        <p:spPr>
          <a:xfrm>
            <a:off x="482891" y="1085849"/>
            <a:ext cx="2331469" cy="1083564"/>
          </a:xfrm>
        </p:spPr>
        <p:txBody>
          <a:bodyPr vert="horz" lIns="91440" tIns="45720" rIns="91440" bIns="45720" rtlCol="0" anchor="b">
            <a:normAutofit/>
          </a:bodyPr>
          <a:lstStyle/>
          <a:p>
            <a:pPr defTabSz="457200">
              <a:lnSpc>
                <a:spcPct val="90000"/>
              </a:lnSpc>
            </a:pPr>
            <a:r>
              <a:rPr lang="en-US" sz="2400" b="0" i="0" kern="1200">
                <a:solidFill>
                  <a:srgbClr val="EBEBEB"/>
                </a:solidFill>
                <a:latin typeface="+mj-lt"/>
                <a:ea typeface="+mj-ea"/>
                <a:cs typeface="+mj-cs"/>
              </a:rPr>
              <a:t>Execution model - a quick look</a:t>
            </a:r>
          </a:p>
        </p:txBody>
      </p:sp>
      <p:sp>
        <p:nvSpPr>
          <p:cNvPr id="26"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0"/>
            <a:ext cx="419604" cy="2782230"/>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560741" y="-439759"/>
            <a:ext cx="5143501" cy="602301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Content Placeholder 2">
            <a:extLst>
              <a:ext uri="{FF2B5EF4-FFF2-40B4-BE49-F238E27FC236}">
                <a16:creationId xmlns:a16="http://schemas.microsoft.com/office/drawing/2014/main" id="{88EFD0AE-4C92-C44C-B959-E7ADD3B33DD5}"/>
              </a:ext>
            </a:extLst>
          </p:cNvPr>
          <p:cNvSpPr>
            <a:spLocks noGrp="1"/>
          </p:cNvSpPr>
          <p:nvPr>
            <p:ph sz="quarter" idx="4294967295"/>
          </p:nvPr>
        </p:nvSpPr>
        <p:spPr>
          <a:xfrm>
            <a:off x="482891" y="2304288"/>
            <a:ext cx="2331043" cy="2210562"/>
          </a:xfrm>
        </p:spPr>
        <p:txBody>
          <a:bodyPr vert="horz" lIns="91440" tIns="45720" rIns="91440" bIns="45720" rtlCol="0">
            <a:normAutofit/>
          </a:bodyPr>
          <a:lstStyle/>
          <a:p>
            <a:pPr defTabSz="457200">
              <a:spcBef>
                <a:spcPts val="1000"/>
              </a:spcBef>
            </a:pPr>
            <a:r>
              <a:rPr lang="en-US" sz="1100">
                <a:solidFill>
                  <a:srgbClr val="FFFFFF"/>
                </a:solidFill>
              </a:rPr>
              <a:t>Code-based tasks are executed by a thread on some processor</a:t>
            </a:r>
          </a:p>
          <a:p>
            <a:pPr defTabSz="457200">
              <a:spcBef>
                <a:spcPts val="1000"/>
              </a:spcBef>
            </a:pPr>
            <a:r>
              <a:rPr lang="en-US" sz="1100">
                <a:solidFill>
                  <a:srgbClr val="FFFFFF"/>
                </a:solidFill>
              </a:rPr>
              <a:t>Thread is dedicated to task until task completes</a:t>
            </a:r>
          </a:p>
        </p:txBody>
      </p:sp>
      <p:pic>
        <p:nvPicPr>
          <p:cNvPr id="6" name="Picture 5">
            <a:extLst>
              <a:ext uri="{FF2B5EF4-FFF2-40B4-BE49-F238E27FC236}">
                <a16:creationId xmlns:a16="http://schemas.microsoft.com/office/drawing/2014/main" id="{500C16D8-F9B4-99E2-A26A-93EEC93CCF78}"/>
              </a:ext>
            </a:extLst>
          </p:cNvPr>
          <p:cNvPicPr>
            <a:picLocks noChangeAspect="1"/>
          </p:cNvPicPr>
          <p:nvPr/>
        </p:nvPicPr>
        <p:blipFill>
          <a:blip r:embed="rId6"/>
          <a:stretch>
            <a:fillRect/>
          </a:stretch>
        </p:blipFill>
        <p:spPr>
          <a:xfrm>
            <a:off x="3786338" y="1716355"/>
            <a:ext cx="4871885" cy="2167989"/>
          </a:xfrm>
          <a:prstGeom prst="rect">
            <a:avLst/>
          </a:prstGeom>
          <a:effectLst/>
        </p:spPr>
      </p:pic>
    </p:spTree>
    <p:extLst>
      <p:ext uri="{BB962C8B-B14F-4D97-AF65-F5344CB8AC3E}">
        <p14:creationId xmlns:p14="http://schemas.microsoft.com/office/powerpoint/2010/main" val="220602706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EA9AD067-1B55-3542-91CD-87E78CD396A0}"/>
              </a:ext>
            </a:extLst>
          </p:cNvPr>
          <p:cNvSpPr>
            <a:spLocks noGrp="1"/>
          </p:cNvSpPr>
          <p:nvPr>
            <p:ph type="title" idx="4294967295"/>
          </p:nvPr>
        </p:nvSpPr>
        <p:spPr>
          <a:xfrm>
            <a:off x="482891" y="1085849"/>
            <a:ext cx="2331469" cy="1083564"/>
          </a:xfrm>
        </p:spPr>
        <p:txBody>
          <a:bodyPr vert="horz" lIns="91440" tIns="45720" rIns="91440" bIns="45720" rtlCol="0" anchor="b">
            <a:normAutofit/>
          </a:bodyPr>
          <a:lstStyle/>
          <a:p>
            <a:pPr defTabSz="457200"/>
            <a:r>
              <a:rPr lang="en-US" sz="2400" b="0" i="0" kern="1200">
                <a:solidFill>
                  <a:srgbClr val="EBEBEB"/>
                </a:solidFill>
                <a:latin typeface="+mj-lt"/>
                <a:ea typeface="+mj-ea"/>
                <a:cs typeface="+mj-cs"/>
              </a:rPr>
              <a:t>Closure Variables</a:t>
            </a:r>
          </a:p>
        </p:txBody>
      </p:sp>
      <p:sp>
        <p:nvSpPr>
          <p:cNvPr id="26"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0"/>
            <a:ext cx="419604" cy="2782230"/>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560741" y="-439759"/>
            <a:ext cx="5143501" cy="602301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Content Placeholder 2">
            <a:extLst>
              <a:ext uri="{FF2B5EF4-FFF2-40B4-BE49-F238E27FC236}">
                <a16:creationId xmlns:a16="http://schemas.microsoft.com/office/drawing/2014/main" id="{88EFD0AE-4C92-C44C-B959-E7ADD3B33DD5}"/>
              </a:ext>
            </a:extLst>
          </p:cNvPr>
          <p:cNvSpPr>
            <a:spLocks noGrp="1"/>
          </p:cNvSpPr>
          <p:nvPr>
            <p:ph sz="quarter" idx="4294967295"/>
          </p:nvPr>
        </p:nvSpPr>
        <p:spPr>
          <a:xfrm>
            <a:off x="482891" y="2304288"/>
            <a:ext cx="2331043" cy="2210562"/>
          </a:xfrm>
        </p:spPr>
        <p:txBody>
          <a:bodyPr vert="horz" lIns="91440" tIns="45720" rIns="91440" bIns="45720" rtlCol="0">
            <a:normAutofit/>
          </a:bodyPr>
          <a:lstStyle/>
          <a:p>
            <a:pPr defTabSz="457200">
              <a:spcBef>
                <a:spcPts val="1000"/>
              </a:spcBef>
            </a:pPr>
            <a:r>
              <a:rPr lang="en-US" sz="1100">
                <a:solidFill>
                  <a:srgbClr val="FFFFFF"/>
                </a:solidFill>
              </a:rPr>
              <a:t>How are closure variables passed?</a:t>
            </a:r>
          </a:p>
          <a:p>
            <a:pPr defTabSz="457200">
              <a:spcBef>
                <a:spcPts val="1000"/>
              </a:spcBef>
            </a:pPr>
            <a:r>
              <a:rPr lang="en-US" sz="1100">
                <a:solidFill>
                  <a:srgbClr val="FFFFFF"/>
                </a:solidFill>
              </a:rPr>
              <a:t>Think "By REFERENCE"</a:t>
            </a:r>
          </a:p>
        </p:txBody>
      </p:sp>
      <p:pic>
        <p:nvPicPr>
          <p:cNvPr id="4" name="Picture 3">
            <a:extLst>
              <a:ext uri="{FF2B5EF4-FFF2-40B4-BE49-F238E27FC236}">
                <a16:creationId xmlns:a16="http://schemas.microsoft.com/office/drawing/2014/main" id="{275F4D99-18E6-751E-EE88-8708D602DC16}"/>
              </a:ext>
            </a:extLst>
          </p:cNvPr>
          <p:cNvPicPr>
            <a:picLocks noChangeAspect="1"/>
          </p:cNvPicPr>
          <p:nvPr/>
        </p:nvPicPr>
        <p:blipFill>
          <a:blip r:embed="rId6"/>
          <a:stretch>
            <a:fillRect/>
          </a:stretch>
        </p:blipFill>
        <p:spPr>
          <a:xfrm>
            <a:off x="3786338" y="1771163"/>
            <a:ext cx="4871885" cy="2058372"/>
          </a:xfrm>
          <a:prstGeom prst="rect">
            <a:avLst/>
          </a:prstGeom>
          <a:effectLst/>
        </p:spPr>
      </p:pic>
    </p:spTree>
    <p:extLst>
      <p:ext uri="{BB962C8B-B14F-4D97-AF65-F5344CB8AC3E}">
        <p14:creationId xmlns:p14="http://schemas.microsoft.com/office/powerpoint/2010/main" val="66108293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4" name="Picture 13">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6" name="Oval 15">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0" name="Picture 19">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2" name="Rectangle 21">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1FD7547-92D1-4D54-4685-E43DA8B36127}"/>
              </a:ext>
            </a:extLst>
          </p:cNvPr>
          <p:cNvSpPr>
            <a:spLocks noGrp="1"/>
          </p:cNvSpPr>
          <p:nvPr>
            <p:ph type="title" idx="4294967295"/>
          </p:nvPr>
        </p:nvSpPr>
        <p:spPr>
          <a:xfrm>
            <a:off x="6157967" y="1085850"/>
            <a:ext cx="2500257" cy="2322740"/>
          </a:xfrm>
        </p:spPr>
        <p:txBody>
          <a:bodyPr vert="horz" lIns="91440" tIns="45720" rIns="91440" bIns="45720" rtlCol="0" anchor="b">
            <a:normAutofit/>
          </a:bodyPr>
          <a:lstStyle/>
          <a:p>
            <a:pPr defTabSz="457200"/>
            <a:r>
              <a:rPr lang="en-US" sz="3500"/>
              <a:t>Harvesting results</a:t>
            </a:r>
          </a:p>
        </p:txBody>
      </p:sp>
      <p:sp>
        <p:nvSpPr>
          <p:cNvPr id="24" name="Freeform: Shape 23">
            <a:extLst>
              <a:ext uri="{FF2B5EF4-FFF2-40B4-BE49-F238E27FC236}">
                <a16:creationId xmlns:a16="http://schemas.microsoft.com/office/drawing/2014/main" id="{3484F10F-334C-431A-8E30-B66B496C5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356983" y="-356983"/>
            <a:ext cx="5143500" cy="5857465"/>
          </a:xfrm>
          <a:custGeom>
            <a:avLst/>
            <a:gdLst>
              <a:gd name="connsiteX0" fmla="*/ 6858000 w 6858000"/>
              <a:gd name="connsiteY0" fmla="*/ 1344715 h 7809953"/>
              <a:gd name="connsiteX1" fmla="*/ 6858000 w 6858000"/>
              <a:gd name="connsiteY1" fmla="*/ 1177 h 7809953"/>
              <a:gd name="connsiteX2" fmla="*/ 6702323 w 6858000"/>
              <a:gd name="connsiteY2" fmla="*/ 26222 h 7809953"/>
              <a:gd name="connsiteX3" fmla="*/ 6547332 w 6858000"/>
              <a:gd name="connsiteY3" fmla="*/ 50091 h 7809953"/>
              <a:gd name="connsiteX4" fmla="*/ 6391656 w 6858000"/>
              <a:gd name="connsiteY4" fmla="*/ 73455 h 7809953"/>
              <a:gd name="connsiteX5" fmla="*/ 6235293 w 6858000"/>
              <a:gd name="connsiteY5" fmla="*/ 93458 h 7809953"/>
              <a:gd name="connsiteX6" fmla="*/ 6079617 w 6858000"/>
              <a:gd name="connsiteY6" fmla="*/ 113629 h 7809953"/>
              <a:gd name="connsiteX7" fmla="*/ 5923254 w 6858000"/>
              <a:gd name="connsiteY7" fmla="*/ 132455 h 7809953"/>
              <a:gd name="connsiteX8" fmla="*/ 5768949 w 6858000"/>
              <a:gd name="connsiteY8" fmla="*/ 148591 h 7809953"/>
              <a:gd name="connsiteX9" fmla="*/ 5612587 w 6858000"/>
              <a:gd name="connsiteY9" fmla="*/ 163887 h 7809953"/>
              <a:gd name="connsiteX10" fmla="*/ 5456910 w 6858000"/>
              <a:gd name="connsiteY10" fmla="*/ 177839 h 7809953"/>
              <a:gd name="connsiteX11" fmla="*/ 5303977 w 6858000"/>
              <a:gd name="connsiteY11" fmla="*/ 189941 h 7809953"/>
              <a:gd name="connsiteX12" fmla="*/ 5148986 w 6858000"/>
              <a:gd name="connsiteY12" fmla="*/ 202044 h 7809953"/>
              <a:gd name="connsiteX13" fmla="*/ 4996053 w 6858000"/>
              <a:gd name="connsiteY13" fmla="*/ 212129 h 7809953"/>
              <a:gd name="connsiteX14" fmla="*/ 4843119 w 6858000"/>
              <a:gd name="connsiteY14" fmla="*/ 220029 h 7809953"/>
              <a:gd name="connsiteX15" fmla="*/ 4690872 w 6858000"/>
              <a:gd name="connsiteY15" fmla="*/ 228266 h 7809953"/>
              <a:gd name="connsiteX16" fmla="*/ 4539996 w 6858000"/>
              <a:gd name="connsiteY16" fmla="*/ 235157 h 7809953"/>
              <a:gd name="connsiteX17" fmla="*/ 4390491 w 6858000"/>
              <a:gd name="connsiteY17" fmla="*/ 240032 h 7809953"/>
              <a:gd name="connsiteX18" fmla="*/ 4240987 w 6858000"/>
              <a:gd name="connsiteY18" fmla="*/ 244234 h 7809953"/>
              <a:gd name="connsiteX19" fmla="*/ 4092855 w 6858000"/>
              <a:gd name="connsiteY19" fmla="*/ 248268 h 7809953"/>
              <a:gd name="connsiteX20" fmla="*/ 3946779 w 6858000"/>
              <a:gd name="connsiteY20" fmla="*/ 250117 h 7809953"/>
              <a:gd name="connsiteX21" fmla="*/ 3800704 w 6858000"/>
              <a:gd name="connsiteY21" fmla="*/ 252134 h 7809953"/>
              <a:gd name="connsiteX22" fmla="*/ 3656685 w 6858000"/>
              <a:gd name="connsiteY22" fmla="*/ 253143 h 7809953"/>
              <a:gd name="connsiteX23" fmla="*/ 3514039 w 6858000"/>
              <a:gd name="connsiteY23" fmla="*/ 252134 h 7809953"/>
              <a:gd name="connsiteX24" fmla="*/ 3372765 w 6858000"/>
              <a:gd name="connsiteY24" fmla="*/ 252134 h 7809953"/>
              <a:gd name="connsiteX25" fmla="*/ 3232861 w 6858000"/>
              <a:gd name="connsiteY25" fmla="*/ 250117 h 7809953"/>
              <a:gd name="connsiteX26" fmla="*/ 3095701 w 6858000"/>
              <a:gd name="connsiteY26" fmla="*/ 247092 h 7809953"/>
              <a:gd name="connsiteX27" fmla="*/ 2959913 w 6858000"/>
              <a:gd name="connsiteY27" fmla="*/ 244234 h 7809953"/>
              <a:gd name="connsiteX28" fmla="*/ 2826868 w 6858000"/>
              <a:gd name="connsiteY28" fmla="*/ 241040 h 7809953"/>
              <a:gd name="connsiteX29" fmla="*/ 2694508 w 6858000"/>
              <a:gd name="connsiteY29" fmla="*/ 236166 h 7809953"/>
              <a:gd name="connsiteX30" fmla="*/ 2564207 w 6858000"/>
              <a:gd name="connsiteY30" fmla="*/ 230955 h 7809953"/>
              <a:gd name="connsiteX31" fmla="*/ 2436648 w 6858000"/>
              <a:gd name="connsiteY31" fmla="*/ 226249 h 7809953"/>
              <a:gd name="connsiteX32" fmla="*/ 2187702 w 6858000"/>
              <a:gd name="connsiteY32" fmla="*/ 212969 h 7809953"/>
              <a:gd name="connsiteX33" fmla="*/ 1949044 w 6858000"/>
              <a:gd name="connsiteY33" fmla="*/ 198850 h 7809953"/>
              <a:gd name="connsiteX34" fmla="*/ 1719987 w 6858000"/>
              <a:gd name="connsiteY34" fmla="*/ 184058 h 7809953"/>
              <a:gd name="connsiteX35" fmla="*/ 1503274 w 6858000"/>
              <a:gd name="connsiteY35" fmla="*/ 167753 h 7809953"/>
              <a:gd name="connsiteX36" fmla="*/ 1296162 w 6858000"/>
              <a:gd name="connsiteY36" fmla="*/ 150776 h 7809953"/>
              <a:gd name="connsiteX37" fmla="*/ 1104138 w 6858000"/>
              <a:gd name="connsiteY37" fmla="*/ 132455 h 7809953"/>
              <a:gd name="connsiteX38" fmla="*/ 923773 w 6858000"/>
              <a:gd name="connsiteY38" fmla="*/ 114469 h 7809953"/>
              <a:gd name="connsiteX39" fmla="*/ 757809 w 6858000"/>
              <a:gd name="connsiteY39" fmla="*/ 96484 h 7809953"/>
              <a:gd name="connsiteX40" fmla="*/ 605562 w 6858000"/>
              <a:gd name="connsiteY40" fmla="*/ 79507 h 7809953"/>
              <a:gd name="connsiteX41" fmla="*/ 470459 w 6858000"/>
              <a:gd name="connsiteY41" fmla="*/ 63370 h 7809953"/>
              <a:gd name="connsiteX42" fmla="*/ 348387 w 6858000"/>
              <a:gd name="connsiteY42" fmla="*/ 48074 h 7809953"/>
              <a:gd name="connsiteX43" fmla="*/ 245517 w 6858000"/>
              <a:gd name="connsiteY43" fmla="*/ 35299 h 7809953"/>
              <a:gd name="connsiteX44" fmla="*/ 159106 w 6858000"/>
              <a:gd name="connsiteY44" fmla="*/ 23197 h 7809953"/>
              <a:gd name="connsiteX45" fmla="*/ 40462 w 6858000"/>
              <a:gd name="connsiteY45" fmla="*/ 5883 h 7809953"/>
              <a:gd name="connsiteX46" fmla="*/ 0 w 6858000"/>
              <a:gd name="connsiteY46" fmla="*/ 0 h 7809953"/>
              <a:gd name="connsiteX47" fmla="*/ 0 w 6858000"/>
              <a:gd name="connsiteY47" fmla="*/ 652830 h 7809953"/>
              <a:gd name="connsiteX48" fmla="*/ 0 w 6858000"/>
              <a:gd name="connsiteY48" fmla="*/ 652830 h 7809953"/>
              <a:gd name="connsiteX49" fmla="*/ 0 w 6858000"/>
              <a:gd name="connsiteY49" fmla="*/ 7809953 h 7809953"/>
              <a:gd name="connsiteX50" fmla="*/ 6857999 w 6858000"/>
              <a:gd name="connsiteY50" fmla="*/ 7809953 h 7809953"/>
              <a:gd name="connsiteX51" fmla="*/ 6857999 w 6858000"/>
              <a:gd name="connsiteY51" fmla="*/ 1344715 h 7809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0" h="7809953">
                <a:moveTo>
                  <a:pt x="6858000" y="1344715"/>
                </a:moveTo>
                <a:lnTo>
                  <a:pt x="6858000" y="1177"/>
                </a:lnTo>
                <a:lnTo>
                  <a:pt x="6702323" y="26222"/>
                </a:lnTo>
                <a:lnTo>
                  <a:pt x="6547332" y="50091"/>
                </a:lnTo>
                <a:lnTo>
                  <a:pt x="6391656" y="73455"/>
                </a:lnTo>
                <a:lnTo>
                  <a:pt x="6235293" y="93458"/>
                </a:lnTo>
                <a:lnTo>
                  <a:pt x="6079617" y="113629"/>
                </a:lnTo>
                <a:lnTo>
                  <a:pt x="5923254" y="132455"/>
                </a:lnTo>
                <a:lnTo>
                  <a:pt x="5768949" y="148591"/>
                </a:lnTo>
                <a:lnTo>
                  <a:pt x="5612587" y="163887"/>
                </a:lnTo>
                <a:lnTo>
                  <a:pt x="5456910" y="177839"/>
                </a:lnTo>
                <a:lnTo>
                  <a:pt x="5303977" y="189941"/>
                </a:lnTo>
                <a:lnTo>
                  <a:pt x="5148986" y="202044"/>
                </a:lnTo>
                <a:lnTo>
                  <a:pt x="4996053" y="212129"/>
                </a:lnTo>
                <a:lnTo>
                  <a:pt x="4843119" y="220029"/>
                </a:lnTo>
                <a:lnTo>
                  <a:pt x="4690872" y="228266"/>
                </a:lnTo>
                <a:lnTo>
                  <a:pt x="4539996" y="235157"/>
                </a:lnTo>
                <a:lnTo>
                  <a:pt x="4390491" y="240032"/>
                </a:lnTo>
                <a:lnTo>
                  <a:pt x="4240987" y="244234"/>
                </a:lnTo>
                <a:lnTo>
                  <a:pt x="4092855" y="248268"/>
                </a:lnTo>
                <a:lnTo>
                  <a:pt x="3946779" y="250117"/>
                </a:lnTo>
                <a:lnTo>
                  <a:pt x="3800704" y="252134"/>
                </a:lnTo>
                <a:lnTo>
                  <a:pt x="3656685" y="253143"/>
                </a:lnTo>
                <a:lnTo>
                  <a:pt x="3514039" y="252134"/>
                </a:lnTo>
                <a:lnTo>
                  <a:pt x="3372765" y="252134"/>
                </a:lnTo>
                <a:lnTo>
                  <a:pt x="3232861" y="250117"/>
                </a:lnTo>
                <a:lnTo>
                  <a:pt x="3095701" y="247092"/>
                </a:lnTo>
                <a:lnTo>
                  <a:pt x="2959913" y="244234"/>
                </a:lnTo>
                <a:lnTo>
                  <a:pt x="2826868" y="241040"/>
                </a:lnTo>
                <a:lnTo>
                  <a:pt x="2694508" y="236166"/>
                </a:lnTo>
                <a:lnTo>
                  <a:pt x="2564207" y="230955"/>
                </a:lnTo>
                <a:lnTo>
                  <a:pt x="2436648" y="226249"/>
                </a:lnTo>
                <a:lnTo>
                  <a:pt x="2187702" y="212969"/>
                </a:lnTo>
                <a:lnTo>
                  <a:pt x="1949044" y="198850"/>
                </a:lnTo>
                <a:lnTo>
                  <a:pt x="1719987" y="184058"/>
                </a:lnTo>
                <a:lnTo>
                  <a:pt x="1503274" y="167753"/>
                </a:lnTo>
                <a:lnTo>
                  <a:pt x="1296162" y="150776"/>
                </a:lnTo>
                <a:lnTo>
                  <a:pt x="1104138" y="132455"/>
                </a:lnTo>
                <a:lnTo>
                  <a:pt x="923773" y="114469"/>
                </a:lnTo>
                <a:lnTo>
                  <a:pt x="757809" y="96484"/>
                </a:lnTo>
                <a:lnTo>
                  <a:pt x="605562" y="79507"/>
                </a:lnTo>
                <a:lnTo>
                  <a:pt x="470459" y="63370"/>
                </a:lnTo>
                <a:lnTo>
                  <a:pt x="348387" y="48074"/>
                </a:lnTo>
                <a:lnTo>
                  <a:pt x="245517" y="35299"/>
                </a:lnTo>
                <a:lnTo>
                  <a:pt x="159106" y="23197"/>
                </a:lnTo>
                <a:lnTo>
                  <a:pt x="40462" y="5883"/>
                </a:lnTo>
                <a:lnTo>
                  <a:pt x="0" y="0"/>
                </a:lnTo>
                <a:lnTo>
                  <a:pt x="0" y="652830"/>
                </a:lnTo>
                <a:lnTo>
                  <a:pt x="0" y="652830"/>
                </a:lnTo>
                <a:lnTo>
                  <a:pt x="0" y="7809953"/>
                </a:lnTo>
                <a:lnTo>
                  <a:pt x="6857999" y="7809953"/>
                </a:lnTo>
                <a:lnTo>
                  <a:pt x="6857999" y="1344715"/>
                </a:lnTo>
                <a:close/>
              </a:path>
            </a:pathLst>
          </a:custGeom>
          <a:solidFill>
            <a:srgbClr val="FFFFFF"/>
          </a:solidFill>
          <a:ln>
            <a:noFill/>
          </a:ln>
        </p:spPr>
        <p:txBody>
          <a:bodyPr/>
          <a:lstStyle/>
          <a:p>
            <a:endParaRPr lang="en-IN"/>
          </a:p>
        </p:txBody>
      </p:sp>
      <p:pic>
        <p:nvPicPr>
          <p:cNvPr id="7" name="Picture 6">
            <a:extLst>
              <a:ext uri="{FF2B5EF4-FFF2-40B4-BE49-F238E27FC236}">
                <a16:creationId xmlns:a16="http://schemas.microsoft.com/office/drawing/2014/main" id="{EDE8A996-34F8-3BA9-04E6-A1BD0C1E1B0E}"/>
              </a:ext>
            </a:extLst>
          </p:cNvPr>
          <p:cNvPicPr>
            <a:picLocks noChangeAspect="1"/>
          </p:cNvPicPr>
          <p:nvPr/>
        </p:nvPicPr>
        <p:blipFill>
          <a:blip r:embed="rId7"/>
          <a:stretch>
            <a:fillRect/>
          </a:stretch>
        </p:blipFill>
        <p:spPr>
          <a:xfrm>
            <a:off x="1179617" y="485774"/>
            <a:ext cx="3309542" cy="1993999"/>
          </a:xfrm>
          <a:prstGeom prst="rect">
            <a:avLst/>
          </a:prstGeom>
          <a:effectLst/>
        </p:spPr>
      </p:pic>
      <p:sp>
        <p:nvSpPr>
          <p:cNvPr id="26" name="Freeform 31">
            <a:extLst>
              <a:ext uri="{FF2B5EF4-FFF2-40B4-BE49-F238E27FC236}">
                <a16:creationId xmlns:a16="http://schemas.microsoft.com/office/drawing/2014/main" id="{AEA0BB24-2B23-4B19-996F-58DA607EE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597760" y="0"/>
            <a:ext cx="419604" cy="2782230"/>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a:extLst>
              <a:ext uri="{FF2B5EF4-FFF2-40B4-BE49-F238E27FC236}">
                <a16:creationId xmlns:a16="http://schemas.microsoft.com/office/drawing/2014/main" id="{CDDE9B89-DD6C-0992-A009-6E9C5535D08C}"/>
              </a:ext>
            </a:extLst>
          </p:cNvPr>
          <p:cNvPicPr>
            <a:picLocks noChangeAspect="1"/>
          </p:cNvPicPr>
          <p:nvPr/>
        </p:nvPicPr>
        <p:blipFill>
          <a:blip r:embed="rId8"/>
          <a:stretch>
            <a:fillRect/>
          </a:stretch>
        </p:blipFill>
        <p:spPr>
          <a:xfrm>
            <a:off x="701769" y="2626020"/>
            <a:ext cx="4265239" cy="1993999"/>
          </a:xfrm>
          <a:prstGeom prst="rect">
            <a:avLst/>
          </a:prstGeom>
          <a:effectLst/>
        </p:spPr>
      </p:pic>
    </p:spTree>
    <p:extLst>
      <p:ext uri="{BB962C8B-B14F-4D97-AF65-F5344CB8AC3E}">
        <p14:creationId xmlns:p14="http://schemas.microsoft.com/office/powerpoint/2010/main" val="3884014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144A11D1-6963-485E-86DE-760B07434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DFD110-81C9-A57C-D4F8-A2EA6E088ADE}"/>
              </a:ext>
            </a:extLst>
          </p:cNvPr>
          <p:cNvSpPr>
            <a:spLocks noGrp="1"/>
          </p:cNvSpPr>
          <p:nvPr>
            <p:ph type="title" idx="4294967295"/>
          </p:nvPr>
        </p:nvSpPr>
        <p:spPr>
          <a:xfrm>
            <a:off x="476417" y="471949"/>
            <a:ext cx="2337517" cy="4195916"/>
          </a:xfrm>
        </p:spPr>
        <p:txBody>
          <a:bodyPr vert="horz" lIns="91440" tIns="45720" rIns="91440" bIns="45720" rtlCol="0" anchor="ctr">
            <a:normAutofit/>
          </a:bodyPr>
          <a:lstStyle/>
          <a:p>
            <a:pPr defTabSz="457200"/>
            <a:r>
              <a:rPr lang="en-US" sz="3600" b="0" i="0" kern="1200">
                <a:solidFill>
                  <a:srgbClr val="EBEBEB"/>
                </a:solidFill>
                <a:latin typeface="+mj-lt"/>
                <a:ea typeface="+mj-ea"/>
                <a:cs typeface="+mj-cs"/>
              </a:rPr>
              <a:t>Waiting on multiple task</a:t>
            </a:r>
          </a:p>
        </p:txBody>
      </p:sp>
      <p:sp>
        <p:nvSpPr>
          <p:cNvPr id="24" name="Freeform 7">
            <a:extLst>
              <a:ext uri="{FF2B5EF4-FFF2-40B4-BE49-F238E27FC236}">
                <a16:creationId xmlns:a16="http://schemas.microsoft.com/office/drawing/2014/main" id="{93BDF132-E4EF-4CB3-9A12-1EB75E159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0"/>
            <a:ext cx="419604" cy="2782230"/>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6" name="Freeform: Shape 25">
            <a:extLst>
              <a:ext uri="{FF2B5EF4-FFF2-40B4-BE49-F238E27FC236}">
                <a16:creationId xmlns:a16="http://schemas.microsoft.com/office/drawing/2014/main" id="{F8486D32-0A56-4407-A9D1-7AFC16946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20982" y="0"/>
            <a:ext cx="6023018" cy="51435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B73FE0C2-11C7-466D-B4BA-0330484CD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83E7BB6E-835D-4C47-3548-9C595DFE059B}"/>
              </a:ext>
            </a:extLst>
          </p:cNvPr>
          <p:cNvSpPr>
            <a:spLocks noGrp="1"/>
          </p:cNvSpPr>
          <p:nvPr>
            <p:ph idx="4294967295"/>
          </p:nvPr>
        </p:nvSpPr>
        <p:spPr>
          <a:xfrm>
            <a:off x="3786339" y="1057843"/>
            <a:ext cx="4871885" cy="1942435"/>
          </a:xfrm>
        </p:spPr>
        <p:txBody>
          <a:bodyPr vert="horz" lIns="91440" tIns="45720" rIns="91440" bIns="45720" rtlCol="0">
            <a:normAutofit/>
          </a:bodyPr>
          <a:lstStyle/>
          <a:p>
            <a:pPr defTabSz="457200">
              <a:lnSpc>
                <a:spcPct val="90000"/>
              </a:lnSpc>
              <a:spcBef>
                <a:spcPts val="1000"/>
              </a:spcBef>
            </a:pPr>
            <a:r>
              <a:rPr lang="en-US" sz="1400" dirty="0"/>
              <a:t>What's the best way to wait for a *set* of tasks to finish?</a:t>
            </a:r>
          </a:p>
          <a:p>
            <a:pPr defTabSz="457200">
              <a:lnSpc>
                <a:spcPct val="90000"/>
              </a:lnSpc>
              <a:spcBef>
                <a:spcPts val="1000"/>
              </a:spcBef>
            </a:pPr>
            <a:r>
              <a:rPr lang="en-US" sz="1400" dirty="0"/>
              <a:t> - Calling. Wait on each task implies an ordering that might not hold</a:t>
            </a:r>
          </a:p>
          <a:p>
            <a:pPr defTabSz="457200">
              <a:lnSpc>
                <a:spcPct val="90000"/>
              </a:lnSpc>
              <a:spcBef>
                <a:spcPts val="1000"/>
              </a:spcBef>
            </a:pPr>
            <a:r>
              <a:rPr lang="en-US" sz="1400" dirty="0"/>
              <a:t>What's the best way to wait for the *first* task to finish?</a:t>
            </a:r>
          </a:p>
          <a:p>
            <a:pPr defTabSz="457200">
              <a:lnSpc>
                <a:spcPct val="90000"/>
              </a:lnSpc>
              <a:spcBef>
                <a:spcPts val="1000"/>
              </a:spcBef>
            </a:pPr>
            <a:r>
              <a:rPr lang="en-US" sz="1400" dirty="0"/>
              <a:t> - e.g parallel search of multiple sites, first one wins</a:t>
            </a:r>
          </a:p>
        </p:txBody>
      </p:sp>
      <p:pic>
        <p:nvPicPr>
          <p:cNvPr id="5" name="Picture 4">
            <a:extLst>
              <a:ext uri="{FF2B5EF4-FFF2-40B4-BE49-F238E27FC236}">
                <a16:creationId xmlns:a16="http://schemas.microsoft.com/office/drawing/2014/main" id="{63502D34-32F7-AE2D-32E6-AE07BFA88481}"/>
              </a:ext>
            </a:extLst>
          </p:cNvPr>
          <p:cNvPicPr>
            <a:picLocks noChangeAspect="1"/>
          </p:cNvPicPr>
          <p:nvPr/>
        </p:nvPicPr>
        <p:blipFill>
          <a:blip r:embed="rId6"/>
          <a:stretch>
            <a:fillRect/>
          </a:stretch>
        </p:blipFill>
        <p:spPr>
          <a:xfrm>
            <a:off x="3786339" y="3200873"/>
            <a:ext cx="3810367" cy="1466992"/>
          </a:xfrm>
          <a:prstGeom prst="rect">
            <a:avLst/>
          </a:prstGeom>
          <a:effectLst/>
        </p:spPr>
      </p:pic>
    </p:spTree>
    <p:extLst>
      <p:ext uri="{BB962C8B-B14F-4D97-AF65-F5344CB8AC3E}">
        <p14:creationId xmlns:p14="http://schemas.microsoft.com/office/powerpoint/2010/main" val="3431601294"/>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35" name="Picture 3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37" name="Oval 3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9" name="Picture 3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41" name="Picture 4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43" name="Rectangle 4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5" name="Freeform: Shape 44">
            <a:extLst>
              <a:ext uri="{FF2B5EF4-FFF2-40B4-BE49-F238E27FC236}">
                <a16:creationId xmlns:a16="http://schemas.microsoft.com/office/drawing/2014/main" id="{BC004C91-9324-4E94-BC28-856AE162D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solidFill>
            <a:srgbClr val="FFFFFF"/>
          </a:solidFill>
          <a:ln>
            <a:noFill/>
          </a:ln>
        </p:spPr>
        <p:txBody>
          <a:bodyPr/>
          <a:lstStyle/>
          <a:p>
            <a:endParaRPr lang="en-IN"/>
          </a:p>
        </p:txBody>
      </p:sp>
      <p:sp>
        <p:nvSpPr>
          <p:cNvPr id="47" name="Freeform 7">
            <a:extLst>
              <a:ext uri="{FF2B5EF4-FFF2-40B4-BE49-F238E27FC236}">
                <a16:creationId xmlns:a16="http://schemas.microsoft.com/office/drawing/2014/main" id="{5B562CD4-39C5-44ED-BD68-B789B305E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8355135-8A96-EC23-512D-A88F5A05E612}"/>
              </a:ext>
            </a:extLst>
          </p:cNvPr>
          <p:cNvSpPr>
            <a:spLocks noGrp="1"/>
          </p:cNvSpPr>
          <p:nvPr>
            <p:ph type="title" idx="4294967295"/>
          </p:nvPr>
        </p:nvSpPr>
        <p:spPr>
          <a:xfrm>
            <a:off x="484583" y="339538"/>
            <a:ext cx="7053542" cy="885533"/>
          </a:xfrm>
        </p:spPr>
        <p:txBody>
          <a:bodyPr vert="horz" lIns="91440" tIns="45720" rIns="91440" bIns="45720" rtlCol="0" anchor="t">
            <a:normAutofit/>
          </a:bodyPr>
          <a:lstStyle/>
          <a:p>
            <a:pPr defTabSz="457200">
              <a:lnSpc>
                <a:spcPct val="90000"/>
              </a:lnSpc>
            </a:pPr>
            <a:r>
              <a:rPr lang="en-US" sz="2600"/>
              <a:t>Are you using ContinueWith in your async code? If yes? Why?</a:t>
            </a:r>
          </a:p>
        </p:txBody>
      </p:sp>
      <p:sp>
        <p:nvSpPr>
          <p:cNvPr id="7" name="TextBox 6">
            <a:extLst>
              <a:ext uri="{FF2B5EF4-FFF2-40B4-BE49-F238E27FC236}">
                <a16:creationId xmlns:a16="http://schemas.microsoft.com/office/drawing/2014/main" id="{877E8F6A-EB48-7C23-ED72-E0587656F299}"/>
              </a:ext>
            </a:extLst>
          </p:cNvPr>
          <p:cNvSpPr txBox="1"/>
          <p:nvPr/>
        </p:nvSpPr>
        <p:spPr>
          <a:xfrm>
            <a:off x="482892" y="1911210"/>
            <a:ext cx="5364645" cy="2740792"/>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solidFill>
                  <a:schemeClr val="bg1"/>
                </a:solidFill>
                <a:latin typeface="+mj-lt"/>
                <a:ea typeface="+mj-ea"/>
                <a:cs typeface="+mj-cs"/>
              </a:rPr>
              <a:t>1. Allocates another task per operation (it wraps your delegate in a task object) instead of re-using the state machine.</a:t>
            </a:r>
          </a:p>
          <a:p>
            <a:pPr>
              <a:spcBef>
                <a:spcPts val="1000"/>
              </a:spcBef>
              <a:buClr>
                <a:schemeClr val="bg2">
                  <a:lumMod val="40000"/>
                  <a:lumOff val="60000"/>
                </a:schemeClr>
              </a:buClr>
              <a:buSzPct val="80000"/>
              <a:buFont typeface="Wingdings 3" charset="2"/>
              <a:buChar char=""/>
            </a:pPr>
            <a:r>
              <a:rPr lang="en-US">
                <a:solidFill>
                  <a:schemeClr val="bg1"/>
                </a:solidFill>
                <a:latin typeface="+mj-lt"/>
                <a:ea typeface="+mj-ea"/>
                <a:cs typeface="+mj-cs"/>
              </a:rPr>
              <a:t>2. ContinueWith allocates more than using async await.</a:t>
            </a:r>
          </a:p>
        </p:txBody>
      </p:sp>
      <p:pic>
        <p:nvPicPr>
          <p:cNvPr id="4" name="Picture 3">
            <a:extLst>
              <a:ext uri="{FF2B5EF4-FFF2-40B4-BE49-F238E27FC236}">
                <a16:creationId xmlns:a16="http://schemas.microsoft.com/office/drawing/2014/main" id="{E7673370-90BA-71CB-C9A7-131AC7D03DB3}"/>
              </a:ext>
            </a:extLst>
          </p:cNvPr>
          <p:cNvPicPr>
            <a:picLocks noChangeAspect="1"/>
          </p:cNvPicPr>
          <p:nvPr/>
        </p:nvPicPr>
        <p:blipFill>
          <a:blip r:embed="rId7"/>
          <a:stretch>
            <a:fillRect/>
          </a:stretch>
        </p:blipFill>
        <p:spPr>
          <a:xfrm>
            <a:off x="6097404" y="1996549"/>
            <a:ext cx="2560253" cy="1129100"/>
          </a:xfrm>
          <a:prstGeom prst="rect">
            <a:avLst/>
          </a:prstGeom>
          <a:effectLst/>
        </p:spPr>
      </p:pic>
      <p:pic>
        <p:nvPicPr>
          <p:cNvPr id="5" name="Content Placeholder 4">
            <a:extLst>
              <a:ext uri="{FF2B5EF4-FFF2-40B4-BE49-F238E27FC236}">
                <a16:creationId xmlns:a16="http://schemas.microsoft.com/office/drawing/2014/main" id="{C58CD8CF-8EBF-0CA2-28D0-45EA16D168BF}"/>
              </a:ext>
            </a:extLst>
          </p:cNvPr>
          <p:cNvPicPr>
            <a:picLocks noGrp="1" noChangeAspect="1"/>
          </p:cNvPicPr>
          <p:nvPr>
            <p:ph idx="4294967295"/>
          </p:nvPr>
        </p:nvPicPr>
        <p:blipFill>
          <a:blip r:embed="rId8"/>
          <a:stretch>
            <a:fillRect/>
          </a:stretch>
        </p:blipFill>
        <p:spPr>
          <a:xfrm>
            <a:off x="6097404" y="3539650"/>
            <a:ext cx="2560253" cy="936369"/>
          </a:xfrm>
          <a:prstGeom prst="rect">
            <a:avLst/>
          </a:prstGeom>
          <a:effectLst/>
        </p:spPr>
      </p:pic>
    </p:spTree>
    <p:extLst>
      <p:ext uri="{BB962C8B-B14F-4D97-AF65-F5344CB8AC3E}">
        <p14:creationId xmlns:p14="http://schemas.microsoft.com/office/powerpoint/2010/main" val="1790403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4" name="Picture 13">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6" name="Oval 15">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0" name="Picture 19">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2" name="Rectangle 21">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505C8452-4C3F-46C5-AFD4-322854BC4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9143771" cy="354805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B06DBD9-DED6-40C2-A7AD-3662707C4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Freeform 15">
            <a:extLst>
              <a:ext uri="{FF2B5EF4-FFF2-40B4-BE49-F238E27FC236}">
                <a16:creationId xmlns:a16="http://schemas.microsoft.com/office/drawing/2014/main" id="{B431FF8B-6FC2-47C1-B2C5-9B26E6243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2815271"/>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2">
              <a:alpha val="20000"/>
            </a:schemeClr>
          </a:solidFill>
          <a:ln>
            <a:noFill/>
          </a:ln>
        </p:spPr>
        <p:txBody>
          <a:bodyPr rtlCol="0" anchor="ctr"/>
          <a:lstStyle/>
          <a:p>
            <a:pPr algn="ctr"/>
            <a:endParaRPr lang="en-US">
              <a:solidFill>
                <a:schemeClr val="tx1"/>
              </a:solidFill>
            </a:endParaRPr>
          </a:p>
        </p:txBody>
      </p:sp>
      <p:pic>
        <p:nvPicPr>
          <p:cNvPr id="7" name="Content Placeholder 6">
            <a:extLst>
              <a:ext uri="{FF2B5EF4-FFF2-40B4-BE49-F238E27FC236}">
                <a16:creationId xmlns:a16="http://schemas.microsoft.com/office/drawing/2014/main" id="{032FCC38-A700-AB86-74E2-64645313BD94}"/>
              </a:ext>
            </a:extLst>
          </p:cNvPr>
          <p:cNvPicPr>
            <a:picLocks noGrp="1" noChangeAspect="1"/>
          </p:cNvPicPr>
          <p:nvPr>
            <p:ph idx="4294967295"/>
          </p:nvPr>
        </p:nvPicPr>
        <p:blipFill>
          <a:blip r:embed="rId7"/>
          <a:stretch>
            <a:fillRect/>
          </a:stretch>
        </p:blipFill>
        <p:spPr>
          <a:xfrm>
            <a:off x="3967873" y="1352758"/>
            <a:ext cx="3371825" cy="1593187"/>
          </a:xfrm>
          <a:prstGeom prst="rect">
            <a:avLst/>
          </a:prstGeom>
          <a:effectLst/>
        </p:spPr>
      </p:pic>
      <p:sp useBgFill="1">
        <p:nvSpPr>
          <p:cNvPr id="30" name="Freeform 5">
            <a:extLst>
              <a:ext uri="{FF2B5EF4-FFF2-40B4-BE49-F238E27FC236}">
                <a16:creationId xmlns:a16="http://schemas.microsoft.com/office/drawing/2014/main" id="{4BA7EBCC-256E-4075-A58C-6ED2BFD5C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3041649"/>
            <a:ext cx="9143772" cy="2101850"/>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ln>
            <a:noFill/>
          </a:ln>
        </p:spPr>
        <p:txBody>
          <a:bodyPr/>
          <a:lstStyle/>
          <a:p>
            <a:endParaRPr lang="en-IN"/>
          </a:p>
        </p:txBody>
      </p:sp>
      <p:sp>
        <p:nvSpPr>
          <p:cNvPr id="2" name="Title 1">
            <a:extLst>
              <a:ext uri="{FF2B5EF4-FFF2-40B4-BE49-F238E27FC236}">
                <a16:creationId xmlns:a16="http://schemas.microsoft.com/office/drawing/2014/main" id="{03D01E3C-703F-56F1-AF1B-D3D036BC19DF}"/>
              </a:ext>
            </a:extLst>
          </p:cNvPr>
          <p:cNvSpPr>
            <a:spLocks noGrp="1"/>
          </p:cNvSpPr>
          <p:nvPr>
            <p:ph type="title" idx="4294967295"/>
          </p:nvPr>
        </p:nvSpPr>
        <p:spPr>
          <a:xfrm>
            <a:off x="476593" y="3640758"/>
            <a:ext cx="7008866" cy="646351"/>
          </a:xfrm>
        </p:spPr>
        <p:txBody>
          <a:bodyPr vert="horz" lIns="91440" tIns="45720" rIns="91440" bIns="45720" rtlCol="0" anchor="b">
            <a:normAutofit/>
          </a:bodyPr>
          <a:lstStyle/>
          <a:p>
            <a:pPr defTabSz="457200"/>
            <a:r>
              <a:rPr lang="en-US" sz="3600"/>
              <a:t>Exception Handling</a:t>
            </a:r>
          </a:p>
        </p:txBody>
      </p:sp>
      <p:pic>
        <p:nvPicPr>
          <p:cNvPr id="5" name="Picture 4">
            <a:extLst>
              <a:ext uri="{FF2B5EF4-FFF2-40B4-BE49-F238E27FC236}">
                <a16:creationId xmlns:a16="http://schemas.microsoft.com/office/drawing/2014/main" id="{7E750F71-C547-CAE9-B695-87D221412AFA}"/>
              </a:ext>
            </a:extLst>
          </p:cNvPr>
          <p:cNvPicPr>
            <a:picLocks noChangeAspect="1"/>
          </p:cNvPicPr>
          <p:nvPr/>
        </p:nvPicPr>
        <p:blipFill>
          <a:blip r:embed="rId8"/>
          <a:stretch>
            <a:fillRect/>
          </a:stretch>
        </p:blipFill>
        <p:spPr>
          <a:xfrm>
            <a:off x="482891" y="1690740"/>
            <a:ext cx="3371825" cy="1255205"/>
          </a:xfrm>
          <a:prstGeom prst="rect">
            <a:avLst/>
          </a:prstGeom>
          <a:effectLst/>
        </p:spPr>
      </p:pic>
    </p:spTree>
    <p:extLst>
      <p:ext uri="{BB962C8B-B14F-4D97-AF65-F5344CB8AC3E}">
        <p14:creationId xmlns:p14="http://schemas.microsoft.com/office/powerpoint/2010/main" val="675350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22" name="Rectangle 21">
            <a:extLst>
              <a:ext uri="{FF2B5EF4-FFF2-40B4-BE49-F238E27FC236}">
                <a16:creationId xmlns:a16="http://schemas.microsoft.com/office/drawing/2014/main" id="{20F6071B-48FA-4685-A9C9-A7B21E1C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9143771" cy="354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F907CA1-5CBC-2EBD-C58F-B68443501A05}"/>
              </a:ext>
            </a:extLst>
          </p:cNvPr>
          <p:cNvPicPr>
            <a:picLocks noChangeAspect="1"/>
          </p:cNvPicPr>
          <p:nvPr/>
        </p:nvPicPr>
        <p:blipFill>
          <a:blip r:embed="rId6"/>
          <a:stretch>
            <a:fillRect/>
          </a:stretch>
        </p:blipFill>
        <p:spPr>
          <a:xfrm>
            <a:off x="476593" y="480060"/>
            <a:ext cx="4580619" cy="2107086"/>
          </a:xfrm>
          <a:prstGeom prst="rect">
            <a:avLst/>
          </a:prstGeom>
          <a:effectLst/>
        </p:spPr>
      </p:pic>
      <p:sp>
        <p:nvSpPr>
          <p:cNvPr id="24" name="Rectangle 23">
            <a:extLst>
              <a:ext uri="{FF2B5EF4-FFF2-40B4-BE49-F238E27FC236}">
                <a16:creationId xmlns:a16="http://schemas.microsoft.com/office/drawing/2014/main" id="{8C56044C-1580-4C45-8AA3-F2A07478B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Freeform: Shape 25">
            <a:extLst>
              <a:ext uri="{FF2B5EF4-FFF2-40B4-BE49-F238E27FC236}">
                <a16:creationId xmlns:a16="http://schemas.microsoft.com/office/drawing/2014/main" id="{51A8E3CE-561F-42BE-B6A2-FBE96F9A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2684405"/>
            <a:ext cx="9143771" cy="2459095"/>
          </a:xfrm>
          <a:custGeom>
            <a:avLst/>
            <a:gdLst>
              <a:gd name="connsiteX0" fmla="*/ 1 w 12191696"/>
              <a:gd name="connsiteY0" fmla="*/ 0 h 3278793"/>
              <a:gd name="connsiteX1" fmla="*/ 71932 w 12191696"/>
              <a:gd name="connsiteY1" fmla="*/ 12261 h 3278793"/>
              <a:gd name="connsiteX2" fmla="*/ 282849 w 12191696"/>
              <a:gd name="connsiteY2" fmla="*/ 48343 h 3278793"/>
              <a:gd name="connsiteX3" fmla="*/ 436464 w 12191696"/>
              <a:gd name="connsiteY3" fmla="*/ 73565 h 3278793"/>
              <a:gd name="connsiteX4" fmla="*/ 619339 w 12191696"/>
              <a:gd name="connsiteY4" fmla="*/ 100188 h 3278793"/>
              <a:gd name="connsiteX5" fmla="*/ 836351 w 12191696"/>
              <a:gd name="connsiteY5" fmla="*/ 132066 h 3278793"/>
              <a:gd name="connsiteX6" fmla="*/ 1076528 w 12191696"/>
              <a:gd name="connsiteY6" fmla="*/ 165696 h 3278793"/>
              <a:gd name="connsiteX7" fmla="*/ 1347183 w 12191696"/>
              <a:gd name="connsiteY7" fmla="*/ 201077 h 3278793"/>
              <a:gd name="connsiteX8" fmla="*/ 1642223 w 12191696"/>
              <a:gd name="connsiteY8" fmla="*/ 238560 h 3278793"/>
              <a:gd name="connsiteX9" fmla="*/ 1962864 w 12191696"/>
              <a:gd name="connsiteY9" fmla="*/ 276043 h 3278793"/>
              <a:gd name="connsiteX10" fmla="*/ 2304232 w 12191696"/>
              <a:gd name="connsiteY10" fmla="*/ 314227 h 3278793"/>
              <a:gd name="connsiteX11" fmla="*/ 2672421 w 12191696"/>
              <a:gd name="connsiteY11" fmla="*/ 349608 h 3278793"/>
              <a:gd name="connsiteX12" fmla="*/ 3057678 w 12191696"/>
              <a:gd name="connsiteY12" fmla="*/ 383588 h 3278793"/>
              <a:gd name="connsiteX13" fmla="*/ 3464881 w 12191696"/>
              <a:gd name="connsiteY13" fmla="*/ 414415 h 3278793"/>
              <a:gd name="connsiteX14" fmla="*/ 3889152 w 12191696"/>
              <a:gd name="connsiteY14" fmla="*/ 443841 h 3278793"/>
              <a:gd name="connsiteX15" fmla="*/ 4331710 w 12191696"/>
              <a:gd name="connsiteY15" fmla="*/ 471515 h 3278793"/>
              <a:gd name="connsiteX16" fmla="*/ 4558476 w 12191696"/>
              <a:gd name="connsiteY16" fmla="*/ 481324 h 3278793"/>
              <a:gd name="connsiteX17" fmla="*/ 4790118 w 12191696"/>
              <a:gd name="connsiteY17" fmla="*/ 492183 h 3278793"/>
              <a:gd name="connsiteX18" fmla="*/ 5025418 w 12191696"/>
              <a:gd name="connsiteY18" fmla="*/ 502342 h 3278793"/>
              <a:gd name="connsiteX19" fmla="*/ 5261937 w 12191696"/>
              <a:gd name="connsiteY19" fmla="*/ 508998 h 3278793"/>
              <a:gd name="connsiteX20" fmla="*/ 5503333 w 12191696"/>
              <a:gd name="connsiteY20" fmla="*/ 514953 h 3278793"/>
              <a:gd name="connsiteX21" fmla="*/ 5747166 w 12191696"/>
              <a:gd name="connsiteY21" fmla="*/ 521259 h 3278793"/>
              <a:gd name="connsiteX22" fmla="*/ 5995877 w 12191696"/>
              <a:gd name="connsiteY22" fmla="*/ 525463 h 3278793"/>
              <a:gd name="connsiteX23" fmla="*/ 6247026 w 12191696"/>
              <a:gd name="connsiteY23" fmla="*/ 525463 h 3278793"/>
              <a:gd name="connsiteX24" fmla="*/ 6500613 w 12191696"/>
              <a:gd name="connsiteY24" fmla="*/ 527565 h 3278793"/>
              <a:gd name="connsiteX25" fmla="*/ 6756639 w 12191696"/>
              <a:gd name="connsiteY25" fmla="*/ 525463 h 3278793"/>
              <a:gd name="connsiteX26" fmla="*/ 7016322 w 12191696"/>
              <a:gd name="connsiteY26" fmla="*/ 521259 h 3278793"/>
              <a:gd name="connsiteX27" fmla="*/ 7276005 w 12191696"/>
              <a:gd name="connsiteY27" fmla="*/ 517406 h 3278793"/>
              <a:gd name="connsiteX28" fmla="*/ 7539345 w 12191696"/>
              <a:gd name="connsiteY28" fmla="*/ 508998 h 3278793"/>
              <a:gd name="connsiteX29" fmla="*/ 7805124 w 12191696"/>
              <a:gd name="connsiteY29" fmla="*/ 500241 h 3278793"/>
              <a:gd name="connsiteX30" fmla="*/ 8070903 w 12191696"/>
              <a:gd name="connsiteY30" fmla="*/ 490082 h 3278793"/>
              <a:gd name="connsiteX31" fmla="*/ 8339121 w 12191696"/>
              <a:gd name="connsiteY31" fmla="*/ 475719 h 3278793"/>
              <a:gd name="connsiteX32" fmla="*/ 8609776 w 12191696"/>
              <a:gd name="connsiteY32" fmla="*/ 458554 h 3278793"/>
              <a:gd name="connsiteX33" fmla="*/ 8881651 w 12191696"/>
              <a:gd name="connsiteY33" fmla="*/ 442089 h 3278793"/>
              <a:gd name="connsiteX34" fmla="*/ 9153526 w 12191696"/>
              <a:gd name="connsiteY34" fmla="*/ 421071 h 3278793"/>
              <a:gd name="connsiteX35" fmla="*/ 9429058 w 12191696"/>
              <a:gd name="connsiteY35" fmla="*/ 395849 h 3278793"/>
              <a:gd name="connsiteX36" fmla="*/ 9700933 w 12191696"/>
              <a:gd name="connsiteY36" fmla="*/ 370626 h 3278793"/>
              <a:gd name="connsiteX37" fmla="*/ 9977684 w 12191696"/>
              <a:gd name="connsiteY37" fmla="*/ 341551 h 3278793"/>
              <a:gd name="connsiteX38" fmla="*/ 10255655 w 12191696"/>
              <a:gd name="connsiteY38" fmla="*/ 309673 h 3278793"/>
              <a:gd name="connsiteX39" fmla="*/ 10529968 w 12191696"/>
              <a:gd name="connsiteY39" fmla="*/ 276043 h 3278793"/>
              <a:gd name="connsiteX40" fmla="*/ 10807939 w 12191696"/>
              <a:gd name="connsiteY40" fmla="*/ 236809 h 3278793"/>
              <a:gd name="connsiteX41" fmla="*/ 11084690 w 12191696"/>
              <a:gd name="connsiteY41" fmla="*/ 194772 h 3278793"/>
              <a:gd name="connsiteX42" fmla="*/ 11362661 w 12191696"/>
              <a:gd name="connsiteY42" fmla="*/ 153085 h 3278793"/>
              <a:gd name="connsiteX43" fmla="*/ 11639412 w 12191696"/>
              <a:gd name="connsiteY43" fmla="*/ 104392 h 3278793"/>
              <a:gd name="connsiteX44" fmla="*/ 11914945 w 12191696"/>
              <a:gd name="connsiteY44" fmla="*/ 54648 h 3278793"/>
              <a:gd name="connsiteX45" fmla="*/ 12191696 w 12191696"/>
              <a:gd name="connsiteY45" fmla="*/ 2452 h 3278793"/>
              <a:gd name="connsiteX46" fmla="*/ 12191696 w 12191696"/>
              <a:gd name="connsiteY46" fmla="*/ 2802467 h 3278793"/>
              <a:gd name="connsiteX47" fmla="*/ 12191695 w 12191696"/>
              <a:gd name="connsiteY47" fmla="*/ 2802467 h 3278793"/>
              <a:gd name="connsiteX48" fmla="*/ 12191695 w 12191696"/>
              <a:gd name="connsiteY48" fmla="*/ 3278793 h 3278793"/>
              <a:gd name="connsiteX49" fmla="*/ 0 w 12191696"/>
              <a:gd name="connsiteY49" fmla="*/ 3278793 h 3278793"/>
              <a:gd name="connsiteX50" fmla="*/ 0 w 12191696"/>
              <a:gd name="connsiteY50" fmla="*/ 2134639 h 3278793"/>
              <a:gd name="connsiteX51" fmla="*/ 1 w 12191696"/>
              <a:gd name="connsiteY51" fmla="*/ 2134639 h 3278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696" h="3278793">
                <a:moveTo>
                  <a:pt x="1" y="0"/>
                </a:moveTo>
                <a:lnTo>
                  <a:pt x="71932" y="12261"/>
                </a:lnTo>
                <a:lnTo>
                  <a:pt x="282849" y="48343"/>
                </a:lnTo>
                <a:lnTo>
                  <a:pt x="436464" y="73565"/>
                </a:lnTo>
                <a:lnTo>
                  <a:pt x="619339" y="100188"/>
                </a:lnTo>
                <a:lnTo>
                  <a:pt x="836351" y="132066"/>
                </a:lnTo>
                <a:lnTo>
                  <a:pt x="1076528" y="165696"/>
                </a:lnTo>
                <a:lnTo>
                  <a:pt x="1347183"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3" y="514953"/>
                </a:lnTo>
                <a:lnTo>
                  <a:pt x="5747166"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802467"/>
                </a:lnTo>
                <a:lnTo>
                  <a:pt x="12191695" y="2802467"/>
                </a:lnTo>
                <a:lnTo>
                  <a:pt x="12191695" y="3278793"/>
                </a:lnTo>
                <a:lnTo>
                  <a:pt x="0" y="3278793"/>
                </a:lnTo>
                <a:lnTo>
                  <a:pt x="0" y="2134639"/>
                </a:lnTo>
                <a:lnTo>
                  <a:pt x="1" y="2134639"/>
                </a:lnTo>
                <a:close/>
              </a:path>
            </a:pathLst>
          </a:custGeom>
          <a:ln>
            <a:noFill/>
          </a:ln>
        </p:spPr>
        <p:style>
          <a:lnRef idx="0">
            <a:scrgbClr r="0" g="0" b="0"/>
          </a:lnRef>
          <a:fillRef idx="1003">
            <a:schemeClr val="dk2"/>
          </a:fillRef>
          <a:effectRef idx="0">
            <a:scrgbClr r="0" g="0" b="0"/>
          </a:effectRef>
          <a:fontRef idx="major"/>
        </p:style>
        <p:txBody>
          <a:bodyPr/>
          <a:lstStyle/>
          <a:p>
            <a:endParaRPr lang="en-IN"/>
          </a:p>
        </p:txBody>
      </p:sp>
      <p:sp>
        <p:nvSpPr>
          <p:cNvPr id="2" name="Title 1">
            <a:extLst>
              <a:ext uri="{FF2B5EF4-FFF2-40B4-BE49-F238E27FC236}">
                <a16:creationId xmlns:a16="http://schemas.microsoft.com/office/drawing/2014/main" id="{B58BDE82-6314-3102-E6C3-B00A5973F0C1}"/>
              </a:ext>
            </a:extLst>
          </p:cNvPr>
          <p:cNvSpPr>
            <a:spLocks noGrp="1"/>
          </p:cNvSpPr>
          <p:nvPr>
            <p:ph type="title" idx="4294967295"/>
          </p:nvPr>
        </p:nvSpPr>
        <p:spPr>
          <a:xfrm>
            <a:off x="477687" y="3278886"/>
            <a:ext cx="6862012" cy="1012893"/>
          </a:xfrm>
        </p:spPr>
        <p:txBody>
          <a:bodyPr vert="horz" lIns="91440" tIns="45720" rIns="91440" bIns="45720" rtlCol="0" anchor="b">
            <a:normAutofit/>
          </a:bodyPr>
          <a:lstStyle/>
          <a:p>
            <a:pPr defTabSz="457200"/>
            <a:r>
              <a:rPr lang="en-US" sz="4500" b="0" i="0" kern="1200">
                <a:solidFill>
                  <a:srgbClr val="EBEBEB"/>
                </a:solidFill>
                <a:latin typeface="+mj-lt"/>
                <a:ea typeface="+mj-ea"/>
                <a:cs typeface="+mj-cs"/>
              </a:rPr>
              <a:t>Example 1</a:t>
            </a:r>
          </a:p>
        </p:txBody>
      </p:sp>
      <p:sp>
        <p:nvSpPr>
          <p:cNvPr id="28" name="Freeform 16">
            <a:extLst>
              <a:ext uri="{FF2B5EF4-FFF2-40B4-BE49-F238E27FC236}">
                <a16:creationId xmlns:a16="http://schemas.microsoft.com/office/drawing/2014/main" id="{7DE548AA-7E1A-497C-8B79-C74F42ACF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5" y="2460008"/>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73450383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9" name="Picture 8">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1" name="Oval 10">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3" name="Picture 12">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5" name="Picture 14">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7" name="Rectangle 16">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1"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13257" y="0"/>
            <a:ext cx="419604" cy="2782231"/>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3" name="Freeform: Shape 22">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7275344" cy="5143500"/>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DFF0D129-BA1C-1233-55C9-2B9B773F6FB4}"/>
              </a:ext>
            </a:extLst>
          </p:cNvPr>
          <p:cNvSpPr>
            <a:spLocks noGrp="1"/>
          </p:cNvSpPr>
          <p:nvPr>
            <p:ph type="title" idx="4294967295"/>
          </p:nvPr>
        </p:nvSpPr>
        <p:spPr>
          <a:xfrm>
            <a:off x="866216" y="1085850"/>
            <a:ext cx="5231186" cy="2497185"/>
          </a:xfrm>
        </p:spPr>
        <p:txBody>
          <a:bodyPr vert="horz" lIns="91440" tIns="45720" rIns="91440" bIns="45720" rtlCol="0" anchor="b">
            <a:normAutofit/>
          </a:bodyPr>
          <a:lstStyle/>
          <a:p>
            <a:pPr defTabSz="457200">
              <a:lnSpc>
                <a:spcPct val="90000"/>
              </a:lnSpc>
            </a:pPr>
            <a:r>
              <a:rPr lang="en-US" sz="5600" b="0" i="0" kern="1200" dirty="0">
                <a:solidFill>
                  <a:schemeClr val="tx2"/>
                </a:solidFill>
                <a:latin typeface="+mj-lt"/>
                <a:ea typeface="+mj-ea"/>
                <a:cs typeface="+mj-cs"/>
              </a:rPr>
              <a:t>Let's start with ASYNC-AWAIT</a:t>
            </a:r>
          </a:p>
        </p:txBody>
      </p:sp>
      <p:sp>
        <p:nvSpPr>
          <p:cNvPr id="25" name="Rectangle 24">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94751741"/>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5F3FC718-FDE3-4EF7-921E-A5F374EAF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4358D9-ACA8-C6F2-8E6A-F1C8C9609B69}"/>
              </a:ext>
            </a:extLst>
          </p:cNvPr>
          <p:cNvSpPr>
            <a:spLocks noGrp="1"/>
          </p:cNvSpPr>
          <p:nvPr>
            <p:ph type="title" idx="4294967295"/>
          </p:nvPr>
        </p:nvSpPr>
        <p:spPr>
          <a:xfrm>
            <a:off x="482891" y="1085849"/>
            <a:ext cx="2331469" cy="1083564"/>
          </a:xfrm>
        </p:spPr>
        <p:txBody>
          <a:bodyPr vert="horz" lIns="91440" tIns="45720" rIns="91440" bIns="45720" rtlCol="0" anchor="b">
            <a:normAutofit/>
          </a:bodyPr>
          <a:lstStyle/>
          <a:p>
            <a:pPr defTabSz="457200"/>
            <a:r>
              <a:rPr lang="en-US" sz="2400" b="0" i="0" kern="1200">
                <a:solidFill>
                  <a:srgbClr val="EBEBEB"/>
                </a:solidFill>
                <a:latin typeface="+mj-lt"/>
                <a:ea typeface="+mj-ea"/>
                <a:cs typeface="+mj-cs"/>
              </a:rPr>
              <a:t>What is our goal?</a:t>
            </a:r>
          </a:p>
        </p:txBody>
      </p:sp>
      <p:sp>
        <p:nvSpPr>
          <p:cNvPr id="26" name="Freeform 11">
            <a:extLst>
              <a:ext uri="{FF2B5EF4-FFF2-40B4-BE49-F238E27FC236}">
                <a16:creationId xmlns:a16="http://schemas.microsoft.com/office/drawing/2014/main" id="{FAA0F719-3DC8-4F08-AD8F-5A845658C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1082" y="0"/>
            <a:ext cx="419604" cy="2782230"/>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28" name="Freeform: Shape 27">
            <a:extLst>
              <a:ext uri="{FF2B5EF4-FFF2-40B4-BE49-F238E27FC236}">
                <a16:creationId xmlns:a16="http://schemas.microsoft.com/office/drawing/2014/main" id="{7DCB61BE-FA0F-4EFB-BE0E-268BAD8E3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560741" y="-439759"/>
            <a:ext cx="5143501" cy="602301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en-IN"/>
          </a:p>
        </p:txBody>
      </p:sp>
      <p:sp>
        <p:nvSpPr>
          <p:cNvPr id="30" name="Rectangle 29">
            <a:extLst>
              <a:ext uri="{FF2B5EF4-FFF2-40B4-BE49-F238E27FC236}">
                <a16:creationId xmlns:a16="http://schemas.microsoft.com/office/drawing/2014/main" id="{A4B31EAA-7423-46F7-9B90-4AB2B09C3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7" name="TextBox 6">
            <a:extLst>
              <a:ext uri="{FF2B5EF4-FFF2-40B4-BE49-F238E27FC236}">
                <a16:creationId xmlns:a16="http://schemas.microsoft.com/office/drawing/2014/main" id="{6E4E8F9A-1303-0EA2-8630-5A72CDBAE9E2}"/>
              </a:ext>
            </a:extLst>
          </p:cNvPr>
          <p:cNvSpPr txBox="1"/>
          <p:nvPr/>
        </p:nvSpPr>
        <p:spPr>
          <a:xfrm>
            <a:off x="482891" y="2304288"/>
            <a:ext cx="2331043" cy="2210562"/>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sz="1100">
                <a:solidFill>
                  <a:srgbClr val="FFFFFF"/>
                </a:solidFill>
                <a:latin typeface="+mj-lt"/>
                <a:ea typeface="+mj-ea"/>
                <a:cs typeface="+mj-cs"/>
              </a:rPr>
              <a:t>Do more with less</a:t>
            </a:r>
          </a:p>
          <a:p>
            <a:pPr>
              <a:spcBef>
                <a:spcPts val="1000"/>
              </a:spcBef>
              <a:buClr>
                <a:schemeClr val="bg2">
                  <a:lumMod val="40000"/>
                  <a:lumOff val="60000"/>
                </a:schemeClr>
              </a:buClr>
              <a:buSzPct val="80000"/>
              <a:buFont typeface="Wingdings 3" charset="2"/>
              <a:buChar char=""/>
            </a:pPr>
            <a:r>
              <a:rPr lang="en-US" sz="1100">
                <a:solidFill>
                  <a:srgbClr val="FFFFFF"/>
                </a:solidFill>
                <a:latin typeface="+mj-lt"/>
                <a:ea typeface="+mj-ea"/>
                <a:cs typeface="+mj-cs"/>
              </a:rPr>
              <a:t>Juggle more users</a:t>
            </a:r>
          </a:p>
        </p:txBody>
      </p:sp>
      <p:pic>
        <p:nvPicPr>
          <p:cNvPr id="5" name="Content Placeholder 4" descr="A person with his head in the air&#10;&#10;Description automatically generated">
            <a:extLst>
              <a:ext uri="{FF2B5EF4-FFF2-40B4-BE49-F238E27FC236}">
                <a16:creationId xmlns:a16="http://schemas.microsoft.com/office/drawing/2014/main" id="{AA21D0DF-C341-BD6D-A54D-927458D5FD8B}"/>
              </a:ext>
            </a:extLst>
          </p:cNvPr>
          <p:cNvPicPr>
            <a:picLocks noGrp="1" noChangeAspect="1"/>
          </p:cNvPicPr>
          <p:nvPr>
            <p:ph idx="4294967295"/>
          </p:nvPr>
        </p:nvPicPr>
        <p:blipFill>
          <a:blip r:embed="rId6"/>
          <a:stretch>
            <a:fillRect/>
          </a:stretch>
        </p:blipFill>
        <p:spPr>
          <a:xfrm>
            <a:off x="3786338" y="1428102"/>
            <a:ext cx="4871885" cy="2744495"/>
          </a:xfrm>
          <a:prstGeom prst="rect">
            <a:avLst/>
          </a:prstGeom>
          <a:effectLst/>
        </p:spPr>
      </p:pic>
    </p:spTree>
    <p:extLst>
      <p:ext uri="{BB962C8B-B14F-4D97-AF65-F5344CB8AC3E}">
        <p14:creationId xmlns:p14="http://schemas.microsoft.com/office/powerpoint/2010/main" val="3081767059"/>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C8C6097-DA4B-0224-1F4B-5E6E37176CC4}"/>
              </a:ext>
            </a:extLst>
          </p:cNvPr>
          <p:cNvSpPr>
            <a:spLocks noGrp="1"/>
          </p:cNvSpPr>
          <p:nvPr>
            <p:ph type="title" idx="4294967295"/>
          </p:nvPr>
        </p:nvSpPr>
        <p:spPr>
          <a:xfrm>
            <a:off x="486697" y="471950"/>
            <a:ext cx="6939116" cy="762490"/>
          </a:xfrm>
        </p:spPr>
        <p:txBody>
          <a:bodyPr vert="horz" lIns="91440" tIns="45720" rIns="91440" bIns="45720" rtlCol="0" anchor="t">
            <a:normAutofit/>
          </a:bodyPr>
          <a:lstStyle/>
          <a:p>
            <a:pPr defTabSz="457200"/>
            <a:r>
              <a:rPr lang="en-US" sz="4200" b="0" i="0" kern="1200">
                <a:solidFill>
                  <a:srgbClr val="EBEBEB"/>
                </a:solidFill>
                <a:latin typeface="+mj-lt"/>
                <a:ea typeface="+mj-ea"/>
                <a:cs typeface="+mj-cs"/>
              </a:rPr>
              <a:t>Sync (blocking)</a:t>
            </a:r>
          </a:p>
        </p:txBody>
      </p:sp>
      <p:sp useBgFill="1">
        <p:nvSpPr>
          <p:cNvPr id="28" name="Freeform: Shape 27">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3" name="Content Placeholder 2">
            <a:extLst>
              <a:ext uri="{FF2B5EF4-FFF2-40B4-BE49-F238E27FC236}">
                <a16:creationId xmlns:a16="http://schemas.microsoft.com/office/drawing/2014/main" id="{01F68B08-24EE-6945-7F93-49024A15CF5A}"/>
              </a:ext>
            </a:extLst>
          </p:cNvPr>
          <p:cNvSpPr>
            <a:spLocks noGrp="1"/>
          </p:cNvSpPr>
          <p:nvPr>
            <p:ph idx="4294967295"/>
          </p:nvPr>
        </p:nvSpPr>
        <p:spPr>
          <a:xfrm>
            <a:off x="486698" y="1911210"/>
            <a:ext cx="3841954" cy="2744017"/>
          </a:xfrm>
        </p:spPr>
        <p:txBody>
          <a:bodyPr vert="horz" lIns="91440" tIns="45720" rIns="91440" bIns="45720" rtlCol="0">
            <a:normAutofit/>
          </a:bodyPr>
          <a:lstStyle/>
          <a:p>
            <a:pPr defTabSz="457200">
              <a:spcBef>
                <a:spcPts val="1000"/>
              </a:spcBef>
            </a:pPr>
            <a:r>
              <a:rPr lang="en-US" dirty="0"/>
              <a:t>A customer arrives with clothes</a:t>
            </a:r>
          </a:p>
          <a:p>
            <a:pPr defTabSz="457200">
              <a:spcBef>
                <a:spcPts val="1000"/>
              </a:spcBef>
            </a:pPr>
            <a:r>
              <a:rPr lang="en-US" dirty="0"/>
              <a:t>You put the clothes in the machine</a:t>
            </a:r>
          </a:p>
          <a:p>
            <a:pPr defTabSz="457200">
              <a:spcBef>
                <a:spcPts val="1000"/>
              </a:spcBef>
            </a:pPr>
            <a:r>
              <a:rPr lang="en-US" dirty="0"/>
              <a:t>You sit in front of the machine until they are done</a:t>
            </a:r>
          </a:p>
          <a:p>
            <a:pPr defTabSz="457200">
              <a:spcBef>
                <a:spcPts val="1000"/>
              </a:spcBef>
            </a:pPr>
            <a:r>
              <a:rPr lang="en-US" dirty="0"/>
              <a:t>You take the clothes back to the front desk</a:t>
            </a:r>
          </a:p>
          <a:p>
            <a:pPr defTabSz="457200">
              <a:spcBef>
                <a:spcPts val="1000"/>
              </a:spcBef>
            </a:pPr>
            <a:r>
              <a:rPr lang="en-US" dirty="0"/>
              <a:t>You can now serve the next customer</a:t>
            </a:r>
          </a:p>
        </p:txBody>
      </p:sp>
      <p:pic>
        <p:nvPicPr>
          <p:cNvPr id="5" name="Picture 4">
            <a:extLst>
              <a:ext uri="{FF2B5EF4-FFF2-40B4-BE49-F238E27FC236}">
                <a16:creationId xmlns:a16="http://schemas.microsoft.com/office/drawing/2014/main" id="{0D702BF5-7FBF-DDE3-1106-3848532B7800}"/>
              </a:ext>
            </a:extLst>
          </p:cNvPr>
          <p:cNvPicPr>
            <a:picLocks noChangeAspect="1"/>
          </p:cNvPicPr>
          <p:nvPr/>
        </p:nvPicPr>
        <p:blipFill>
          <a:blip r:embed="rId6"/>
          <a:stretch>
            <a:fillRect/>
          </a:stretch>
        </p:blipFill>
        <p:spPr>
          <a:xfrm>
            <a:off x="4568937" y="1930078"/>
            <a:ext cx="4088720" cy="2708777"/>
          </a:xfrm>
          <a:prstGeom prst="rect">
            <a:avLst/>
          </a:prstGeom>
          <a:effectLst/>
        </p:spPr>
      </p:pic>
    </p:spTree>
    <p:extLst>
      <p:ext uri="{BB962C8B-B14F-4D97-AF65-F5344CB8AC3E}">
        <p14:creationId xmlns:p14="http://schemas.microsoft.com/office/powerpoint/2010/main" val="246413517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4" name="Picture 13">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6" name="Oval 15">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8" name="Picture 17">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0" name="Picture 19">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2" name="Rectangle 21">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420DDFD-C59C-4C74-6545-78991E594440}"/>
              </a:ext>
            </a:extLst>
          </p:cNvPr>
          <p:cNvSpPr>
            <a:spLocks noGrp="1"/>
          </p:cNvSpPr>
          <p:nvPr>
            <p:ph type="title" idx="4294967295"/>
          </p:nvPr>
        </p:nvSpPr>
        <p:spPr>
          <a:xfrm>
            <a:off x="486697" y="471950"/>
            <a:ext cx="6939116" cy="762490"/>
          </a:xfrm>
        </p:spPr>
        <p:txBody>
          <a:bodyPr vert="horz" lIns="91440" tIns="45720" rIns="91440" bIns="45720" rtlCol="0" anchor="t">
            <a:normAutofit/>
          </a:bodyPr>
          <a:lstStyle/>
          <a:p>
            <a:pPr defTabSz="457200"/>
            <a:r>
              <a:rPr lang="en-US" sz="4200" b="0" i="0" kern="1200">
                <a:solidFill>
                  <a:srgbClr val="EBEBEB"/>
                </a:solidFill>
                <a:latin typeface="+mj-lt"/>
                <a:ea typeface="+mj-ea"/>
                <a:cs typeface="+mj-cs"/>
              </a:rPr>
              <a:t>Async (non-blocking)</a:t>
            </a:r>
          </a:p>
        </p:txBody>
      </p:sp>
      <p:sp useBgFill="1">
        <p:nvSpPr>
          <p:cNvPr id="30" name="Freeform: Shape 29">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5" name="TextBox 4">
            <a:extLst>
              <a:ext uri="{FF2B5EF4-FFF2-40B4-BE49-F238E27FC236}">
                <a16:creationId xmlns:a16="http://schemas.microsoft.com/office/drawing/2014/main" id="{A40A12F8-545A-F17D-0723-7912125897B1}"/>
              </a:ext>
            </a:extLst>
          </p:cNvPr>
          <p:cNvSpPr txBox="1"/>
          <p:nvPr/>
        </p:nvSpPr>
        <p:spPr>
          <a:xfrm>
            <a:off x="486698" y="1911210"/>
            <a:ext cx="3841954" cy="2744017"/>
          </a:xfrm>
          <a:prstGeom prst="rect">
            <a:avLst/>
          </a:prstGeom>
        </p:spPr>
        <p:txBody>
          <a:bodyPr vert="horz" lIns="91440" tIns="45720" rIns="91440" bIns="45720" rtlCol="0">
            <a:normAutofit/>
          </a:bodyPr>
          <a:lstStyle>
            <a:lvl1pPr marL="228600" indent="-228600" defTabSz="685800">
              <a:lnSpc>
                <a:spcPct val="90000"/>
              </a:lnSpc>
              <a:spcBef>
                <a:spcPts val="750"/>
              </a:spcBef>
              <a:buFont typeface="Arial" panose="020B0604020202020204" pitchFamily="34" charset="0"/>
              <a:buChar char="•"/>
              <a:tabLst/>
              <a:defRPr sz="1400">
                <a:latin typeface="Roboto Light" panose="02000000000000000000" pitchFamily="2" charset="0"/>
                <a:ea typeface="Roboto Light" panose="02000000000000000000" pitchFamily="2" charset="0"/>
                <a:cs typeface="Roboto Light" panose="02000000000000000000" pitchFamily="2" charset="0"/>
              </a:defRPr>
            </a:lvl1pPr>
            <a:lvl2pPr marL="540000" lvl="1" indent="-252000" defTabSz="685800">
              <a:lnSpc>
                <a:spcPct val="100000"/>
              </a:lnSpc>
              <a:spcBef>
                <a:spcPts val="300"/>
              </a:spcBef>
              <a:buFont typeface="Arial" panose="020B0604020202020204" pitchFamily="34" charset="0"/>
              <a:buChar char="•"/>
              <a:defRPr sz="1400">
                <a:latin typeface="Roboto Light" panose="02000000000000000000" pitchFamily="2" charset="0"/>
                <a:ea typeface="Roboto Light" panose="02000000000000000000" pitchFamily="2" charset="0"/>
                <a:cs typeface="Roboto Light" panose="02000000000000000000" pitchFamily="2" charset="0"/>
              </a:defRPr>
            </a:lvl2pPr>
            <a:lvl3pPr marL="504000" lvl="2" indent="0" defTabSz="685800">
              <a:lnSpc>
                <a:spcPct val="100000"/>
              </a:lnSpc>
              <a:spcBef>
                <a:spcPts val="300"/>
              </a:spcBef>
              <a:buFont typeface="Arial" panose="020B0604020202020204" pitchFamily="34" charset="0"/>
              <a:buNone/>
              <a:defRPr sz="1400">
                <a:latin typeface="Roboto Light" panose="02000000000000000000" pitchFamily="2" charset="0"/>
                <a:ea typeface="Roboto Light" panose="02000000000000000000" pitchFamily="2" charset="0"/>
                <a:cs typeface="Roboto Light" panose="02000000000000000000" pitchFamily="2" charset="0"/>
              </a:defRPr>
            </a:lvl3pPr>
            <a:lvl4pPr marL="684000" indent="0" defTabSz="685800">
              <a:lnSpc>
                <a:spcPct val="90000"/>
              </a:lnSpc>
              <a:spcBef>
                <a:spcPts val="375"/>
              </a:spcBef>
              <a:buFont typeface="Arial" panose="020B0604020202020204" pitchFamily="34" charset="0"/>
              <a:buNone/>
              <a:defRPr sz="1400">
                <a:latin typeface="Roboto Light" panose="02000000000000000000" pitchFamily="2" charset="0"/>
                <a:ea typeface="Roboto Light" panose="02000000000000000000" pitchFamily="2" charset="0"/>
                <a:cs typeface="Roboto Light" panose="02000000000000000000" pitchFamily="2" charset="0"/>
              </a:defRPr>
            </a:lvl4pPr>
            <a:lvl5pPr marL="792000" indent="0" defTabSz="685800">
              <a:lnSpc>
                <a:spcPct val="90000"/>
              </a:lnSpc>
              <a:spcBef>
                <a:spcPts val="375"/>
              </a:spcBef>
              <a:buFont typeface="Arial" panose="020B0604020202020204" pitchFamily="34" charset="0"/>
              <a:buNone/>
              <a:defRPr sz="1400">
                <a:latin typeface="Roboto Light" panose="02000000000000000000" pitchFamily="2" charset="0"/>
                <a:ea typeface="Roboto Light" panose="02000000000000000000" pitchFamily="2" charset="0"/>
                <a:cs typeface="Roboto Light" panose="02000000000000000000" pitchFamily="2" charset="0"/>
              </a:defRPr>
            </a:lvl5pPr>
            <a:lvl6pPr marL="1885950" indent="-171450" defTabSz="685800">
              <a:lnSpc>
                <a:spcPct val="90000"/>
              </a:lnSpc>
              <a:spcBef>
                <a:spcPts val="375"/>
              </a:spcBef>
              <a:buFont typeface="Arial" panose="020B0604020202020204" pitchFamily="34" charset="0"/>
              <a:buChar char="•"/>
              <a:defRPr sz="1350"/>
            </a:lvl6pPr>
            <a:lvl7pPr marL="2228850" indent="-171450" defTabSz="685800">
              <a:lnSpc>
                <a:spcPct val="90000"/>
              </a:lnSpc>
              <a:spcBef>
                <a:spcPts val="375"/>
              </a:spcBef>
              <a:buFont typeface="Arial" panose="020B0604020202020204" pitchFamily="34" charset="0"/>
              <a:buChar char="•"/>
              <a:defRPr sz="1350"/>
            </a:lvl7pPr>
            <a:lvl8pPr marL="2571750" indent="-171450" defTabSz="685800">
              <a:lnSpc>
                <a:spcPct val="90000"/>
              </a:lnSpc>
              <a:spcBef>
                <a:spcPts val="375"/>
              </a:spcBef>
              <a:buFont typeface="Arial" panose="020B0604020202020204" pitchFamily="34" charset="0"/>
              <a:buChar char="•"/>
              <a:defRPr sz="1350"/>
            </a:lvl8pPr>
            <a:lvl9pPr marL="2914650" indent="-171450" defTabSz="685800">
              <a:lnSpc>
                <a:spcPct val="90000"/>
              </a:lnSpc>
              <a:spcBef>
                <a:spcPts val="375"/>
              </a:spcBef>
              <a:buFont typeface="Arial" panose="020B0604020202020204" pitchFamily="34" charset="0"/>
              <a:buChar char="•"/>
              <a:defRPr sz="1350"/>
            </a:lvl9pPr>
          </a:lstStyle>
          <a:p>
            <a:pPr defTabSz="457200">
              <a:spcBef>
                <a:spcPts val="1000"/>
              </a:spcBef>
              <a:buClr>
                <a:schemeClr val="bg2">
                  <a:lumMod val="40000"/>
                  <a:lumOff val="60000"/>
                </a:schemeClr>
              </a:buClr>
              <a:buSzPct val="80000"/>
              <a:buFont typeface="Wingdings 3" charset="2"/>
              <a:buChar char=""/>
            </a:pPr>
            <a:r>
              <a:rPr lang="en-US" dirty="0">
                <a:latin typeface="+mj-lt"/>
                <a:ea typeface="+mj-ea"/>
                <a:cs typeface="+mj-cs"/>
              </a:rPr>
              <a:t>A customer arrives with clothes</a:t>
            </a:r>
          </a:p>
          <a:p>
            <a:pPr defTabSz="457200">
              <a:spcBef>
                <a:spcPts val="1000"/>
              </a:spcBef>
              <a:buClr>
                <a:schemeClr val="bg2">
                  <a:lumMod val="40000"/>
                  <a:lumOff val="60000"/>
                </a:schemeClr>
              </a:buClr>
              <a:buSzPct val="80000"/>
              <a:buFont typeface="Wingdings 3" charset="2"/>
              <a:buChar char=""/>
            </a:pPr>
            <a:r>
              <a:rPr lang="en-US" dirty="0">
                <a:latin typeface="+mj-lt"/>
                <a:ea typeface="+mj-ea"/>
                <a:cs typeface="+mj-cs"/>
              </a:rPr>
              <a:t>You take their phone number and give them a ticket</a:t>
            </a:r>
          </a:p>
          <a:p>
            <a:pPr defTabSz="457200">
              <a:spcBef>
                <a:spcPts val="1000"/>
              </a:spcBef>
              <a:buClr>
                <a:schemeClr val="bg2">
                  <a:lumMod val="40000"/>
                  <a:lumOff val="60000"/>
                </a:schemeClr>
              </a:buClr>
              <a:buSzPct val="80000"/>
              <a:buFont typeface="Wingdings 3" charset="2"/>
              <a:buChar char=""/>
            </a:pPr>
            <a:r>
              <a:rPr lang="en-US" dirty="0">
                <a:latin typeface="+mj-lt"/>
                <a:ea typeface="+mj-ea"/>
                <a:cs typeface="+mj-cs"/>
              </a:rPr>
              <a:t>You put the clothes in the machine</a:t>
            </a:r>
          </a:p>
          <a:p>
            <a:pPr defTabSz="457200">
              <a:spcBef>
                <a:spcPts val="1000"/>
              </a:spcBef>
              <a:buClr>
                <a:schemeClr val="bg2">
                  <a:lumMod val="40000"/>
                  <a:lumOff val="60000"/>
                </a:schemeClr>
              </a:buClr>
              <a:buSzPct val="80000"/>
              <a:buFont typeface="Wingdings 3" charset="2"/>
              <a:buChar char=""/>
            </a:pPr>
            <a:r>
              <a:rPr lang="en-US" dirty="0">
                <a:latin typeface="+mj-lt"/>
                <a:ea typeface="+mj-ea"/>
                <a:cs typeface="+mj-cs"/>
              </a:rPr>
              <a:t>You go back to the desk to help the next customer</a:t>
            </a:r>
          </a:p>
          <a:p>
            <a:pPr defTabSz="457200">
              <a:spcBef>
                <a:spcPts val="1000"/>
              </a:spcBef>
              <a:buClr>
                <a:schemeClr val="bg2">
                  <a:lumMod val="40000"/>
                  <a:lumOff val="60000"/>
                </a:schemeClr>
              </a:buClr>
              <a:buSzPct val="80000"/>
              <a:buFont typeface="Wingdings 3" charset="2"/>
              <a:buChar char=""/>
            </a:pPr>
            <a:r>
              <a:rPr lang="en-US" dirty="0">
                <a:latin typeface="+mj-lt"/>
                <a:ea typeface="+mj-ea"/>
                <a:cs typeface="+mj-cs"/>
              </a:rPr>
              <a:t>When the clothes are done, you call the first customer</a:t>
            </a:r>
          </a:p>
        </p:txBody>
      </p:sp>
      <p:pic>
        <p:nvPicPr>
          <p:cNvPr id="7" name="Picture 6">
            <a:extLst>
              <a:ext uri="{FF2B5EF4-FFF2-40B4-BE49-F238E27FC236}">
                <a16:creationId xmlns:a16="http://schemas.microsoft.com/office/drawing/2014/main" id="{65A39D85-C703-BF00-73FB-F332FD5C1062}"/>
              </a:ext>
            </a:extLst>
          </p:cNvPr>
          <p:cNvPicPr>
            <a:picLocks noChangeAspect="1"/>
          </p:cNvPicPr>
          <p:nvPr/>
        </p:nvPicPr>
        <p:blipFill>
          <a:blip r:embed="rId6"/>
          <a:stretch>
            <a:fillRect/>
          </a:stretch>
        </p:blipFill>
        <p:spPr>
          <a:xfrm>
            <a:off x="5396092" y="1911210"/>
            <a:ext cx="2434410" cy="2746514"/>
          </a:xfrm>
          <a:prstGeom prst="rect">
            <a:avLst/>
          </a:prstGeom>
          <a:effectLst/>
        </p:spPr>
      </p:pic>
    </p:spTree>
    <p:extLst>
      <p:ext uri="{BB962C8B-B14F-4D97-AF65-F5344CB8AC3E}">
        <p14:creationId xmlns:p14="http://schemas.microsoft.com/office/powerpoint/2010/main" val="321630054"/>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6" name="Picture 1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8" name="Oval 1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20" name="Picture 1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22" name="Picture 2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4" name="Rectangle 23">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26" name="Rectangle 25">
            <a:extLst>
              <a:ext uri="{FF2B5EF4-FFF2-40B4-BE49-F238E27FC236}">
                <a16:creationId xmlns:a16="http://schemas.microsoft.com/office/drawing/2014/main" id="{D27CF008-4B18-436D-B2D5-C1346C124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9143771" cy="354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E22DAD8-5F67-4B73-ADA9-06EF381F7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Freeform 16">
            <a:extLst>
              <a:ext uri="{FF2B5EF4-FFF2-40B4-BE49-F238E27FC236}">
                <a16:creationId xmlns:a16="http://schemas.microsoft.com/office/drawing/2014/main" id="{E4F17063-EDA4-417B-946F-BA357F3B3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2815271"/>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2">
              <a:alpha val="20000"/>
            </a:schemeClr>
          </a:solidFill>
          <a:ln>
            <a:noFill/>
          </a:ln>
        </p:spPr>
        <p:txBody>
          <a:bodyPr rtlCol="0" anchor="ctr"/>
          <a:lstStyle/>
          <a:p>
            <a:pPr algn="ctr"/>
            <a:endParaRPr lang="en-US">
              <a:solidFill>
                <a:schemeClr val="tx1"/>
              </a:solidFill>
            </a:endParaRPr>
          </a:p>
        </p:txBody>
      </p:sp>
      <p:pic>
        <p:nvPicPr>
          <p:cNvPr id="9" name="Picture 8">
            <a:extLst>
              <a:ext uri="{FF2B5EF4-FFF2-40B4-BE49-F238E27FC236}">
                <a16:creationId xmlns:a16="http://schemas.microsoft.com/office/drawing/2014/main" id="{0D58B343-645F-CA36-50E0-29A810DD203A}"/>
              </a:ext>
            </a:extLst>
          </p:cNvPr>
          <p:cNvPicPr>
            <a:picLocks noChangeAspect="1"/>
          </p:cNvPicPr>
          <p:nvPr/>
        </p:nvPicPr>
        <p:blipFill>
          <a:blip r:embed="rId6"/>
          <a:stretch>
            <a:fillRect/>
          </a:stretch>
        </p:blipFill>
        <p:spPr>
          <a:xfrm>
            <a:off x="476593" y="649804"/>
            <a:ext cx="6863105" cy="2299139"/>
          </a:xfrm>
          <a:prstGeom prst="rect">
            <a:avLst/>
          </a:prstGeom>
          <a:effectLst/>
        </p:spPr>
      </p:pic>
      <p:sp>
        <p:nvSpPr>
          <p:cNvPr id="32" name="Freeform: Shape 31">
            <a:extLst>
              <a:ext uri="{FF2B5EF4-FFF2-40B4-BE49-F238E27FC236}">
                <a16:creationId xmlns:a16="http://schemas.microsoft.com/office/drawing/2014/main" id="{D36F3EEA-55D4-4677-80E7-92D00B8F3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41649"/>
            <a:ext cx="9144000" cy="2101851"/>
          </a:xfrm>
          <a:custGeom>
            <a:avLst/>
            <a:gdLst>
              <a:gd name="connsiteX0" fmla="*/ 1 w 12192000"/>
              <a:gd name="connsiteY0" fmla="*/ 0 h 2802467"/>
              <a:gd name="connsiteX1" fmla="*/ 71932 w 12192000"/>
              <a:gd name="connsiteY1" fmla="*/ 12261 h 2802467"/>
              <a:gd name="connsiteX2" fmla="*/ 282848 w 12192000"/>
              <a:gd name="connsiteY2" fmla="*/ 48342 h 2802467"/>
              <a:gd name="connsiteX3" fmla="*/ 436464 w 12192000"/>
              <a:gd name="connsiteY3" fmla="*/ 73565 h 2802467"/>
              <a:gd name="connsiteX4" fmla="*/ 619339 w 12192000"/>
              <a:gd name="connsiteY4" fmla="*/ 100188 h 2802467"/>
              <a:gd name="connsiteX5" fmla="*/ 836351 w 12192000"/>
              <a:gd name="connsiteY5" fmla="*/ 132066 h 2802467"/>
              <a:gd name="connsiteX6" fmla="*/ 1076528 w 12192000"/>
              <a:gd name="connsiteY6" fmla="*/ 165696 h 2802467"/>
              <a:gd name="connsiteX7" fmla="*/ 1347183 w 12192000"/>
              <a:gd name="connsiteY7" fmla="*/ 201077 h 2802467"/>
              <a:gd name="connsiteX8" fmla="*/ 1642223 w 12192000"/>
              <a:gd name="connsiteY8" fmla="*/ 238560 h 2802467"/>
              <a:gd name="connsiteX9" fmla="*/ 1962864 w 12192000"/>
              <a:gd name="connsiteY9" fmla="*/ 276043 h 2802467"/>
              <a:gd name="connsiteX10" fmla="*/ 2304232 w 12192000"/>
              <a:gd name="connsiteY10" fmla="*/ 314226 h 2802467"/>
              <a:gd name="connsiteX11" fmla="*/ 2672421 w 12192000"/>
              <a:gd name="connsiteY11" fmla="*/ 349608 h 2802467"/>
              <a:gd name="connsiteX12" fmla="*/ 3057678 w 12192000"/>
              <a:gd name="connsiteY12" fmla="*/ 383587 h 2802467"/>
              <a:gd name="connsiteX13" fmla="*/ 3464881 w 12192000"/>
              <a:gd name="connsiteY13" fmla="*/ 414415 h 2802467"/>
              <a:gd name="connsiteX14" fmla="*/ 3889152 w 12192000"/>
              <a:gd name="connsiteY14" fmla="*/ 443840 h 2802467"/>
              <a:gd name="connsiteX15" fmla="*/ 4331710 w 12192000"/>
              <a:gd name="connsiteY15" fmla="*/ 471515 h 2802467"/>
              <a:gd name="connsiteX16" fmla="*/ 4558476 w 12192000"/>
              <a:gd name="connsiteY16" fmla="*/ 481323 h 2802467"/>
              <a:gd name="connsiteX17" fmla="*/ 4790118 w 12192000"/>
              <a:gd name="connsiteY17" fmla="*/ 492183 h 2802467"/>
              <a:gd name="connsiteX18" fmla="*/ 5025418 w 12192000"/>
              <a:gd name="connsiteY18" fmla="*/ 502342 h 2802467"/>
              <a:gd name="connsiteX19" fmla="*/ 5261937 w 12192000"/>
              <a:gd name="connsiteY19" fmla="*/ 508998 h 2802467"/>
              <a:gd name="connsiteX20" fmla="*/ 5503332 w 12192000"/>
              <a:gd name="connsiteY20" fmla="*/ 514953 h 2802467"/>
              <a:gd name="connsiteX21" fmla="*/ 5747166 w 12192000"/>
              <a:gd name="connsiteY21" fmla="*/ 521259 h 2802467"/>
              <a:gd name="connsiteX22" fmla="*/ 5995877 w 12192000"/>
              <a:gd name="connsiteY22" fmla="*/ 525462 h 2802467"/>
              <a:gd name="connsiteX23" fmla="*/ 6247026 w 12192000"/>
              <a:gd name="connsiteY23" fmla="*/ 525462 h 2802467"/>
              <a:gd name="connsiteX24" fmla="*/ 6500613 w 12192000"/>
              <a:gd name="connsiteY24" fmla="*/ 527564 h 2802467"/>
              <a:gd name="connsiteX25" fmla="*/ 6756639 w 12192000"/>
              <a:gd name="connsiteY25" fmla="*/ 525462 h 2802467"/>
              <a:gd name="connsiteX26" fmla="*/ 7016322 w 12192000"/>
              <a:gd name="connsiteY26" fmla="*/ 521259 h 2802467"/>
              <a:gd name="connsiteX27" fmla="*/ 7276005 w 12192000"/>
              <a:gd name="connsiteY27" fmla="*/ 517405 h 2802467"/>
              <a:gd name="connsiteX28" fmla="*/ 7539345 w 12192000"/>
              <a:gd name="connsiteY28" fmla="*/ 508998 h 2802467"/>
              <a:gd name="connsiteX29" fmla="*/ 7805124 w 12192000"/>
              <a:gd name="connsiteY29" fmla="*/ 500240 h 2802467"/>
              <a:gd name="connsiteX30" fmla="*/ 8070903 w 12192000"/>
              <a:gd name="connsiteY30" fmla="*/ 490081 h 2802467"/>
              <a:gd name="connsiteX31" fmla="*/ 8339121 w 12192000"/>
              <a:gd name="connsiteY31" fmla="*/ 475719 h 2802467"/>
              <a:gd name="connsiteX32" fmla="*/ 8609776 w 12192000"/>
              <a:gd name="connsiteY32" fmla="*/ 458553 h 2802467"/>
              <a:gd name="connsiteX33" fmla="*/ 8881651 w 12192000"/>
              <a:gd name="connsiteY33" fmla="*/ 442089 h 2802467"/>
              <a:gd name="connsiteX34" fmla="*/ 9153526 w 12192000"/>
              <a:gd name="connsiteY34" fmla="*/ 421070 h 2802467"/>
              <a:gd name="connsiteX35" fmla="*/ 9429058 w 12192000"/>
              <a:gd name="connsiteY35" fmla="*/ 395848 h 2802467"/>
              <a:gd name="connsiteX36" fmla="*/ 9700933 w 12192000"/>
              <a:gd name="connsiteY36" fmla="*/ 370626 h 2802467"/>
              <a:gd name="connsiteX37" fmla="*/ 9977684 w 12192000"/>
              <a:gd name="connsiteY37" fmla="*/ 341550 h 2802467"/>
              <a:gd name="connsiteX38" fmla="*/ 10255655 w 12192000"/>
              <a:gd name="connsiteY38" fmla="*/ 309672 h 2802467"/>
              <a:gd name="connsiteX39" fmla="*/ 10529968 w 12192000"/>
              <a:gd name="connsiteY39" fmla="*/ 276043 h 2802467"/>
              <a:gd name="connsiteX40" fmla="*/ 10807939 w 12192000"/>
              <a:gd name="connsiteY40" fmla="*/ 236808 h 2802467"/>
              <a:gd name="connsiteX41" fmla="*/ 11084690 w 12192000"/>
              <a:gd name="connsiteY41" fmla="*/ 194771 h 2802467"/>
              <a:gd name="connsiteX42" fmla="*/ 11362661 w 12192000"/>
              <a:gd name="connsiteY42" fmla="*/ 153085 h 2802467"/>
              <a:gd name="connsiteX43" fmla="*/ 11639412 w 12192000"/>
              <a:gd name="connsiteY43" fmla="*/ 104392 h 2802467"/>
              <a:gd name="connsiteX44" fmla="*/ 11914945 w 12192000"/>
              <a:gd name="connsiteY44" fmla="*/ 54648 h 2802467"/>
              <a:gd name="connsiteX45" fmla="*/ 12191696 w 12192000"/>
              <a:gd name="connsiteY45" fmla="*/ 2452 h 2802467"/>
              <a:gd name="connsiteX46" fmla="*/ 12191696 w 12192000"/>
              <a:gd name="connsiteY46" fmla="*/ 2236410 h 2802467"/>
              <a:gd name="connsiteX47" fmla="*/ 12192000 w 12192000"/>
              <a:gd name="connsiteY47" fmla="*/ 2236410 h 2802467"/>
              <a:gd name="connsiteX48" fmla="*/ 12192000 w 12192000"/>
              <a:gd name="connsiteY48" fmla="*/ 2802467 h 2802467"/>
              <a:gd name="connsiteX49" fmla="*/ 12191696 w 12192000"/>
              <a:gd name="connsiteY49" fmla="*/ 2802467 h 2802467"/>
              <a:gd name="connsiteX50" fmla="*/ 0 w 12192000"/>
              <a:gd name="connsiteY50" fmla="*/ 2802467 h 2802467"/>
              <a:gd name="connsiteX51" fmla="*/ 0 w 12192000"/>
              <a:gd name="connsiteY51" fmla="*/ 2236410 h 2802467"/>
              <a:gd name="connsiteX52" fmla="*/ 1 w 12192000"/>
              <a:gd name="connsiteY52" fmla="*/ 2236410 h 2802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192000" h="2802467">
                <a:moveTo>
                  <a:pt x="1" y="0"/>
                </a:moveTo>
                <a:lnTo>
                  <a:pt x="71932" y="12261"/>
                </a:lnTo>
                <a:lnTo>
                  <a:pt x="282848" y="48342"/>
                </a:lnTo>
                <a:lnTo>
                  <a:pt x="436464" y="73565"/>
                </a:lnTo>
                <a:lnTo>
                  <a:pt x="619339" y="100188"/>
                </a:lnTo>
                <a:lnTo>
                  <a:pt x="836351" y="132066"/>
                </a:lnTo>
                <a:lnTo>
                  <a:pt x="1076528" y="165696"/>
                </a:lnTo>
                <a:lnTo>
                  <a:pt x="1347183" y="201077"/>
                </a:lnTo>
                <a:lnTo>
                  <a:pt x="1642223" y="238560"/>
                </a:lnTo>
                <a:lnTo>
                  <a:pt x="1962864" y="276043"/>
                </a:lnTo>
                <a:lnTo>
                  <a:pt x="2304232" y="314226"/>
                </a:lnTo>
                <a:lnTo>
                  <a:pt x="2672421" y="349608"/>
                </a:lnTo>
                <a:lnTo>
                  <a:pt x="3057678" y="383587"/>
                </a:lnTo>
                <a:lnTo>
                  <a:pt x="3464881" y="414415"/>
                </a:lnTo>
                <a:lnTo>
                  <a:pt x="3889152" y="443840"/>
                </a:lnTo>
                <a:lnTo>
                  <a:pt x="4331710" y="471515"/>
                </a:lnTo>
                <a:lnTo>
                  <a:pt x="4558476" y="481323"/>
                </a:lnTo>
                <a:lnTo>
                  <a:pt x="4790118" y="492183"/>
                </a:lnTo>
                <a:lnTo>
                  <a:pt x="5025418" y="502342"/>
                </a:lnTo>
                <a:lnTo>
                  <a:pt x="5261937" y="508998"/>
                </a:lnTo>
                <a:lnTo>
                  <a:pt x="5503332" y="514953"/>
                </a:lnTo>
                <a:lnTo>
                  <a:pt x="5747166" y="521259"/>
                </a:lnTo>
                <a:lnTo>
                  <a:pt x="5995877" y="525462"/>
                </a:lnTo>
                <a:lnTo>
                  <a:pt x="6247026" y="525462"/>
                </a:lnTo>
                <a:lnTo>
                  <a:pt x="6500613" y="527564"/>
                </a:lnTo>
                <a:lnTo>
                  <a:pt x="6756639" y="525462"/>
                </a:lnTo>
                <a:lnTo>
                  <a:pt x="7016322" y="521259"/>
                </a:lnTo>
                <a:lnTo>
                  <a:pt x="7276005" y="517405"/>
                </a:lnTo>
                <a:lnTo>
                  <a:pt x="7539345" y="508998"/>
                </a:lnTo>
                <a:lnTo>
                  <a:pt x="7805124" y="500240"/>
                </a:lnTo>
                <a:lnTo>
                  <a:pt x="8070903" y="490081"/>
                </a:lnTo>
                <a:lnTo>
                  <a:pt x="8339121" y="475719"/>
                </a:lnTo>
                <a:lnTo>
                  <a:pt x="8609776" y="458553"/>
                </a:lnTo>
                <a:lnTo>
                  <a:pt x="8881651" y="442089"/>
                </a:lnTo>
                <a:lnTo>
                  <a:pt x="9153526" y="421070"/>
                </a:lnTo>
                <a:lnTo>
                  <a:pt x="9429058" y="395848"/>
                </a:lnTo>
                <a:lnTo>
                  <a:pt x="9700933" y="370626"/>
                </a:lnTo>
                <a:lnTo>
                  <a:pt x="9977684" y="341550"/>
                </a:lnTo>
                <a:lnTo>
                  <a:pt x="10255655" y="309672"/>
                </a:lnTo>
                <a:lnTo>
                  <a:pt x="10529968" y="276043"/>
                </a:lnTo>
                <a:lnTo>
                  <a:pt x="10807939" y="236808"/>
                </a:lnTo>
                <a:lnTo>
                  <a:pt x="11084690" y="194771"/>
                </a:lnTo>
                <a:lnTo>
                  <a:pt x="11362661" y="153085"/>
                </a:lnTo>
                <a:lnTo>
                  <a:pt x="11639412" y="104392"/>
                </a:lnTo>
                <a:lnTo>
                  <a:pt x="11914945" y="54648"/>
                </a:lnTo>
                <a:lnTo>
                  <a:pt x="12191696" y="2452"/>
                </a:lnTo>
                <a:lnTo>
                  <a:pt x="12191696" y="2236410"/>
                </a:lnTo>
                <a:lnTo>
                  <a:pt x="12192000" y="2236410"/>
                </a:lnTo>
                <a:lnTo>
                  <a:pt x="12192000" y="2802467"/>
                </a:lnTo>
                <a:lnTo>
                  <a:pt x="12191696" y="2802467"/>
                </a:lnTo>
                <a:lnTo>
                  <a:pt x="0" y="2802467"/>
                </a:lnTo>
                <a:lnTo>
                  <a:pt x="0" y="2236410"/>
                </a:lnTo>
                <a:lnTo>
                  <a:pt x="1" y="2236410"/>
                </a:lnTo>
                <a:close/>
              </a:path>
            </a:pathLst>
          </a:cu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9E4543A-0D1C-4FFD-A708-76AD0C314808}"/>
              </a:ext>
            </a:extLst>
          </p:cNvPr>
          <p:cNvSpPr>
            <a:spLocks noGrp="1"/>
          </p:cNvSpPr>
          <p:nvPr>
            <p:ph type="title" idx="4294967295"/>
          </p:nvPr>
        </p:nvSpPr>
        <p:spPr>
          <a:xfrm>
            <a:off x="477687" y="3640759"/>
            <a:ext cx="6862012" cy="651020"/>
          </a:xfrm>
        </p:spPr>
        <p:txBody>
          <a:bodyPr vert="horz" lIns="91440" tIns="45720" rIns="91440" bIns="45720" rtlCol="0" anchor="b">
            <a:normAutofit/>
          </a:bodyPr>
          <a:lstStyle/>
          <a:p>
            <a:pPr defTabSz="457200"/>
            <a:r>
              <a:rPr lang="en-US" sz="3600" b="0" i="0" kern="1200">
                <a:solidFill>
                  <a:srgbClr val="EBEBEB"/>
                </a:solidFill>
                <a:latin typeface="+mj-lt"/>
                <a:ea typeface="+mj-ea"/>
                <a:cs typeface="+mj-cs"/>
              </a:rPr>
              <a:t>I/O vs CPU</a:t>
            </a:r>
          </a:p>
        </p:txBody>
      </p:sp>
    </p:spTree>
    <p:extLst>
      <p:ext uri="{BB962C8B-B14F-4D97-AF65-F5344CB8AC3E}">
        <p14:creationId xmlns:p14="http://schemas.microsoft.com/office/powerpoint/2010/main" val="2580709635"/>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EE4E366E-272A-409E-840F-9A6A64A9E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21560C-E4AB-4287-A29C-3F6916794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31836"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Freeform 7">
            <a:extLst>
              <a:ext uri="{FF2B5EF4-FFF2-40B4-BE49-F238E27FC236}">
                <a16:creationId xmlns:a16="http://schemas.microsoft.com/office/drawing/2014/main" id="{DF6CFF07-D953-4F9C-9A0E-E0A6AACB61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9C6F77C-4573-D585-315E-473E9C45E5BD}"/>
              </a:ext>
            </a:extLst>
          </p:cNvPr>
          <p:cNvSpPr>
            <a:spLocks noGrp="1"/>
          </p:cNvSpPr>
          <p:nvPr>
            <p:ph type="title" idx="4294967295"/>
          </p:nvPr>
        </p:nvSpPr>
        <p:spPr>
          <a:xfrm>
            <a:off x="486697" y="471950"/>
            <a:ext cx="6939116" cy="762490"/>
          </a:xfrm>
        </p:spPr>
        <p:txBody>
          <a:bodyPr vert="horz" lIns="91440" tIns="45720" rIns="91440" bIns="45720" rtlCol="0" anchor="t">
            <a:normAutofit/>
          </a:bodyPr>
          <a:lstStyle/>
          <a:p>
            <a:pPr defTabSz="457200"/>
            <a:r>
              <a:rPr lang="en-US" sz="4200" b="0" i="0" kern="1200">
                <a:solidFill>
                  <a:srgbClr val="EBEBEB"/>
                </a:solidFill>
                <a:latin typeface="+mj-lt"/>
                <a:ea typeface="+mj-ea"/>
                <a:cs typeface="+mj-cs"/>
              </a:rPr>
              <a:t>Value Task</a:t>
            </a:r>
          </a:p>
        </p:txBody>
      </p:sp>
      <p:sp useBgFill="1">
        <p:nvSpPr>
          <p:cNvPr id="28" name="Freeform: Shape 27">
            <a:extLst>
              <a:ext uri="{FF2B5EF4-FFF2-40B4-BE49-F238E27FC236}">
                <a16:creationId xmlns:a16="http://schemas.microsoft.com/office/drawing/2014/main" id="{DAA4FEEE-0B5F-41BF-825D-60F9FB089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3" name="Content Placeholder 2">
            <a:extLst>
              <a:ext uri="{FF2B5EF4-FFF2-40B4-BE49-F238E27FC236}">
                <a16:creationId xmlns:a16="http://schemas.microsoft.com/office/drawing/2014/main" id="{242D1857-C73A-3474-2BCC-88A37C513B74}"/>
              </a:ext>
            </a:extLst>
          </p:cNvPr>
          <p:cNvSpPr>
            <a:spLocks noGrp="1"/>
          </p:cNvSpPr>
          <p:nvPr>
            <p:ph idx="4294967295"/>
          </p:nvPr>
        </p:nvSpPr>
        <p:spPr>
          <a:xfrm>
            <a:off x="486698" y="1911210"/>
            <a:ext cx="3841954" cy="2744017"/>
          </a:xfrm>
        </p:spPr>
        <p:txBody>
          <a:bodyPr vert="horz" lIns="91440" tIns="45720" rIns="91440" bIns="45720" rtlCol="0">
            <a:normAutofit/>
          </a:bodyPr>
          <a:lstStyle/>
          <a:p>
            <a:pPr defTabSz="457200">
              <a:spcBef>
                <a:spcPts val="1000"/>
              </a:spcBef>
            </a:pPr>
            <a:r>
              <a:rPr lang="en-US" dirty="0"/>
              <a:t>Represent both synchronous and asynchronous operations.</a:t>
            </a:r>
          </a:p>
          <a:p>
            <a:pPr defTabSz="457200">
              <a:spcBef>
                <a:spcPts val="1000"/>
              </a:spcBef>
            </a:pPr>
            <a:r>
              <a:rPr lang="en-US" dirty="0"/>
              <a:t>Hold the result directly without any heap allocations</a:t>
            </a:r>
          </a:p>
          <a:p>
            <a:pPr defTabSz="457200">
              <a:spcBef>
                <a:spcPts val="1000"/>
              </a:spcBef>
            </a:pPr>
            <a:r>
              <a:rPr lang="en-US" dirty="0"/>
              <a:t>If the operation is not yet completed, ValueTask can switch to using a Task internally, but only if necessary</a:t>
            </a:r>
          </a:p>
          <a:p>
            <a:pPr defTabSz="457200">
              <a:spcBef>
                <a:spcPts val="1000"/>
              </a:spcBef>
            </a:pPr>
            <a:r>
              <a:rPr lang="en-US" dirty="0"/>
              <a:t>When to use it?</a:t>
            </a:r>
          </a:p>
        </p:txBody>
      </p:sp>
      <p:pic>
        <p:nvPicPr>
          <p:cNvPr id="5" name="Picture 4">
            <a:extLst>
              <a:ext uri="{FF2B5EF4-FFF2-40B4-BE49-F238E27FC236}">
                <a16:creationId xmlns:a16="http://schemas.microsoft.com/office/drawing/2014/main" id="{6EA1330C-ECE0-EBD8-5DAE-45D20AF39B28}"/>
              </a:ext>
            </a:extLst>
          </p:cNvPr>
          <p:cNvPicPr>
            <a:picLocks noChangeAspect="1"/>
          </p:cNvPicPr>
          <p:nvPr/>
        </p:nvPicPr>
        <p:blipFill>
          <a:blip r:embed="rId6"/>
          <a:stretch>
            <a:fillRect/>
          </a:stretch>
        </p:blipFill>
        <p:spPr>
          <a:xfrm>
            <a:off x="4568937" y="2517445"/>
            <a:ext cx="4088720" cy="1534043"/>
          </a:xfrm>
          <a:prstGeom prst="rect">
            <a:avLst/>
          </a:prstGeom>
          <a:effectLst/>
        </p:spPr>
      </p:pic>
    </p:spTree>
    <p:extLst>
      <p:ext uri="{BB962C8B-B14F-4D97-AF65-F5344CB8AC3E}">
        <p14:creationId xmlns:p14="http://schemas.microsoft.com/office/powerpoint/2010/main" val="2285499750"/>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Rectangle 21">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6" name="Freeform: Shape 25">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B4425D0E-A4EB-E008-B490-FD80C62D988C}"/>
              </a:ext>
            </a:extLst>
          </p:cNvPr>
          <p:cNvSpPr>
            <a:spLocks noGrp="1"/>
          </p:cNvSpPr>
          <p:nvPr>
            <p:ph type="title" idx="4294967295"/>
          </p:nvPr>
        </p:nvSpPr>
        <p:spPr>
          <a:xfrm>
            <a:off x="827484" y="339538"/>
            <a:ext cx="6710641" cy="1050398"/>
          </a:xfrm>
        </p:spPr>
        <p:txBody>
          <a:bodyPr vert="horz" lIns="91440" tIns="45720" rIns="91440" bIns="45720" rtlCol="0" anchor="ctr">
            <a:normAutofit/>
          </a:bodyPr>
          <a:lstStyle/>
          <a:p>
            <a:pPr defTabSz="457200">
              <a:lnSpc>
                <a:spcPct val="90000"/>
              </a:lnSpc>
            </a:pPr>
            <a:r>
              <a:rPr lang="en-US" sz="3600" b="0" i="0" kern="1200">
                <a:solidFill>
                  <a:srgbClr val="FFFFFF"/>
                </a:solidFill>
                <a:latin typeface="+mj-lt"/>
                <a:ea typeface="+mj-ea"/>
                <a:cs typeface="+mj-cs"/>
              </a:rPr>
              <a:t>Configure Await (true/false)</a:t>
            </a:r>
          </a:p>
        </p:txBody>
      </p:sp>
      <p:sp>
        <p:nvSpPr>
          <p:cNvPr id="3" name="Content Placeholder 2">
            <a:extLst>
              <a:ext uri="{FF2B5EF4-FFF2-40B4-BE49-F238E27FC236}">
                <a16:creationId xmlns:a16="http://schemas.microsoft.com/office/drawing/2014/main" id="{4B3CF0B1-FAEF-924C-D5B4-56D1C78DA474}"/>
              </a:ext>
            </a:extLst>
          </p:cNvPr>
          <p:cNvSpPr>
            <a:spLocks noGrp="1"/>
          </p:cNvSpPr>
          <p:nvPr>
            <p:ph idx="4294967295"/>
          </p:nvPr>
        </p:nvSpPr>
        <p:spPr>
          <a:xfrm>
            <a:off x="827484" y="2072640"/>
            <a:ext cx="6709905" cy="2613659"/>
          </a:xfrm>
        </p:spPr>
        <p:txBody>
          <a:bodyPr vert="horz" lIns="91440" tIns="45720" rIns="91440" bIns="45720" rtlCol="0">
            <a:normAutofit/>
          </a:bodyPr>
          <a:lstStyle/>
          <a:p>
            <a:pPr defTabSz="457200">
              <a:lnSpc>
                <a:spcPct val="90000"/>
              </a:lnSpc>
              <a:spcBef>
                <a:spcPts val="1000"/>
              </a:spcBef>
            </a:pPr>
            <a:r>
              <a:rPr lang="en-US" sz="1300"/>
              <a:t>It tries to resume the execution on the same context after the task is completed.</a:t>
            </a:r>
          </a:p>
          <a:p>
            <a:pPr defTabSz="457200">
              <a:lnSpc>
                <a:spcPct val="90000"/>
              </a:lnSpc>
              <a:spcBef>
                <a:spcPts val="1000"/>
              </a:spcBef>
            </a:pPr>
            <a:r>
              <a:rPr lang="en-US" sz="1300"/>
              <a:t>To avoid these problems, ConfigureAwait can be called with a false argument, which tells the awaiter that it does not need to resume on the original context, and can run the continuation on any available thread or context</a:t>
            </a:r>
          </a:p>
          <a:p>
            <a:pPr defTabSz="457200">
              <a:lnSpc>
                <a:spcPct val="90000"/>
              </a:lnSpc>
              <a:spcBef>
                <a:spcPts val="1000"/>
              </a:spcBef>
            </a:pPr>
            <a:r>
              <a:rPr lang="en-US" sz="1300"/>
              <a:t>However, using ConfigureAwait(false) can also introduce some risks, such as losing access to UI elements or HttpContext, or causing unexpected parallelism or thread-safety issues</a:t>
            </a:r>
          </a:p>
          <a:p>
            <a:pPr defTabSz="457200">
              <a:lnSpc>
                <a:spcPct val="90000"/>
              </a:lnSpc>
              <a:spcBef>
                <a:spcPts val="1000"/>
              </a:spcBef>
            </a:pPr>
            <a:r>
              <a:rPr lang="en-US" sz="1300"/>
              <a:t>Therefore, it is recommended to use ConfigureAwait(false) only when the code does not depend on the original context, and to use the default ConfigureAwait(true) otherwise</a:t>
            </a:r>
          </a:p>
        </p:txBody>
      </p:sp>
    </p:spTree>
    <p:extLst>
      <p:ext uri="{BB962C8B-B14F-4D97-AF65-F5344CB8AC3E}">
        <p14:creationId xmlns:p14="http://schemas.microsoft.com/office/powerpoint/2010/main" val="2134384074"/>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Rectangle 21">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6" name="Freeform: Shape 25">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32C308F2-C660-3A40-EBD1-31F82991A9E0}"/>
              </a:ext>
            </a:extLst>
          </p:cNvPr>
          <p:cNvSpPr>
            <a:spLocks noGrp="1"/>
          </p:cNvSpPr>
          <p:nvPr>
            <p:ph type="title" idx="4294967295"/>
          </p:nvPr>
        </p:nvSpPr>
        <p:spPr>
          <a:xfrm>
            <a:off x="827484" y="339538"/>
            <a:ext cx="6710641" cy="1050398"/>
          </a:xfrm>
        </p:spPr>
        <p:txBody>
          <a:bodyPr vert="horz" lIns="91440" tIns="45720" rIns="91440" bIns="45720" rtlCol="0" anchor="ctr">
            <a:normAutofit/>
          </a:bodyPr>
          <a:lstStyle/>
          <a:p>
            <a:pPr defTabSz="457200"/>
            <a:r>
              <a:rPr lang="en-US" sz="4200" b="0" i="0" kern="1200">
                <a:solidFill>
                  <a:srgbClr val="FFFFFF"/>
                </a:solidFill>
                <a:latin typeface="+mj-lt"/>
                <a:ea typeface="+mj-ea"/>
                <a:cs typeface="+mj-cs"/>
              </a:rPr>
              <a:t>IAsyncEnumerable&lt;T&gt;</a:t>
            </a:r>
          </a:p>
        </p:txBody>
      </p:sp>
      <p:sp>
        <p:nvSpPr>
          <p:cNvPr id="3" name="Content Placeholder 2">
            <a:extLst>
              <a:ext uri="{FF2B5EF4-FFF2-40B4-BE49-F238E27FC236}">
                <a16:creationId xmlns:a16="http://schemas.microsoft.com/office/drawing/2014/main" id="{46C9031A-2644-025C-535A-9EEFF7BBB4E4}"/>
              </a:ext>
            </a:extLst>
          </p:cNvPr>
          <p:cNvSpPr>
            <a:spLocks noGrp="1"/>
          </p:cNvSpPr>
          <p:nvPr>
            <p:ph idx="4294967295"/>
          </p:nvPr>
        </p:nvSpPr>
        <p:spPr>
          <a:xfrm>
            <a:off x="827484" y="2072640"/>
            <a:ext cx="6709905" cy="2613659"/>
          </a:xfrm>
        </p:spPr>
        <p:txBody>
          <a:bodyPr vert="horz" lIns="91440" tIns="45720" rIns="91440" bIns="45720" rtlCol="0">
            <a:normAutofit/>
          </a:bodyPr>
          <a:lstStyle/>
          <a:p>
            <a:pPr defTabSz="457200">
              <a:spcBef>
                <a:spcPts val="1000"/>
              </a:spcBef>
            </a:pPr>
            <a:r>
              <a:rPr lang="en-US" dirty="0"/>
              <a:t>It iterate over a collection of elements asynchronously. </a:t>
            </a:r>
            <a:endParaRPr lang="en-US"/>
          </a:p>
          <a:p>
            <a:pPr defTabSz="457200">
              <a:spcBef>
                <a:spcPts val="1000"/>
              </a:spcBef>
            </a:pPr>
            <a:r>
              <a:rPr lang="en-US" dirty="0"/>
              <a:t>It uses the </a:t>
            </a:r>
            <a:r>
              <a:rPr lang="en-US"/>
              <a:t>MoveNextAsync</a:t>
            </a:r>
            <a:r>
              <a:rPr lang="en-US" dirty="0"/>
              <a:t> method</a:t>
            </a:r>
            <a:endParaRPr lang="en-US"/>
          </a:p>
          <a:p>
            <a:pPr defTabSz="457200">
              <a:spcBef>
                <a:spcPts val="1000"/>
              </a:spcBef>
            </a:pPr>
            <a:r>
              <a:rPr lang="en-US" dirty="0"/>
              <a:t>This means that you can use the await keyword to wait for the next element to be available, without blocking the current thread.</a:t>
            </a:r>
            <a:endParaRPr lang="en-US"/>
          </a:p>
          <a:p>
            <a:pPr defTabSz="457200">
              <a:spcBef>
                <a:spcPts val="1000"/>
              </a:spcBef>
            </a:pPr>
            <a:r>
              <a:rPr lang="en-US" dirty="0"/>
              <a:t>you can process the elements as they are produced</a:t>
            </a:r>
            <a:endParaRPr lang="en-US"/>
          </a:p>
        </p:txBody>
      </p:sp>
    </p:spTree>
    <p:extLst>
      <p:ext uri="{BB962C8B-B14F-4D97-AF65-F5344CB8AC3E}">
        <p14:creationId xmlns:p14="http://schemas.microsoft.com/office/powerpoint/2010/main" val="2841589634"/>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Rectangle 21">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6" name="Freeform: Shape 25">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85431315-5898-E86D-66ED-4CDC37851E9A}"/>
              </a:ext>
            </a:extLst>
          </p:cNvPr>
          <p:cNvSpPr>
            <a:spLocks noGrp="1"/>
          </p:cNvSpPr>
          <p:nvPr>
            <p:ph type="title" idx="4294967295"/>
          </p:nvPr>
        </p:nvSpPr>
        <p:spPr>
          <a:xfrm>
            <a:off x="827484" y="339538"/>
            <a:ext cx="6710641" cy="1050398"/>
          </a:xfrm>
        </p:spPr>
        <p:txBody>
          <a:bodyPr vert="horz" lIns="91440" tIns="45720" rIns="91440" bIns="45720" rtlCol="0" anchor="ctr">
            <a:normAutofit/>
          </a:bodyPr>
          <a:lstStyle/>
          <a:p>
            <a:pPr defTabSz="457200"/>
            <a:r>
              <a:rPr lang="en-US" sz="4200" b="0" i="0" kern="1200">
                <a:solidFill>
                  <a:srgbClr val="FFFFFF"/>
                </a:solidFill>
                <a:latin typeface="+mj-lt"/>
                <a:ea typeface="+mj-ea"/>
                <a:cs typeface="+mj-cs"/>
              </a:rPr>
              <a:t>Best Practice</a:t>
            </a:r>
          </a:p>
        </p:txBody>
      </p:sp>
      <p:sp>
        <p:nvSpPr>
          <p:cNvPr id="3" name="Content Placeholder 2">
            <a:extLst>
              <a:ext uri="{FF2B5EF4-FFF2-40B4-BE49-F238E27FC236}">
                <a16:creationId xmlns:a16="http://schemas.microsoft.com/office/drawing/2014/main" id="{45E0C42E-31C0-2CB6-B67B-5D018A4ABBF9}"/>
              </a:ext>
            </a:extLst>
          </p:cNvPr>
          <p:cNvSpPr>
            <a:spLocks noGrp="1"/>
          </p:cNvSpPr>
          <p:nvPr>
            <p:ph idx="4294967295"/>
          </p:nvPr>
        </p:nvSpPr>
        <p:spPr>
          <a:xfrm>
            <a:off x="827484" y="2072640"/>
            <a:ext cx="6709905" cy="2613659"/>
          </a:xfrm>
        </p:spPr>
        <p:txBody>
          <a:bodyPr vert="horz" lIns="91440" tIns="45720" rIns="91440" bIns="45720" rtlCol="0">
            <a:normAutofit/>
          </a:bodyPr>
          <a:lstStyle/>
          <a:p>
            <a:pPr defTabSz="457200">
              <a:spcBef>
                <a:spcPts val="1000"/>
              </a:spcBef>
            </a:pPr>
            <a:r>
              <a:rPr lang="en-US"/>
              <a:t>Avoid async void methods.</a:t>
            </a:r>
          </a:p>
          <a:p>
            <a:pPr defTabSz="457200">
              <a:spcBef>
                <a:spcPts val="1000"/>
              </a:spcBef>
            </a:pPr>
            <a:r>
              <a:rPr lang="en-US"/>
              <a:t>Async all the way</a:t>
            </a:r>
          </a:p>
          <a:p>
            <a:pPr defTabSz="457200">
              <a:spcBef>
                <a:spcPts val="1000"/>
              </a:spcBef>
            </a:pPr>
            <a:r>
              <a:rPr lang="en-US" dirty="0"/>
              <a:t>Async library methods should consider using </a:t>
            </a:r>
            <a:r>
              <a:rPr lang="en-US"/>
              <a:t>Task.ConfigureAwait</a:t>
            </a:r>
            <a:r>
              <a:rPr lang="en-US" dirty="0"/>
              <a:t>(false) to boost performance</a:t>
            </a:r>
            <a:endParaRPr lang="en-US"/>
          </a:p>
          <a:p>
            <a:pPr defTabSz="457200">
              <a:spcBef>
                <a:spcPts val="1000"/>
              </a:spcBef>
            </a:pPr>
            <a:r>
              <a:rPr lang="en-US" dirty="0"/>
              <a:t>Let the async flow. Use await not .Result to get the result of a task. </a:t>
            </a:r>
            <a:endParaRPr lang="en-US"/>
          </a:p>
          <a:p>
            <a:pPr lvl="1" defTabSz="457200">
              <a:spcBef>
                <a:spcPts val="1000"/>
              </a:spcBef>
            </a:pPr>
            <a:endParaRPr lang="en-US"/>
          </a:p>
          <a:p>
            <a:pPr marL="288000" lvl="1" indent="0" defTabSz="457200">
              <a:spcBef>
                <a:spcPts val="1000"/>
              </a:spcBef>
            </a:pPr>
            <a:endParaRPr lang="en-US"/>
          </a:p>
        </p:txBody>
      </p:sp>
    </p:spTree>
    <p:extLst>
      <p:ext uri="{BB962C8B-B14F-4D97-AF65-F5344CB8AC3E}">
        <p14:creationId xmlns:p14="http://schemas.microsoft.com/office/powerpoint/2010/main" val="1849477800"/>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1B28F63-CF00-448F-B141-FE33C33B18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002263"/>
            <a:ext cx="3027759" cy="3141237"/>
          </a:xfrm>
          <a:prstGeom prst="rect">
            <a:avLst/>
          </a:prstGeom>
        </p:spPr>
      </p:pic>
      <p:pic>
        <p:nvPicPr>
          <p:cNvPr id="10" name="Picture 9">
            <a:extLst>
              <a:ext uri="{FF2B5EF4-FFF2-40B4-BE49-F238E27FC236}">
                <a16:creationId xmlns:a16="http://schemas.microsoft.com/office/drawing/2014/main" id="{2AE609E2-8522-44E4-9077-980E5BCF3E1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169260"/>
            <a:ext cx="1141809" cy="1774090"/>
          </a:xfrm>
          <a:prstGeom prst="rect">
            <a:avLst/>
          </a:prstGeom>
        </p:spPr>
      </p:pic>
      <p:sp>
        <p:nvSpPr>
          <p:cNvPr id="12" name="Oval 11">
            <a:extLst>
              <a:ext uri="{FF2B5EF4-FFF2-40B4-BE49-F238E27FC236}">
                <a16:creationId xmlns:a16="http://schemas.microsoft.com/office/drawing/2014/main" id="{4FA533C5-33E3-4611-AF9F-72811D8B2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6759" y="1257300"/>
            <a:ext cx="2114550" cy="211455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4" name="Picture 13">
            <a:extLst>
              <a:ext uri="{FF2B5EF4-FFF2-40B4-BE49-F238E27FC236}">
                <a16:creationId xmlns:a16="http://schemas.microsoft.com/office/drawing/2014/main" id="{8949AD42-25FD-4C3D-9EEE-B7FEC580998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5999559" y="0"/>
            <a:ext cx="1202540" cy="856055"/>
          </a:xfrm>
          <a:prstGeom prst="rect">
            <a:avLst/>
          </a:prstGeom>
        </p:spPr>
      </p:pic>
      <p:pic>
        <p:nvPicPr>
          <p:cNvPr id="16" name="Picture 15">
            <a:extLst>
              <a:ext uri="{FF2B5EF4-FFF2-40B4-BE49-F238E27FC236}">
                <a16:creationId xmlns:a16="http://schemas.microsoft.com/office/drawing/2014/main" id="{6AC7D913-60B7-4603-881B-831DA5D3A9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6454408" y="4572000"/>
            <a:ext cx="745301" cy="571500"/>
          </a:xfrm>
          <a:prstGeom prst="rect">
            <a:avLst/>
          </a:prstGeom>
        </p:spPr>
      </p:pic>
      <p:sp>
        <p:nvSpPr>
          <p:cNvPr id="18" name="Rectangle 17">
            <a:extLst>
              <a:ext uri="{FF2B5EF4-FFF2-40B4-BE49-F238E27FC236}">
                <a16:creationId xmlns:a16="http://schemas.microsoft.com/office/drawing/2014/main" id="{87F0FDC4-AD8C-47D9-9131-623C98ADB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0" name="Rectangle 19">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2" name="Rectangle 21">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9954" y="1095172"/>
            <a:ext cx="2604045" cy="619449"/>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26" name="Freeform: Shape 25">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321550"/>
            <a:ext cx="9144313" cy="3821950"/>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8B199AA8-137F-0F9F-32B1-B4ADE584B360}"/>
              </a:ext>
            </a:extLst>
          </p:cNvPr>
          <p:cNvSpPr>
            <a:spLocks noGrp="1"/>
          </p:cNvSpPr>
          <p:nvPr>
            <p:ph type="title" idx="4294967295"/>
          </p:nvPr>
        </p:nvSpPr>
        <p:spPr>
          <a:xfrm>
            <a:off x="827484" y="339538"/>
            <a:ext cx="6710641" cy="1050398"/>
          </a:xfrm>
        </p:spPr>
        <p:txBody>
          <a:bodyPr vert="horz" lIns="91440" tIns="45720" rIns="91440" bIns="45720" rtlCol="0" anchor="ctr">
            <a:normAutofit/>
          </a:bodyPr>
          <a:lstStyle/>
          <a:p>
            <a:pPr defTabSz="457200"/>
            <a:r>
              <a:rPr lang="en-US" sz="4200" b="0" i="0" kern="1200">
                <a:solidFill>
                  <a:srgbClr val="FFFFFF"/>
                </a:solidFill>
                <a:latin typeface="+mj-lt"/>
                <a:ea typeface="+mj-ea"/>
                <a:cs typeface="+mj-cs"/>
              </a:rPr>
              <a:t>References</a:t>
            </a:r>
          </a:p>
        </p:txBody>
      </p:sp>
      <p:sp>
        <p:nvSpPr>
          <p:cNvPr id="3" name="Content Placeholder 2">
            <a:extLst>
              <a:ext uri="{FF2B5EF4-FFF2-40B4-BE49-F238E27FC236}">
                <a16:creationId xmlns:a16="http://schemas.microsoft.com/office/drawing/2014/main" id="{A68CBF7E-E46B-6956-3D5D-142DC6DD43BA}"/>
              </a:ext>
            </a:extLst>
          </p:cNvPr>
          <p:cNvSpPr>
            <a:spLocks noGrp="1"/>
          </p:cNvSpPr>
          <p:nvPr>
            <p:ph idx="4294967295"/>
          </p:nvPr>
        </p:nvSpPr>
        <p:spPr>
          <a:xfrm>
            <a:off x="827484" y="2072640"/>
            <a:ext cx="6709905" cy="2613659"/>
          </a:xfrm>
        </p:spPr>
        <p:txBody>
          <a:bodyPr vert="horz" lIns="91440" tIns="45720" rIns="91440" bIns="45720" rtlCol="0">
            <a:normAutofit/>
          </a:bodyPr>
          <a:lstStyle/>
          <a:p>
            <a:pPr defTabSz="457200">
              <a:spcBef>
                <a:spcPts val="1000"/>
              </a:spcBef>
            </a:pPr>
            <a:r>
              <a:rPr lang="en-US">
                <a:hlinkClick r:id="rId6"/>
              </a:rPr>
              <a:t>https://medium.com/@joni2nja/why-you-should-not-use-continuewith-in-your-async-code-c9eaf6087e64</a:t>
            </a:r>
            <a:endParaRPr lang="en-US"/>
          </a:p>
          <a:p>
            <a:pPr defTabSz="457200">
              <a:spcBef>
                <a:spcPts val="1000"/>
              </a:spcBef>
            </a:pPr>
            <a:r>
              <a:rPr lang="en-US">
                <a:hlinkClick r:id="rId7"/>
              </a:rPr>
              <a:t>https://learn.microsoft.com/en-us/dotnet/standard/parallel-programming/exception-handling-task-parallel-library</a:t>
            </a:r>
            <a:endParaRPr lang="en-US"/>
          </a:p>
          <a:p>
            <a:pPr defTabSz="457200">
              <a:spcBef>
                <a:spcPts val="1000"/>
              </a:spcBef>
            </a:pPr>
            <a:r>
              <a:rPr lang="en-US">
                <a:hlinkClick r:id="rId8"/>
              </a:rPr>
              <a:t>https://stackoverflow.com/questions/271440/captured-variable-in-a-loop-in-c-sharp</a:t>
            </a:r>
            <a:endParaRPr lang="en-US"/>
          </a:p>
          <a:p>
            <a:pPr defTabSz="457200">
              <a:spcBef>
                <a:spcPts val="1000"/>
              </a:spcBef>
            </a:pPr>
            <a:r>
              <a:rPr lang="en-US">
                <a:hlinkClick r:id="rId9"/>
              </a:rPr>
              <a:t>https://slides.com/tomdane/async-await-old/fullscreen#/28/0/4</a:t>
            </a:r>
            <a:endParaRPr lang="en-US"/>
          </a:p>
          <a:p>
            <a:pPr defTabSz="457200">
              <a:spcBef>
                <a:spcPts val="1000"/>
              </a:spcBef>
            </a:pPr>
            <a:r>
              <a:rPr lang="en-US">
                <a:hlinkClick r:id="rId10"/>
              </a:rPr>
              <a:t>https://github.com/dotnet/core/issues/7011</a:t>
            </a:r>
            <a:endParaRPr lang="en-US"/>
          </a:p>
          <a:p>
            <a:pPr defTabSz="457200">
              <a:spcBef>
                <a:spcPts val="1000"/>
              </a:spcBef>
            </a:pPr>
            <a:endParaRPr lang="en-US"/>
          </a:p>
          <a:p>
            <a:pPr defTabSz="457200">
              <a:spcBef>
                <a:spcPts val="1000"/>
              </a:spcBef>
            </a:pPr>
            <a:endParaRPr lang="en-US"/>
          </a:p>
        </p:txBody>
      </p:sp>
    </p:spTree>
    <p:extLst>
      <p:ext uri="{BB962C8B-B14F-4D97-AF65-F5344CB8AC3E}">
        <p14:creationId xmlns:p14="http://schemas.microsoft.com/office/powerpoint/2010/main" val="590748347"/>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AE98782B93974A83E9DD105275AB42" ma:contentTypeVersion="2" ma:contentTypeDescription="Create a new document." ma:contentTypeScope="" ma:versionID="cba63f58c9cb47ffb0ec8cc7a1f58e85">
  <xsd:schema xmlns:xsd="http://www.w3.org/2001/XMLSchema" xmlns:xs="http://www.w3.org/2001/XMLSchema" xmlns:p="http://schemas.microsoft.com/office/2006/metadata/properties" xmlns:ns2="cb680029-8183-4fed-a914-e8ca373922b2" targetNamespace="http://schemas.microsoft.com/office/2006/metadata/properties" ma:root="true" ma:fieldsID="260894df81d24ad45319f0a46b46b9fe" ns2:_="">
    <xsd:import namespace="cb680029-8183-4fed-a914-e8ca373922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680029-8183-4fed-a914-e8ca373922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D652232-4D4B-4D7E-9CFF-C5DE049D7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b680029-8183-4fed-a914-e8ca373922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C3A44F8-3541-4AC4-8232-8082FF18AF80}">
  <ds:schemaRefs>
    <ds:schemaRef ds:uri="http://schemas.microsoft.com/sharepoint/v3/contenttype/forms"/>
  </ds:schemaRefs>
</ds:datastoreItem>
</file>

<file path=customXml/itemProps3.xml><?xml version="1.0" encoding="utf-8"?>
<ds:datastoreItem xmlns:ds="http://schemas.openxmlformats.org/officeDocument/2006/customXml" ds:itemID="{9ADDEC43-37E1-4CDC-A72A-5D6C879BD0B6}">
  <ds:schemaRefs>
    <ds:schemaRef ds:uri="http://www.w3.org/XML/1998/namespace"/>
    <ds:schemaRef ds:uri="http://purl.org/dc/terms/"/>
    <ds:schemaRef ds:uri="cb680029-8183-4fed-a914-e8ca373922b2"/>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Ion</Template>
  <TotalTime>12</TotalTime>
  <Words>1073</Words>
  <Application>Microsoft Office PowerPoint</Application>
  <PresentationFormat>On-screen Show (16:9)</PresentationFormat>
  <Paragraphs>92</Paragraphs>
  <Slides>23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Calibri</vt:lpstr>
      <vt:lpstr>Century Gothic</vt:lpstr>
      <vt:lpstr>Decima</vt:lpstr>
      <vt:lpstr>Decima Lt</vt:lpstr>
      <vt:lpstr>Segoe UI</vt:lpstr>
      <vt:lpstr>Wingdings 3</vt:lpstr>
      <vt:lpstr>Ion</vt:lpstr>
      <vt:lpstr>PowerPoint Presentation</vt:lpstr>
      <vt:lpstr>Thread vs Task</vt:lpstr>
      <vt:lpstr>Asynchronous Defined</vt:lpstr>
      <vt:lpstr>PowerPoint Presentation</vt:lpstr>
      <vt:lpstr>Let's start with TASK</vt:lpstr>
      <vt:lpstr>Creating Task</vt:lpstr>
      <vt:lpstr>Execution model - a quick look</vt:lpstr>
      <vt:lpstr>Closure Variables</vt:lpstr>
      <vt:lpstr>Harvesting results</vt:lpstr>
      <vt:lpstr>Waiting on multiple task</vt:lpstr>
      <vt:lpstr>Are you using ContinueWith in your async code? If yes? Why?</vt:lpstr>
      <vt:lpstr>Exception Handling</vt:lpstr>
      <vt:lpstr>Example 1</vt:lpstr>
      <vt:lpstr>Let's start with ASYNC-AWAIT</vt:lpstr>
      <vt:lpstr>What is our goal?</vt:lpstr>
      <vt:lpstr>Sync (blocking)</vt:lpstr>
      <vt:lpstr>Async (non-blocking)</vt:lpstr>
      <vt:lpstr>I/O vs CPU</vt:lpstr>
      <vt:lpstr>Value Task</vt:lpstr>
      <vt:lpstr>Configure Await (true/false)</vt:lpstr>
      <vt:lpstr>IAsyncEnumerable&lt;T&gt;</vt:lpstr>
      <vt:lpstr>Best Practice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(IN CAPS – DO NOT MOVE BOX)</dc:title>
  <dc:creator/>
  <cp:lastModifiedBy>Anish Jain</cp:lastModifiedBy>
  <cp:revision>96</cp:revision>
  <dcterms:created xsi:type="dcterms:W3CDTF">2020-01-22T12:57:15Z</dcterms:created>
  <dcterms:modified xsi:type="dcterms:W3CDTF">2025-12-06T06:53:58Z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0x01010084AE98782B93974A83E9DD105275AB42</vt:lpwstr>
  </property>
</Properties>
</file>