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autoCompressPictures="0">
  <p:sldMasterIdLst>
    <p:sldMasterId id="2147483653" r:id="rId4"/>
  </p:sldMasterIdLst>
  <p:notesMasterIdLst>
    <p:notesMasterId r:id="rId37"/>
  </p:notesMasterIdLst>
  <p:sldIdLst>
    <p:sldId id="7882" r:id="rId5"/>
    <p:sldId id="8000" r:id="rId6"/>
    <p:sldId id="7952" r:id="rId7"/>
    <p:sldId id="8003" r:id="rId8"/>
    <p:sldId id="8026" r:id="rId9"/>
    <p:sldId id="8028" r:id="rId10"/>
    <p:sldId id="8027" r:id="rId11"/>
    <p:sldId id="8031" r:id="rId12"/>
    <p:sldId id="8032" r:id="rId13"/>
    <p:sldId id="8029" r:id="rId14"/>
    <p:sldId id="8030" r:id="rId15"/>
    <p:sldId id="8033" r:id="rId16"/>
    <p:sldId id="8034" r:id="rId17"/>
    <p:sldId id="8035" r:id="rId18"/>
    <p:sldId id="8036" r:id="rId19"/>
    <p:sldId id="8037" r:id="rId20"/>
    <p:sldId id="8038" r:id="rId21"/>
    <p:sldId id="8045" r:id="rId22"/>
    <p:sldId id="8049" r:id="rId23"/>
    <p:sldId id="8039" r:id="rId24"/>
    <p:sldId id="8046" r:id="rId25"/>
    <p:sldId id="8047" r:id="rId26"/>
    <p:sldId id="8048" r:id="rId27"/>
    <p:sldId id="8050" r:id="rId28"/>
    <p:sldId id="8051" r:id="rId29"/>
    <p:sldId id="8041" r:id="rId30"/>
    <p:sldId id="8042" r:id="rId31"/>
    <p:sldId id="8043" r:id="rId32"/>
    <p:sldId id="8044" r:id="rId33"/>
    <p:sldId id="8004" r:id="rId34"/>
    <p:sldId id="8001" r:id="rId35"/>
    <p:sldId id="7842" r:id="rId36"/>
  </p:sldIdLst>
  <p:sldSz cx="9144000" cy="5143500" type="screen16x9"/>
  <p:notesSz cx="6858000" cy="9144000"/>
  <p:embeddedFontLst>
    <p:embeddedFont>
      <p:font typeface="Archia" panose="02000503000000020004" pitchFamily="50" charset="0"/>
      <p:regular r:id="rId38"/>
    </p:embeddedFont>
    <p:embeddedFont>
      <p:font typeface="DM Sans" pitchFamily="2" charset="0"/>
      <p:regular r:id="rId39"/>
      <p:bold r:id="rId40"/>
      <p:italic r:id="rId41"/>
      <p:boldItalic r:id="rId42"/>
    </p:embeddedFont>
    <p:embeddedFont>
      <p:font typeface="Outfit Light" pitchFamily="2" charset="0"/>
      <p:regular r:id="rId43"/>
    </p:embeddedFont>
  </p:embeddedFontLst>
  <p:custDataLst>
    <p:tags r:id="rId44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9ADD4890-F5AC-40D4-A6AE-ADA05EE06A0C}">
          <p14:sldIdLst>
            <p14:sldId id="7882"/>
            <p14:sldId id="8000"/>
            <p14:sldId id="7952"/>
            <p14:sldId id="8003"/>
            <p14:sldId id="8026"/>
            <p14:sldId id="8028"/>
            <p14:sldId id="8027"/>
            <p14:sldId id="8031"/>
            <p14:sldId id="8032"/>
            <p14:sldId id="8029"/>
            <p14:sldId id="8030"/>
            <p14:sldId id="8033"/>
            <p14:sldId id="8034"/>
            <p14:sldId id="8035"/>
            <p14:sldId id="8036"/>
            <p14:sldId id="8037"/>
            <p14:sldId id="8038"/>
            <p14:sldId id="8045"/>
            <p14:sldId id="8049"/>
            <p14:sldId id="8039"/>
            <p14:sldId id="8046"/>
            <p14:sldId id="8047"/>
            <p14:sldId id="8048"/>
            <p14:sldId id="8050"/>
            <p14:sldId id="8051"/>
            <p14:sldId id="8041"/>
            <p14:sldId id="8042"/>
            <p14:sldId id="8043"/>
            <p14:sldId id="8044"/>
            <p14:sldId id="8004"/>
            <p14:sldId id="8001"/>
            <p14:sldId id="78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C90111A-8B88-BB2D-0002-3D2E1A171ED5}" name="Ian Kirkwood" initials="IK" userId="S::Ian.Kirkwood@microlise.com::66b137b6-3709-410b-bb13-94511600efc6" providerId="AD"/>
  <p188:author id="{9DEC5F9F-E859-708C-8023-AAB773053077}" name="Stephane Catelain" initials="SC" userId="S::stephane.catelain@microlise.com::0cba0495-4637-4790-a0a8-9c01f6b912dc" providerId="AD"/>
  <p188:author id="{B2AF64C1-FE8D-8128-B9CD-A91CC5EAEA0A}" name="Charlotte Porter" initials="CP" userId="S::charlotte.porter@microlise.com::ef3b827e-ed93-440f-897b-69c964c52c1a" providerId="AD"/>
  <p188:author id="{5324FDD4-44EB-BECB-786A-993DBACAF15D}" name="Stephen Watson" initials="SW" userId="S::stephen.watson@microlise.com::fa9c6ee7-2c13-4e97-b624-908b4d67296f" providerId="AD"/>
  <p188:author id="{5892B7DC-F644-A09D-E113-B3DE8013DB41}" name="Akshat Dimri" initials="AD" userId="S::akshat.dimri@microlise.com::3412880c-09b6-499d-b329-b4e1df0081c6" providerId="AD"/>
  <p188:author id="{CC210FEA-02E1-42B7-7710-CE9FE45D99E0}" name="Stephen Watson" initials="SW" userId="S::stephen.watson@Microlise.com::fa9c6ee7-2c13-4e97-b624-908b4d67296f" providerId="AD"/>
  <p188:author id="{E9030BEB-20CB-7118-317B-199084D624C3}" name="Andy Avery" initials="AA" userId="S::andy.avery@microlise.com::320ea48f-37aa-4a88-8805-33f0ee22448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291F"/>
    <a:srgbClr val="FFFFFF"/>
    <a:srgbClr val="34543F"/>
    <a:srgbClr val="152644"/>
    <a:srgbClr val="240CB4"/>
    <a:srgbClr val="01CBDE"/>
    <a:srgbClr val="BABCB9"/>
    <a:srgbClr val="152544"/>
    <a:srgbClr val="15243C"/>
    <a:srgbClr val="151D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E9639D4-E3E2-4D34-9284-5A2195B3D0D7}">
  <a:tblStyle styleId="{6CA9371B-4015-41C4-A221-EC01A6F80B7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464" autoAdjust="0"/>
  </p:normalViewPr>
  <p:slideViewPr>
    <p:cSldViewPr snapToGrid="0">
      <p:cViewPr varScale="1">
        <p:scale>
          <a:sx n="102" d="100"/>
          <a:sy n="102" d="100"/>
        </p:scale>
        <p:origin x="89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2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5.fntdata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6.fntdata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1.fntdata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02298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Basic Principles of Microservices</a:t>
            </a:r>
          </a:p>
          <a:p>
            <a:endParaRPr lang="en-US" dirty="0"/>
          </a:p>
          <a:p>
            <a:r>
              <a:rPr lang="en-US" dirty="0"/>
              <a:t>1. Single Responsibility Principle</a:t>
            </a:r>
          </a:p>
          <a:p>
            <a:r>
              <a:rPr lang="en-US" dirty="0"/>
              <a:t>   - Each microservice should have a single responsibility, focusing on a specific business capability. This principle ensures that each service is simple, focused, and easier to manage.</a:t>
            </a:r>
          </a:p>
          <a:p>
            <a:endParaRPr lang="en-US" dirty="0"/>
          </a:p>
          <a:p>
            <a:r>
              <a:rPr lang="en-US" dirty="0"/>
              <a:t>2. Independence and Autonomy</a:t>
            </a:r>
          </a:p>
          <a:p>
            <a:r>
              <a:rPr lang="en-US" dirty="0"/>
              <a:t>   - Microservices are independently deployable and scalable. Each service can be developed, tested, deployed, and scaled without affecting other services.</a:t>
            </a:r>
          </a:p>
          <a:p>
            <a:endParaRPr lang="en-US" dirty="0"/>
          </a:p>
          <a:p>
            <a:r>
              <a:rPr lang="en-US" dirty="0"/>
              <a:t>3. Decentralized Data Management</a:t>
            </a:r>
          </a:p>
          <a:p>
            <a:r>
              <a:rPr lang="en-US" dirty="0"/>
              <a:t>   - Each microservice manages its own database or data storage. This decentralization allows services to be more resilient and reduces the risk of a single point of failure.</a:t>
            </a:r>
          </a:p>
          <a:p>
            <a:endParaRPr lang="en-US" dirty="0"/>
          </a:p>
          <a:p>
            <a:r>
              <a:rPr lang="en-US" dirty="0"/>
              <a:t>4. Inter-Service Communication</a:t>
            </a:r>
          </a:p>
          <a:p>
            <a:r>
              <a:rPr lang="en-US" dirty="0"/>
              <a:t>   - Microservices communicate with each other through well-defined APIs, often using lightweight protocols like HTTP/REST or messaging protocols. This ensures loose coupling between services.</a:t>
            </a:r>
          </a:p>
          <a:p>
            <a:endParaRPr lang="en-US" dirty="0"/>
          </a:p>
          <a:p>
            <a:r>
              <a:rPr lang="en-US" dirty="0"/>
              <a:t>5. Polyglot Programming</a:t>
            </a:r>
          </a:p>
          <a:p>
            <a:r>
              <a:rPr lang="en-US" dirty="0"/>
              <a:t>   - Microservices architecture supports the use of different programming languages and technologies for different services, allowing teams to choose the best tools for the job.</a:t>
            </a:r>
          </a:p>
          <a:p>
            <a:endParaRPr lang="en-US" dirty="0"/>
          </a:p>
          <a:p>
            <a:r>
              <a:rPr lang="en-US" dirty="0"/>
              <a:t>6. Continuous Delivery and DevOps</a:t>
            </a:r>
          </a:p>
          <a:p>
            <a:r>
              <a:rPr lang="en-US" dirty="0"/>
              <a:t>   - Microservices enable continuous integration and continuous delivery (CI/CD) practices, allowing for rapid and reliable deployment of changes.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635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Independent Development and Deployment</a:t>
            </a:r>
          </a:p>
          <a:p>
            <a:r>
              <a:rPr lang="en-US" dirty="0"/>
              <a:t>   - Each microservice is developed, tested, and deployed independently. This means that teams can work on different services simultaneously without waiting for other parts of the application to be ready.</a:t>
            </a:r>
          </a:p>
          <a:p>
            <a:r>
              <a:rPr lang="en-US" dirty="0"/>
              <a:t>   - New features or updates can be deployed quickly without affecting the entire application.</a:t>
            </a:r>
          </a:p>
          <a:p>
            <a:endParaRPr lang="en-US" dirty="0"/>
          </a:p>
          <a:p>
            <a:r>
              <a:rPr lang="en-US" dirty="0"/>
              <a:t>2. Continuous Integration and Continuous Delivery (CI/CD)</a:t>
            </a:r>
          </a:p>
          <a:p>
            <a:r>
              <a:rPr lang="en-US" dirty="0"/>
              <a:t>   - Microservices align perfectly with CI/CD practices, allowing for automated testing and deployment. This ensures that changes are deployed rapidly and reliably.</a:t>
            </a:r>
          </a:p>
          <a:p>
            <a:r>
              <a:rPr lang="en-US" dirty="0"/>
              <a:t>   - Frequent and smaller releases reduce the risk of deployment failures and make it easier to roll back changes if needed.</a:t>
            </a:r>
          </a:p>
          <a:p>
            <a:endParaRPr lang="en-US" dirty="0"/>
          </a:p>
          <a:p>
            <a:r>
              <a:rPr lang="en-US" dirty="0"/>
              <a:t>3. Scalability and Flexibility</a:t>
            </a:r>
          </a:p>
          <a:p>
            <a:r>
              <a:rPr lang="en-US" dirty="0"/>
              <a:t>   - Individual services can be scaled independently based on demand. This flexibility allows for efficient resource utilization and faster response to changing market needs.</a:t>
            </a:r>
          </a:p>
          <a:p>
            <a:r>
              <a:rPr lang="en-US" dirty="0"/>
              <a:t>   - Teams can choose the best technologies and tools for each service, fostering innovation and efficiency.</a:t>
            </a:r>
          </a:p>
          <a:p>
            <a:endParaRPr lang="en-US" dirty="0"/>
          </a:p>
          <a:p>
            <a:r>
              <a:rPr lang="en-US" dirty="0"/>
              <a:t>4. Reduced Time to Market</a:t>
            </a:r>
          </a:p>
          <a:p>
            <a:r>
              <a:rPr lang="en-US" dirty="0"/>
              <a:t>   - The ability to deploy updates and new features quickly gives businesses a competitive edge by reducing the time to market.</a:t>
            </a:r>
          </a:p>
          <a:p>
            <a:r>
              <a:rPr lang="en-US" dirty="0"/>
              <a:t>   - Faster deployment cycles enable organizations to respond swiftly to customer feedback and market changes.</a:t>
            </a:r>
          </a:p>
          <a:p>
            <a:endParaRPr lang="en-US" dirty="0"/>
          </a:p>
          <a:p>
            <a:r>
              <a:rPr lang="en-US" dirty="0"/>
              <a:t>5. Fault Isolation</a:t>
            </a:r>
          </a:p>
          <a:p>
            <a:r>
              <a:rPr lang="en-US" dirty="0"/>
              <a:t>   - Since microservices are independent, a failure in one service does not affect the entire application. This isolation enhances the overall resilience and stability of the system.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26723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865640B-18BE-F499-9E93-F03ED27A84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124BE9-2446-D088-B919-8590FE1B92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077" y="184417"/>
            <a:ext cx="6858000" cy="1790700"/>
          </a:xfrm>
        </p:spPr>
        <p:txBody>
          <a:bodyPr anchor="b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058D79-E36A-CAB8-74D1-C7AD4448A3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5077" y="2224261"/>
            <a:ext cx="6858000" cy="124142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3CDAB6F-9CDA-C09A-F754-FDAC6DF5F9F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5077" y="4556021"/>
            <a:ext cx="1828800" cy="231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427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Imag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24BE9-2446-D088-B919-8590FE1B92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077" y="184417"/>
            <a:ext cx="6858000" cy="1790700"/>
          </a:xfrm>
        </p:spPr>
        <p:txBody>
          <a:bodyPr anchor="b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058D79-E36A-CAB8-74D1-C7AD4448A3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5077" y="2224261"/>
            <a:ext cx="2753134" cy="124142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3CDAB6F-9CDA-C09A-F754-FDAC6DF5F9F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5077" y="4556021"/>
            <a:ext cx="1828800" cy="231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01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24BE9-2446-D088-B919-8590FE1B92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077" y="184417"/>
            <a:ext cx="6170102" cy="1790700"/>
          </a:xfrm>
        </p:spPr>
        <p:txBody>
          <a:bodyPr anchor="b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058D79-E36A-CAB8-74D1-C7AD4448A3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5077" y="2224262"/>
            <a:ext cx="5358830" cy="422686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77308BC-16A6-FE0F-1C94-589D59CB9D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5077" y="4556021"/>
            <a:ext cx="1828800" cy="231647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05CE355-F97C-EEBD-8CA6-D3AFCDD669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73620" y="1092657"/>
            <a:ext cx="4970380" cy="3695011"/>
          </a:xfrm>
          <a:custGeom>
            <a:avLst/>
            <a:gdLst>
              <a:gd name="connsiteX0" fmla="*/ 2214828 w 4970380"/>
              <a:gd name="connsiteY0" fmla="*/ 0 h 3695011"/>
              <a:gd name="connsiteX1" fmla="*/ 3322219 w 4970380"/>
              <a:gd name="connsiteY1" fmla="*/ 0 h 3695011"/>
              <a:gd name="connsiteX2" fmla="*/ 3690426 w 4970380"/>
              <a:gd name="connsiteY2" fmla="*/ 369936 h 3695011"/>
              <a:gd name="connsiteX3" fmla="*/ 3690426 w 4970380"/>
              <a:gd name="connsiteY3" fmla="*/ 1478494 h 3695011"/>
              <a:gd name="connsiteX4" fmla="*/ 4061726 w 4970380"/>
              <a:gd name="connsiteY4" fmla="*/ 1847829 h 3695011"/>
              <a:gd name="connsiteX5" fmla="*/ 4061726 w 4970380"/>
              <a:gd name="connsiteY5" fmla="*/ 1847922 h 3695011"/>
              <a:gd name="connsiteX6" fmla="*/ 4970380 w 4970380"/>
              <a:gd name="connsiteY6" fmla="*/ 1847922 h 3695011"/>
              <a:gd name="connsiteX7" fmla="*/ 4970380 w 4970380"/>
              <a:gd name="connsiteY7" fmla="*/ 3695011 h 3695011"/>
              <a:gd name="connsiteX8" fmla="*/ 4059372 w 4970380"/>
              <a:gd name="connsiteY8" fmla="*/ 3695011 h 3695011"/>
              <a:gd name="connsiteX9" fmla="*/ 3690380 w 4970380"/>
              <a:gd name="connsiteY9" fmla="*/ 3326139 h 3695011"/>
              <a:gd name="connsiteX10" fmla="*/ 3690380 w 4970380"/>
              <a:gd name="connsiteY10" fmla="*/ 2218319 h 3695011"/>
              <a:gd name="connsiteX11" fmla="*/ 3320326 w 4970380"/>
              <a:gd name="connsiteY11" fmla="*/ 1847922 h 3695011"/>
              <a:gd name="connsiteX12" fmla="*/ 2214782 w 4970380"/>
              <a:gd name="connsiteY12" fmla="*/ 1847922 h 3695011"/>
              <a:gd name="connsiteX13" fmla="*/ 1845513 w 4970380"/>
              <a:gd name="connsiteY13" fmla="*/ 2218319 h 3695011"/>
              <a:gd name="connsiteX14" fmla="*/ 1845513 w 4970380"/>
              <a:gd name="connsiteY14" fmla="*/ 3326139 h 3695011"/>
              <a:gd name="connsiteX15" fmla="*/ 1476845 w 4970380"/>
              <a:gd name="connsiteY15" fmla="*/ 3695011 h 3695011"/>
              <a:gd name="connsiteX16" fmla="*/ 369269 w 4970380"/>
              <a:gd name="connsiteY16" fmla="*/ 3695011 h 3695011"/>
              <a:gd name="connsiteX17" fmla="*/ 0 w 4970380"/>
              <a:gd name="connsiteY17" fmla="*/ 3326139 h 3695011"/>
              <a:gd name="connsiteX18" fmla="*/ 0 w 4970380"/>
              <a:gd name="connsiteY18" fmla="*/ 2217210 h 3695011"/>
              <a:gd name="connsiteX19" fmla="*/ 369269 w 4970380"/>
              <a:gd name="connsiteY19" fmla="*/ 1847875 h 3695011"/>
              <a:gd name="connsiteX20" fmla="*/ 1476891 w 4970380"/>
              <a:gd name="connsiteY20" fmla="*/ 1847875 h 3695011"/>
              <a:gd name="connsiteX21" fmla="*/ 1845559 w 4970380"/>
              <a:gd name="connsiteY21" fmla="*/ 1476831 h 3695011"/>
              <a:gd name="connsiteX22" fmla="*/ 1845559 w 4970380"/>
              <a:gd name="connsiteY22" fmla="*/ 369936 h 3695011"/>
              <a:gd name="connsiteX23" fmla="*/ 2214828 w 4970380"/>
              <a:gd name="connsiteY23" fmla="*/ 0 h 3695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970380" h="3695011">
                <a:moveTo>
                  <a:pt x="2214828" y="0"/>
                </a:moveTo>
                <a:lnTo>
                  <a:pt x="3322219" y="0"/>
                </a:lnTo>
                <a:cubicBezTo>
                  <a:pt x="3525296" y="0"/>
                  <a:pt x="3690426" y="165607"/>
                  <a:pt x="3690426" y="369936"/>
                </a:cubicBezTo>
                <a:lnTo>
                  <a:pt x="3690426" y="1478494"/>
                </a:lnTo>
                <a:cubicBezTo>
                  <a:pt x="3691673" y="1682084"/>
                  <a:pt x="3857587" y="1847044"/>
                  <a:pt x="4061726" y="1847829"/>
                </a:cubicBezTo>
                <a:lnTo>
                  <a:pt x="4061726" y="1847922"/>
                </a:lnTo>
                <a:lnTo>
                  <a:pt x="4970380" y="1847922"/>
                </a:lnTo>
                <a:lnTo>
                  <a:pt x="4970380" y="3695011"/>
                </a:lnTo>
                <a:lnTo>
                  <a:pt x="4059372" y="3695011"/>
                </a:lnTo>
                <a:cubicBezTo>
                  <a:pt x="3855972" y="3695011"/>
                  <a:pt x="3690380" y="3529728"/>
                  <a:pt x="3690380" y="3326139"/>
                </a:cubicBezTo>
                <a:lnTo>
                  <a:pt x="3690380" y="2218319"/>
                </a:lnTo>
                <a:cubicBezTo>
                  <a:pt x="3690380" y="2014591"/>
                  <a:pt x="3525250" y="1848846"/>
                  <a:pt x="3320326" y="1847922"/>
                </a:cubicBezTo>
                <a:lnTo>
                  <a:pt x="2214782" y="1847922"/>
                </a:lnTo>
                <a:cubicBezTo>
                  <a:pt x="2011105" y="1848846"/>
                  <a:pt x="1846160" y="2013529"/>
                  <a:pt x="1845513" y="2218319"/>
                </a:cubicBezTo>
                <a:lnTo>
                  <a:pt x="1845513" y="3326139"/>
                </a:lnTo>
                <a:cubicBezTo>
                  <a:pt x="1845513" y="3529728"/>
                  <a:pt x="1679598" y="3695011"/>
                  <a:pt x="1476845" y="3695011"/>
                </a:cubicBezTo>
                <a:lnTo>
                  <a:pt x="369269" y="3695011"/>
                </a:lnTo>
                <a:cubicBezTo>
                  <a:pt x="164853" y="3695011"/>
                  <a:pt x="0" y="3529728"/>
                  <a:pt x="0" y="3326139"/>
                </a:cubicBezTo>
                <a:lnTo>
                  <a:pt x="0" y="2217210"/>
                </a:lnTo>
                <a:cubicBezTo>
                  <a:pt x="0" y="2013159"/>
                  <a:pt x="164807" y="1847875"/>
                  <a:pt x="369269" y="1847875"/>
                </a:cubicBezTo>
                <a:lnTo>
                  <a:pt x="1476891" y="1847875"/>
                </a:lnTo>
                <a:cubicBezTo>
                  <a:pt x="1680568" y="1847090"/>
                  <a:pt x="1845559" y="1681160"/>
                  <a:pt x="1845559" y="1476831"/>
                </a:cubicBezTo>
                <a:lnTo>
                  <a:pt x="1845559" y="369936"/>
                </a:lnTo>
                <a:cubicBezTo>
                  <a:pt x="1845559" y="165607"/>
                  <a:pt x="2010366" y="0"/>
                  <a:pt x="2214828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8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63EFA-230D-E8F1-31A7-FE9822746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CA045-11A1-2078-48EE-302321EC4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077" y="1370013"/>
            <a:ext cx="7886700" cy="3262312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BAF11-A0F3-E01E-9FD6-9C5FE01A0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0025-1574-D642-8EE0-174E1486F67F}" type="datetime1">
              <a:rPr lang="en-GB" smtClean="0"/>
              <a:t>06/12/2025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A3362-E753-F0A8-B0DD-F89F247DB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D38E-35A1-2247-B55D-C6626AF9BA0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87F0B3-F48E-9221-7329-DFD95F5095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6113" y="4564987"/>
            <a:ext cx="549756" cy="231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456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Strik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63EFA-230D-E8F1-31A7-FE9822746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CA045-11A1-2078-48EE-302321EC4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BAF11-A0F3-E01E-9FD6-9C5FE01A0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64ED63-6F5C-5942-83E2-082A9F04AE53}" type="datetime1">
              <a:rPr lang="en-GB" smtClean="0"/>
              <a:t>06/12/2025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A3362-E753-F0A8-B0DD-F89F247DB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CD38E-35A1-2247-B55D-C6626AF9BA0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AFCFC0-61CB-5669-F6FB-6544D710AC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9794" y="4556120"/>
            <a:ext cx="546075" cy="231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424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Dark">
    <p:bg>
      <p:bgPr>
        <a:gradFill>
          <a:gsLst>
            <a:gs pos="53000">
              <a:schemeClr val="tx1"/>
            </a:gs>
            <a:gs pos="0">
              <a:srgbClr val="1D4582"/>
            </a:gs>
            <a:gs pos="100000">
              <a:schemeClr val="tx1"/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63EFA-230D-E8F1-31A7-FE9822746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CA045-11A1-2078-48EE-302321EC4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BAF11-A0F3-E01E-9FD6-9C5FE01A0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79D6F75-6C30-D546-9F6A-480A3E7FC071}" type="datetime1">
              <a:rPr lang="en-GB" smtClean="0"/>
              <a:t>06/12/2025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A3362-E753-F0A8-B0DD-F89F247DB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CD38E-35A1-2247-B55D-C6626AF9BA0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8E8B6D-C22D-8AD4-E922-BB2D78DAD5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6113" y="4564987"/>
            <a:ext cx="549756" cy="231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069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Cloud Cor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63EFA-230D-E8F1-31A7-FE9822746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CA045-11A1-2078-48EE-302321EC4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077" y="1370013"/>
            <a:ext cx="4533099" cy="3262312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A3362-E753-F0A8-B0DD-F89F247DB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D38E-35A1-2247-B55D-C6626AF9BA0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87F0B3-F48E-9221-7329-DFD95F5095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6113" y="4564987"/>
            <a:ext cx="549756" cy="231648"/>
          </a:xfrm>
          <a:prstGeom prst="rect">
            <a:avLst/>
          </a:prstGeom>
        </p:spPr>
      </p:pic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A84BA-CF94-9DAF-E4F8-052633D7CD5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45901" y="1351026"/>
            <a:ext cx="3898099" cy="3792474"/>
          </a:xfrm>
          <a:custGeom>
            <a:avLst/>
            <a:gdLst>
              <a:gd name="connsiteX0" fmla="*/ 3898050 w 3898099"/>
              <a:gd name="connsiteY0" fmla="*/ 3792424 h 3792474"/>
              <a:gd name="connsiteX1" fmla="*/ 3898099 w 3898099"/>
              <a:gd name="connsiteY1" fmla="*/ 3792424 h 3792474"/>
              <a:gd name="connsiteX2" fmla="*/ 3898050 w 3898099"/>
              <a:gd name="connsiteY2" fmla="*/ 3792474 h 3792474"/>
              <a:gd name="connsiteX3" fmla="*/ 531417 w 3898099"/>
              <a:gd name="connsiteY3" fmla="*/ 0 h 3792474"/>
              <a:gd name="connsiteX4" fmla="*/ 2125123 w 3898099"/>
              <a:gd name="connsiteY4" fmla="*/ 0 h 3792474"/>
              <a:gd name="connsiteX5" fmla="*/ 2655648 w 3898099"/>
              <a:gd name="connsiteY5" fmla="*/ 530048 h 3792474"/>
              <a:gd name="connsiteX6" fmla="*/ 2655648 w 3898099"/>
              <a:gd name="connsiteY6" fmla="*/ 2121974 h 3792474"/>
              <a:gd name="connsiteX7" fmla="*/ 3187065 w 3898099"/>
              <a:gd name="connsiteY7" fmla="*/ 2654251 h 3792474"/>
              <a:gd name="connsiteX8" fmla="*/ 3898050 w 3898099"/>
              <a:gd name="connsiteY8" fmla="*/ 2654251 h 3792474"/>
              <a:gd name="connsiteX9" fmla="*/ 3898050 w 3898099"/>
              <a:gd name="connsiteY9" fmla="*/ 3792424 h 3792474"/>
              <a:gd name="connsiteX10" fmla="*/ 2655697 w 3898099"/>
              <a:gd name="connsiteY10" fmla="*/ 3792424 h 3792474"/>
              <a:gd name="connsiteX11" fmla="*/ 2655697 w 3898099"/>
              <a:gd name="connsiteY11" fmla="*/ 3187420 h 3792474"/>
              <a:gd name="connsiteX12" fmla="*/ 2125173 w 3898099"/>
              <a:gd name="connsiteY12" fmla="*/ 2654251 h 3792474"/>
              <a:gd name="connsiteX13" fmla="*/ 531417 w 3898099"/>
              <a:gd name="connsiteY13" fmla="*/ 2654251 h 3792474"/>
              <a:gd name="connsiteX14" fmla="*/ 0 w 3898099"/>
              <a:gd name="connsiteY14" fmla="*/ 2123559 h 3792474"/>
              <a:gd name="connsiteX15" fmla="*/ 0 w 3898099"/>
              <a:gd name="connsiteY15" fmla="*/ 530048 h 3792474"/>
              <a:gd name="connsiteX16" fmla="*/ 531417 w 3898099"/>
              <a:gd name="connsiteY16" fmla="*/ 0 h 3792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898099" h="3792474">
                <a:moveTo>
                  <a:pt x="3898050" y="3792424"/>
                </a:moveTo>
                <a:lnTo>
                  <a:pt x="3898099" y="3792424"/>
                </a:lnTo>
                <a:lnTo>
                  <a:pt x="3898050" y="3792474"/>
                </a:lnTo>
                <a:close/>
                <a:moveTo>
                  <a:pt x="531417" y="0"/>
                </a:moveTo>
                <a:lnTo>
                  <a:pt x="2125123" y="0"/>
                </a:lnTo>
                <a:cubicBezTo>
                  <a:pt x="2416902" y="0"/>
                  <a:pt x="2655648" y="237503"/>
                  <a:pt x="2655648" y="530048"/>
                </a:cubicBezTo>
                <a:lnTo>
                  <a:pt x="2655648" y="2121974"/>
                </a:lnTo>
                <a:cubicBezTo>
                  <a:pt x="2656590" y="2416302"/>
                  <a:pt x="2893948" y="2652914"/>
                  <a:pt x="3187065" y="2654251"/>
                </a:cubicBezTo>
                <a:lnTo>
                  <a:pt x="3898050" y="2654251"/>
                </a:lnTo>
                <a:lnTo>
                  <a:pt x="3898050" y="3792424"/>
                </a:lnTo>
                <a:lnTo>
                  <a:pt x="2655697" y="3792424"/>
                </a:lnTo>
                <a:lnTo>
                  <a:pt x="2655697" y="3187420"/>
                </a:lnTo>
                <a:cubicBezTo>
                  <a:pt x="2655697" y="2893786"/>
                  <a:pt x="2418290" y="2655391"/>
                  <a:pt x="2125173" y="2654251"/>
                </a:cubicBezTo>
                <a:lnTo>
                  <a:pt x="531417" y="2654251"/>
                </a:lnTo>
                <a:cubicBezTo>
                  <a:pt x="237210" y="2654251"/>
                  <a:pt x="0" y="2416748"/>
                  <a:pt x="0" y="2123559"/>
                </a:cubicBezTo>
                <a:lnTo>
                  <a:pt x="0" y="530048"/>
                </a:lnTo>
                <a:cubicBezTo>
                  <a:pt x="0" y="237503"/>
                  <a:pt x="237210" y="0"/>
                  <a:pt x="531417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959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Cloud Corner Strik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63EFA-230D-E8F1-31A7-FE9822746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CA045-11A1-2078-48EE-302321EC4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077" y="1370013"/>
            <a:ext cx="4533099" cy="3262312"/>
          </a:xfrm>
        </p:spPr>
        <p:txBody>
          <a:bodyPr/>
          <a:lstStyle>
            <a:lvl1pPr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A3362-E753-F0A8-B0DD-F89F247DB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D38E-35A1-2247-B55D-C6626AF9BA0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A84BA-CF94-9DAF-E4F8-052633D7CD5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45901" y="1351026"/>
            <a:ext cx="3898099" cy="3792474"/>
          </a:xfrm>
          <a:custGeom>
            <a:avLst/>
            <a:gdLst>
              <a:gd name="connsiteX0" fmla="*/ 3898050 w 3898099"/>
              <a:gd name="connsiteY0" fmla="*/ 3792424 h 3792474"/>
              <a:gd name="connsiteX1" fmla="*/ 3898099 w 3898099"/>
              <a:gd name="connsiteY1" fmla="*/ 3792424 h 3792474"/>
              <a:gd name="connsiteX2" fmla="*/ 3898050 w 3898099"/>
              <a:gd name="connsiteY2" fmla="*/ 3792474 h 3792474"/>
              <a:gd name="connsiteX3" fmla="*/ 531417 w 3898099"/>
              <a:gd name="connsiteY3" fmla="*/ 0 h 3792474"/>
              <a:gd name="connsiteX4" fmla="*/ 2125123 w 3898099"/>
              <a:gd name="connsiteY4" fmla="*/ 0 h 3792474"/>
              <a:gd name="connsiteX5" fmla="*/ 2655648 w 3898099"/>
              <a:gd name="connsiteY5" fmla="*/ 530048 h 3792474"/>
              <a:gd name="connsiteX6" fmla="*/ 2655648 w 3898099"/>
              <a:gd name="connsiteY6" fmla="*/ 2121974 h 3792474"/>
              <a:gd name="connsiteX7" fmla="*/ 3187065 w 3898099"/>
              <a:gd name="connsiteY7" fmla="*/ 2654251 h 3792474"/>
              <a:gd name="connsiteX8" fmla="*/ 3898050 w 3898099"/>
              <a:gd name="connsiteY8" fmla="*/ 2654251 h 3792474"/>
              <a:gd name="connsiteX9" fmla="*/ 3898050 w 3898099"/>
              <a:gd name="connsiteY9" fmla="*/ 3792424 h 3792474"/>
              <a:gd name="connsiteX10" fmla="*/ 2655697 w 3898099"/>
              <a:gd name="connsiteY10" fmla="*/ 3792424 h 3792474"/>
              <a:gd name="connsiteX11" fmla="*/ 2655697 w 3898099"/>
              <a:gd name="connsiteY11" fmla="*/ 3187420 h 3792474"/>
              <a:gd name="connsiteX12" fmla="*/ 2125173 w 3898099"/>
              <a:gd name="connsiteY12" fmla="*/ 2654251 h 3792474"/>
              <a:gd name="connsiteX13" fmla="*/ 531417 w 3898099"/>
              <a:gd name="connsiteY13" fmla="*/ 2654251 h 3792474"/>
              <a:gd name="connsiteX14" fmla="*/ 0 w 3898099"/>
              <a:gd name="connsiteY14" fmla="*/ 2123559 h 3792474"/>
              <a:gd name="connsiteX15" fmla="*/ 0 w 3898099"/>
              <a:gd name="connsiteY15" fmla="*/ 530048 h 3792474"/>
              <a:gd name="connsiteX16" fmla="*/ 531417 w 3898099"/>
              <a:gd name="connsiteY16" fmla="*/ 0 h 3792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898099" h="3792474">
                <a:moveTo>
                  <a:pt x="3898050" y="3792424"/>
                </a:moveTo>
                <a:lnTo>
                  <a:pt x="3898099" y="3792424"/>
                </a:lnTo>
                <a:lnTo>
                  <a:pt x="3898050" y="3792474"/>
                </a:lnTo>
                <a:close/>
                <a:moveTo>
                  <a:pt x="531417" y="0"/>
                </a:moveTo>
                <a:lnTo>
                  <a:pt x="2125123" y="0"/>
                </a:lnTo>
                <a:cubicBezTo>
                  <a:pt x="2416902" y="0"/>
                  <a:pt x="2655648" y="237503"/>
                  <a:pt x="2655648" y="530048"/>
                </a:cubicBezTo>
                <a:lnTo>
                  <a:pt x="2655648" y="2121974"/>
                </a:lnTo>
                <a:cubicBezTo>
                  <a:pt x="2656590" y="2416302"/>
                  <a:pt x="2893948" y="2652914"/>
                  <a:pt x="3187065" y="2654251"/>
                </a:cubicBezTo>
                <a:lnTo>
                  <a:pt x="3898050" y="2654251"/>
                </a:lnTo>
                <a:lnTo>
                  <a:pt x="3898050" y="3792424"/>
                </a:lnTo>
                <a:lnTo>
                  <a:pt x="2655697" y="3792424"/>
                </a:lnTo>
                <a:lnTo>
                  <a:pt x="2655697" y="3187420"/>
                </a:lnTo>
                <a:cubicBezTo>
                  <a:pt x="2655697" y="2893786"/>
                  <a:pt x="2418290" y="2655391"/>
                  <a:pt x="2125173" y="2654251"/>
                </a:cubicBezTo>
                <a:lnTo>
                  <a:pt x="531417" y="2654251"/>
                </a:lnTo>
                <a:cubicBezTo>
                  <a:pt x="237210" y="2654251"/>
                  <a:pt x="0" y="2416748"/>
                  <a:pt x="0" y="2123559"/>
                </a:cubicBezTo>
                <a:lnTo>
                  <a:pt x="0" y="530048"/>
                </a:lnTo>
                <a:cubicBezTo>
                  <a:pt x="0" y="237503"/>
                  <a:pt x="237210" y="0"/>
                  <a:pt x="531417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A2B6AF-9798-AAE8-1C64-AD3BE58970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9794" y="4556120"/>
            <a:ext cx="546075" cy="231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438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Cl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63EFA-230D-E8F1-31A7-FE9822746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CA045-11A1-2078-48EE-302321EC4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077" y="1370013"/>
            <a:ext cx="3618699" cy="3262312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BAF11-A0F3-E01E-9FD6-9C5FE01A0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0025-1574-D642-8EE0-174E1486F67F}" type="datetime1">
              <a:rPr lang="en-GB" smtClean="0"/>
              <a:t>06/12/2025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A3362-E753-F0A8-B0DD-F89F247DB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D38E-35A1-2247-B55D-C6626AF9BA0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87F0B3-F48E-9221-7329-DFD95F5095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6113" y="4564987"/>
            <a:ext cx="549756" cy="231648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ED5484D-3E81-C5C1-0DE4-59CA5DD1C5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62718" y="936212"/>
            <a:ext cx="4881282" cy="3628775"/>
          </a:xfrm>
          <a:custGeom>
            <a:avLst/>
            <a:gdLst>
              <a:gd name="connsiteX0" fmla="*/ 2214828 w 4970380"/>
              <a:gd name="connsiteY0" fmla="*/ 0 h 3695011"/>
              <a:gd name="connsiteX1" fmla="*/ 3322219 w 4970380"/>
              <a:gd name="connsiteY1" fmla="*/ 0 h 3695011"/>
              <a:gd name="connsiteX2" fmla="*/ 3690426 w 4970380"/>
              <a:gd name="connsiteY2" fmla="*/ 369936 h 3695011"/>
              <a:gd name="connsiteX3" fmla="*/ 3690426 w 4970380"/>
              <a:gd name="connsiteY3" fmla="*/ 1478494 h 3695011"/>
              <a:gd name="connsiteX4" fmla="*/ 4061726 w 4970380"/>
              <a:gd name="connsiteY4" fmla="*/ 1847829 h 3695011"/>
              <a:gd name="connsiteX5" fmla="*/ 4061726 w 4970380"/>
              <a:gd name="connsiteY5" fmla="*/ 1847922 h 3695011"/>
              <a:gd name="connsiteX6" fmla="*/ 4970380 w 4970380"/>
              <a:gd name="connsiteY6" fmla="*/ 1847922 h 3695011"/>
              <a:gd name="connsiteX7" fmla="*/ 4970380 w 4970380"/>
              <a:gd name="connsiteY7" fmla="*/ 3695011 h 3695011"/>
              <a:gd name="connsiteX8" fmla="*/ 4059372 w 4970380"/>
              <a:gd name="connsiteY8" fmla="*/ 3695011 h 3695011"/>
              <a:gd name="connsiteX9" fmla="*/ 3690380 w 4970380"/>
              <a:gd name="connsiteY9" fmla="*/ 3326139 h 3695011"/>
              <a:gd name="connsiteX10" fmla="*/ 3690380 w 4970380"/>
              <a:gd name="connsiteY10" fmla="*/ 2218319 h 3695011"/>
              <a:gd name="connsiteX11" fmla="*/ 3320326 w 4970380"/>
              <a:gd name="connsiteY11" fmla="*/ 1847922 h 3695011"/>
              <a:gd name="connsiteX12" fmla="*/ 2214782 w 4970380"/>
              <a:gd name="connsiteY12" fmla="*/ 1847922 h 3695011"/>
              <a:gd name="connsiteX13" fmla="*/ 1845513 w 4970380"/>
              <a:gd name="connsiteY13" fmla="*/ 2218319 h 3695011"/>
              <a:gd name="connsiteX14" fmla="*/ 1845513 w 4970380"/>
              <a:gd name="connsiteY14" fmla="*/ 3326139 h 3695011"/>
              <a:gd name="connsiteX15" fmla="*/ 1476845 w 4970380"/>
              <a:gd name="connsiteY15" fmla="*/ 3695011 h 3695011"/>
              <a:gd name="connsiteX16" fmla="*/ 369269 w 4970380"/>
              <a:gd name="connsiteY16" fmla="*/ 3695011 h 3695011"/>
              <a:gd name="connsiteX17" fmla="*/ 0 w 4970380"/>
              <a:gd name="connsiteY17" fmla="*/ 3326139 h 3695011"/>
              <a:gd name="connsiteX18" fmla="*/ 0 w 4970380"/>
              <a:gd name="connsiteY18" fmla="*/ 2217210 h 3695011"/>
              <a:gd name="connsiteX19" fmla="*/ 369269 w 4970380"/>
              <a:gd name="connsiteY19" fmla="*/ 1847875 h 3695011"/>
              <a:gd name="connsiteX20" fmla="*/ 1476891 w 4970380"/>
              <a:gd name="connsiteY20" fmla="*/ 1847875 h 3695011"/>
              <a:gd name="connsiteX21" fmla="*/ 1845559 w 4970380"/>
              <a:gd name="connsiteY21" fmla="*/ 1476831 h 3695011"/>
              <a:gd name="connsiteX22" fmla="*/ 1845559 w 4970380"/>
              <a:gd name="connsiteY22" fmla="*/ 369936 h 3695011"/>
              <a:gd name="connsiteX23" fmla="*/ 2214828 w 4970380"/>
              <a:gd name="connsiteY23" fmla="*/ 0 h 3695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970380" h="3695011">
                <a:moveTo>
                  <a:pt x="2214828" y="0"/>
                </a:moveTo>
                <a:lnTo>
                  <a:pt x="3322219" y="0"/>
                </a:lnTo>
                <a:cubicBezTo>
                  <a:pt x="3525296" y="0"/>
                  <a:pt x="3690426" y="165607"/>
                  <a:pt x="3690426" y="369936"/>
                </a:cubicBezTo>
                <a:lnTo>
                  <a:pt x="3690426" y="1478494"/>
                </a:lnTo>
                <a:cubicBezTo>
                  <a:pt x="3691673" y="1682084"/>
                  <a:pt x="3857587" y="1847044"/>
                  <a:pt x="4061726" y="1847829"/>
                </a:cubicBezTo>
                <a:lnTo>
                  <a:pt x="4061726" y="1847922"/>
                </a:lnTo>
                <a:lnTo>
                  <a:pt x="4970380" y="1847922"/>
                </a:lnTo>
                <a:lnTo>
                  <a:pt x="4970380" y="3695011"/>
                </a:lnTo>
                <a:lnTo>
                  <a:pt x="4059372" y="3695011"/>
                </a:lnTo>
                <a:cubicBezTo>
                  <a:pt x="3855972" y="3695011"/>
                  <a:pt x="3690380" y="3529728"/>
                  <a:pt x="3690380" y="3326139"/>
                </a:cubicBezTo>
                <a:lnTo>
                  <a:pt x="3690380" y="2218319"/>
                </a:lnTo>
                <a:cubicBezTo>
                  <a:pt x="3690380" y="2014591"/>
                  <a:pt x="3525250" y="1848846"/>
                  <a:pt x="3320326" y="1847922"/>
                </a:cubicBezTo>
                <a:lnTo>
                  <a:pt x="2214782" y="1847922"/>
                </a:lnTo>
                <a:cubicBezTo>
                  <a:pt x="2011105" y="1848846"/>
                  <a:pt x="1846160" y="2013529"/>
                  <a:pt x="1845513" y="2218319"/>
                </a:cubicBezTo>
                <a:lnTo>
                  <a:pt x="1845513" y="3326139"/>
                </a:lnTo>
                <a:cubicBezTo>
                  <a:pt x="1845513" y="3529728"/>
                  <a:pt x="1679598" y="3695011"/>
                  <a:pt x="1476845" y="3695011"/>
                </a:cubicBezTo>
                <a:lnTo>
                  <a:pt x="369269" y="3695011"/>
                </a:lnTo>
                <a:cubicBezTo>
                  <a:pt x="164853" y="3695011"/>
                  <a:pt x="0" y="3529728"/>
                  <a:pt x="0" y="3326139"/>
                </a:cubicBezTo>
                <a:lnTo>
                  <a:pt x="0" y="2217210"/>
                </a:lnTo>
                <a:cubicBezTo>
                  <a:pt x="0" y="2013159"/>
                  <a:pt x="164807" y="1847875"/>
                  <a:pt x="369269" y="1847875"/>
                </a:cubicBezTo>
                <a:lnTo>
                  <a:pt x="1476891" y="1847875"/>
                </a:lnTo>
                <a:cubicBezTo>
                  <a:pt x="1680568" y="1847090"/>
                  <a:pt x="1845559" y="1681160"/>
                  <a:pt x="1845559" y="1476831"/>
                </a:cubicBezTo>
                <a:lnTo>
                  <a:pt x="1845559" y="369936"/>
                </a:lnTo>
                <a:cubicBezTo>
                  <a:pt x="1845559" y="165607"/>
                  <a:pt x="2010366" y="0"/>
                  <a:pt x="2214828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355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s">
    <p:bg>
      <p:bgPr>
        <a:gradFill>
          <a:gsLst>
            <a:gs pos="0">
              <a:schemeClr val="tx2"/>
            </a:gs>
            <a:gs pos="100000">
              <a:schemeClr val="tx1"/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63EFA-230D-E8F1-31A7-FE98227460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Our customers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BAF11-A0F3-E01E-9FD6-9C5FE01A0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E5871BD-21DB-4143-921E-431F94C3EA03}" type="datetime1">
              <a:rPr lang="en-GB" smtClean="0"/>
              <a:t>06/12/2025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A3362-E753-F0A8-B0DD-F89F247DB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CD38E-35A1-2247-B55D-C6626AF9BA0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8E8B6D-C22D-8AD4-E922-BB2D78DAD5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6113" y="4564987"/>
            <a:ext cx="549756" cy="23164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F010BB31-E8E2-663E-931B-076D862D6B80}"/>
              </a:ext>
            </a:extLst>
          </p:cNvPr>
          <p:cNvGrpSpPr/>
          <p:nvPr userDrawn="1"/>
        </p:nvGrpSpPr>
        <p:grpSpPr>
          <a:xfrm>
            <a:off x="375077" y="1345546"/>
            <a:ext cx="8284829" cy="2853825"/>
            <a:chOff x="737836" y="1631312"/>
            <a:chExt cx="10716327" cy="3691389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95F75DFA-5602-E1B6-619E-F3B24B1228E1}"/>
                </a:ext>
              </a:extLst>
            </p:cNvPr>
            <p:cNvSpPr/>
            <p:nvPr userDrawn="1"/>
          </p:nvSpPr>
          <p:spPr>
            <a:xfrm>
              <a:off x="4448026" y="1631312"/>
              <a:ext cx="3295947" cy="1646277"/>
            </a:xfrm>
            <a:prstGeom prst="roundRect">
              <a:avLst>
                <a:gd name="adj" fmla="val 8097"/>
              </a:avLst>
            </a:prstGeom>
            <a:solidFill>
              <a:schemeClr val="bg1"/>
            </a:solidFill>
            <a:ln>
              <a:noFill/>
            </a:ln>
            <a:effectLst>
              <a:outerShdw blurRad="432472" sx="98000" sy="98000" algn="ctr" rotWithShape="0">
                <a:prstClr val="black">
                  <a:alpha val="19883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251999" rtlCol="0" anchor="ctr"/>
            <a:lstStyle/>
            <a:p>
              <a:pPr algn="r"/>
              <a:endParaRPr lang="en-US">
                <a:latin typeface="Outfit Light" pitchFamily="2" charset="0"/>
              </a:endParaRP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31E4EC00-562F-A299-B747-7BB6FEA97A01}"/>
                </a:ext>
              </a:extLst>
            </p:cNvPr>
            <p:cNvSpPr/>
            <p:nvPr userDrawn="1"/>
          </p:nvSpPr>
          <p:spPr>
            <a:xfrm>
              <a:off x="8158216" y="3676424"/>
              <a:ext cx="3295947" cy="1646277"/>
            </a:xfrm>
            <a:prstGeom prst="roundRect">
              <a:avLst>
                <a:gd name="adj" fmla="val 8097"/>
              </a:avLst>
            </a:prstGeom>
            <a:solidFill>
              <a:schemeClr val="bg1"/>
            </a:solidFill>
            <a:ln>
              <a:noFill/>
            </a:ln>
            <a:effectLst>
              <a:outerShdw blurRad="432472" sx="98000" sy="98000" algn="ctr" rotWithShape="0">
                <a:prstClr val="black">
                  <a:alpha val="19883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251999" rtlCol="0" anchor="ctr"/>
            <a:lstStyle/>
            <a:p>
              <a:pPr algn="r"/>
              <a:endParaRPr lang="en-US">
                <a:latin typeface="Outfit Light" pitchFamily="2" charset="0"/>
              </a:endParaRP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4562FAD8-BB1F-3CF2-8D92-3DCF63546A60}"/>
                </a:ext>
              </a:extLst>
            </p:cNvPr>
            <p:cNvSpPr/>
            <p:nvPr userDrawn="1"/>
          </p:nvSpPr>
          <p:spPr>
            <a:xfrm>
              <a:off x="8158216" y="1631312"/>
              <a:ext cx="3295947" cy="1646277"/>
            </a:xfrm>
            <a:prstGeom prst="roundRect">
              <a:avLst>
                <a:gd name="adj" fmla="val 8097"/>
              </a:avLst>
            </a:prstGeom>
            <a:solidFill>
              <a:schemeClr val="bg1"/>
            </a:solidFill>
            <a:ln>
              <a:noFill/>
            </a:ln>
            <a:effectLst>
              <a:outerShdw blurRad="432472" sx="98000" sy="98000" algn="ctr" rotWithShape="0">
                <a:prstClr val="black">
                  <a:alpha val="19883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251999" rtlCol="0" anchor="ctr"/>
            <a:lstStyle/>
            <a:p>
              <a:pPr algn="r"/>
              <a:endParaRPr lang="en-US">
                <a:latin typeface="Outfit Light" pitchFamily="2" charset="0"/>
              </a:endParaRP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12CDECEC-1AEC-AC26-FE82-CFE9B24BE3A5}"/>
                </a:ext>
              </a:extLst>
            </p:cNvPr>
            <p:cNvSpPr/>
            <p:nvPr userDrawn="1"/>
          </p:nvSpPr>
          <p:spPr>
            <a:xfrm>
              <a:off x="4438955" y="3676424"/>
              <a:ext cx="3295947" cy="1646277"/>
            </a:xfrm>
            <a:prstGeom prst="roundRect">
              <a:avLst>
                <a:gd name="adj" fmla="val 8097"/>
              </a:avLst>
            </a:prstGeom>
            <a:solidFill>
              <a:schemeClr val="bg1"/>
            </a:solidFill>
            <a:ln>
              <a:noFill/>
            </a:ln>
            <a:effectLst>
              <a:outerShdw blurRad="432472" sx="98000" sy="98000" algn="ctr" rotWithShape="0">
                <a:prstClr val="black">
                  <a:alpha val="19883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251999" rtlCol="0" anchor="ctr"/>
            <a:lstStyle/>
            <a:p>
              <a:pPr algn="r"/>
              <a:endParaRPr lang="en-US">
                <a:latin typeface="Outfit Light" pitchFamily="2" charset="0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2D70B812-90BE-EFF0-A375-351B45F9E2A0}"/>
                </a:ext>
              </a:extLst>
            </p:cNvPr>
            <p:cNvSpPr/>
            <p:nvPr userDrawn="1"/>
          </p:nvSpPr>
          <p:spPr>
            <a:xfrm>
              <a:off x="737836" y="3676424"/>
              <a:ext cx="3295947" cy="1646277"/>
            </a:xfrm>
            <a:prstGeom prst="roundRect">
              <a:avLst>
                <a:gd name="adj" fmla="val 8097"/>
              </a:avLst>
            </a:prstGeom>
            <a:solidFill>
              <a:schemeClr val="bg1"/>
            </a:solidFill>
            <a:ln>
              <a:noFill/>
            </a:ln>
            <a:effectLst>
              <a:outerShdw blurRad="432472" sx="98000" sy="98000" algn="ctr" rotWithShape="0">
                <a:prstClr val="black">
                  <a:alpha val="19883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251999" rtlCol="0" anchor="ctr"/>
            <a:lstStyle/>
            <a:p>
              <a:pPr algn="r"/>
              <a:endParaRPr lang="en-US">
                <a:latin typeface="Outfit Light" pitchFamily="2" charset="0"/>
              </a:endParaRP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F806D2A5-D49A-2B4C-6945-B4D6AAF6AA58}"/>
                </a:ext>
              </a:extLst>
            </p:cNvPr>
            <p:cNvSpPr/>
            <p:nvPr userDrawn="1"/>
          </p:nvSpPr>
          <p:spPr>
            <a:xfrm>
              <a:off x="737836" y="1631312"/>
              <a:ext cx="3295947" cy="1646277"/>
            </a:xfrm>
            <a:prstGeom prst="roundRect">
              <a:avLst>
                <a:gd name="adj" fmla="val 8097"/>
              </a:avLst>
            </a:prstGeom>
            <a:solidFill>
              <a:schemeClr val="bg1"/>
            </a:solidFill>
            <a:ln>
              <a:noFill/>
            </a:ln>
            <a:effectLst>
              <a:outerShdw blurRad="432472" sx="98000" sy="98000" algn="ctr" rotWithShape="0">
                <a:prstClr val="black">
                  <a:alpha val="19883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251999" rtlCol="0" anchor="ctr"/>
            <a:lstStyle/>
            <a:p>
              <a:pPr algn="r"/>
              <a:endParaRPr lang="en-US">
                <a:latin typeface="Outfit Light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1196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ontain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56E08-9F1D-A19B-3BA7-8BAA51352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5" y="342900"/>
            <a:ext cx="3856920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AB4C31-FBBC-7BD9-86B4-EB15A5311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C4573-FE2C-D346-94B5-229A35198143}" type="datetime1">
              <a:rPr lang="en-GB" smtClean="0"/>
              <a:t>06/12/2025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D42BD-57E0-2B9A-832E-8153D2165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D38E-35A1-2247-B55D-C6626AF9BA0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ound Single Corner of Rectangle 7">
            <a:extLst>
              <a:ext uri="{FF2B5EF4-FFF2-40B4-BE49-F238E27FC236}">
                <a16:creationId xmlns:a16="http://schemas.microsoft.com/office/drawing/2014/main" id="{E9D9364F-7640-F911-F9B3-BD269AE140FD}"/>
              </a:ext>
            </a:extLst>
          </p:cNvPr>
          <p:cNvSpPr/>
          <p:nvPr userDrawn="1"/>
        </p:nvSpPr>
        <p:spPr>
          <a:xfrm rot="10800000">
            <a:off x="4823386" y="-1"/>
            <a:ext cx="4320614" cy="4402138"/>
          </a:xfrm>
          <a:prstGeom prst="round1Rect">
            <a:avLst>
              <a:gd name="adj" fmla="val 1570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utfit Light" pitchFamily="2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C6FC79-F9CB-5F2F-EF3B-3BD3B45E7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077" y="1743868"/>
            <a:ext cx="3856920" cy="2658269"/>
          </a:xfrm>
        </p:spPr>
        <p:txBody>
          <a:bodyPr>
            <a:normAutofit/>
          </a:bodyPr>
          <a:lstStyle>
            <a:lvl1pPr>
              <a:buClr>
                <a:schemeClr val="tx1"/>
              </a:buClr>
              <a:defRPr sz="2400"/>
            </a:lvl1pPr>
            <a:lvl2pPr>
              <a:buClr>
                <a:schemeClr val="tx1"/>
              </a:buClr>
              <a:defRPr sz="2000"/>
            </a:lvl2pPr>
            <a:lvl3pPr>
              <a:buClr>
                <a:schemeClr val="tx1"/>
              </a:buClr>
              <a:defRPr sz="1800"/>
            </a:lvl3pPr>
            <a:lvl4pPr>
              <a:buClr>
                <a:schemeClr val="tx1"/>
              </a:buClr>
              <a:defRPr sz="1600"/>
            </a:lvl4pPr>
            <a:lvl5pPr>
              <a:buClr>
                <a:schemeClr val="tx1"/>
              </a:buCl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6AB042-33D2-AF6C-C382-47B2851991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9794" y="4556120"/>
            <a:ext cx="546075" cy="231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551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62704-0E1C-9397-E348-29721F6DE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7EE6A-B54E-B7F7-240D-9E6057722F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5077" y="1370013"/>
            <a:ext cx="3867150" cy="3262312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67281A-E911-2BEF-9A1F-C54E8A2D4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94627" y="1370013"/>
            <a:ext cx="3867150" cy="3262312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86D3B9-0985-24EE-1FE1-CF4099EDD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01BE8-2B0B-6B4A-8735-36A00D72CA1D}" type="datetime1">
              <a:rPr lang="en-GB" smtClean="0"/>
              <a:t>06/12/2025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CF2E6E-C0CC-FF12-9A5E-0E4C5351B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D38E-35A1-2247-B55D-C6626AF9BA0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3D8C02-941C-F029-E6E7-EA2BD40DFF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6113" y="4564987"/>
            <a:ext cx="549756" cy="231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875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725F0E8-F5F1-60C4-3084-306D732AFD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73E142-DAA7-27A2-8354-3A782E076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113" y="552717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E803F-EF23-8347-5303-1873D6E22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6113" y="2711717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AB8DA-5AF4-DA55-F9DC-4F3507D53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A11D9-B955-6D4E-924E-589B300E56CD}" type="datetime1">
              <a:rPr lang="en-GB" smtClean="0"/>
              <a:t>06/12/2025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AD0A0-72F8-A422-2355-060C5E738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D38E-35A1-2247-B55D-C6626AF9BA0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6D4C21-94F7-3567-9B76-A2CDBE6046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6113" y="4564987"/>
            <a:ext cx="549756" cy="231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7461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56E08-9F1D-A19B-3BA7-8BAA51352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5" y="342900"/>
            <a:ext cx="3856920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AB4C31-FBBC-7BD9-86B4-EB15A5311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C4573-FE2C-D346-94B5-229A35198143}" type="datetime1">
              <a:rPr lang="en-GB" smtClean="0"/>
              <a:t>06/12/2025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D42BD-57E0-2B9A-832E-8153D2165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D38E-35A1-2247-B55D-C6626AF9BA0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C6FC79-F9CB-5F2F-EF3B-3BD3B45E7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077" y="1743868"/>
            <a:ext cx="3856920" cy="2658269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400"/>
            </a:lvl1pPr>
            <a:lvl2pPr>
              <a:buClr>
                <a:schemeClr val="accent1"/>
              </a:buClr>
              <a:defRPr sz="2000"/>
            </a:lvl2pPr>
            <a:lvl3pPr>
              <a:buClr>
                <a:schemeClr val="accent1"/>
              </a:buClr>
              <a:defRPr sz="1800"/>
            </a:lvl3pPr>
            <a:lvl4pPr>
              <a:buClr>
                <a:schemeClr val="accent1"/>
              </a:buClr>
              <a:defRPr sz="1600"/>
            </a:lvl4pPr>
            <a:lvl5pPr>
              <a:buClr>
                <a:schemeClr val="accent1"/>
              </a:buCl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C859345-2B48-7408-B9FC-93473DEE30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6113" y="4564987"/>
            <a:ext cx="549756" cy="231648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A6D3706-E79A-720B-0681-29BC862ABD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22749" y="7751"/>
            <a:ext cx="4321252" cy="4402788"/>
          </a:xfrm>
          <a:custGeom>
            <a:avLst/>
            <a:gdLst>
              <a:gd name="connsiteX0" fmla="*/ 0 w 3935125"/>
              <a:gd name="connsiteY0" fmla="*/ 0 h 4009375"/>
              <a:gd name="connsiteX1" fmla="*/ 3935125 w 3935125"/>
              <a:gd name="connsiteY1" fmla="*/ 0 h 4009375"/>
              <a:gd name="connsiteX2" fmla="*/ 3935125 w 3935125"/>
              <a:gd name="connsiteY2" fmla="*/ 4009375 h 4009375"/>
              <a:gd name="connsiteX3" fmla="*/ 618169 w 3935125"/>
              <a:gd name="connsiteY3" fmla="*/ 4009375 h 4009375"/>
              <a:gd name="connsiteX4" fmla="*/ 0 w 3935125"/>
              <a:gd name="connsiteY4" fmla="*/ 3391206 h 4009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35125" h="4009375">
                <a:moveTo>
                  <a:pt x="0" y="0"/>
                </a:moveTo>
                <a:lnTo>
                  <a:pt x="3935125" y="0"/>
                </a:lnTo>
                <a:lnTo>
                  <a:pt x="3935125" y="4009375"/>
                </a:lnTo>
                <a:lnTo>
                  <a:pt x="618169" y="4009375"/>
                </a:lnTo>
                <a:cubicBezTo>
                  <a:pt x="276764" y="4009375"/>
                  <a:pt x="0" y="3732611"/>
                  <a:pt x="0" y="3391206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6023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56E08-9F1D-A19B-3BA7-8BAA51352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4179" y="342900"/>
            <a:ext cx="3856920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AB4C31-FBBC-7BD9-86B4-EB15A5311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F4358-7872-7045-8E26-B70E23714E9F}" type="datetime1">
              <a:rPr lang="en-GB" smtClean="0"/>
              <a:t>06/12/2025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D42BD-57E0-2B9A-832E-8153D2165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D38E-35A1-2247-B55D-C6626AF9BA0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C1D83-03EE-0022-D7CC-89030E92A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4179" y="1743868"/>
            <a:ext cx="3856920" cy="2658269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400"/>
            </a:lvl1pPr>
            <a:lvl2pPr>
              <a:buClr>
                <a:schemeClr val="accent1"/>
              </a:buClr>
              <a:defRPr sz="2000"/>
            </a:lvl2pPr>
            <a:lvl3pPr>
              <a:buClr>
                <a:schemeClr val="accent1"/>
              </a:buClr>
              <a:defRPr sz="1800"/>
            </a:lvl3pPr>
            <a:lvl4pPr>
              <a:buClr>
                <a:schemeClr val="accent1"/>
              </a:buClr>
              <a:defRPr sz="1600"/>
            </a:lvl4pPr>
            <a:lvl5pPr>
              <a:buClr>
                <a:schemeClr val="accent1"/>
              </a:buCl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64D12E-29B6-4024-75B6-3367AA77A4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6113" y="4564987"/>
            <a:ext cx="549756" cy="231648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90699E0-C88B-EE65-CF5E-576FE0E6EF7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402138" cy="4320614"/>
          </a:xfrm>
          <a:custGeom>
            <a:avLst/>
            <a:gdLst>
              <a:gd name="connsiteX0" fmla="*/ 0 w 4402138"/>
              <a:gd name="connsiteY0" fmla="*/ 0 h 4320614"/>
              <a:gd name="connsiteX1" fmla="*/ 4402138 w 4402138"/>
              <a:gd name="connsiteY1" fmla="*/ 0 h 4320614"/>
              <a:gd name="connsiteX2" fmla="*/ 4402138 w 4402138"/>
              <a:gd name="connsiteY2" fmla="*/ 3641889 h 4320614"/>
              <a:gd name="connsiteX3" fmla="*/ 3723413 w 4402138"/>
              <a:gd name="connsiteY3" fmla="*/ 4320614 h 4320614"/>
              <a:gd name="connsiteX4" fmla="*/ 0 w 4402138"/>
              <a:gd name="connsiteY4" fmla="*/ 4320614 h 4320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2138" h="4320614">
                <a:moveTo>
                  <a:pt x="0" y="0"/>
                </a:moveTo>
                <a:lnTo>
                  <a:pt x="4402138" y="0"/>
                </a:lnTo>
                <a:lnTo>
                  <a:pt x="4402138" y="3641889"/>
                </a:lnTo>
                <a:cubicBezTo>
                  <a:pt x="4402138" y="4016738"/>
                  <a:pt x="4098262" y="4320614"/>
                  <a:pt x="3723413" y="4320614"/>
                </a:cubicBezTo>
                <a:lnTo>
                  <a:pt x="0" y="432061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0490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Right Strik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56E08-9F1D-A19B-3BA7-8BAA51352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4179" y="342900"/>
            <a:ext cx="3856920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AB4C31-FBBC-7BD9-86B4-EB15A5311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86DFC-2749-0949-A903-DD3A2385A57C}" type="datetime1">
              <a:rPr lang="en-GB" smtClean="0"/>
              <a:t>06/12/2025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D42BD-57E0-2B9A-832E-8153D2165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D38E-35A1-2247-B55D-C6626AF9BA0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C1D83-03EE-0022-D7CC-89030E92A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4179" y="1743868"/>
            <a:ext cx="3856920" cy="2658269"/>
          </a:xfrm>
        </p:spPr>
        <p:txBody>
          <a:bodyPr>
            <a:normAutofit/>
          </a:bodyPr>
          <a:lstStyle>
            <a:lvl1pPr>
              <a:buClr>
                <a:schemeClr val="tx1"/>
              </a:buClr>
              <a:defRPr sz="2400"/>
            </a:lvl1pPr>
            <a:lvl2pPr>
              <a:buClr>
                <a:schemeClr val="tx1"/>
              </a:buClr>
              <a:defRPr sz="2000"/>
            </a:lvl2pPr>
            <a:lvl3pPr>
              <a:buClr>
                <a:schemeClr val="tx1"/>
              </a:buClr>
              <a:defRPr sz="1800"/>
            </a:lvl3pPr>
            <a:lvl4pPr>
              <a:buClr>
                <a:schemeClr val="tx1"/>
              </a:buClr>
              <a:defRPr sz="1600"/>
            </a:lvl4pPr>
            <a:lvl5pPr>
              <a:buClr>
                <a:schemeClr val="tx1"/>
              </a:buCl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423D9E-98AA-549D-5D65-976FB64061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9794" y="4556120"/>
            <a:ext cx="546075" cy="231032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6506CC4-37C9-6069-50BC-0B27E5FA02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402138" cy="4320614"/>
          </a:xfrm>
          <a:custGeom>
            <a:avLst/>
            <a:gdLst>
              <a:gd name="connsiteX0" fmla="*/ 0 w 4402138"/>
              <a:gd name="connsiteY0" fmla="*/ 0 h 4320614"/>
              <a:gd name="connsiteX1" fmla="*/ 4402138 w 4402138"/>
              <a:gd name="connsiteY1" fmla="*/ 0 h 4320614"/>
              <a:gd name="connsiteX2" fmla="*/ 4402138 w 4402138"/>
              <a:gd name="connsiteY2" fmla="*/ 3641889 h 4320614"/>
              <a:gd name="connsiteX3" fmla="*/ 3723413 w 4402138"/>
              <a:gd name="connsiteY3" fmla="*/ 4320614 h 4320614"/>
              <a:gd name="connsiteX4" fmla="*/ 0 w 4402138"/>
              <a:gd name="connsiteY4" fmla="*/ 4320614 h 4320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2138" h="4320614">
                <a:moveTo>
                  <a:pt x="0" y="0"/>
                </a:moveTo>
                <a:lnTo>
                  <a:pt x="4402138" y="0"/>
                </a:lnTo>
                <a:lnTo>
                  <a:pt x="4402138" y="3641889"/>
                </a:lnTo>
                <a:cubicBezTo>
                  <a:pt x="4402138" y="4016738"/>
                  <a:pt x="4098262" y="4320614"/>
                  <a:pt x="3723413" y="4320614"/>
                </a:cubicBezTo>
                <a:lnTo>
                  <a:pt x="0" y="432061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4992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Left Strik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56E08-9F1D-A19B-3BA7-8BAA51352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5" y="342900"/>
            <a:ext cx="3856920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AB4C31-FBBC-7BD9-86B4-EB15A5311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C6DD-C821-6C4C-8902-4089A37EB26A}" type="datetime1">
              <a:rPr lang="en-GB" smtClean="0"/>
              <a:t>06/12/2025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D42BD-57E0-2B9A-832E-8153D2165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D38E-35A1-2247-B55D-C6626AF9BA0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C6FC79-F9CB-5F2F-EF3B-3BD3B45E7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077" y="1743868"/>
            <a:ext cx="3856920" cy="2658269"/>
          </a:xfrm>
        </p:spPr>
        <p:txBody>
          <a:bodyPr>
            <a:normAutofit/>
          </a:bodyPr>
          <a:lstStyle>
            <a:lvl1pPr>
              <a:buClr>
                <a:schemeClr val="tx1"/>
              </a:buClr>
              <a:defRPr sz="2400"/>
            </a:lvl1pPr>
            <a:lvl2pPr>
              <a:buClr>
                <a:schemeClr val="tx1"/>
              </a:buClr>
              <a:defRPr sz="2000"/>
            </a:lvl2pPr>
            <a:lvl3pPr>
              <a:buClr>
                <a:schemeClr val="tx1"/>
              </a:buClr>
              <a:defRPr sz="1800"/>
            </a:lvl3pPr>
            <a:lvl4pPr>
              <a:buClr>
                <a:schemeClr val="tx1"/>
              </a:buClr>
              <a:defRPr sz="1600"/>
            </a:lvl4pPr>
            <a:lvl5pPr>
              <a:buClr>
                <a:schemeClr val="tx1"/>
              </a:buCl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2EB0CB-6F24-1A96-F589-420A8A2589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9794" y="4556120"/>
            <a:ext cx="546075" cy="231032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DAF8107-1F67-F3DD-F642-04E5F35BE4B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22749" y="7751"/>
            <a:ext cx="4321252" cy="4402788"/>
          </a:xfrm>
          <a:custGeom>
            <a:avLst/>
            <a:gdLst>
              <a:gd name="connsiteX0" fmla="*/ 0 w 3935125"/>
              <a:gd name="connsiteY0" fmla="*/ 0 h 4009375"/>
              <a:gd name="connsiteX1" fmla="*/ 3935125 w 3935125"/>
              <a:gd name="connsiteY1" fmla="*/ 0 h 4009375"/>
              <a:gd name="connsiteX2" fmla="*/ 3935125 w 3935125"/>
              <a:gd name="connsiteY2" fmla="*/ 4009375 h 4009375"/>
              <a:gd name="connsiteX3" fmla="*/ 618169 w 3935125"/>
              <a:gd name="connsiteY3" fmla="*/ 4009375 h 4009375"/>
              <a:gd name="connsiteX4" fmla="*/ 0 w 3935125"/>
              <a:gd name="connsiteY4" fmla="*/ 3391206 h 4009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35125" h="4009375">
                <a:moveTo>
                  <a:pt x="0" y="0"/>
                </a:moveTo>
                <a:lnTo>
                  <a:pt x="3935125" y="0"/>
                </a:lnTo>
                <a:lnTo>
                  <a:pt x="3935125" y="4009375"/>
                </a:lnTo>
                <a:lnTo>
                  <a:pt x="618169" y="4009375"/>
                </a:lnTo>
                <a:cubicBezTo>
                  <a:pt x="276764" y="4009375"/>
                  <a:pt x="0" y="3732611"/>
                  <a:pt x="0" y="3391206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9103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Right Dark">
    <p:bg>
      <p:bgPr>
        <a:gradFill>
          <a:gsLst>
            <a:gs pos="0">
              <a:schemeClr val="tx2"/>
            </a:gs>
            <a:gs pos="100000">
              <a:schemeClr val="tx1"/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56E08-9F1D-A19B-3BA7-8BAA51352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4179" y="342900"/>
            <a:ext cx="3856920" cy="120015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AB4C31-FBBC-7BD9-86B4-EB15A5311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E0E52D-B26A-6647-98C0-F359F0FA0DC9}" type="datetime1">
              <a:rPr lang="en-GB" smtClean="0"/>
              <a:t>06/12/2025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D42BD-57E0-2B9A-832E-8153D2165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CD38E-35A1-2247-B55D-C6626AF9BA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C1D83-03EE-0022-D7CC-89030E92A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4179" y="1743868"/>
            <a:ext cx="3856920" cy="2658269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400"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 sz="2000">
                <a:solidFill>
                  <a:schemeClr val="bg1"/>
                </a:solidFill>
              </a:defRPr>
            </a:lvl2pPr>
            <a:lvl3pPr>
              <a:buClr>
                <a:schemeClr val="accent1"/>
              </a:buClr>
              <a:defRPr sz="1800">
                <a:solidFill>
                  <a:schemeClr val="bg1"/>
                </a:solidFill>
              </a:defRPr>
            </a:lvl3pPr>
            <a:lvl4pPr>
              <a:buClr>
                <a:schemeClr val="accent1"/>
              </a:buClr>
              <a:defRPr sz="1600"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64D12E-29B6-4024-75B6-3367AA77A4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6113" y="4564987"/>
            <a:ext cx="549756" cy="231648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346D8F-BE67-2A37-EEAD-442FFA1962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402138" cy="4320614"/>
          </a:xfrm>
          <a:custGeom>
            <a:avLst/>
            <a:gdLst>
              <a:gd name="connsiteX0" fmla="*/ 0 w 4402138"/>
              <a:gd name="connsiteY0" fmla="*/ 0 h 4320614"/>
              <a:gd name="connsiteX1" fmla="*/ 4402138 w 4402138"/>
              <a:gd name="connsiteY1" fmla="*/ 0 h 4320614"/>
              <a:gd name="connsiteX2" fmla="*/ 4402138 w 4402138"/>
              <a:gd name="connsiteY2" fmla="*/ 3641889 h 4320614"/>
              <a:gd name="connsiteX3" fmla="*/ 3723413 w 4402138"/>
              <a:gd name="connsiteY3" fmla="*/ 4320614 h 4320614"/>
              <a:gd name="connsiteX4" fmla="*/ 0 w 4402138"/>
              <a:gd name="connsiteY4" fmla="*/ 4320614 h 4320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2138" h="4320614">
                <a:moveTo>
                  <a:pt x="0" y="0"/>
                </a:moveTo>
                <a:lnTo>
                  <a:pt x="4402138" y="0"/>
                </a:lnTo>
                <a:lnTo>
                  <a:pt x="4402138" y="3641889"/>
                </a:lnTo>
                <a:cubicBezTo>
                  <a:pt x="4402138" y="4016738"/>
                  <a:pt x="4098262" y="4320614"/>
                  <a:pt x="3723413" y="4320614"/>
                </a:cubicBezTo>
                <a:lnTo>
                  <a:pt x="0" y="432061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0021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Left Dark">
    <p:bg>
      <p:bgPr>
        <a:gradFill>
          <a:gsLst>
            <a:gs pos="0">
              <a:schemeClr val="tx2"/>
            </a:gs>
            <a:gs pos="100000">
              <a:schemeClr val="tx1"/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56E08-9F1D-A19B-3BA7-8BAA51352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5" y="342900"/>
            <a:ext cx="3856920" cy="120015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AB4C31-FBBC-7BD9-86B4-EB15A5311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122EC9D-9608-D048-B827-27F744EB6E71}" type="datetime1">
              <a:rPr lang="en-GB" smtClean="0"/>
              <a:t>06/12/2025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D42BD-57E0-2B9A-832E-8153D2165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CD38E-35A1-2247-B55D-C6626AF9BA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C6FC79-F9CB-5F2F-EF3B-3BD3B45E7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077" y="1743868"/>
            <a:ext cx="3856920" cy="2658269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400"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 sz="2000">
                <a:solidFill>
                  <a:schemeClr val="bg1"/>
                </a:solidFill>
              </a:defRPr>
            </a:lvl2pPr>
            <a:lvl3pPr>
              <a:buClr>
                <a:schemeClr val="accent1"/>
              </a:buClr>
              <a:defRPr sz="1800">
                <a:solidFill>
                  <a:schemeClr val="bg1"/>
                </a:solidFill>
              </a:defRPr>
            </a:lvl3pPr>
            <a:lvl4pPr>
              <a:buClr>
                <a:schemeClr val="accent1"/>
              </a:buClr>
              <a:defRPr sz="1600"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C859345-2B48-7408-B9FC-93473DEE30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6113" y="4564987"/>
            <a:ext cx="549756" cy="231648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484570-6241-2AA8-DAED-5F742839FF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22749" y="21501"/>
            <a:ext cx="4321252" cy="4402788"/>
          </a:xfrm>
          <a:custGeom>
            <a:avLst/>
            <a:gdLst>
              <a:gd name="connsiteX0" fmla="*/ 0 w 3935125"/>
              <a:gd name="connsiteY0" fmla="*/ 0 h 4009375"/>
              <a:gd name="connsiteX1" fmla="*/ 3935125 w 3935125"/>
              <a:gd name="connsiteY1" fmla="*/ 0 h 4009375"/>
              <a:gd name="connsiteX2" fmla="*/ 3935125 w 3935125"/>
              <a:gd name="connsiteY2" fmla="*/ 4009375 h 4009375"/>
              <a:gd name="connsiteX3" fmla="*/ 618169 w 3935125"/>
              <a:gd name="connsiteY3" fmla="*/ 4009375 h 4009375"/>
              <a:gd name="connsiteX4" fmla="*/ 0 w 3935125"/>
              <a:gd name="connsiteY4" fmla="*/ 3391206 h 4009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35125" h="4009375">
                <a:moveTo>
                  <a:pt x="0" y="0"/>
                </a:moveTo>
                <a:lnTo>
                  <a:pt x="3935125" y="0"/>
                </a:lnTo>
                <a:lnTo>
                  <a:pt x="3935125" y="4009375"/>
                </a:lnTo>
                <a:lnTo>
                  <a:pt x="618169" y="4009375"/>
                </a:lnTo>
                <a:cubicBezTo>
                  <a:pt x="276764" y="4009375"/>
                  <a:pt x="0" y="3732611"/>
                  <a:pt x="0" y="3391206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3733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us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EAD93-1930-9CE4-92F9-CB4BBA8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F8836D-CD11-8E19-E371-1C055D33C9D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5A415D-2F1F-B143-BA62-6BABD16E70A1}" type="datetime1">
              <a:rPr lang="en-GB" smtClean="0"/>
              <a:t>06/12/2025</a:t>
            </a:fld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D6451-A3A9-4898-B96A-F430C3032798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 algn="r">
              <a:defRPr/>
            </a:lvl1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7ACEE6-6DDC-172B-7E6A-1F5B9901B8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6113" y="4564987"/>
            <a:ext cx="549756" cy="231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1042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F8836D-CD11-8E19-E371-1C055D33C9D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E9F6446-2BF2-4D44-B716-2ABFAF5C8941}" type="datetime1">
              <a:rPr lang="en-GB" smtClean="0"/>
              <a:t>06/12/2025</a:t>
            </a:fld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D6451-A3A9-4898-B96A-F430C3032798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 algn="r">
              <a:defRPr/>
            </a:lvl1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E1A223-3602-1C4D-02A2-7752E0A4E5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6113" y="4564987"/>
            <a:ext cx="549756" cy="231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7764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FD2358-4116-32B5-F26F-D02226622E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211734" cy="5181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0EAD93-1930-9CE4-92F9-CB4BBA8134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77" y="425509"/>
            <a:ext cx="7886700" cy="9937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714766F-CA55-B58F-B135-B22E4B2170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5076" y="1683778"/>
            <a:ext cx="6563605" cy="14025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895825-72A7-324E-9A24-5E7861E4F73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4829" y="4306810"/>
            <a:ext cx="2127260" cy="272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829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with Addres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B82B64C-4A21-48EF-230D-CF646101A9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211734" cy="5181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AD9A4C-D34B-B0BC-0E62-A6F8857C8C5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7229" y="702998"/>
            <a:ext cx="2127260" cy="272315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9535EE59-ECCB-8065-694C-8E4E76D63E7D}"/>
              </a:ext>
            </a:extLst>
          </p:cNvPr>
          <p:cNvGrpSpPr/>
          <p:nvPr userDrawn="1"/>
        </p:nvGrpSpPr>
        <p:grpSpPr>
          <a:xfrm>
            <a:off x="627229" y="1916977"/>
            <a:ext cx="4644682" cy="2545938"/>
            <a:chOff x="1243806" y="6879747"/>
            <a:chExt cx="5311140" cy="3710423"/>
          </a:xfrm>
        </p:grpSpPr>
        <p:sp>
          <p:nvSpPr>
            <p:cNvPr id="9" name="object 4">
              <a:extLst>
                <a:ext uri="{FF2B5EF4-FFF2-40B4-BE49-F238E27FC236}">
                  <a16:creationId xmlns:a16="http://schemas.microsoft.com/office/drawing/2014/main" id="{5CDD6526-A240-87EB-44B1-FCEC4312E6AF}"/>
                </a:ext>
              </a:extLst>
            </p:cNvPr>
            <p:cNvSpPr txBox="1"/>
            <p:nvPr/>
          </p:nvSpPr>
          <p:spPr>
            <a:xfrm>
              <a:off x="1243806" y="8198706"/>
              <a:ext cx="2432497" cy="1101751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 marR="5080">
                <a:lnSpc>
                  <a:spcPct val="100000"/>
                </a:lnSpc>
                <a:spcBef>
                  <a:spcPts val="95"/>
                </a:spcBef>
              </a:pPr>
              <a:r>
                <a:rPr sz="900">
                  <a:solidFill>
                    <a:srgbClr val="FFFFFF"/>
                  </a:solidFill>
                  <a:latin typeface="DM Sans" pitchFamily="2" charset="77"/>
                  <a:cs typeface="Calibri"/>
                </a:rPr>
                <a:t>Microlise Limited </a:t>
              </a:r>
              <a:endParaRPr lang="en-GB" sz="900">
                <a:solidFill>
                  <a:srgbClr val="FFFFFF"/>
                </a:solidFill>
                <a:latin typeface="DM Sans" pitchFamily="2" charset="77"/>
                <a:cs typeface="Calibri"/>
              </a:endParaRPr>
            </a:p>
            <a:p>
              <a:pPr marL="12700" marR="5080">
                <a:lnSpc>
                  <a:spcPct val="100000"/>
                </a:lnSpc>
                <a:spcBef>
                  <a:spcPts val="95"/>
                </a:spcBef>
              </a:pPr>
              <a:r>
                <a:rPr sz="900">
                  <a:solidFill>
                    <a:srgbClr val="FFFFFF"/>
                  </a:solidFill>
                  <a:latin typeface="DM Sans" pitchFamily="2" charset="77"/>
                  <a:cs typeface="Calibri"/>
                </a:rPr>
                <a:t>Farrington Way </a:t>
              </a:r>
              <a:endParaRPr lang="en-GB" sz="900">
                <a:solidFill>
                  <a:srgbClr val="FFFFFF"/>
                </a:solidFill>
                <a:latin typeface="DM Sans" pitchFamily="2" charset="77"/>
                <a:cs typeface="Calibri"/>
              </a:endParaRPr>
            </a:p>
            <a:p>
              <a:pPr marL="12700" marR="5080">
                <a:lnSpc>
                  <a:spcPct val="100000"/>
                </a:lnSpc>
                <a:spcBef>
                  <a:spcPts val="95"/>
                </a:spcBef>
              </a:pPr>
              <a:r>
                <a:rPr sz="900">
                  <a:solidFill>
                    <a:srgbClr val="FFFFFF"/>
                  </a:solidFill>
                  <a:latin typeface="DM Sans" pitchFamily="2" charset="77"/>
                  <a:cs typeface="Calibri"/>
                </a:rPr>
                <a:t>Eastwood </a:t>
              </a:r>
              <a:endParaRPr lang="en-GB" sz="900">
                <a:solidFill>
                  <a:srgbClr val="FFFFFF"/>
                </a:solidFill>
                <a:latin typeface="DM Sans" pitchFamily="2" charset="77"/>
                <a:cs typeface="Calibri"/>
              </a:endParaRPr>
            </a:p>
            <a:p>
              <a:pPr marL="12700" marR="5080">
                <a:lnSpc>
                  <a:spcPct val="100000"/>
                </a:lnSpc>
                <a:spcBef>
                  <a:spcPts val="95"/>
                </a:spcBef>
              </a:pPr>
              <a:r>
                <a:rPr sz="900">
                  <a:solidFill>
                    <a:srgbClr val="FFFFFF"/>
                  </a:solidFill>
                  <a:latin typeface="DM Sans" pitchFamily="2" charset="77"/>
                  <a:cs typeface="Calibri"/>
                </a:rPr>
                <a:t>Nottinghamshire</a:t>
              </a:r>
              <a:endParaRPr lang="en-GB" sz="900">
                <a:solidFill>
                  <a:srgbClr val="FFFFFF"/>
                </a:solidFill>
                <a:latin typeface="DM Sans" pitchFamily="2" charset="77"/>
                <a:cs typeface="Calibri"/>
              </a:endParaRPr>
            </a:p>
            <a:p>
              <a:pPr marL="12700" marR="5080">
                <a:lnSpc>
                  <a:spcPct val="100000"/>
                </a:lnSpc>
                <a:spcBef>
                  <a:spcPts val="95"/>
                </a:spcBef>
              </a:pPr>
              <a:r>
                <a:rPr sz="900">
                  <a:solidFill>
                    <a:srgbClr val="FFFFFF"/>
                  </a:solidFill>
                  <a:latin typeface="DM Sans" pitchFamily="2" charset="77"/>
                  <a:cs typeface="Calibri"/>
                </a:rPr>
                <a:t>NG16 3AG</a:t>
              </a:r>
              <a:endParaRPr sz="900">
                <a:latin typeface="DM Sans" pitchFamily="2" charset="77"/>
                <a:cs typeface="Calibri"/>
              </a:endParaRPr>
            </a:p>
          </p:txBody>
        </p:sp>
        <p:sp>
          <p:nvSpPr>
            <p:cNvPr id="10" name="object 5">
              <a:extLst>
                <a:ext uri="{FF2B5EF4-FFF2-40B4-BE49-F238E27FC236}">
                  <a16:creationId xmlns:a16="http://schemas.microsoft.com/office/drawing/2014/main" id="{D3AEB353-018B-618A-B8F0-7C8493D19746}"/>
                </a:ext>
              </a:extLst>
            </p:cNvPr>
            <p:cNvSpPr txBox="1"/>
            <p:nvPr/>
          </p:nvSpPr>
          <p:spPr>
            <a:xfrm>
              <a:off x="1243807" y="9765024"/>
              <a:ext cx="1500244" cy="825146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 marR="306070">
                <a:lnSpc>
                  <a:spcPct val="100000"/>
                </a:lnSpc>
                <a:spcBef>
                  <a:spcPts val="95"/>
                </a:spcBef>
              </a:pPr>
              <a:r>
                <a:rPr sz="900">
                  <a:solidFill>
                    <a:srgbClr val="FFFFFF"/>
                  </a:solidFill>
                  <a:latin typeface="DM Sans" pitchFamily="2" charset="77"/>
                  <a:cs typeface="Calibri"/>
                </a:rPr>
                <a:t>Registered in England &amp; Wales with</a:t>
              </a:r>
              <a:r>
                <a:rPr lang="en-GB" sz="900">
                  <a:solidFill>
                    <a:srgbClr val="FFFFFF"/>
                  </a:solidFill>
                  <a:latin typeface="DM Sans" pitchFamily="2" charset="77"/>
                  <a:cs typeface="Calibri"/>
                </a:rPr>
                <a:t> </a:t>
              </a:r>
              <a:r>
                <a:rPr sz="900">
                  <a:solidFill>
                    <a:srgbClr val="FFFFFF"/>
                  </a:solidFill>
                  <a:latin typeface="DM Sans" pitchFamily="2" charset="77"/>
                  <a:cs typeface="Calibri"/>
                </a:rPr>
                <a:t>Company No. 03037936</a:t>
              </a:r>
              <a:endParaRPr sz="900">
                <a:latin typeface="DM Sans" pitchFamily="2" charset="77"/>
                <a:cs typeface="Calibri"/>
              </a:endParaRPr>
            </a:p>
          </p:txBody>
        </p:sp>
        <p:sp>
          <p:nvSpPr>
            <p:cNvPr id="11" name="object 6">
              <a:extLst>
                <a:ext uri="{FF2B5EF4-FFF2-40B4-BE49-F238E27FC236}">
                  <a16:creationId xmlns:a16="http://schemas.microsoft.com/office/drawing/2014/main" id="{7B1C569B-8C1B-4838-1EA3-33558516C075}"/>
                </a:ext>
              </a:extLst>
            </p:cNvPr>
            <p:cNvSpPr txBox="1"/>
            <p:nvPr/>
          </p:nvSpPr>
          <p:spPr>
            <a:xfrm>
              <a:off x="2744051" y="8198706"/>
              <a:ext cx="1688171" cy="1045683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 marR="5080">
                <a:lnSpc>
                  <a:spcPct val="100000"/>
                </a:lnSpc>
                <a:spcBef>
                  <a:spcPts val="95"/>
                </a:spcBef>
              </a:pPr>
              <a:r>
                <a:rPr sz="900">
                  <a:solidFill>
                    <a:srgbClr val="FFFFFF"/>
                  </a:solidFill>
                  <a:latin typeface="DM Sans" pitchFamily="2" charset="77"/>
                  <a:cs typeface="Calibri"/>
                </a:rPr>
                <a:t>Microlise Group plc Farrington Way </a:t>
              </a:r>
              <a:br>
                <a:rPr lang="en-GB" sz="900">
                  <a:solidFill>
                    <a:srgbClr val="FFFFFF"/>
                  </a:solidFill>
                  <a:latin typeface="DM Sans" pitchFamily="2" charset="77"/>
                  <a:cs typeface="Calibri"/>
                </a:rPr>
              </a:br>
              <a:r>
                <a:rPr sz="900">
                  <a:solidFill>
                    <a:srgbClr val="FFFFFF"/>
                  </a:solidFill>
                  <a:latin typeface="DM Sans" pitchFamily="2" charset="77"/>
                  <a:cs typeface="Calibri"/>
                </a:rPr>
                <a:t>Eastwood </a:t>
              </a:r>
              <a:br>
                <a:rPr lang="en-GB" sz="900">
                  <a:solidFill>
                    <a:srgbClr val="FFFFFF"/>
                  </a:solidFill>
                  <a:latin typeface="DM Sans" pitchFamily="2" charset="77"/>
                  <a:cs typeface="Calibri"/>
                </a:rPr>
              </a:br>
              <a:r>
                <a:rPr sz="900">
                  <a:solidFill>
                    <a:srgbClr val="FFFFFF"/>
                  </a:solidFill>
                  <a:latin typeface="DM Sans" pitchFamily="2" charset="77"/>
                  <a:cs typeface="Calibri"/>
                </a:rPr>
                <a:t>Nottinghamshire </a:t>
              </a:r>
              <a:endParaRPr lang="en-GB" sz="900">
                <a:solidFill>
                  <a:srgbClr val="FFFFFF"/>
                </a:solidFill>
                <a:latin typeface="DM Sans" pitchFamily="2" charset="77"/>
                <a:cs typeface="Calibri"/>
              </a:endParaRPr>
            </a:p>
            <a:p>
              <a:pPr marL="12700" marR="5080">
                <a:lnSpc>
                  <a:spcPct val="100000"/>
                </a:lnSpc>
                <a:spcBef>
                  <a:spcPts val="95"/>
                </a:spcBef>
              </a:pPr>
              <a:r>
                <a:rPr sz="900">
                  <a:solidFill>
                    <a:srgbClr val="FFFFFF"/>
                  </a:solidFill>
                  <a:latin typeface="DM Sans" pitchFamily="2" charset="77"/>
                  <a:cs typeface="Calibri"/>
                </a:rPr>
                <a:t>NG16 3AG</a:t>
              </a:r>
              <a:endParaRPr sz="900">
                <a:latin typeface="DM Sans" pitchFamily="2" charset="77"/>
                <a:cs typeface="Calibri"/>
              </a:endParaRPr>
            </a:p>
          </p:txBody>
        </p:sp>
        <p:sp>
          <p:nvSpPr>
            <p:cNvPr id="12" name="object 7">
              <a:extLst>
                <a:ext uri="{FF2B5EF4-FFF2-40B4-BE49-F238E27FC236}">
                  <a16:creationId xmlns:a16="http://schemas.microsoft.com/office/drawing/2014/main" id="{BFF300BA-FBA5-33AB-D570-DEF601C7592E}"/>
                </a:ext>
              </a:extLst>
            </p:cNvPr>
            <p:cNvSpPr txBox="1"/>
            <p:nvPr/>
          </p:nvSpPr>
          <p:spPr>
            <a:xfrm>
              <a:off x="2744052" y="9765024"/>
              <a:ext cx="1308883" cy="825146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 marR="5080">
                <a:lnSpc>
                  <a:spcPct val="100000"/>
                </a:lnSpc>
                <a:spcBef>
                  <a:spcPts val="95"/>
                </a:spcBef>
              </a:pPr>
              <a:r>
                <a:rPr sz="900">
                  <a:solidFill>
                    <a:srgbClr val="FFFFFF"/>
                  </a:solidFill>
                  <a:latin typeface="DM Sans" pitchFamily="2" charset="77"/>
                  <a:cs typeface="Calibri"/>
                </a:rPr>
                <a:t>Registered in England &amp;  Wales with Company No. 11553192</a:t>
              </a:r>
              <a:endParaRPr sz="900">
                <a:latin typeface="DM Sans" pitchFamily="2" charset="77"/>
                <a:cs typeface="Calibri"/>
              </a:endParaRPr>
            </a:p>
          </p:txBody>
        </p:sp>
        <p:sp>
          <p:nvSpPr>
            <p:cNvPr id="13" name="object 16">
              <a:extLst>
                <a:ext uri="{FF2B5EF4-FFF2-40B4-BE49-F238E27FC236}">
                  <a16:creationId xmlns:a16="http://schemas.microsoft.com/office/drawing/2014/main" id="{434445B8-5756-9429-2A0F-FEE153B50457}"/>
                </a:ext>
              </a:extLst>
            </p:cNvPr>
            <p:cNvSpPr txBox="1"/>
            <p:nvPr/>
          </p:nvSpPr>
          <p:spPr>
            <a:xfrm>
              <a:off x="1243806" y="6879747"/>
              <a:ext cx="5311140" cy="563491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2400">
                  <a:solidFill>
                    <a:schemeClr val="accent1"/>
                  </a:solidFill>
                  <a:latin typeface="DM Sans" pitchFamily="2" charset="77"/>
                  <a:cs typeface="Calibri"/>
                </a:rPr>
                <a:t>www.microlise.com</a:t>
              </a:r>
              <a:r>
                <a:rPr lang="en-GB" sz="2400">
                  <a:solidFill>
                    <a:schemeClr val="accent1"/>
                  </a:solidFill>
                  <a:latin typeface="DM Sans" pitchFamily="2" charset="77"/>
                  <a:cs typeface="Calibri"/>
                </a:rPr>
                <a:t> </a:t>
              </a:r>
              <a:endParaRPr sz="2400">
                <a:solidFill>
                  <a:schemeClr val="accent1"/>
                </a:solidFill>
                <a:latin typeface="DM Sans" pitchFamily="2" charset="77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9541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Module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435072" cy="51435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0" name="Parallelogram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5586413" y="0"/>
            <a:ext cx="2143125" cy="51435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 sz="1050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8542" y="1601215"/>
            <a:ext cx="4642348" cy="2816328"/>
          </a:xfrm>
        </p:spPr>
        <p:txBody>
          <a:bodyPr rtlCol="0" anchor="t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2CFFCFE-1D31-A30F-F50C-B0F2410AF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8542" y="309194"/>
            <a:ext cx="4642348" cy="833526"/>
          </a:xfrm>
        </p:spPr>
        <p:txBody>
          <a:bodyPr rtlCol="0">
            <a:noAutofit/>
          </a:bodyPr>
          <a:lstStyle>
            <a:lvl1pPr>
              <a:defRPr sz="270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EA5A7F9-815F-CB72-FEA5-B883FA33AAEE}"/>
              </a:ext>
            </a:extLst>
          </p:cNvPr>
          <p:cNvCxnSpPr/>
          <p:nvPr userDrawn="1"/>
        </p:nvCxnSpPr>
        <p:spPr>
          <a:xfrm>
            <a:off x="3738542" y="1326311"/>
            <a:ext cx="464234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85421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0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77946" y="917150"/>
            <a:ext cx="5306588" cy="3390676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381" y="1022890"/>
            <a:ext cx="2575709" cy="3703020"/>
          </a:xfrm>
        </p:spPr>
        <p:txBody>
          <a:bodyPr rtlCol="0" anchor="t">
            <a:normAutofit/>
          </a:bodyPr>
          <a:lstStyle>
            <a:lvl1pPr>
              <a:defRPr sz="1200"/>
            </a:lvl1pPr>
            <a:lvl2pPr>
              <a:defRPr sz="1050"/>
            </a:lvl2pPr>
            <a:lvl3pPr>
              <a:defRPr sz="825"/>
            </a:lvl3pPr>
            <a:lvl4pPr>
              <a:defRPr sz="825"/>
            </a:lvl4pPr>
            <a:lvl5pPr>
              <a:defRPr sz="825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2CFFCFE-1D31-A30F-F50C-B0F2410AF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0" y="274185"/>
            <a:ext cx="2589289" cy="527158"/>
          </a:xfrm>
        </p:spPr>
        <p:txBody>
          <a:bodyPr rtlCol="0">
            <a:noAutofit/>
          </a:bodyPr>
          <a:lstStyle>
            <a:lvl1pPr>
              <a:defRPr sz="150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EA5A7F9-815F-CB72-FEA5-B883FA33AAEE}"/>
              </a:ext>
            </a:extLst>
          </p:cNvPr>
          <p:cNvCxnSpPr>
            <a:cxnSpLocks/>
          </p:cNvCxnSpPr>
          <p:nvPr userDrawn="1"/>
        </p:nvCxnSpPr>
        <p:spPr>
          <a:xfrm>
            <a:off x="92799" y="917150"/>
            <a:ext cx="258929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FC02E08-8FFB-2F32-CE3B-196AD2A7D13E}"/>
              </a:ext>
            </a:extLst>
          </p:cNvPr>
          <p:cNvCxnSpPr>
            <a:cxnSpLocks/>
          </p:cNvCxnSpPr>
          <p:nvPr userDrawn="1"/>
        </p:nvCxnSpPr>
        <p:spPr>
          <a:xfrm>
            <a:off x="2766967" y="274184"/>
            <a:ext cx="0" cy="4451726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297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-8468" y="-1"/>
            <a:ext cx="3884432" cy="5143501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2" descr="Y:\Branding &amp; Graphics JD\Microlise Logos\Standard logo\White\PNG\Microlise_Logo_White_800px_web.png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9928" y="498401"/>
            <a:ext cx="1003603" cy="457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4473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5239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B77C89-30AF-531D-EA53-92B212C54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77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950DF-701D-D598-68F0-FCD09E758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5077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F03E1-14AE-35AA-9268-AE524D44C9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95412" y="463232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Outfit Light" pitchFamily="2" charset="0"/>
              </a:defRPr>
            </a:lvl1pPr>
          </a:lstStyle>
          <a:p>
            <a:fld id="{B8DA1A95-0620-4B43-9EA1-72D8A64E0460}" type="datetime1">
              <a:rPr lang="en-GB" smtClean="0"/>
              <a:t>06/12/2025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16C77-B5B6-9D68-8334-B64DFFC7CC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52812" y="4632325"/>
            <a:ext cx="609207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Outfit Light" pitchFamily="2" charset="0"/>
              </a:defRPr>
            </a:lvl1pPr>
          </a:lstStyle>
          <a:p>
            <a:fld id="{CC0CD38E-35A1-2247-B55D-C6626AF9BA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807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80" r:id="rId2"/>
    <p:sldLayoutId id="2147483673" r:id="rId3"/>
    <p:sldLayoutId id="2147483683" r:id="rId4"/>
    <p:sldLayoutId id="2147483669" r:id="rId5"/>
    <p:sldLayoutId id="2147483668" r:id="rId6"/>
    <p:sldLayoutId id="2147483655" r:id="rId7"/>
    <p:sldLayoutId id="2147483684" r:id="rId8"/>
    <p:sldLayoutId id="2147483682" r:id="rId9"/>
    <p:sldLayoutId id="2147483674" r:id="rId10"/>
    <p:sldLayoutId id="2147483681" r:id="rId11"/>
    <p:sldLayoutId id="2147483657" r:id="rId12"/>
    <p:sldLayoutId id="2147483656" r:id="rId13"/>
    <p:sldLayoutId id="2147483662" r:id="rId14"/>
    <p:sldLayoutId id="2147483667" r:id="rId15"/>
    <p:sldLayoutId id="2147483678" r:id="rId16"/>
    <p:sldLayoutId id="2147483679" r:id="rId17"/>
    <p:sldLayoutId id="2147483676" r:id="rId18"/>
    <p:sldLayoutId id="2147483677" r:id="rId19"/>
    <p:sldLayoutId id="2147483652" r:id="rId20"/>
    <p:sldLayoutId id="2147483672" r:id="rId21"/>
    <p:sldLayoutId id="2147483670" r:id="rId22"/>
    <p:sldLayoutId id="2147483671" r:id="rId23"/>
    <p:sldLayoutId id="2147483713" r:id="rId24"/>
    <p:sldLayoutId id="2147483714" r:id="rId25"/>
    <p:sldLayoutId id="2147483715" r:id="rId26"/>
    <p:sldLayoutId id="2147483719" r:id="rId2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Archia" panose="02000503000000020004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Outfit Light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Outfit Light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Outfit Light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Outfit Light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Outfit Light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5A163-7275-AC26-92BC-4D0DCD188E98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473377" y="272046"/>
            <a:ext cx="5360988" cy="1782762"/>
          </a:xfrm>
        </p:spPr>
        <p:txBody>
          <a:bodyPr/>
          <a:lstStyle/>
          <a:p>
            <a:r>
              <a:rPr lang="en-US" sz="4000" dirty="0"/>
              <a:t>Embracing Agility: The Shift to Microservices</a:t>
            </a:r>
          </a:p>
        </p:txBody>
      </p:sp>
      <p:pic>
        <p:nvPicPr>
          <p:cNvPr id="2050" name="Picture 2" descr="4-day Docker and Kubernetes Training – Software Blog">
            <a:extLst>
              <a:ext uri="{FF2B5EF4-FFF2-40B4-BE49-F238E27FC236}">
                <a16:creationId xmlns:a16="http://schemas.microsoft.com/office/drawing/2014/main" id="{35B88B29-7892-D800-4EF8-46A6BC5A86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077" y="698177"/>
            <a:ext cx="1166997" cy="1166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4786020-AC45-EEDB-148D-417C580E11EE}"/>
              </a:ext>
            </a:extLst>
          </p:cNvPr>
          <p:cNvSpPr txBox="1">
            <a:spLocks/>
          </p:cNvSpPr>
          <p:nvPr/>
        </p:nvSpPr>
        <p:spPr>
          <a:xfrm>
            <a:off x="3482679" y="1539905"/>
            <a:ext cx="2951330" cy="102980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Archia" panose="02000503000000020004" pitchFamily="2" charset="77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sz="2800" dirty="0"/>
              <a:t>By Anish Jain</a:t>
            </a:r>
          </a:p>
        </p:txBody>
      </p:sp>
      <p:pic>
        <p:nvPicPr>
          <p:cNvPr id="5122" name="Picture 2" descr="OpenShift Monitoring with Instana | IBM">
            <a:extLst>
              <a:ext uri="{FF2B5EF4-FFF2-40B4-BE49-F238E27FC236}">
                <a16:creationId xmlns:a16="http://schemas.microsoft.com/office/drawing/2014/main" id="{9A81D826-87DD-E69A-D303-5548D3210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69477" y="614964"/>
            <a:ext cx="2950876" cy="2226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0E5012-10BC-E2C2-0587-B2BAA6ACFC4E}"/>
              </a:ext>
            </a:extLst>
          </p:cNvPr>
          <p:cNvSpPr txBox="1"/>
          <p:nvPr/>
        </p:nvSpPr>
        <p:spPr>
          <a:xfrm>
            <a:off x="172837" y="3153907"/>
            <a:ext cx="33698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Accelerating Innovation, One Microservice at a Time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6827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64CBB-549C-7A7E-6B3D-45598B5A129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7886700" cy="993775"/>
          </a:xfrm>
        </p:spPr>
        <p:txBody>
          <a:bodyPr/>
          <a:lstStyle/>
          <a:p>
            <a:r>
              <a:rPr lang="en-IN" dirty="0"/>
              <a:t>Agenda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4A453F-E082-6AEE-C301-955AC952F116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35988" y="4632325"/>
            <a:ext cx="608012" cy="274638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629A80-80B3-E7BC-BB6E-32689695BB6F}"/>
              </a:ext>
            </a:extLst>
          </p:cNvPr>
          <p:cNvSpPr txBox="1"/>
          <p:nvPr/>
        </p:nvSpPr>
        <p:spPr>
          <a:xfrm>
            <a:off x="508819" y="1376760"/>
            <a:ext cx="28040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Introduction to Microservices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56607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8" descr="A close-up of a colorful swirl&#10;&#10;Description automatically generated">
            <a:extLst>
              <a:ext uri="{FF2B5EF4-FFF2-40B4-BE49-F238E27FC236}">
                <a16:creationId xmlns:a16="http://schemas.microsoft.com/office/drawing/2014/main" id="{92BB618F-20D8-D500-F22F-6DC91B9B3D2F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2">
            <a:alphaModFix amt="40000"/>
          </a:blip>
          <a:srcRect b="1747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62A728-15BF-FB7A-792A-E7371AA6CF26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723900"/>
            <a:ext cx="7696200" cy="26733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600" dirty="0">
                <a:ln w="22225">
                  <a:solidFill>
                    <a:schemeClr val="tx1"/>
                  </a:solidFill>
                  <a:miter lim="800000"/>
                </a:ln>
                <a:noFill/>
                <a:latin typeface="+mj-lt"/>
              </a:rPr>
              <a:t>Introduction to Microservices</a:t>
            </a:r>
          </a:p>
        </p:txBody>
      </p:sp>
    </p:spTree>
    <p:extLst>
      <p:ext uri="{BB962C8B-B14F-4D97-AF65-F5344CB8AC3E}">
        <p14:creationId xmlns:p14="http://schemas.microsoft.com/office/powerpoint/2010/main" val="17660010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3F503-09E1-0A59-EC86-7E024CD9EE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17488"/>
            <a:ext cx="8769350" cy="993775"/>
          </a:xfrm>
        </p:spPr>
        <p:txBody>
          <a:bodyPr/>
          <a:lstStyle/>
          <a:p>
            <a:r>
              <a:rPr lang="en-IN" dirty="0"/>
              <a:t>Basic Principles of Microservices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EDD10B-1C38-5DC0-6014-4139894F240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35988" y="4632325"/>
            <a:ext cx="608012" cy="274638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2D1A01-5BE7-5D62-17F0-BAB6D9FB34D1}"/>
              </a:ext>
            </a:extLst>
          </p:cNvPr>
          <p:cNvSpPr txBox="1"/>
          <p:nvPr/>
        </p:nvSpPr>
        <p:spPr>
          <a:xfrm>
            <a:off x="354814" y="1434390"/>
            <a:ext cx="333829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Single Responsibility Principle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Independence and Autonomy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Decentralized Data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Inter-Service Communication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Polyglot Programming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Continuous Delivery and DevOps</a:t>
            </a:r>
            <a:endParaRPr lang="en-IN" dirty="0"/>
          </a:p>
        </p:txBody>
      </p:sp>
      <p:pic>
        <p:nvPicPr>
          <p:cNvPr id="2050" name="Picture 2" descr="Microservices Architecture for Solving Business Needs | Krasamo">
            <a:extLst>
              <a:ext uri="{FF2B5EF4-FFF2-40B4-BE49-F238E27FC236}">
                <a16:creationId xmlns:a16="http://schemas.microsoft.com/office/drawing/2014/main" id="{DB8BAB6C-512D-5B9A-38C1-0DE8DEB82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3110" y="1360475"/>
            <a:ext cx="4980992" cy="3123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2312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B7DC5-C925-FBE3-91E3-1FC87E4A33D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3500"/>
            <a:ext cx="8404225" cy="993775"/>
          </a:xfrm>
        </p:spPr>
        <p:txBody>
          <a:bodyPr/>
          <a:lstStyle/>
          <a:p>
            <a:r>
              <a:rPr lang="en-IN" dirty="0"/>
              <a:t>Comparison with monolithic architecture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6B7F10-0694-B97A-ADA7-113DE1534706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35988" y="4632325"/>
            <a:ext cx="608012" cy="274638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5</a:t>
            </a:fld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B6EC0C-615A-4695-659F-D6AA346B9C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047562"/>
              </p:ext>
            </p:extLst>
          </p:nvPr>
        </p:nvGraphicFramePr>
        <p:xfrm>
          <a:off x="170778" y="1185650"/>
          <a:ext cx="8911077" cy="3583993"/>
        </p:xfrm>
        <a:graphic>
          <a:graphicData uri="http://schemas.openxmlformats.org/drawingml/2006/table">
            <a:tbl>
              <a:tblPr/>
              <a:tblGrid>
                <a:gridCol w="1751751">
                  <a:extLst>
                    <a:ext uri="{9D8B030D-6E8A-4147-A177-3AD203B41FA5}">
                      <a16:colId xmlns:a16="http://schemas.microsoft.com/office/drawing/2014/main" val="77785766"/>
                    </a:ext>
                  </a:extLst>
                </a:gridCol>
                <a:gridCol w="3731989">
                  <a:extLst>
                    <a:ext uri="{9D8B030D-6E8A-4147-A177-3AD203B41FA5}">
                      <a16:colId xmlns:a16="http://schemas.microsoft.com/office/drawing/2014/main" val="1069755547"/>
                    </a:ext>
                  </a:extLst>
                </a:gridCol>
                <a:gridCol w="3427337">
                  <a:extLst>
                    <a:ext uri="{9D8B030D-6E8A-4147-A177-3AD203B41FA5}">
                      <a16:colId xmlns:a16="http://schemas.microsoft.com/office/drawing/2014/main" val="838195628"/>
                    </a:ext>
                  </a:extLst>
                </a:gridCol>
              </a:tblGrid>
              <a:tr h="208519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Aspect</a:t>
                      </a:r>
                    </a:p>
                  </a:txBody>
                  <a:tcPr marL="6726" marR="6726" marT="6726" marB="4035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Monolithic Architecture</a:t>
                      </a:r>
                    </a:p>
                  </a:txBody>
                  <a:tcPr marL="6726" marR="6726" marT="6726" marB="4035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Microservices Architecture</a:t>
                      </a:r>
                    </a:p>
                  </a:txBody>
                  <a:tcPr marL="6726" marR="6726" marT="6726" marB="4035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7896547"/>
                  </a:ext>
                </a:extLst>
              </a:tr>
              <a:tr h="208519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Structure</a:t>
                      </a:r>
                    </a:p>
                  </a:txBody>
                  <a:tcPr marL="6726" marR="6726" marT="6726" marB="4035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Single, indivisible unit</a:t>
                      </a:r>
                    </a:p>
                  </a:txBody>
                  <a:tcPr marL="6726" marR="6726" marT="6726" marB="4035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Collection of small, autonomous services</a:t>
                      </a:r>
                    </a:p>
                  </a:txBody>
                  <a:tcPr marL="6726" marR="6726" marT="6726" marB="4035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5406332"/>
                  </a:ext>
                </a:extLst>
              </a:tr>
              <a:tr h="208519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Scalability</a:t>
                      </a:r>
                    </a:p>
                  </a:txBody>
                  <a:tcPr marL="6726" marR="6726" marT="6726" marB="4035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Scales as a whole</a:t>
                      </a:r>
                    </a:p>
                  </a:txBody>
                  <a:tcPr marL="6726" marR="6726" marT="6726" marB="4035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Each service can be scaled independently</a:t>
                      </a:r>
                    </a:p>
                  </a:txBody>
                  <a:tcPr marL="6726" marR="6726" marT="6726" marB="4035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607143"/>
                  </a:ext>
                </a:extLst>
              </a:tr>
              <a:tr h="36995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Flexibility</a:t>
                      </a:r>
                    </a:p>
                  </a:txBody>
                  <a:tcPr marL="6726" marR="6726" marT="6726" marB="4035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Less flexible, harder to adopt new technologies</a:t>
                      </a:r>
                    </a:p>
                  </a:txBody>
                  <a:tcPr marL="6726" marR="6726" marT="6726" marB="4035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Easier to adopt new technologies and make changes</a:t>
                      </a:r>
                    </a:p>
                  </a:txBody>
                  <a:tcPr marL="6726" marR="6726" marT="6726" marB="4035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7029605"/>
                  </a:ext>
                </a:extLst>
              </a:tr>
              <a:tr h="208519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Deployment</a:t>
                      </a:r>
                    </a:p>
                  </a:txBody>
                  <a:tcPr marL="6726" marR="6726" marT="6726" marB="4035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Requires redeploying the entire application</a:t>
                      </a:r>
                    </a:p>
                  </a:txBody>
                  <a:tcPr marL="6726" marR="6726" marT="6726" marB="4035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Independent deployment of services</a:t>
                      </a:r>
                    </a:p>
                  </a:txBody>
                  <a:tcPr marL="6726" marR="6726" marT="6726" marB="4035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4457541"/>
                  </a:ext>
                </a:extLst>
              </a:tr>
              <a:tr h="287672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Maintenance</a:t>
                      </a:r>
                    </a:p>
                  </a:txBody>
                  <a:tcPr marL="6726" marR="6726" marT="6726" marB="4035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Becomes complex and difficult to maintain as the application grows</a:t>
                      </a:r>
                    </a:p>
                  </a:txBody>
                  <a:tcPr marL="6726" marR="6726" marT="6726" marB="4035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Easier to maintain due to smaller, focused services</a:t>
                      </a:r>
                    </a:p>
                  </a:txBody>
                  <a:tcPr marL="6726" marR="6726" marT="6726" marB="4035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3140218"/>
                  </a:ext>
                </a:extLst>
              </a:tr>
              <a:tr h="36995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Isolation</a:t>
                      </a:r>
                    </a:p>
                  </a:txBody>
                  <a:tcPr marL="6726" marR="6726" marT="6726" marB="4035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Failure in one part can affect the entire application</a:t>
                      </a:r>
                    </a:p>
                  </a:txBody>
                  <a:tcPr marL="6726" marR="6726" marT="6726" marB="4035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isolation ensures failures in one service don’t affect others</a:t>
                      </a:r>
                    </a:p>
                  </a:txBody>
                  <a:tcPr marL="6726" marR="6726" marT="6726" marB="4035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29874"/>
                  </a:ext>
                </a:extLst>
              </a:tr>
              <a:tr h="36995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Development Speed</a:t>
                      </a:r>
                    </a:p>
                  </a:txBody>
                  <a:tcPr marL="6726" marR="6726" marT="6726" marB="4035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Faster development cycles initially</a:t>
                      </a:r>
                    </a:p>
                  </a:txBody>
                  <a:tcPr marL="6726" marR="6726" marT="6726" marB="4035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May have slower initial development due to complexity</a:t>
                      </a:r>
                    </a:p>
                  </a:txBody>
                  <a:tcPr marL="6726" marR="6726" marT="6726" marB="4035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5915727"/>
                  </a:ext>
                </a:extLst>
              </a:tr>
              <a:tr h="36995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 Management</a:t>
                      </a:r>
                    </a:p>
                  </a:txBody>
                  <a:tcPr marL="6726" marR="6726" marT="6726" marB="4035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Centralized data management</a:t>
                      </a:r>
                    </a:p>
                  </a:txBody>
                  <a:tcPr marL="6726" marR="6726" marT="6726" marB="4035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Decentralized data management, each service manages its own data</a:t>
                      </a:r>
                    </a:p>
                  </a:txBody>
                  <a:tcPr marL="6726" marR="6726" marT="6726" marB="4035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166611"/>
                  </a:ext>
                </a:extLst>
              </a:tr>
              <a:tr h="208519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Communication</a:t>
                      </a:r>
                    </a:p>
                  </a:txBody>
                  <a:tcPr marL="6726" marR="6726" marT="6726" marB="4035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Internal communication within a single unit</a:t>
                      </a:r>
                    </a:p>
                  </a:txBody>
                  <a:tcPr marL="6726" marR="6726" marT="6726" marB="4035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Inter-service communication through APIs</a:t>
                      </a:r>
                    </a:p>
                  </a:txBody>
                  <a:tcPr marL="6726" marR="6726" marT="6726" marB="4035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369214"/>
                  </a:ext>
                </a:extLst>
              </a:tr>
              <a:tr h="36995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Continuous Delivery</a:t>
                      </a:r>
                    </a:p>
                  </a:txBody>
                  <a:tcPr marL="6726" marR="6726" marT="6726" marB="4035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Less support for CI/CD practices</a:t>
                      </a:r>
                    </a:p>
                  </a:txBody>
                  <a:tcPr marL="6726" marR="6726" marT="6726" marB="4035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Supports CI/CD practices, allowing rapid and reliable deployment</a:t>
                      </a:r>
                    </a:p>
                  </a:txBody>
                  <a:tcPr marL="6726" marR="6726" marT="6726" marB="40358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3865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9374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8" descr="A close-up of a colorful swirl&#10;&#10;Description automatically generated">
            <a:extLst>
              <a:ext uri="{FF2B5EF4-FFF2-40B4-BE49-F238E27FC236}">
                <a16:creationId xmlns:a16="http://schemas.microsoft.com/office/drawing/2014/main" id="{92BB618F-20D8-D500-F22F-6DC91B9B3D2F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2">
            <a:alphaModFix amt="40000"/>
          </a:blip>
          <a:srcRect b="1747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62A728-15BF-FB7A-792A-E7371AA6CF26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723900"/>
            <a:ext cx="7696200" cy="26733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600" dirty="0">
                <a:ln w="22225">
                  <a:solidFill>
                    <a:schemeClr val="tx1"/>
                  </a:solidFill>
                  <a:miter lim="800000"/>
                </a:ln>
                <a:noFill/>
                <a:latin typeface="+mj-lt"/>
              </a:rPr>
              <a:t>Benefits of Microservices</a:t>
            </a:r>
          </a:p>
        </p:txBody>
      </p:sp>
    </p:spTree>
    <p:extLst>
      <p:ext uri="{BB962C8B-B14F-4D97-AF65-F5344CB8AC3E}">
        <p14:creationId xmlns:p14="http://schemas.microsoft.com/office/powerpoint/2010/main" val="42248572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1A83C-58AC-C53E-4B5A-50E67059A55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7886700" cy="993775"/>
          </a:xfrm>
        </p:spPr>
        <p:txBody>
          <a:bodyPr/>
          <a:lstStyle/>
          <a:p>
            <a:r>
              <a:rPr lang="en-US" dirty="0"/>
              <a:t>Agility and Speed of Deployment in Microservices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74B61E-183A-FA0E-5DCB-3A127EC7D11F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35988" y="4632325"/>
            <a:ext cx="608012" cy="274638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0D5BDD-F64A-7459-317A-8EBC4606CD71}"/>
              </a:ext>
            </a:extLst>
          </p:cNvPr>
          <p:cNvSpPr txBox="1"/>
          <p:nvPr/>
        </p:nvSpPr>
        <p:spPr>
          <a:xfrm>
            <a:off x="375077" y="1708912"/>
            <a:ext cx="555298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Independent Development and 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Continuous Integration and Continuous Delivery (CI/CD)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Scalability and Flexibility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Reduced Time to Market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Fault Isolation</a:t>
            </a:r>
          </a:p>
        </p:txBody>
      </p:sp>
    </p:spTree>
    <p:extLst>
      <p:ext uri="{BB962C8B-B14F-4D97-AF65-F5344CB8AC3E}">
        <p14:creationId xmlns:p14="http://schemas.microsoft.com/office/powerpoint/2010/main" val="3630823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A67E2-044C-C461-11EF-1CB1D417E4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7886700" cy="993775"/>
          </a:xfrm>
        </p:spPr>
        <p:txBody>
          <a:bodyPr/>
          <a:lstStyle/>
          <a:p>
            <a:r>
              <a:rPr lang="en-IN" dirty="0"/>
              <a:t>Scalability and flexibility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B8DFC-671A-B695-B8F8-66C51891E501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35988" y="4632325"/>
            <a:ext cx="608012" cy="274638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8</a:t>
            </a:fld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118E66E-C2CC-1DC0-9174-F81B8B521E1F}"/>
              </a:ext>
            </a:extLst>
          </p:cNvPr>
          <p:cNvGraphicFramePr>
            <a:graphicFrameLocks noGrp="1"/>
          </p:cNvGraphicFramePr>
          <p:nvPr/>
        </p:nvGraphicFramePr>
        <p:xfrm>
          <a:off x="374650" y="1422221"/>
          <a:ext cx="7886699" cy="3157896"/>
        </p:xfrm>
        <a:graphic>
          <a:graphicData uri="http://schemas.openxmlformats.org/drawingml/2006/table">
            <a:tbl>
              <a:tblPr/>
              <a:tblGrid>
                <a:gridCol w="1369990">
                  <a:extLst>
                    <a:ext uri="{9D8B030D-6E8A-4147-A177-3AD203B41FA5}">
                      <a16:colId xmlns:a16="http://schemas.microsoft.com/office/drawing/2014/main" val="647093063"/>
                    </a:ext>
                  </a:extLst>
                </a:gridCol>
                <a:gridCol w="2801691">
                  <a:extLst>
                    <a:ext uri="{9D8B030D-6E8A-4147-A177-3AD203B41FA5}">
                      <a16:colId xmlns:a16="http://schemas.microsoft.com/office/drawing/2014/main" val="956072376"/>
                    </a:ext>
                  </a:extLst>
                </a:gridCol>
                <a:gridCol w="3715018">
                  <a:extLst>
                    <a:ext uri="{9D8B030D-6E8A-4147-A177-3AD203B41FA5}">
                      <a16:colId xmlns:a16="http://schemas.microsoft.com/office/drawing/2014/main" val="1865116759"/>
                    </a:ext>
                  </a:extLst>
                </a:gridCol>
              </a:tblGrid>
              <a:tr h="22956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Aspect</a:t>
                      </a:r>
                    </a:p>
                  </a:txBody>
                  <a:tcPr marL="7405" marR="7405" marT="7405" marB="4443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Scalability</a:t>
                      </a:r>
                    </a:p>
                  </a:txBody>
                  <a:tcPr marL="7405" marR="7405" marT="7405" marB="4443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Flexibility</a:t>
                      </a:r>
                    </a:p>
                  </a:txBody>
                  <a:tcPr marL="7405" marR="7405" marT="7405" marB="4443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239288"/>
                  </a:ext>
                </a:extLst>
              </a:tr>
              <a:tr h="4072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Independent Scaling</a:t>
                      </a:r>
                    </a:p>
                  </a:txBody>
                  <a:tcPr marL="7405" marR="7405" marT="7405" marB="4443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Each microservice can be scaled independently based on demand.</a:t>
                      </a:r>
                    </a:p>
                  </a:txBody>
                  <a:tcPr marL="7405" marR="7405" marT="7405" marB="4443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Each service can use different technologies and programming languages.</a:t>
                      </a:r>
                    </a:p>
                  </a:txBody>
                  <a:tcPr marL="7405" marR="7405" marT="7405" marB="4443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0478"/>
                  </a:ext>
                </a:extLst>
              </a:tr>
              <a:tr h="4072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Horizontal Scaling</a:t>
                      </a:r>
                    </a:p>
                  </a:txBody>
                  <a:tcPr marL="7405" marR="7405" marT="7405" marB="4443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Additional instances of a service can be added to handle increased load.</a:t>
                      </a:r>
                    </a:p>
                  </a:txBody>
                  <a:tcPr marL="7405" marR="7405" marT="7405" marB="4443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Teams can choose the best tools for each specific task.</a:t>
                      </a:r>
                    </a:p>
                  </a:txBody>
                  <a:tcPr marL="7405" marR="7405" marT="7405" marB="4443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9431111"/>
                  </a:ext>
                </a:extLst>
              </a:tr>
              <a:tr h="4072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Resource Allocation</a:t>
                      </a:r>
                    </a:p>
                  </a:txBody>
                  <a:tcPr marL="7405" marR="7405" marT="7405" marB="4443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Precise resource allocation for each service.</a:t>
                      </a:r>
                    </a:p>
                  </a:txBody>
                  <a:tcPr marL="7405" marR="7405" marT="7405" marB="4443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Modular design allows for independent development, testing, and deployment.</a:t>
                      </a:r>
                    </a:p>
                  </a:txBody>
                  <a:tcPr marL="7405" marR="7405" marT="7405" marB="4443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0980363"/>
                  </a:ext>
                </a:extLst>
              </a:tr>
              <a:tr h="4072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Load Balancing</a:t>
                      </a:r>
                    </a:p>
                  </a:txBody>
                  <a:tcPr marL="7405" marR="7405" marT="7405" marB="4443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Ensures traffic is evenly distributed across multiple instances.</a:t>
                      </a:r>
                    </a:p>
                  </a:txBody>
                  <a:tcPr marL="7405" marR="7405" marT="7405" marB="4443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Changes or updates to one service do not impact others.</a:t>
                      </a:r>
                    </a:p>
                  </a:txBody>
                  <a:tcPr marL="7405" marR="7405" marT="7405" marB="4443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999317"/>
                  </a:ext>
                </a:extLst>
              </a:tr>
              <a:tr h="4072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Isolation</a:t>
                      </a:r>
                    </a:p>
                  </a:txBody>
                  <a:tcPr marL="7405" marR="7405" marT="7405" marB="4443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Failure in one service does not affect the entire application.</a:t>
                      </a:r>
                    </a:p>
                  </a:txBody>
                  <a:tcPr marL="7405" marR="7405" marT="7405" marB="4443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Enhances fault isolation and system resilience.</a:t>
                      </a:r>
                    </a:p>
                  </a:txBody>
                  <a:tcPr marL="7405" marR="7405" marT="7405" marB="4443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1819315"/>
                  </a:ext>
                </a:extLst>
              </a:tr>
              <a:tr h="4072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Rapid Deployment</a:t>
                      </a:r>
                    </a:p>
                  </a:txBody>
                  <a:tcPr marL="7405" marR="7405" marT="7405" marB="4443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Supports CI/CD practices for faster deployment.</a:t>
                      </a:r>
                    </a:p>
                  </a:txBody>
                  <a:tcPr marL="7405" marR="7405" marT="7405" marB="4443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Enables rapid deployment of new features and updates.</a:t>
                      </a:r>
                    </a:p>
                  </a:txBody>
                  <a:tcPr marL="7405" marR="7405" marT="7405" marB="4443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8885159"/>
                  </a:ext>
                </a:extLst>
              </a:tr>
              <a:tr h="4072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Scalability Efficiency</a:t>
                      </a:r>
                    </a:p>
                  </a:txBody>
                  <a:tcPr marL="7405" marR="7405" marT="7405" marB="4443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Optimizes resource utilization and reduces costs.</a:t>
                      </a:r>
                    </a:p>
                  </a:txBody>
                  <a:tcPr marL="7405" marR="7405" marT="7405" marB="4443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Facilitates faster time-to-market and response to customer feedback.</a:t>
                      </a:r>
                    </a:p>
                  </a:txBody>
                  <a:tcPr marL="7405" marR="7405" marT="7405" marB="4443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97148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6793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7E851-1011-ED98-CF70-AD85A45EA9E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7886700" cy="993775"/>
          </a:xfrm>
        </p:spPr>
        <p:txBody>
          <a:bodyPr/>
          <a:lstStyle/>
          <a:p>
            <a:r>
              <a:rPr lang="en-IN" dirty="0"/>
              <a:t>Fault isolation and resilience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C4BC2D-58CC-503C-B246-7C1549155393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35988" y="4632325"/>
            <a:ext cx="608012" cy="274638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9</a:t>
            </a:fld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3BD1A69-843F-D713-BA36-161E5C812D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617467"/>
              </p:ext>
            </p:extLst>
          </p:nvPr>
        </p:nvGraphicFramePr>
        <p:xfrm>
          <a:off x="409502" y="1296140"/>
          <a:ext cx="8147913" cy="3106224"/>
        </p:xfrm>
        <a:graphic>
          <a:graphicData uri="http://schemas.openxmlformats.org/drawingml/2006/table">
            <a:tbl>
              <a:tblPr/>
              <a:tblGrid>
                <a:gridCol w="1099702">
                  <a:extLst>
                    <a:ext uri="{9D8B030D-6E8A-4147-A177-3AD203B41FA5}">
                      <a16:colId xmlns:a16="http://schemas.microsoft.com/office/drawing/2014/main" val="2228422544"/>
                    </a:ext>
                  </a:extLst>
                </a:gridCol>
                <a:gridCol w="3249227">
                  <a:extLst>
                    <a:ext uri="{9D8B030D-6E8A-4147-A177-3AD203B41FA5}">
                      <a16:colId xmlns:a16="http://schemas.microsoft.com/office/drawing/2014/main" val="905549791"/>
                    </a:ext>
                  </a:extLst>
                </a:gridCol>
                <a:gridCol w="3798984">
                  <a:extLst>
                    <a:ext uri="{9D8B030D-6E8A-4147-A177-3AD203B41FA5}">
                      <a16:colId xmlns:a16="http://schemas.microsoft.com/office/drawing/2014/main" val="2128332079"/>
                    </a:ext>
                  </a:extLst>
                </a:gridCol>
              </a:tblGrid>
              <a:tr h="285187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Aspect</a:t>
                      </a:r>
                    </a:p>
                  </a:txBody>
                  <a:tcPr marL="6447" marR="6447" marT="6447" marB="3868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Isolation</a:t>
                      </a:r>
                    </a:p>
                  </a:txBody>
                  <a:tcPr marL="6447" marR="6447" marT="6447" marB="3868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Resilience</a:t>
                      </a:r>
                    </a:p>
                  </a:txBody>
                  <a:tcPr marL="6447" marR="6447" marT="6447" marB="3868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7657952"/>
                  </a:ext>
                </a:extLst>
              </a:tr>
              <a:tr h="438085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Definition</a:t>
                      </a:r>
                    </a:p>
                  </a:txBody>
                  <a:tcPr marL="6447" marR="6447" marT="6447" marB="3868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Containing failures within a single service to prevent system-wide impact.</a:t>
                      </a:r>
                    </a:p>
                  </a:txBody>
                  <a:tcPr marL="6447" marR="6447" marT="6447" marB="3868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Ability to withstand failures and continue operating smoothly.</a:t>
                      </a:r>
                    </a:p>
                  </a:txBody>
                  <a:tcPr marL="6447" marR="6447" marT="6447" marB="3868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1705765"/>
                  </a:ext>
                </a:extLst>
              </a:tr>
              <a:tr h="438085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Key Strategies</a:t>
                      </a:r>
                    </a:p>
                  </a:txBody>
                  <a:tcPr marL="6447" marR="6447" marT="6447" marB="3868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Circuit Breakers: Prevent repeated calls to failing services.</a:t>
                      </a:r>
                    </a:p>
                  </a:txBody>
                  <a:tcPr marL="6447" marR="6447" marT="6447" marB="3868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Self-Healing: Automatically detect and recover from failures.</a:t>
                      </a:r>
                    </a:p>
                  </a:txBody>
                  <a:tcPr marL="6447" marR="6447" marT="6447" marB="3868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1119354"/>
                  </a:ext>
                </a:extLst>
              </a:tr>
              <a:tr h="246921"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7" marR="6447" marT="6447" marB="3868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Bulkheads: Partition services into isolated groups.</a:t>
                      </a:r>
                    </a:p>
                  </a:txBody>
                  <a:tcPr marL="6447" marR="6447" marT="6447" marB="3868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Redundancy: Deploy multiple instances of critical services.</a:t>
                      </a:r>
                    </a:p>
                  </a:txBody>
                  <a:tcPr marL="6447" marR="6447" marT="6447" marB="3868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8004802"/>
                  </a:ext>
                </a:extLst>
              </a:tr>
              <a:tr h="246921"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7" marR="6447" marT="6447" marB="3868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Timeouts and Retries: Manage transient failures.</a:t>
                      </a:r>
                    </a:p>
                  </a:txBody>
                  <a:tcPr marL="6447" marR="6447" marT="6447" marB="3868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Graceful Degradation: Maintain core operations under high load or failure.</a:t>
                      </a:r>
                    </a:p>
                  </a:txBody>
                  <a:tcPr marL="6447" marR="6447" marT="6447" marB="3868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9621664"/>
                  </a:ext>
                </a:extLst>
              </a:tr>
              <a:tr h="438085">
                <a:tc>
                  <a:txBody>
                    <a:bodyPr/>
                    <a:lstStyle/>
                    <a:p>
                      <a:pPr algn="l" fontAlgn="b"/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7" marR="6447" marT="6447" marB="3868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Service Mesh: Handle service-to-service communication.</a:t>
                      </a:r>
                    </a:p>
                  </a:txBody>
                  <a:tcPr marL="6447" marR="6447" marT="6447" marB="3868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Monitoring and Alerts: Continuous monitoring with automated alerts.</a:t>
                      </a:r>
                    </a:p>
                  </a:txBody>
                  <a:tcPr marL="6447" marR="6447" marT="6447" marB="3868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081023"/>
                  </a:ext>
                </a:extLst>
              </a:tr>
              <a:tr h="246921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Benefits</a:t>
                      </a:r>
                    </a:p>
                  </a:txBody>
                  <a:tcPr marL="6447" marR="6447" marT="6447" marB="3868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Minimized Impact: Prevents cascading failures.</a:t>
                      </a:r>
                    </a:p>
                  </a:txBody>
                  <a:tcPr marL="6447" marR="6447" marT="6447" marB="3868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High Availability: Ensures system remains functional during failures.</a:t>
                      </a:r>
                    </a:p>
                  </a:txBody>
                  <a:tcPr marL="6447" marR="6447" marT="6447" marB="3868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339779"/>
                  </a:ext>
                </a:extLst>
              </a:tr>
              <a:tr h="438085">
                <a:tc>
                  <a:txBody>
                    <a:bodyPr/>
                    <a:lstStyle/>
                    <a:p>
                      <a:pPr algn="l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7" marR="6447" marT="6447" marB="3868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Simplified Debugging: Easier to diagnose and fix isolated failures.</a:t>
                      </a:r>
                    </a:p>
                  </a:txBody>
                  <a:tcPr marL="6447" marR="6447" marT="6447" marB="3868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Improved User Experience: Reliable performance and quick recovery.</a:t>
                      </a:r>
                    </a:p>
                  </a:txBody>
                  <a:tcPr marL="6447" marR="6447" marT="6447" marB="3868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69253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4348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3246F-05D7-89E3-8828-BCF828B0A42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7886700" cy="993775"/>
          </a:xfrm>
        </p:spPr>
        <p:txBody>
          <a:bodyPr/>
          <a:lstStyle/>
          <a:p>
            <a:r>
              <a:rPr lang="en-IN" dirty="0"/>
              <a:t>Challenges with monolithic software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C5840B-8FEF-C7CD-867B-77B720F2B3A5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35988" y="4632325"/>
            <a:ext cx="608012" cy="274638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0035DD-A508-DCE4-55CB-BE6A6FA1D17F}"/>
              </a:ext>
            </a:extLst>
          </p:cNvPr>
          <p:cNvSpPr txBox="1"/>
          <p:nvPr/>
        </p:nvSpPr>
        <p:spPr>
          <a:xfrm>
            <a:off x="322288" y="1672281"/>
            <a:ext cx="597577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Difficult to scale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Long Build/Test/Release Cycles (who broke the build?)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Operations is a nightmare (module X is failing, who’s the owner?)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Architecture is hard to maintain and evolve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New releases take months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Long time to add new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Lack of agility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Lack of innovation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Frustrated customers</a:t>
            </a:r>
          </a:p>
        </p:txBody>
      </p:sp>
    </p:spTree>
    <p:extLst>
      <p:ext uri="{BB962C8B-B14F-4D97-AF65-F5344CB8AC3E}">
        <p14:creationId xmlns:p14="http://schemas.microsoft.com/office/powerpoint/2010/main" val="3595604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62981-6D64-799F-AD65-D7491946B70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7886700" cy="993775"/>
          </a:xfrm>
        </p:spPr>
        <p:txBody>
          <a:bodyPr/>
          <a:lstStyle/>
          <a:p>
            <a:r>
              <a:rPr lang="en-IN" dirty="0"/>
              <a:t>Benefits of microservices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F563CC-BF1F-D8A6-4017-E4B7943CD1AF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35988" y="4632325"/>
            <a:ext cx="608012" cy="274638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93168C-AF5B-AE04-8F44-9CA18E772E46}"/>
              </a:ext>
            </a:extLst>
          </p:cNvPr>
          <p:cNvSpPr txBox="1"/>
          <p:nvPr/>
        </p:nvSpPr>
        <p:spPr>
          <a:xfrm>
            <a:off x="547141" y="1268413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Easier to scale each individual micro-service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Rapid Build/Test/Release Cycles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Clear ownership and accountability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Easier to maintain and evolve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New releases take minutes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Short time to add new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Increased agility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Faster innovation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Delighted customers</a:t>
            </a:r>
          </a:p>
        </p:txBody>
      </p:sp>
    </p:spTree>
    <p:extLst>
      <p:ext uri="{BB962C8B-B14F-4D97-AF65-F5344CB8AC3E}">
        <p14:creationId xmlns:p14="http://schemas.microsoft.com/office/powerpoint/2010/main" val="3320203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8" descr="A close-up of a colorful swirl&#10;&#10;Description automatically generated">
            <a:extLst>
              <a:ext uri="{FF2B5EF4-FFF2-40B4-BE49-F238E27FC236}">
                <a16:creationId xmlns:a16="http://schemas.microsoft.com/office/drawing/2014/main" id="{92BB618F-20D8-D500-F22F-6DC91B9B3D2F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2">
            <a:alphaModFix amt="40000"/>
          </a:blip>
          <a:srcRect b="1747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62A728-15BF-FB7A-792A-E7371AA6CF26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7800" y="1371600"/>
            <a:ext cx="7696200" cy="267335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8600" dirty="0">
                <a:ln w="22225">
                  <a:solidFill>
                    <a:schemeClr val="tx1"/>
                  </a:solidFill>
                  <a:miter lim="800000"/>
                </a:ln>
                <a:noFill/>
                <a:latin typeface="+mj-lt"/>
              </a:rPr>
              <a:t>Transitioning from Monolithic to Microservices</a:t>
            </a:r>
          </a:p>
        </p:txBody>
      </p:sp>
    </p:spTree>
    <p:extLst>
      <p:ext uri="{BB962C8B-B14F-4D97-AF65-F5344CB8AC3E}">
        <p14:creationId xmlns:p14="http://schemas.microsoft.com/office/powerpoint/2010/main" val="34715646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C0FD-04C7-2485-E35E-6C2C8A15C53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57225" y="274638"/>
            <a:ext cx="8486775" cy="993775"/>
          </a:xfrm>
        </p:spPr>
        <p:txBody>
          <a:bodyPr/>
          <a:lstStyle/>
          <a:p>
            <a:r>
              <a:rPr lang="en-US" dirty="0"/>
              <a:t>Identifying Capabilities as Bounded Contexts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7B5932-6A32-CA9D-1F50-8AC669F928D8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35988" y="4632325"/>
            <a:ext cx="608012" cy="274638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B82872-A48E-905E-C7C6-F99727F4519D}"/>
              </a:ext>
            </a:extLst>
          </p:cNvPr>
          <p:cNvSpPr txBox="1"/>
          <p:nvPr/>
        </p:nvSpPr>
        <p:spPr>
          <a:xfrm>
            <a:off x="4129790" y="1652684"/>
            <a:ext cx="564379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Identify core domain concepts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Using natural groupings and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Strongly related functionality and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Using the UI and user groups</a:t>
            </a:r>
          </a:p>
          <a:p>
            <a:endParaRPr lang="en-IN" dirty="0"/>
          </a:p>
          <a:p>
            <a:r>
              <a:rPr lang="en-IN" dirty="0"/>
              <a:t>Group interaction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Group interaction points around core concepts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Group remaining data and functions around core concepts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Overlapping sub-concepts, duplicate or promote to a core concept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F49767-3801-ED59-BC4F-CB067505D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67" y="1598283"/>
            <a:ext cx="3197329" cy="2355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1955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2B31A-7B3E-806F-8DD9-5733CB61301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7886700" cy="993775"/>
          </a:xfrm>
        </p:spPr>
        <p:txBody>
          <a:bodyPr/>
          <a:lstStyle/>
          <a:p>
            <a:r>
              <a:rPr lang="en-US" dirty="0"/>
              <a:t>Prioritize Capability Bounded Contexts for Transition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F76CA6-AB40-B6AF-2E54-3B167D26C541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35988" y="4632325"/>
            <a:ext cx="608012" cy="274638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C51DAA-6B6D-83DD-6346-EBFB03713D19}"/>
              </a:ext>
            </a:extLst>
          </p:cNvPr>
          <p:cNvSpPr txBox="1"/>
          <p:nvPr/>
        </p:nvSpPr>
        <p:spPr>
          <a:xfrm>
            <a:off x="4329302" y="2150150"/>
            <a:ext cx="3237875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Actual usage (use metrics)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Simplest to refactor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Presents minimal risk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Will reduce future releases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Good test coverage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Smaller to reduce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Larger to simplify integration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C29131-51CE-BAD1-896E-611F1AFC1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721" y="1354658"/>
            <a:ext cx="2163947" cy="3514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043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08416-768D-DB9B-D163-B735F268916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7886700" cy="654050"/>
          </a:xfrm>
        </p:spPr>
        <p:txBody>
          <a:bodyPr/>
          <a:lstStyle/>
          <a:p>
            <a:r>
              <a:rPr lang="en-IN" sz="3200" dirty="0"/>
              <a:t>Leading from interaction points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3E2FC9-11BF-2EE9-AEAB-532BFCE9572E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35988" y="4632325"/>
            <a:ext cx="608012" cy="274638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AD4B7F-4E31-896E-6F02-3F9FDCE96569}"/>
              </a:ext>
            </a:extLst>
          </p:cNvPr>
          <p:cNvSpPr txBox="1"/>
          <p:nvPr/>
        </p:nvSpPr>
        <p:spPr>
          <a:xfrm>
            <a:off x="629586" y="1186089"/>
            <a:ext cx="710533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Provides physical starting point to start code extraction of capability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Follow and extract the business logic from the interaction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Extract additional referenced objects as required that fit within our bounded context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2C7CEB1-B100-10EC-FEED-ADEE36674F71}"/>
              </a:ext>
            </a:extLst>
          </p:cNvPr>
          <p:cNvSpPr txBox="1">
            <a:spLocks/>
          </p:cNvSpPr>
          <p:nvPr/>
        </p:nvSpPr>
        <p:spPr>
          <a:xfrm>
            <a:off x="375077" y="2341056"/>
            <a:ext cx="7886700" cy="6547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Archia" panose="02000503000000020004" pitchFamily="2" charset="77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sz="3200" dirty="0"/>
              <a:t>Using the same tech stack for new microservice</a:t>
            </a:r>
            <a:endParaRPr lang="en-IN" sz="3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E8C530-F97B-B547-2F62-8045BD52581A}"/>
              </a:ext>
            </a:extLst>
          </p:cNvPr>
          <p:cNvSpPr txBox="1"/>
          <p:nvPr/>
        </p:nvSpPr>
        <p:spPr>
          <a:xfrm>
            <a:off x="676889" y="3185458"/>
            <a:ext cx="779022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Easier to lift, shift and refactor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Avoid changing software development stack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Transition to microservices before changing tech stack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same software development stack simplifies rollback by avoiding subtle changes in data</a:t>
            </a:r>
          </a:p>
        </p:txBody>
      </p:sp>
    </p:spTree>
    <p:extLst>
      <p:ext uri="{BB962C8B-B14F-4D97-AF65-F5344CB8AC3E}">
        <p14:creationId xmlns:p14="http://schemas.microsoft.com/office/powerpoint/2010/main" val="1932144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B0839-4EB6-C2F9-6AF9-463BEF9FEDB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8263"/>
            <a:ext cx="7886700" cy="993775"/>
          </a:xfrm>
        </p:spPr>
        <p:txBody>
          <a:bodyPr/>
          <a:lstStyle/>
          <a:p>
            <a:r>
              <a:rPr lang="en-IN" sz="3200" dirty="0"/>
              <a:t>Shared database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2F76AC-52BC-B4D4-9BC1-C4EAF6270087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35988" y="4632325"/>
            <a:ext cx="608012" cy="274638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615C96-C325-4C44-D994-701F9C3741BB}"/>
              </a:ext>
            </a:extLst>
          </p:cNvPr>
          <p:cNvSpPr txBox="1"/>
          <p:nvPr/>
        </p:nvSpPr>
        <p:spPr>
          <a:xfrm>
            <a:off x="494674" y="895680"/>
            <a:ext cx="407732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Allows rollback to the monolithic version of the capability if new microservice goes wrong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Sharing database is only short-term to evaluate new microservice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Long-term all microservices should have their own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The easier approach is to decompose monolith into microservices first and then decompose database at the end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6A92BC6-0F6D-3276-CF84-5ED6B33444EA}"/>
              </a:ext>
            </a:extLst>
          </p:cNvPr>
          <p:cNvSpPr txBox="1">
            <a:spLocks/>
          </p:cNvSpPr>
          <p:nvPr/>
        </p:nvSpPr>
        <p:spPr>
          <a:xfrm>
            <a:off x="329783" y="2723921"/>
            <a:ext cx="4901784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Archia" panose="02000503000000020004" pitchFamily="2" charset="77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IN" sz="3200" dirty="0"/>
              <a:t>Missing dependencies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AE9956-0079-1419-7ABD-DB1DADBE891E}"/>
              </a:ext>
            </a:extLst>
          </p:cNvPr>
          <p:cNvSpPr txBox="1"/>
          <p:nvPr/>
        </p:nvSpPr>
        <p:spPr>
          <a:xfrm>
            <a:off x="592111" y="363063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Functionality required from monolith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Branch by abstraction pattern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009FA1-3B4A-2711-C61A-7A4E6AC33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892" y="1122981"/>
            <a:ext cx="4416500" cy="3343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717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B3A06-81E3-D217-9583-267C654EE01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2700"/>
            <a:ext cx="7886700" cy="620713"/>
          </a:xfrm>
        </p:spPr>
        <p:txBody>
          <a:bodyPr/>
          <a:lstStyle/>
          <a:p>
            <a:r>
              <a:rPr lang="en-IN" sz="2000" dirty="0"/>
              <a:t>Summary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5CE29D-4197-925B-CE15-A5046C985601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35988" y="4632325"/>
            <a:ext cx="608012" cy="274638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17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BD0CE3-D0A0-3651-8888-BDA034DB6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34" y="632945"/>
            <a:ext cx="5589098" cy="42740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F93675-66EF-4749-D937-703A8C31B3D2}"/>
              </a:ext>
            </a:extLst>
          </p:cNvPr>
          <p:cNvSpPr txBox="1"/>
          <p:nvPr/>
        </p:nvSpPr>
        <p:spPr>
          <a:xfrm>
            <a:off x="5823679" y="632945"/>
            <a:ext cx="318655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Creating your microservice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Use existing tech to enable greater focus on learning microservices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Leading from interaction points lift-refactor and rewrite code and tests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Missing dependencies resolve with branch by abstraction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Compare and test contracts between the monolith and new 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200" dirty="0"/>
          </a:p>
          <a:p>
            <a:r>
              <a:rPr lang="en-US" sz="1200" b="1" dirty="0"/>
              <a:t>Temporarily share the database with monolith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Use abstraction layer to help with database decomposition stages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Use a DB service if database decomposition unrealistic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 new database will require syncing to enable rollback to the monolith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3174272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3C7DC-D266-6903-685E-D73CECE7DB2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36538"/>
            <a:ext cx="7886700" cy="496887"/>
          </a:xfrm>
        </p:spPr>
        <p:txBody>
          <a:bodyPr/>
          <a:lstStyle/>
          <a:p>
            <a:r>
              <a:rPr lang="en-US" sz="2000" dirty="0"/>
              <a:t>Resolving missing dependency on a hidden monolith capability</a:t>
            </a:r>
            <a:endParaRPr lang="en-IN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2B81B4-C826-91CC-AB56-A26F25D34C17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35988" y="4632325"/>
            <a:ext cx="608012" cy="274638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A63840-DFDF-F103-69E7-86A7C55D0EC0}"/>
              </a:ext>
            </a:extLst>
          </p:cNvPr>
          <p:cNvSpPr txBox="1"/>
          <p:nvPr/>
        </p:nvSpPr>
        <p:spPr>
          <a:xfrm>
            <a:off x="472190" y="1251948"/>
            <a:ext cx="6400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Changes to monolith may be required to expose hidden functionality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branch by abstraction pattern to time the changes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branch by abstraction pattern to organize the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Service to service calls cause temporal coupling issues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65814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8" descr="A close-up of a colorful swirl&#10;&#10;Description automatically generated">
            <a:extLst>
              <a:ext uri="{FF2B5EF4-FFF2-40B4-BE49-F238E27FC236}">
                <a16:creationId xmlns:a16="http://schemas.microsoft.com/office/drawing/2014/main" id="{92BB618F-20D8-D500-F22F-6DC91B9B3D2F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2">
            <a:alphaModFix amt="40000"/>
          </a:blip>
          <a:srcRect b="1747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62A728-15BF-FB7A-792A-E7371AA6CF26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7800" y="1371600"/>
            <a:ext cx="7696200" cy="26733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600" dirty="0">
                <a:ln w="22225">
                  <a:solidFill>
                    <a:schemeClr val="tx1"/>
                  </a:solidFill>
                  <a:miter lim="800000"/>
                </a:ln>
                <a:noFill/>
                <a:latin typeface="+mj-lt"/>
              </a:rPr>
              <a:t>Microservice to Monolith</a:t>
            </a:r>
          </a:p>
        </p:txBody>
      </p:sp>
    </p:spTree>
    <p:extLst>
      <p:ext uri="{BB962C8B-B14F-4D97-AF65-F5344CB8AC3E}">
        <p14:creationId xmlns:p14="http://schemas.microsoft.com/office/powerpoint/2010/main" val="30157039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EB17F8-33BC-990E-E0C2-65D877353415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35988" y="4632325"/>
            <a:ext cx="608012" cy="274638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20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F1491C-7E59-55BF-8A55-EFC455473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64" y="236538"/>
            <a:ext cx="8215072" cy="4176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8068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16FE29-0ED2-A78F-3C83-6CA55F1CCC6C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35988" y="4632325"/>
            <a:ext cx="608012" cy="274638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21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12A2C1-0C0E-17D8-048B-6EA6C9299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443" y="414682"/>
            <a:ext cx="6607113" cy="390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7618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CE859C-E3AF-457B-5384-E6FBC1ED1A9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35988" y="4632325"/>
            <a:ext cx="608012" cy="274638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22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7BFC0F-AC2A-32D6-6B40-700F1D3E6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842" y="381144"/>
            <a:ext cx="7788315" cy="388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4154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0BA86F-DE2D-30D1-9A9A-483B5880C03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35988" y="4632325"/>
            <a:ext cx="608012" cy="274638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23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6360B9-65A6-7B0F-C27B-9A7A122BA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997" y="403503"/>
            <a:ext cx="7826418" cy="390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4713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8" descr="A close-up of a colorful swirl&#10;&#10;Description automatically generated">
            <a:extLst>
              <a:ext uri="{FF2B5EF4-FFF2-40B4-BE49-F238E27FC236}">
                <a16:creationId xmlns:a16="http://schemas.microsoft.com/office/drawing/2014/main" id="{92BB618F-20D8-D500-F22F-6DC91B9B3D2F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2">
            <a:alphaModFix amt="40000"/>
          </a:blip>
          <a:srcRect b="1747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62A728-15BF-FB7A-792A-E7371AA6CF26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7800" y="1371600"/>
            <a:ext cx="7696200" cy="26733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600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Monolith  to </a:t>
            </a:r>
            <a:r>
              <a:rPr lang="en-US" sz="8600" dirty="0">
                <a:ln w="22225">
                  <a:solidFill>
                    <a:schemeClr val="tx1"/>
                  </a:solidFill>
                  <a:miter lim="800000"/>
                </a:ln>
                <a:noFill/>
                <a:latin typeface="+mj-lt"/>
              </a:rPr>
              <a:t>Microservice</a:t>
            </a:r>
          </a:p>
        </p:txBody>
      </p:sp>
    </p:spTree>
    <p:extLst>
      <p:ext uri="{BB962C8B-B14F-4D97-AF65-F5344CB8AC3E}">
        <p14:creationId xmlns:p14="http://schemas.microsoft.com/office/powerpoint/2010/main" val="37340257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A0AF11-7716-42B0-1861-98B9D2F9D2B9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35988" y="4632325"/>
            <a:ext cx="608012" cy="274638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25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071782-5096-EFE6-3825-3D5BAB673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57" y="236538"/>
            <a:ext cx="8283658" cy="390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1818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02C2B-1E72-9293-7B62-C53B6409581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7886700" cy="523875"/>
          </a:xfrm>
        </p:spPr>
        <p:txBody>
          <a:bodyPr/>
          <a:lstStyle/>
          <a:p>
            <a:r>
              <a:rPr lang="en-IN" sz="2000" dirty="0"/>
              <a:t>Feature Toggle Pattern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2CF246-2817-D8D4-807F-E13AE5962A1D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35988" y="4632325"/>
            <a:ext cx="608012" cy="274638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26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15889F-A215-F0EE-DABA-9285854B6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50" y="609430"/>
            <a:ext cx="8519898" cy="392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3662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67EF9-7026-6001-372D-EF867F1EA33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7886700" cy="993775"/>
          </a:xfrm>
        </p:spPr>
        <p:txBody>
          <a:bodyPr/>
          <a:lstStyle/>
          <a:p>
            <a:r>
              <a:rPr lang="en-US" sz="2000" dirty="0"/>
              <a:t>Cheat Sheet: Microservice Uses an Internal Monolith Capability</a:t>
            </a:r>
            <a:endParaRPr lang="en-IN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A27F17-BAC8-889D-2415-DAD43B5DC540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35988" y="4632325"/>
            <a:ext cx="608012" cy="274638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27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780937-7D57-54AB-A551-532751666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95" y="1134921"/>
            <a:ext cx="8192210" cy="336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4265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80867-A016-F543-88CB-F2CF0F81EC2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7886700" cy="993775"/>
          </a:xfrm>
        </p:spPr>
        <p:txBody>
          <a:bodyPr/>
          <a:lstStyle/>
          <a:p>
            <a:r>
              <a:rPr lang="en-US" sz="2000" dirty="0"/>
              <a:t>Cheat Sheet: Monolith Needs to Use a Microservice Capability</a:t>
            </a:r>
            <a:endParaRPr lang="en-IN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0C339B-7A82-AED5-0157-20EBBF392E13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35988" y="4632325"/>
            <a:ext cx="608012" cy="274638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28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158177-9AB2-6B0A-236C-4BCE7954D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77" y="1028483"/>
            <a:ext cx="8204674" cy="343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4274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EEF8A-2F56-5BD7-B883-D557A96012A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6713"/>
            <a:ext cx="7886700" cy="534987"/>
          </a:xfrm>
        </p:spPr>
        <p:txBody>
          <a:bodyPr/>
          <a:lstStyle/>
          <a:p>
            <a:r>
              <a:rPr lang="en-US" sz="2000" dirty="0"/>
              <a:t>Cheat Sheet: Reducing Temporal Coupling</a:t>
            </a:r>
            <a:endParaRPr lang="en-IN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E94FFA-A081-A1D9-572D-5588F1C3F988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35988" y="4632325"/>
            <a:ext cx="608012" cy="274638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29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BA8693-B9EB-6DC6-B662-123FA9CDC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33" y="1330127"/>
            <a:ext cx="8237934" cy="287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3943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E631F-75EB-A209-04CF-4786E98A035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7886700" cy="993775"/>
          </a:xfrm>
        </p:spPr>
        <p:txBody>
          <a:bodyPr/>
          <a:lstStyle/>
          <a:p>
            <a:r>
              <a:rPr lang="en-IN" dirty="0"/>
              <a:t>Links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0BC610-F3A2-1852-B97B-5A9AFA5CD0C0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35988" y="4632325"/>
            <a:ext cx="608012" cy="274638"/>
          </a:xfrm>
        </p:spPr>
        <p:txBody>
          <a:bodyPr/>
          <a:lstStyle/>
          <a:p>
            <a:fld id="{00000000-1234-1234-1234-123412341234}" type="slidenum">
              <a:rPr lang="en-GB" smtClean="0"/>
              <a:pPr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5782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uh Jackie Chan TEFL | English fun, How to memorize things, Teaching english">
            <a:extLst>
              <a:ext uri="{FF2B5EF4-FFF2-40B4-BE49-F238E27FC236}">
                <a16:creationId xmlns:a16="http://schemas.microsoft.com/office/drawing/2014/main" id="{26D55343-77B9-1FF0-CC66-7EDF2F0B14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1" t="9091" r="22092" b="2"/>
          <a:stretch/>
        </p:blipFill>
        <p:spPr bwMode="auto">
          <a:xfrm>
            <a:off x="2642616" y="10"/>
            <a:ext cx="6501384" cy="5143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F772C7-500A-2223-813E-1095508A88F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841375"/>
            <a:ext cx="3017838" cy="240347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chemeClr val="bg1"/>
                </a:solidFill>
                <a:latin typeface="+mj-lt"/>
              </a:rPr>
              <a:t>Any Questions?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B5F0C2-DC39-CF5D-933A-058A848D9201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7086600" y="4767263"/>
            <a:ext cx="2057400" cy="2730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buClrTx/>
              <a:defRPr/>
            </a:pPr>
            <a:fld id="{00000000-1234-1234-1234-123412341234}" type="slidenum">
              <a:rPr lang="en-US" kern="1200">
                <a:solidFill>
                  <a:schemeClr val="bg1"/>
                </a:solidFill>
                <a:latin typeface="Calibri" panose="020F0502020204030204"/>
                <a:ea typeface="+mn-ea"/>
                <a:cs typeface="+mn-cs"/>
              </a:rPr>
              <a:pPr>
                <a:spcAft>
                  <a:spcPts val="600"/>
                </a:spcAft>
                <a:buClrTx/>
                <a:defRPr/>
              </a:pPr>
              <a:t>31</a:t>
            </a:fld>
            <a:endParaRPr lang="en-US" kern="1200">
              <a:solidFill>
                <a:schemeClr val="bg1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8628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F1B1A-1FEB-2267-47CC-A145314A7982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184150"/>
            <a:ext cx="6858000" cy="1790700"/>
          </a:xfrm>
        </p:spPr>
        <p:txBody>
          <a:bodyPr/>
          <a:lstStyle/>
          <a:p>
            <a:r>
              <a:rPr lang="en-GB" sz="4800"/>
              <a:t>Thank You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177237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147fadb0-dc0d-43dc-a136-3ca320f36535"/>
</p:tagLst>
</file>

<file path=ppt/theme/theme1.xml><?xml version="1.0" encoding="utf-8"?>
<a:theme xmlns:a="http://schemas.openxmlformats.org/drawingml/2006/main" name="Custom Design">
  <a:themeElements>
    <a:clrScheme name="Microlise 1">
      <a:dk1>
        <a:srgbClr val="151D24"/>
      </a:dk1>
      <a:lt1>
        <a:srgbClr val="FFFFFF"/>
      </a:lt1>
      <a:dk2>
        <a:srgbClr val="152644"/>
      </a:dk2>
      <a:lt2>
        <a:srgbClr val="DEDEDE"/>
      </a:lt2>
      <a:accent1>
        <a:srgbClr val="01CBDE"/>
      </a:accent1>
      <a:accent2>
        <a:srgbClr val="DCFF66"/>
      </a:accent2>
      <a:accent3>
        <a:srgbClr val="ED4956"/>
      </a:accent3>
      <a:accent4>
        <a:srgbClr val="F99D4C"/>
      </a:accent4>
      <a:accent5>
        <a:srgbClr val="FFD059"/>
      </a:accent5>
      <a:accent6>
        <a:srgbClr val="00B683"/>
      </a:accent6>
      <a:hlink>
        <a:srgbClr val="787DB8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3B83DB5-F1CD-452F-865D-7BEE84EF11E9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0358E885EF0F4F8F8DFC987A203D95" ma:contentTypeVersion="20" ma:contentTypeDescription="Create a new document." ma:contentTypeScope="" ma:versionID="390185d194b902d00a2344e44d44c3ff">
  <xsd:schema xmlns:xsd="http://www.w3.org/2001/XMLSchema" xmlns:xs="http://www.w3.org/2001/XMLSchema" xmlns:p="http://schemas.microsoft.com/office/2006/metadata/properties" xmlns:ns2="67a3356a-583d-4f3a-b665-f2ca97d84155" xmlns:ns3="32dab30a-f4c4-4f05-ba0a-942c1a61d7e0" targetNamespace="http://schemas.microsoft.com/office/2006/metadata/properties" ma:root="true" ma:fieldsID="c497c199f589af4eb230f125c09ce468" ns2:_="" ns3:_="">
    <xsd:import namespace="67a3356a-583d-4f3a-b665-f2ca97d84155"/>
    <xsd:import namespace="32dab30a-f4c4-4f05-ba0a-942c1a61d7e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IPT" minOccurs="0"/>
                <xsd:element ref="ns2:lcf76f155ced4ddcb4097134ff3c332f" minOccurs="0"/>
                <xsd:element ref="ns3:TaxCatchAll" minOccurs="0"/>
                <xsd:element ref="ns2:Comment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a3356a-583d-4f3a-b665-f2ca97d841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IPT" ma:index="20" nillable="true" ma:displayName="IPT" ma:description="The choice of IPT which IPT the folder or document belongs to." ma:format="Dropdown" ma:internalName="IPT">
      <xsd:simpleType>
        <xsd:union memberTypes="dms:Text">
          <xsd:simpleType>
            <xsd:restriction base="dms:Choice">
              <xsd:enumeration value="HUMS"/>
              <xsd:enumeration value="TransOPS"/>
              <xsd:enumeration value="Driver Efficiency"/>
              <xsd:enumeration value="Choice 4"/>
            </xsd:restriction>
          </xsd:simpleType>
        </xsd:un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7c799105-ea28-4639-badb-665c0011756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Comment" ma:index="24" nillable="true" ma:displayName="Comment" ma:format="Dropdown" ma:internalName="Comment">
      <xsd:simpleType>
        <xsd:restriction base="dms:Text">
          <xsd:maxLength value="255"/>
        </xsd:restriction>
      </xsd:simpleType>
    </xsd:element>
    <xsd:element name="MediaServiceLocation" ma:index="25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dab30a-f4c4-4f05-ba0a-942c1a61d7e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253562ff-64a3-4da5-91fa-7a1c1da17d23}" ma:internalName="TaxCatchAll" ma:showField="CatchAllData" ma:web="32dab30a-f4c4-4f05-ba0a-942c1a61d7e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32dab30a-f4c4-4f05-ba0a-942c1a61d7e0">
      <UserInfo>
        <DisplayName>SharingLinks.78817788-0d8b-4041-ad2b-e5b6b80224b6.OrganizationEdit.3dde1475-bbe2-4c66-9c61-22c202b2f9b9</DisplayName>
        <AccountId>23</AccountId>
        <AccountType/>
      </UserInfo>
      <UserInfo>
        <DisplayName>Mark Beasley</DisplayName>
        <AccountId>452</AccountId>
        <AccountType/>
      </UserInfo>
      <UserInfo>
        <DisplayName>Georgia Smith</DisplayName>
        <AccountId>181</AccountId>
        <AccountType/>
      </UserInfo>
      <UserInfo>
        <DisplayName>Paul Gattini</DisplayName>
        <AccountId>69</AccountId>
        <AccountType/>
      </UserInfo>
      <UserInfo>
        <DisplayName>Michael Lockwood</DisplayName>
        <AccountId>68</AccountId>
        <AccountType/>
      </UserInfo>
      <UserInfo>
        <DisplayName>Rahul Rajabhoj</DisplayName>
        <AccountId>504</AccountId>
        <AccountType/>
      </UserInfo>
      <UserInfo>
        <DisplayName>Ellen Smedley</DisplayName>
        <AccountId>109</AccountId>
        <AccountType/>
      </UserInfo>
      <UserInfo>
        <DisplayName>Sujit Nankar</DisplayName>
        <AccountId>118</AccountId>
        <AccountType/>
      </UserInfo>
      <UserInfo>
        <DisplayName>Brynjar Armannsson</DisplayName>
        <AccountId>411</AccountId>
        <AccountType/>
      </UserInfo>
      <UserInfo>
        <DisplayName>Esme Short</DisplayName>
        <AccountId>629</AccountId>
        <AccountType/>
      </UserInfo>
      <UserInfo>
        <DisplayName>Len Mifsud</DisplayName>
        <AccountId>80</AccountId>
        <AccountType/>
      </UserInfo>
      <UserInfo>
        <DisplayName>Sarah Wilkinson</DisplayName>
        <AccountId>628</AccountId>
        <AccountType/>
      </UserInfo>
      <UserInfo>
        <DisplayName>Chris Williams</DisplayName>
        <AccountId>955</AccountId>
        <AccountType/>
      </UserInfo>
      <UserInfo>
        <DisplayName>Soniya Chaudhari</DisplayName>
        <AccountId>672</AccountId>
        <AccountType/>
      </UserInfo>
      <UserInfo>
        <DisplayName>Mary Mallan</DisplayName>
        <AccountId>508</AccountId>
        <AccountType/>
      </UserInfo>
      <UserInfo>
        <DisplayName>Archana Sharma</DisplayName>
        <AccountId>206</AccountId>
        <AccountType/>
      </UserInfo>
      <UserInfo>
        <DisplayName>Steve Redford</DisplayName>
        <AccountId>45</AccountId>
        <AccountType/>
      </UserInfo>
      <UserInfo>
        <DisplayName>Samantha Watson</DisplayName>
        <AccountId>135</AccountId>
        <AccountType/>
      </UserInfo>
    </SharedWithUsers>
    <lcf76f155ced4ddcb4097134ff3c332f xmlns="67a3356a-583d-4f3a-b665-f2ca97d84155">
      <Terms xmlns="http://schemas.microsoft.com/office/infopath/2007/PartnerControls"/>
    </lcf76f155ced4ddcb4097134ff3c332f>
    <TaxCatchAll xmlns="32dab30a-f4c4-4f05-ba0a-942c1a61d7e0" xsi:nil="true"/>
    <IPT xmlns="67a3356a-583d-4f3a-b665-f2ca97d84155" xsi:nil="true"/>
    <Comment xmlns="67a3356a-583d-4f3a-b665-f2ca97d84155" xsi:nil="true"/>
  </documentManagement>
</p:properties>
</file>

<file path=customXml/itemProps1.xml><?xml version="1.0" encoding="utf-8"?>
<ds:datastoreItem xmlns:ds="http://schemas.openxmlformats.org/officeDocument/2006/customXml" ds:itemID="{108DFD60-8B23-4371-8EA7-FBAAAB526D83}">
  <ds:schemaRefs>
    <ds:schemaRef ds:uri="32dab30a-f4c4-4f05-ba0a-942c1a61d7e0"/>
    <ds:schemaRef ds:uri="67a3356a-583d-4f3a-b665-f2ca97d8415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C88A4F5-A543-4D0B-A6DF-B22A024DEC7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4F6324-DD28-4292-8006-1CE04340D296}">
  <ds:schemaRefs>
    <ds:schemaRef ds:uri="http://purl.org/dc/elements/1.1/"/>
    <ds:schemaRef ds:uri="32dab30a-f4c4-4f05-ba0a-942c1a61d7e0"/>
    <ds:schemaRef ds:uri="http://schemas.microsoft.com/office/infopath/2007/PartnerControls"/>
    <ds:schemaRef ds:uri="67a3356a-583d-4f3a-b665-f2ca97d84155"/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10833</TotalTime>
  <Words>1521</Words>
  <Application>Microsoft Office PowerPoint</Application>
  <PresentationFormat>On-screen Show (16:9)</PresentationFormat>
  <Paragraphs>246</Paragraphs>
  <Slides>32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Outfit Light</vt:lpstr>
      <vt:lpstr>Calibri</vt:lpstr>
      <vt:lpstr>Arial</vt:lpstr>
      <vt:lpstr>DM Sans</vt:lpstr>
      <vt:lpstr>Archia</vt:lpstr>
      <vt:lpstr>Custom Design</vt:lpstr>
      <vt:lpstr>Embracing Agility: The Shift to Microservices</vt:lpstr>
      <vt:lpstr>Agenda</vt:lpstr>
      <vt:lpstr>Introduction to Microservices</vt:lpstr>
      <vt:lpstr>Basic Principles of Microservices</vt:lpstr>
      <vt:lpstr>Comparison with monolithic architecture</vt:lpstr>
      <vt:lpstr>Benefits of Microservices</vt:lpstr>
      <vt:lpstr>Agility and Speed of Deployment in Microservices</vt:lpstr>
      <vt:lpstr>Scalability and flexibility</vt:lpstr>
      <vt:lpstr>Fault isolation and resilience</vt:lpstr>
      <vt:lpstr>Challenges with monolithic software</vt:lpstr>
      <vt:lpstr>Benefits of microservices</vt:lpstr>
      <vt:lpstr>Transitioning from Monolithic to Microservices</vt:lpstr>
      <vt:lpstr>Identifying Capabilities as Bounded Contexts</vt:lpstr>
      <vt:lpstr>Prioritize Capability Bounded Contexts for Transition</vt:lpstr>
      <vt:lpstr>Leading from interaction points</vt:lpstr>
      <vt:lpstr>Shared database</vt:lpstr>
      <vt:lpstr>Summary</vt:lpstr>
      <vt:lpstr>Resolving missing dependency on a hidden monolith capability</vt:lpstr>
      <vt:lpstr>Microservice to Monolith</vt:lpstr>
      <vt:lpstr>PowerPoint Presentation</vt:lpstr>
      <vt:lpstr>PowerPoint Presentation</vt:lpstr>
      <vt:lpstr>PowerPoint Presentation</vt:lpstr>
      <vt:lpstr>PowerPoint Presentation</vt:lpstr>
      <vt:lpstr>Monolith  to Microservice</vt:lpstr>
      <vt:lpstr>PowerPoint Presentation</vt:lpstr>
      <vt:lpstr>Feature Toggle Pattern </vt:lpstr>
      <vt:lpstr>Cheat Sheet: Microservice Uses an Internal Monolith Capability</vt:lpstr>
      <vt:lpstr>Cheat Sheet: Monolith Needs to Use a Microservice Capability</vt:lpstr>
      <vt:lpstr>Cheat Sheet: Reducing Temporal Coupling</vt:lpstr>
      <vt:lpstr>Links</vt:lpstr>
      <vt:lpstr>Any Questions?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anish.jain@microlise.com; Anish Jain</dc:creator>
  <cp:keywords/>
  <dc:description/>
  <cp:lastModifiedBy>Anish Jain</cp:lastModifiedBy>
  <cp:revision>107</cp:revision>
  <dcterms:modified xsi:type="dcterms:W3CDTF">2025-12-06T06:57:18Z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0x010100300358E885EF0F4F8F8DFC987A203D95</vt:lpwstr>
  </property>
  <property fmtid="{D5CDD505-2E9C-101B-9397-08002B2CF9AE}" pid="3" name="MediaServiceImageTags">
    <vt:lpwstr/>
  </property>
</Properties>
</file>